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4.xml" ContentType="application/vnd.openxmlformats-officedocument.presentationml.tags+xml"/>
  <Override PartName="/ppt/notesSlides/notesSlide26.xml" ContentType="application/vnd.openxmlformats-officedocument.presentationml.notesSlide+xml"/>
  <Override PartName="/ppt/tags/tag15.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16.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tags/tag17.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18.xml" ContentType="application/vnd.openxmlformats-officedocument.presentationml.tags+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110"/>
  </p:notesMasterIdLst>
  <p:handoutMasterIdLst>
    <p:handoutMasterId r:id="rId111"/>
  </p:handoutMasterIdLst>
  <p:sldIdLst>
    <p:sldId id="607" r:id="rId3"/>
    <p:sldId id="328" r:id="rId4"/>
    <p:sldId id="309" r:id="rId5"/>
    <p:sldId id="716" r:id="rId6"/>
    <p:sldId id="1006" r:id="rId7"/>
    <p:sldId id="910" r:id="rId8"/>
    <p:sldId id="1007" r:id="rId9"/>
    <p:sldId id="1008" r:id="rId10"/>
    <p:sldId id="1009" r:id="rId11"/>
    <p:sldId id="1261" r:id="rId12"/>
    <p:sldId id="1010" r:id="rId13"/>
    <p:sldId id="1011" r:id="rId14"/>
    <p:sldId id="1012" r:id="rId15"/>
    <p:sldId id="1013" r:id="rId16"/>
    <p:sldId id="911" r:id="rId17"/>
    <p:sldId id="958" r:id="rId18"/>
    <p:sldId id="1014" r:id="rId19"/>
    <p:sldId id="1016" r:id="rId20"/>
    <p:sldId id="1017" r:id="rId21"/>
    <p:sldId id="1018" r:id="rId22"/>
    <p:sldId id="1019" r:id="rId23"/>
    <p:sldId id="1020" r:id="rId24"/>
    <p:sldId id="1021" r:id="rId25"/>
    <p:sldId id="933" r:id="rId26"/>
    <p:sldId id="1247" r:id="rId27"/>
    <p:sldId id="1036" r:id="rId28"/>
    <p:sldId id="1038" r:id="rId29"/>
    <p:sldId id="259" r:id="rId30"/>
    <p:sldId id="1040" r:id="rId31"/>
    <p:sldId id="1042" r:id="rId32"/>
    <p:sldId id="1248" r:id="rId33"/>
    <p:sldId id="1043" r:id="rId34"/>
    <p:sldId id="1260" r:id="rId35"/>
    <p:sldId id="943" r:id="rId36"/>
    <p:sldId id="1046" r:id="rId37"/>
    <p:sldId id="1005" r:id="rId38"/>
    <p:sldId id="1262" r:id="rId39"/>
    <p:sldId id="1263" r:id="rId40"/>
    <p:sldId id="1047" r:id="rId41"/>
    <p:sldId id="1049" r:id="rId42"/>
    <p:sldId id="1050" r:id="rId43"/>
    <p:sldId id="1048" r:id="rId44"/>
    <p:sldId id="1264" r:id="rId45"/>
    <p:sldId id="1265" r:id="rId46"/>
    <p:sldId id="1054" r:id="rId47"/>
    <p:sldId id="1055" r:id="rId48"/>
    <p:sldId id="1056" r:id="rId49"/>
    <p:sldId id="1057" r:id="rId50"/>
    <p:sldId id="1249" r:id="rId51"/>
    <p:sldId id="1266" r:id="rId52"/>
    <p:sldId id="1067" r:id="rId53"/>
    <p:sldId id="1250" r:id="rId54"/>
    <p:sldId id="1071" r:id="rId55"/>
    <p:sldId id="1073" r:id="rId56"/>
    <p:sldId id="1074" r:id="rId57"/>
    <p:sldId id="1075" r:id="rId58"/>
    <p:sldId id="1076" r:id="rId59"/>
    <p:sldId id="1078" r:id="rId60"/>
    <p:sldId id="1079" r:id="rId61"/>
    <p:sldId id="1080" r:id="rId62"/>
    <p:sldId id="1081" r:id="rId63"/>
    <p:sldId id="1082" r:id="rId64"/>
    <p:sldId id="1083" r:id="rId65"/>
    <p:sldId id="1086" r:id="rId66"/>
    <p:sldId id="1087" r:id="rId67"/>
    <p:sldId id="1088" r:id="rId68"/>
    <p:sldId id="1091" r:id="rId69"/>
    <p:sldId id="1093" r:id="rId70"/>
    <p:sldId id="1094" r:id="rId71"/>
    <p:sldId id="1095" r:id="rId72"/>
    <p:sldId id="1096" r:id="rId73"/>
    <p:sldId id="1097" r:id="rId74"/>
    <p:sldId id="1099" r:id="rId75"/>
    <p:sldId id="1100" r:id="rId76"/>
    <p:sldId id="1101" r:id="rId77"/>
    <p:sldId id="1102" r:id="rId78"/>
    <p:sldId id="1103" r:id="rId79"/>
    <p:sldId id="1104" r:id="rId80"/>
    <p:sldId id="1106" r:id="rId81"/>
    <p:sldId id="1107" r:id="rId82"/>
    <p:sldId id="1108" r:id="rId83"/>
    <p:sldId id="1111" r:id="rId84"/>
    <p:sldId id="1120" r:id="rId85"/>
    <p:sldId id="1121" r:id="rId86"/>
    <p:sldId id="1122" r:id="rId87"/>
    <p:sldId id="1123" r:id="rId88"/>
    <p:sldId id="1124" r:id="rId89"/>
    <p:sldId id="1125" r:id="rId90"/>
    <p:sldId id="1127" r:id="rId91"/>
    <p:sldId id="1128" r:id="rId92"/>
    <p:sldId id="1129" r:id="rId93"/>
    <p:sldId id="1130" r:id="rId94"/>
    <p:sldId id="1131" r:id="rId95"/>
    <p:sldId id="1132" r:id="rId96"/>
    <p:sldId id="1136" r:id="rId97"/>
    <p:sldId id="1137" r:id="rId98"/>
    <p:sldId id="1138" r:id="rId99"/>
    <p:sldId id="1139" r:id="rId100"/>
    <p:sldId id="1140" r:id="rId101"/>
    <p:sldId id="1143" r:id="rId102"/>
    <p:sldId id="1144" r:id="rId103"/>
    <p:sldId id="1145" r:id="rId104"/>
    <p:sldId id="1146" r:id="rId105"/>
    <p:sldId id="1147" r:id="rId106"/>
    <p:sldId id="1148" r:id="rId107"/>
    <p:sldId id="1149" r:id="rId108"/>
    <p:sldId id="1150" r:id="rId109"/>
  </p:sldIdLst>
  <p:sldSz cx="12190413" cy="6859588"/>
  <p:notesSz cx="6858000" cy="9144000"/>
  <p:custDataLst>
    <p:tags r:id="rId112"/>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66" userDrawn="1">
          <p15:clr>
            <a:srgbClr val="A4A3A4"/>
          </p15:clr>
        </p15:guide>
        <p15:guide id="2" pos="7219" userDrawn="1">
          <p15:clr>
            <a:srgbClr val="A4A3A4"/>
          </p15:clr>
        </p15:guide>
        <p15:guide id="3" pos="642" userDrawn="1">
          <p15:clr>
            <a:srgbClr val="A4A3A4"/>
          </p15:clr>
        </p15:guide>
      </p15:sldGuideLst>
    </p:ext>
    <p:ext uri="{2D200454-40CA-4A62-9FC3-DE9A4176ACB9}">
      <p15:notesGuideLst xmlns:p15="http://schemas.microsoft.com/office/powerpoint/2012/main">
        <p15:guide id="1" orient="horz" pos="2866">
          <p15:clr>
            <a:srgbClr val="A4A3A4"/>
          </p15:clr>
        </p15:guide>
        <p15:guide id="2"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k" initials="tk" lastIdx="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FF0000"/>
    <a:srgbClr val="0075CC"/>
    <a:srgbClr val="006BBC"/>
    <a:srgbClr val="99FFCC"/>
    <a:srgbClr val="008DF6"/>
    <a:srgbClr val="595959"/>
    <a:srgbClr val="F2F2F2"/>
    <a:srgbClr val="FAFAFA"/>
    <a:srgbClr val="005D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82" autoAdjust="0"/>
    <p:restoredTop sz="96379" autoAdjust="0"/>
  </p:normalViewPr>
  <p:slideViewPr>
    <p:cSldViewPr snapToGrid="0" showGuides="1">
      <p:cViewPr varScale="1">
        <p:scale>
          <a:sx n="96" d="100"/>
          <a:sy n="96" d="100"/>
        </p:scale>
        <p:origin x="428" y="52"/>
      </p:cViewPr>
      <p:guideLst>
        <p:guide orient="horz" pos="1066"/>
        <p:guide pos="7219"/>
        <p:guide pos="642"/>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6" d="100"/>
          <a:sy n="86" d="100"/>
        </p:scale>
        <p:origin x="-3810" y="-90"/>
      </p:cViewPr>
      <p:guideLst>
        <p:guide orient="horz" pos="2866"/>
        <p:guide pos="2142"/>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ableStyles" Target="tableStyle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gs" Target="tags/tag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commentAuthors" Target="commentAuthor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notesMaster" Target="notesMasters/notesMaster1.xml"/><Relationship Id="rId115"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handoutMaster" Target="handoutMasters/handout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92</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93</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95</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96</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98</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99</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100</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101</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102</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103</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104</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105</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106</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ags" Target="../tags/tag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2025/11/5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
        <p:nvSpPr>
          <p:cNvPr id="2" name="矩形 1"/>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0"/>
            </p:custDataLst>
          </p:nvPr>
        </p:nvPicPr>
        <p:blipFill>
          <a:blip r:embed="rId11"/>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
        <p:nvSpPr>
          <p:cNvPr id="9" name="矩形 8"/>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10" name="图片 9" descr="数字技术产业学院 标志设计2"/>
          <p:cNvPicPr>
            <a:picLocks noChangeAspect="1"/>
          </p:cNvPicPr>
          <p:nvPr userDrawn="1">
            <p:custDataLst>
              <p:tags r:id="rId15"/>
            </p:custDataLst>
          </p:nvPr>
        </p:nvPicPr>
        <p:blipFill>
          <a:blip r:embed="rId16"/>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notesSlide" Target="../notesSlides/notesSlide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slideLayout" Target="../slideLayouts/slideLayout10.xml"/><Relationship Id="rId5" Type="http://schemas.openxmlformats.org/officeDocument/2006/relationships/tags" Target="../tags/tag8.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14.xml"/><Relationship Id="rId5" Type="http://schemas.openxmlformats.org/officeDocument/2006/relationships/image" Target="../media/image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15.xml"/><Relationship Id="rId5" Type="http://schemas.openxmlformats.org/officeDocument/2006/relationships/image" Target="../media/image7.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0.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3.xm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5.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6.xml"/><Relationship Id="rId1" Type="http://schemas.openxmlformats.org/officeDocument/2006/relationships/slideLayout" Target="../slideLayouts/slideLayout10.xml"/><Relationship Id="rId4" Type="http://schemas.openxmlformats.org/officeDocument/2006/relationships/image" Target="../media/image37.png"/></Relationships>
</file>

<file path=ppt/slides/_rels/slide7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9.xml"/><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4.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8.xml"/><Relationship Id="rId1" Type="http://schemas.openxmlformats.org/officeDocument/2006/relationships/slideLayout" Target="../slideLayouts/slideLayout10.xml"/><Relationship Id="rId5" Type="http://schemas.openxmlformats.org/officeDocument/2006/relationships/image" Target="../media/image45.png"/><Relationship Id="rId4" Type="http://schemas.openxmlformats.org/officeDocument/2006/relationships/image" Target="../media/image44.png"/></Relationships>
</file>

<file path=ppt/slides/_rels/slide8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5.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7.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0.xml"/><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10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1.xml"/><Relationship Id="rId1" Type="http://schemas.openxmlformats.org/officeDocument/2006/relationships/slideLayout" Target="../slideLayouts/slideLayout10.xml"/><Relationship Id="rId4" Type="http://schemas.openxmlformats.org/officeDocument/2006/relationships/image" Target="../media/image51.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5.xml"/><Relationship Id="rId1" Type="http://schemas.openxmlformats.org/officeDocument/2006/relationships/slideLayout" Target="../slideLayouts/slideLayout10.xml"/><Relationship Id="rId4" Type="http://schemas.openxmlformats.org/officeDocument/2006/relationships/image" Target="../media/image54.png"/></Relationships>
</file>

<file path=ppt/slides/_rels/slide10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6.xml"/><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8"/>
          <p:cNvSpPr txBox="1"/>
          <p:nvPr/>
        </p:nvSpPr>
        <p:spPr>
          <a:xfrm>
            <a:off x="1692810" y="2748592"/>
            <a:ext cx="9356187" cy="784830"/>
          </a:xfrm>
          <a:prstGeom prst="rect">
            <a:avLst/>
          </a:prstGeom>
          <a:noFill/>
        </p:spPr>
        <p:txBody>
          <a:bodyPr wrap="square" rtlCol="0">
            <a:spAutoFit/>
          </a:bodyPr>
          <a:lstStyle/>
          <a:p>
            <a:pPr algn="ct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5</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性能测试</a:t>
            </a:r>
          </a:p>
        </p:txBody>
      </p:sp>
      <p:sp>
        <p:nvSpPr>
          <p:cNvPr id="6" name="Rectangle 4"/>
          <p:cNvSpPr txBox="1">
            <a:spLocks noChangeArrowheads="1"/>
          </p:cNvSpPr>
          <p:nvPr/>
        </p:nvSpPr>
        <p:spPr>
          <a:xfrm>
            <a:off x="6598920" y="3933825"/>
            <a:ext cx="352425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zh-CN" sz="2400" dirty="0">
                <a:solidFill>
                  <a:srgbClr val="595959"/>
                </a:solidFill>
                <a:latin typeface="微软雅黑" panose="020B0503020204020204" pitchFamily="34" charset="-122"/>
                <a:ea typeface="微软雅黑" panose="020B0503020204020204" pitchFamily="34" charset="-122"/>
                <a:cs typeface="+mn-ea"/>
                <a:sym typeface="+mn-lt"/>
              </a:rPr>
              <a:t>软件测试（第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966502" y="1995896"/>
            <a:ext cx="10322920" cy="38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互联网的</a:t>
            </a:r>
            <a:r>
              <a:rPr lang="zh-CN" altLang="zh-CN" sz="2000">
                <a:solidFill>
                  <a:srgbClr val="595959"/>
                </a:solidFill>
                <a:latin typeface="微软雅黑" panose="020B0503020204020204" pitchFamily="34" charset="-122"/>
                <a:ea typeface="微软雅黑" panose="020B0503020204020204" pitchFamily="34" charset="-122"/>
              </a:rPr>
              <a:t>发展使人们</a:t>
            </a:r>
            <a:r>
              <a:rPr lang="zh-CN" altLang="zh-CN" sz="2000" dirty="0">
                <a:solidFill>
                  <a:srgbClr val="595959"/>
                </a:solidFill>
                <a:latin typeface="微软雅黑" panose="020B0503020204020204" pitchFamily="34" charset="-122"/>
                <a:ea typeface="微软雅黑" panose="020B0503020204020204" pitchFamily="34" charset="-122"/>
              </a:rPr>
              <a:t>对软件产品与网络的依赖性越来越大，同时也加快了人们生活和</a:t>
            </a:r>
            <a:r>
              <a:rPr lang="zh-CN" altLang="zh-CN" sz="2000">
                <a:solidFill>
                  <a:srgbClr val="595959"/>
                </a:solidFill>
                <a:latin typeface="微软雅黑" panose="020B0503020204020204" pitchFamily="34" charset="-122"/>
                <a:ea typeface="微软雅黑" panose="020B0503020204020204" pitchFamily="34" charset="-122"/>
              </a:rPr>
              <a:t>工作的</a:t>
            </a:r>
            <a:r>
              <a:rPr lang="zh-CN" altLang="en-US" sz="2000">
                <a:solidFill>
                  <a:srgbClr val="595959"/>
                </a:solidFill>
                <a:latin typeface="微软雅黑" panose="020B0503020204020204" pitchFamily="34" charset="-122"/>
                <a:ea typeface="微软雅黑" panose="020B0503020204020204" pitchFamily="34" charset="-122"/>
              </a:rPr>
              <a:t>节奏</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为了追求</a:t>
            </a:r>
            <a:r>
              <a:rPr lang="zh-CN" altLang="zh-CN" sz="2000" dirty="0">
                <a:solidFill>
                  <a:srgbClr val="1369B2"/>
                </a:solidFill>
                <a:latin typeface="微软雅黑" panose="020B0503020204020204" pitchFamily="34" charset="-122"/>
                <a:ea typeface="微软雅黑" panose="020B0503020204020204" pitchFamily="34" charset="-122"/>
              </a:rPr>
              <a:t>高质量</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高效率</a:t>
            </a:r>
            <a:r>
              <a:rPr lang="zh-CN" altLang="zh-CN" sz="2000">
                <a:solidFill>
                  <a:srgbClr val="595959"/>
                </a:solidFill>
                <a:latin typeface="微软雅黑" panose="020B0503020204020204" pitchFamily="34" charset="-122"/>
                <a:ea typeface="微软雅黑" panose="020B0503020204020204" pitchFamily="34" charset="-122"/>
              </a:rPr>
              <a:t>的生活</a:t>
            </a:r>
            <a:r>
              <a:rPr lang="zh-CN" altLang="en-US"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595959"/>
                </a:solidFill>
                <a:latin typeface="微软雅黑" panose="020B0503020204020204" pitchFamily="34" charset="-122"/>
                <a:ea typeface="微软雅黑" panose="020B0503020204020204" pitchFamily="34" charset="-122"/>
              </a:rPr>
              <a:t>工作</a:t>
            </a:r>
            <a:r>
              <a:rPr lang="zh-CN" altLang="zh-CN" sz="2000" dirty="0">
                <a:solidFill>
                  <a:srgbClr val="595959"/>
                </a:solidFill>
                <a:latin typeface="微软雅黑" panose="020B0503020204020204" pitchFamily="34" charset="-122"/>
                <a:ea typeface="微软雅黑" panose="020B0503020204020204" pitchFamily="34" charset="-122"/>
              </a:rPr>
              <a:t>，人们对</a:t>
            </a:r>
            <a:r>
              <a:rPr lang="zh-CN" altLang="zh-CN" sz="2000" dirty="0">
                <a:solidFill>
                  <a:srgbClr val="1369B2"/>
                </a:solidFill>
                <a:latin typeface="微软雅黑" panose="020B0503020204020204" pitchFamily="34" charset="-122"/>
                <a:ea typeface="微软雅黑" panose="020B0503020204020204" pitchFamily="34" charset="-122"/>
              </a:rPr>
              <a:t>软件产品的性能</a:t>
            </a:r>
            <a:r>
              <a:rPr lang="zh-CN" altLang="zh-CN" sz="2000" dirty="0">
                <a:solidFill>
                  <a:srgbClr val="595959"/>
                </a:solidFill>
                <a:latin typeface="微软雅黑" panose="020B0503020204020204" pitchFamily="34" charset="-122"/>
                <a:ea typeface="微软雅黑" panose="020B0503020204020204" pitchFamily="34" charset="-122"/>
              </a:rPr>
              <a:t>要求越来越高，例如软件产品要</a:t>
            </a:r>
            <a:r>
              <a:rPr lang="zh-CN" altLang="zh-CN" sz="2000" dirty="0">
                <a:solidFill>
                  <a:srgbClr val="1369B2"/>
                </a:solidFill>
                <a:latin typeface="微软雅黑" panose="020B0503020204020204" pitchFamily="34" charset="-122"/>
                <a:ea typeface="微软雅黑" panose="020B0503020204020204" pitchFamily="34" charset="-122"/>
              </a:rPr>
              <a:t>足够稳定</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响应速度</a:t>
            </a:r>
            <a:r>
              <a:rPr lang="zh-CN" altLang="en-US" sz="2000">
                <a:solidFill>
                  <a:srgbClr val="1369B2"/>
                </a:solidFill>
                <a:latin typeface="微软雅黑" panose="020B0503020204020204" pitchFamily="34" charset="-122"/>
                <a:ea typeface="微软雅黑" panose="020B0503020204020204" pitchFamily="34" charset="-122"/>
              </a:rPr>
              <a:t>要</a:t>
            </a:r>
            <a:r>
              <a:rPr lang="zh-CN" altLang="zh-CN" sz="2000">
                <a:solidFill>
                  <a:srgbClr val="1369B2"/>
                </a:solidFill>
                <a:latin typeface="微软雅黑" panose="020B0503020204020204" pitchFamily="34" charset="-122"/>
                <a:ea typeface="微软雅黑" panose="020B0503020204020204" pitchFamily="34" charset="-122"/>
              </a:rPr>
              <a:t>足够</a:t>
            </a:r>
            <a:r>
              <a:rPr lang="zh-CN" altLang="zh-CN" sz="2000" dirty="0">
                <a:solidFill>
                  <a:srgbClr val="1369B2"/>
                </a:solidFill>
                <a:latin typeface="微软雅黑" panose="020B0503020204020204" pitchFamily="34" charset="-122"/>
                <a:ea typeface="微软雅黑" panose="020B0503020204020204" pitchFamily="34" charset="-122"/>
              </a:rPr>
              <a:t>快</a:t>
            </a:r>
            <a:r>
              <a:rPr lang="zh-CN" altLang="zh-CN" sz="2000" dirty="0">
                <a:solidFill>
                  <a:srgbClr val="595959"/>
                </a:solidFill>
                <a:latin typeface="微软雅黑" panose="020B0503020204020204" pitchFamily="34" charset="-122"/>
                <a:ea typeface="微软雅黑" panose="020B0503020204020204" pitchFamily="34" charset="-122"/>
              </a:rPr>
              <a:t>，在用户量、工作量较大时也不会出现崩溃或卡顿等现象。人们对软件产品性能的高要求，</a:t>
            </a:r>
            <a:r>
              <a:rPr lang="zh-CN" altLang="zh-CN" sz="2000">
                <a:solidFill>
                  <a:srgbClr val="595959"/>
                </a:solidFill>
                <a:latin typeface="微软雅黑" panose="020B0503020204020204" pitchFamily="34" charset="-122"/>
                <a:ea typeface="微软雅黑" panose="020B0503020204020204" pitchFamily="34" charset="-122"/>
              </a:rPr>
              <a:t>使得软件</a:t>
            </a:r>
            <a:r>
              <a:rPr lang="zh-CN" altLang="en-US" sz="2000">
                <a:solidFill>
                  <a:srgbClr val="595959"/>
                </a:solidFill>
                <a:latin typeface="微软雅黑" panose="020B0503020204020204" pitchFamily="34" charset="-122"/>
                <a:ea typeface="微软雅黑" panose="020B0503020204020204" pitchFamily="34" charset="-122"/>
              </a:rPr>
              <a:t>的</a:t>
            </a:r>
            <a:r>
              <a:rPr lang="zh-CN" altLang="zh-CN" sz="2000">
                <a:solidFill>
                  <a:srgbClr val="595959"/>
                </a:solidFill>
                <a:latin typeface="微软雅黑" panose="020B0503020204020204" pitchFamily="34" charset="-122"/>
                <a:ea typeface="微软雅黑" panose="020B0503020204020204" pitchFamily="34" charset="-122"/>
              </a:rPr>
              <a:t>性能</a:t>
            </a:r>
            <a:r>
              <a:rPr lang="zh-CN" altLang="zh-CN" sz="2000" dirty="0">
                <a:solidFill>
                  <a:srgbClr val="595959"/>
                </a:solidFill>
                <a:latin typeface="微软雅黑" panose="020B0503020204020204" pitchFamily="34" charset="-122"/>
                <a:ea typeface="微软雅黑" panose="020B0503020204020204" pitchFamily="34" charset="-122"/>
              </a:rPr>
              <a:t>测试越来越受到测试人员的重视。</a:t>
            </a:r>
          </a:p>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性能测试</a:t>
            </a:r>
            <a:r>
              <a:rPr lang="zh-CN" altLang="zh-CN" sz="2000" dirty="0">
                <a:solidFill>
                  <a:srgbClr val="595959"/>
                </a:solidFill>
                <a:latin typeface="微软雅黑" panose="020B0503020204020204" pitchFamily="34" charset="-122"/>
                <a:ea typeface="微软雅黑" panose="020B0503020204020204" pitchFamily="34" charset="-122"/>
              </a:rPr>
              <a:t>是度量软件质量的一种重要方式，它从软件的</a:t>
            </a:r>
            <a:r>
              <a:rPr lang="zh-CN" altLang="zh-CN" sz="2000" dirty="0">
                <a:solidFill>
                  <a:srgbClr val="1369B2"/>
                </a:solidFill>
                <a:latin typeface="微软雅黑" panose="020B0503020204020204" pitchFamily="34" charset="-122"/>
                <a:ea typeface="微软雅黑" panose="020B0503020204020204" pitchFamily="34" charset="-122"/>
              </a:rPr>
              <a:t>响应速度</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稳定性</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兼容性</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可移植性</a:t>
            </a:r>
            <a:r>
              <a:rPr lang="zh-CN" altLang="zh-CN" sz="2000" dirty="0">
                <a:solidFill>
                  <a:srgbClr val="595959"/>
                </a:solidFill>
                <a:latin typeface="微软雅黑" panose="020B0503020204020204" pitchFamily="34" charset="-122"/>
                <a:ea typeface="微软雅黑" panose="020B0503020204020204" pitchFamily="34" charset="-122"/>
              </a:rPr>
              <a:t>等方面检测软件是否</a:t>
            </a:r>
            <a:r>
              <a:rPr lang="zh-CN" altLang="zh-CN" sz="2000">
                <a:solidFill>
                  <a:srgbClr val="595959"/>
                </a:solidFill>
                <a:latin typeface="微软雅黑" panose="020B0503020204020204" pitchFamily="34" charset="-122"/>
                <a:ea typeface="微软雅黑" panose="020B0503020204020204" pitchFamily="34" charset="-122"/>
              </a:rPr>
              <a:t>满足用户需求</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作为</a:t>
            </a:r>
            <a:r>
              <a:rPr lang="zh-CN" altLang="zh-CN" sz="2000" dirty="0">
                <a:solidFill>
                  <a:srgbClr val="595959"/>
                </a:solidFill>
                <a:latin typeface="微软雅黑" panose="020B0503020204020204" pitchFamily="34" charset="-122"/>
                <a:ea typeface="微软雅黑" panose="020B0503020204020204" pitchFamily="34" charset="-122"/>
              </a:rPr>
              <a:t>软件测试人员，性能测试是必须要掌握的测试技能之一。本章将对性能测试的相关知识进行详细讲解。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718942" y="3030845"/>
            <a:ext cx="7957137" cy="830997"/>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mn-lt"/>
              </a:rPr>
              <a:t>性能测试</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概述</a:t>
            </a:r>
            <a:endParaRPr lang="en-GB" altLang="zh-CN"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565393" y="2897862"/>
            <a:ext cx="2016224" cy="1107996"/>
          </a:xfrm>
          <a:prstGeom prst="rect">
            <a:avLst/>
          </a:prstGeom>
          <a:noFill/>
        </p:spPr>
        <p:txBody>
          <a:bodyPr wrap="square" lIns="91443" tIns="45720" rIns="91443" bIns="45720" rtlCol="0">
            <a:spAutoFit/>
          </a:bodyPr>
          <a:lstStyle/>
          <a:p>
            <a:r>
              <a:rPr lang="en-US" altLang="zh-CN" sz="6600" b="1" dirty="0">
                <a:solidFill>
                  <a:srgbClr val="FAFAFA"/>
                </a:solidFill>
                <a:latin typeface="微软雅黑" panose="020B0503020204020204" pitchFamily="34" charset="-122"/>
                <a:ea typeface="微软雅黑" panose="020B0503020204020204" pitchFamily="34" charset="-122"/>
                <a:cs typeface="+mn-ea"/>
                <a:sym typeface="+mn-lt"/>
              </a:rPr>
              <a:t>5.1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性能测试简介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6" name="原创设计师QQ598969553          _4"/>
          <p:cNvSpPr/>
          <p:nvPr/>
        </p:nvSpPr>
        <p:spPr>
          <a:xfrm>
            <a:off x="4770105" y="1994393"/>
            <a:ext cx="6953315" cy="1938992"/>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性能测试</a:t>
            </a:r>
            <a:r>
              <a:rPr lang="zh-CN" altLang="zh-CN" sz="2000" dirty="0">
                <a:solidFill>
                  <a:srgbClr val="595959"/>
                </a:solidFill>
                <a:latin typeface="微软雅黑" panose="020B0503020204020204" pitchFamily="34" charset="-122"/>
                <a:ea typeface="微软雅黑" panose="020B0503020204020204" pitchFamily="34" charset="-122"/>
              </a:rPr>
              <a:t>是通过性能测试工具模拟</a:t>
            </a:r>
            <a:r>
              <a:rPr lang="zh-CN" altLang="zh-CN" sz="2000" dirty="0">
                <a:solidFill>
                  <a:srgbClr val="1369B2"/>
                </a:solidFill>
                <a:latin typeface="微软雅黑" panose="020B0503020204020204" pitchFamily="34" charset="-122"/>
                <a:ea typeface="微软雅黑" panose="020B0503020204020204" pitchFamily="34" charset="-122"/>
              </a:rPr>
              <a:t>正常</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峰值</a:t>
            </a:r>
            <a:r>
              <a:rPr lang="zh-CN" altLang="en-US"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rPr>
              <a:t>异常负载</a:t>
            </a:r>
            <a:r>
              <a:rPr lang="zh-CN" altLang="en-US" sz="2000">
                <a:solidFill>
                  <a:srgbClr val="1369B2"/>
                </a:solidFill>
                <a:latin typeface="微软雅黑" panose="020B0503020204020204" pitchFamily="34" charset="-122"/>
                <a:ea typeface="微软雅黑" panose="020B0503020204020204" pitchFamily="34" charset="-122"/>
              </a:rPr>
              <a:t>条件</a:t>
            </a:r>
            <a:r>
              <a:rPr lang="zh-CN" altLang="en-US" sz="2000">
                <a:solidFill>
                  <a:srgbClr val="595959"/>
                </a:solidFill>
                <a:latin typeface="微软雅黑" panose="020B0503020204020204" pitchFamily="34" charset="-122"/>
                <a:ea typeface="微软雅黑" panose="020B0503020204020204" pitchFamily="34" charset="-122"/>
              </a:rPr>
              <a:t>来</a:t>
            </a:r>
            <a:r>
              <a:rPr lang="zh-CN" altLang="zh-CN" sz="2000">
                <a:solidFill>
                  <a:srgbClr val="595959"/>
                </a:solidFill>
                <a:latin typeface="微软雅黑" panose="020B0503020204020204" pitchFamily="34" charset="-122"/>
                <a:ea typeface="微软雅黑" panose="020B0503020204020204" pitchFamily="34" charset="-122"/>
              </a:rPr>
              <a:t>对系统</a:t>
            </a:r>
            <a:r>
              <a:rPr lang="zh-CN" altLang="en-US" sz="2000">
                <a:solidFill>
                  <a:srgbClr val="595959"/>
                </a:solidFill>
                <a:latin typeface="微软雅黑" panose="020B0503020204020204" pitchFamily="34" charset="-122"/>
                <a:ea typeface="微软雅黑" panose="020B0503020204020204" pitchFamily="34" charset="-122"/>
              </a:rPr>
              <a:t>的</a:t>
            </a:r>
            <a:r>
              <a:rPr lang="zh-CN" altLang="zh-CN" sz="2000">
                <a:solidFill>
                  <a:srgbClr val="595959"/>
                </a:solidFill>
                <a:latin typeface="微软雅黑" panose="020B0503020204020204" pitchFamily="34" charset="-122"/>
                <a:ea typeface="微软雅黑" panose="020B0503020204020204" pitchFamily="34" charset="-122"/>
              </a:rPr>
              <a:t>各项</a:t>
            </a:r>
            <a:r>
              <a:rPr lang="zh-CN" altLang="zh-CN" sz="2000">
                <a:solidFill>
                  <a:srgbClr val="1369B2"/>
                </a:solidFill>
                <a:latin typeface="微软雅黑" panose="020B0503020204020204" pitchFamily="34" charset="-122"/>
                <a:ea typeface="微软雅黑" panose="020B0503020204020204" pitchFamily="34" charset="-122"/>
              </a:rPr>
              <a:t>性能指标</a:t>
            </a:r>
            <a:r>
              <a:rPr lang="zh-CN" altLang="zh-CN" sz="2000">
                <a:solidFill>
                  <a:srgbClr val="595959"/>
                </a:solidFill>
                <a:latin typeface="微软雅黑" panose="020B0503020204020204" pitchFamily="34" charset="-122"/>
                <a:ea typeface="微软雅黑" panose="020B0503020204020204" pitchFamily="34" charset="-122"/>
              </a:rPr>
              <a:t>进行测试。</a:t>
            </a:r>
            <a:r>
              <a:rPr lang="zh-CN" altLang="zh-CN" sz="2000" dirty="0">
                <a:solidFill>
                  <a:srgbClr val="595959"/>
                </a:solidFill>
                <a:latin typeface="微软雅黑" panose="020B0503020204020204" pitchFamily="34" charset="-122"/>
                <a:ea typeface="微软雅黑" panose="020B0503020204020204" pitchFamily="34" charset="-122"/>
              </a:rPr>
              <a:t>性能测试能够验证软件系统是否达到了用户期望的性能需求，同时也可以</a:t>
            </a:r>
            <a:r>
              <a:rPr lang="zh-CN" altLang="zh-CN" sz="2000" dirty="0">
                <a:solidFill>
                  <a:srgbClr val="1369B2"/>
                </a:solidFill>
                <a:latin typeface="微软雅黑" panose="020B0503020204020204" pitchFamily="34" charset="-122"/>
                <a:ea typeface="微软雅黑" panose="020B0503020204020204" pitchFamily="34" charset="-122"/>
              </a:rPr>
              <a:t>发现系统中可能存在的</a:t>
            </a:r>
            <a:r>
              <a:rPr lang="zh-CN" altLang="zh-CN" sz="2000">
                <a:solidFill>
                  <a:srgbClr val="1369B2"/>
                </a:solidFill>
                <a:latin typeface="微软雅黑" panose="020B0503020204020204" pitchFamily="34" charset="-122"/>
                <a:ea typeface="微软雅黑" panose="020B0503020204020204" pitchFamily="34" charset="-122"/>
              </a:rPr>
              <a:t>性能瓶颈</a:t>
            </a:r>
            <a:r>
              <a:rPr lang="zh-CN" altLang="en-US" sz="2000">
                <a:solidFill>
                  <a:srgbClr val="1369B2"/>
                </a:solidFill>
                <a:latin typeface="微软雅黑" panose="020B0503020204020204" pitchFamily="34" charset="-122"/>
                <a:ea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rPr>
              <a:t>缺陷</a:t>
            </a:r>
            <a:r>
              <a:rPr lang="zh-CN" altLang="zh-CN" sz="2000" dirty="0">
                <a:solidFill>
                  <a:srgbClr val="595959"/>
                </a:solidFill>
                <a:latin typeface="微软雅黑" panose="020B0503020204020204" pitchFamily="34" charset="-122"/>
                <a:ea typeface="微软雅黑" panose="020B0503020204020204" pitchFamily="34" charset="-122"/>
              </a:rPr>
              <a:t>，从而</a:t>
            </a:r>
            <a:r>
              <a:rPr lang="zh-CN" altLang="zh-CN" sz="2000" dirty="0">
                <a:solidFill>
                  <a:srgbClr val="1369B2"/>
                </a:solidFill>
                <a:latin typeface="微软雅黑" panose="020B0503020204020204" pitchFamily="34" charset="-122"/>
                <a:ea typeface="微软雅黑" panose="020B0503020204020204" pitchFamily="34" charset="-122"/>
              </a:rPr>
              <a:t>优化系统的性能</a:t>
            </a:r>
            <a:r>
              <a:rPr lang="zh-CN" altLang="zh-CN" sz="2000" dirty="0">
                <a:solidFill>
                  <a:srgbClr val="595959"/>
                </a:solidFill>
                <a:latin typeface="微软雅黑" panose="020B0503020204020204" pitchFamily="34" charset="-122"/>
                <a:ea typeface="微软雅黑" panose="020B0503020204020204" pitchFamily="34" charset="-122"/>
              </a:rPr>
              <a:t>。</a:t>
            </a:r>
          </a:p>
        </p:txBody>
      </p:sp>
      <p:pic>
        <p:nvPicPr>
          <p:cNvPr id="7" name="图片 6"/>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性能测试简介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7" name="组合 6"/>
          <p:cNvGrpSpPr/>
          <p:nvPr/>
        </p:nvGrpSpPr>
        <p:grpSpPr>
          <a:xfrm>
            <a:off x="1326743" y="1374134"/>
            <a:ext cx="7078076" cy="3296753"/>
            <a:chOff x="1205460" y="2362140"/>
            <a:chExt cx="7106738" cy="2504053"/>
          </a:xfrm>
        </p:grpSpPr>
        <p:sp>
          <p:nvSpPr>
            <p:cNvPr id="8" name="MH_Other_1"/>
            <p:cNvSpPr/>
            <p:nvPr>
              <p:custDataLst>
                <p:tags r:id="rId1"/>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1" name="MH_Other_2"/>
            <p:cNvSpPr/>
            <p:nvPr>
              <p:custDataLst>
                <p:tags r:id="rId2"/>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2" name="MH_SubTitle_1"/>
            <p:cNvSpPr txBox="1">
              <a:spLocks noChangeArrowheads="1"/>
            </p:cNvSpPr>
            <p:nvPr>
              <p:custDataLst>
                <p:tags r:id="rId3"/>
              </p:custDataLst>
            </p:nvPr>
          </p:nvSpPr>
          <p:spPr bwMode="auto">
            <a:xfrm flipH="1">
              <a:off x="5481422" y="3542533"/>
              <a:ext cx="1315947"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defTabSz="1087755">
                <a:lnSpc>
                  <a:spcPct val="120000"/>
                </a:lnSpc>
                <a:defRPr/>
              </a:pPr>
              <a:r>
                <a:rPr lang="zh-CN" altLang="en-US" sz="2000" b="1" dirty="0">
                  <a:solidFill>
                    <a:srgbClr val="595959"/>
                  </a:solidFill>
                  <a:latin typeface="微软雅黑" panose="020B0503020204020204" pitchFamily="34" charset="-122"/>
                  <a:ea typeface="微软雅黑" panose="020B0503020204020204" pitchFamily="34" charset="-122"/>
                  <a:sym typeface="+mn-ea"/>
                </a:rPr>
                <a:t>性能测试的目的</a:t>
              </a:r>
            </a:p>
          </p:txBody>
        </p:sp>
        <p:sp>
          <p:nvSpPr>
            <p:cNvPr id="13" name="MH_Text_1"/>
            <p:cNvSpPr txBox="1"/>
            <p:nvPr>
              <p:custDataLst>
                <p:tags r:id="rId4"/>
              </p:custDataLst>
            </p:nvPr>
          </p:nvSpPr>
          <p:spPr>
            <a:xfrm flipH="1">
              <a:off x="1205460" y="2362140"/>
              <a:ext cx="2732148" cy="1216713"/>
            </a:xfrm>
            <a:prstGeom prst="rect">
              <a:avLst/>
            </a:prstGeom>
            <a:noFill/>
          </p:spPr>
          <p:txBody>
            <a:bodyPr lIns="0" tIns="0" rIns="0" bIns="0"/>
            <a:lstStyle/>
            <a:p>
              <a:pPr marL="0" marR="0" lvl="0" indent="0" defTabSz="914400" rtl="0" fontAlgn="auto">
                <a:lnSpc>
                  <a:spcPct val="150000"/>
                </a:lnSpc>
                <a:spcBef>
                  <a:spcPts val="0"/>
                </a:spcBef>
                <a:spcAft>
                  <a:spcPts val="0"/>
                </a:spcAft>
                <a:buClrTx/>
                <a:buSzTx/>
                <a:buFontTx/>
                <a:buNone/>
                <a:defRPr/>
              </a:pPr>
              <a:r>
                <a:rPr lang="zh-CN" altLang="en-US" sz="1800" dirty="0">
                  <a:solidFill>
                    <a:srgbClr val="595959"/>
                  </a:solidFill>
                  <a:latin typeface="微软雅黑" panose="020B0503020204020204" pitchFamily="34" charset="-122"/>
                  <a:ea typeface="微软雅黑" panose="020B0503020204020204" pitchFamily="34" charset="-122"/>
                  <a:sym typeface="+mn-ea"/>
                </a:rPr>
                <a:t>验证系统性能是否满足预期的性能需求，包括系统的</a:t>
              </a:r>
              <a:r>
                <a:rPr lang="zh-CN" altLang="en-US" sz="1800" dirty="0">
                  <a:solidFill>
                    <a:srgbClr val="1369B2"/>
                  </a:solidFill>
                  <a:latin typeface="微软雅黑" panose="020B0503020204020204" pitchFamily="34" charset="-122"/>
                  <a:ea typeface="微软雅黑" panose="020B0503020204020204" pitchFamily="34" charset="-122"/>
                  <a:sym typeface="+mn-ea"/>
                </a:rPr>
                <a:t>执行效率</a:t>
              </a: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800" dirty="0">
                  <a:solidFill>
                    <a:srgbClr val="1369B2"/>
                  </a:solidFill>
                  <a:latin typeface="微软雅黑" panose="020B0503020204020204" pitchFamily="34" charset="-122"/>
                  <a:ea typeface="微软雅黑" panose="020B0503020204020204" pitchFamily="34" charset="-122"/>
                  <a:sym typeface="+mn-ea"/>
                </a:rPr>
                <a:t>稳定性</a:t>
              </a: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800" dirty="0">
                  <a:solidFill>
                    <a:srgbClr val="1369B2"/>
                  </a:solidFill>
                  <a:latin typeface="微软雅黑" panose="020B0503020204020204" pitchFamily="34" charset="-122"/>
                  <a:ea typeface="微软雅黑" panose="020B0503020204020204" pitchFamily="34" charset="-122"/>
                  <a:sym typeface="+mn-ea"/>
                </a:rPr>
                <a:t>可靠性</a:t>
              </a: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1800" dirty="0">
                  <a:solidFill>
                    <a:srgbClr val="1369B2"/>
                  </a:solidFill>
                  <a:latin typeface="微软雅黑" panose="020B0503020204020204" pitchFamily="34" charset="-122"/>
                  <a:ea typeface="微软雅黑" panose="020B0503020204020204" pitchFamily="34" charset="-122"/>
                  <a:sym typeface="+mn-ea"/>
                </a:rPr>
                <a:t>安全性</a:t>
              </a:r>
              <a:r>
                <a:rPr lang="zh-CN" altLang="en-US" sz="1800" dirty="0">
                  <a:solidFill>
                    <a:srgbClr val="595959"/>
                  </a:solidFill>
                  <a:latin typeface="微软雅黑" panose="020B0503020204020204" pitchFamily="34" charset="-122"/>
                  <a:ea typeface="微软雅黑" panose="020B0503020204020204" pitchFamily="34" charset="-122"/>
                  <a:sym typeface="+mn-ea"/>
                </a:rPr>
                <a:t>等。</a:t>
              </a:r>
            </a:p>
          </p:txBody>
        </p:sp>
        <p:sp>
          <p:nvSpPr>
            <p:cNvPr id="14" name="MH_Other_3"/>
            <p:cNvSpPr/>
            <p:nvPr>
              <p:custDataLst>
                <p:tags r:id="rId5"/>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5" name="MH_Other_4"/>
            <p:cNvSpPr/>
            <p:nvPr>
              <p:custDataLst>
                <p:tags r:id="rId6"/>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6" name="MH_Other_5"/>
            <p:cNvSpPr/>
            <p:nvPr>
              <p:custDataLst>
                <p:tags r:id="rId7"/>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7" name="MH_Other_6"/>
            <p:cNvSpPr/>
            <p:nvPr>
              <p:custDataLst>
                <p:tags r:id="rId8"/>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8" name="MH_Other_7"/>
            <p:cNvSpPr/>
            <p:nvPr>
              <p:custDataLst>
                <p:tags r:id="rId9"/>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9" name="MH_Other_8"/>
            <p:cNvSpPr/>
            <p:nvPr>
              <p:custDataLst>
                <p:tags r:id="rId10"/>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grpSp>
      <p:sp>
        <p:nvSpPr>
          <p:cNvPr id="5" name="矩形 4"/>
          <p:cNvSpPr/>
          <p:nvPr/>
        </p:nvSpPr>
        <p:spPr>
          <a:xfrm>
            <a:off x="8502773" y="1374134"/>
            <a:ext cx="2760658" cy="1338828"/>
          </a:xfrm>
          <a:prstGeom prst="rect">
            <a:avLst/>
          </a:prstGeom>
        </p:spPr>
        <p:txBody>
          <a:bodyPr wrap="square">
            <a:spAutoFit/>
          </a:bodyPr>
          <a:lstStyle/>
          <a:p>
            <a:pPr>
              <a:lnSpc>
                <a:spcPct val="150000"/>
              </a:lnSpc>
            </a:pPr>
            <a:r>
              <a:rPr lang="zh-CN" altLang="zh-CN" sz="1800" dirty="0">
                <a:solidFill>
                  <a:srgbClr val="595959"/>
                </a:solidFill>
                <a:latin typeface="微软雅黑" panose="020B0503020204020204" pitchFamily="34" charset="-122"/>
                <a:ea typeface="微软雅黑" panose="020B0503020204020204" pitchFamily="34" charset="-122"/>
              </a:rPr>
              <a:t>分析软件系统在各种负载水平下的运行状态，</a:t>
            </a:r>
            <a:r>
              <a:rPr lang="zh-CN" altLang="zh-CN" sz="1800" dirty="0">
                <a:solidFill>
                  <a:srgbClr val="1369B2"/>
                </a:solidFill>
                <a:latin typeface="微软雅黑" panose="020B0503020204020204" pitchFamily="34" charset="-122"/>
                <a:ea typeface="微软雅黑" panose="020B0503020204020204" pitchFamily="34" charset="-122"/>
              </a:rPr>
              <a:t>提高性能调整效率</a:t>
            </a:r>
            <a:r>
              <a:rPr lang="zh-CN" altLang="zh-CN" sz="1800" dirty="0">
                <a:solidFill>
                  <a:srgbClr val="595959"/>
                </a:solidFill>
                <a:latin typeface="微软雅黑" panose="020B0503020204020204" pitchFamily="34" charset="-122"/>
                <a:ea typeface="微软雅黑" panose="020B0503020204020204" pitchFamily="34" charset="-122"/>
              </a:rPr>
              <a:t>。</a:t>
            </a:r>
          </a:p>
        </p:txBody>
      </p:sp>
      <p:sp>
        <p:nvSpPr>
          <p:cNvPr id="6" name="矩形 5"/>
          <p:cNvSpPr/>
          <p:nvPr/>
        </p:nvSpPr>
        <p:spPr>
          <a:xfrm>
            <a:off x="1264057" y="3725879"/>
            <a:ext cx="2698349" cy="1754326"/>
          </a:xfrm>
          <a:prstGeom prst="rect">
            <a:avLst/>
          </a:prstGeom>
        </p:spPr>
        <p:txBody>
          <a:bodyPr wrap="square">
            <a:spAutoFit/>
          </a:bodyPr>
          <a:lstStyle/>
          <a:p>
            <a:pPr>
              <a:lnSpc>
                <a:spcPct val="150000"/>
              </a:lnSpc>
            </a:pPr>
            <a:r>
              <a:rPr lang="zh-CN" altLang="zh-CN" sz="1800" dirty="0">
                <a:solidFill>
                  <a:srgbClr val="1369B2"/>
                </a:solidFill>
                <a:latin typeface="微软雅黑" panose="020B0503020204020204" pitchFamily="34" charset="-122"/>
                <a:ea typeface="微软雅黑" panose="020B0503020204020204" pitchFamily="34" charset="-122"/>
              </a:rPr>
              <a:t>识别系统缺陷</a:t>
            </a:r>
            <a:r>
              <a:rPr lang="zh-CN" altLang="zh-CN" sz="1800" dirty="0">
                <a:solidFill>
                  <a:srgbClr val="595959"/>
                </a:solidFill>
                <a:latin typeface="微软雅黑" panose="020B0503020204020204" pitchFamily="34" charset="-122"/>
                <a:ea typeface="微软雅黑" panose="020B0503020204020204" pitchFamily="34" charset="-122"/>
              </a:rPr>
              <a:t>，寻找系统中可能存在的性能问题</a:t>
            </a:r>
            <a:r>
              <a:rPr lang="zh-CN" altLang="zh-CN" sz="1800">
                <a:solidFill>
                  <a:srgbClr val="595959"/>
                </a:solidFill>
                <a:latin typeface="微软雅黑" panose="020B0503020204020204" pitchFamily="34" charset="-122"/>
                <a:ea typeface="微软雅黑" panose="020B0503020204020204" pitchFamily="34" charset="-122"/>
              </a:rPr>
              <a:t>，定位系统</a:t>
            </a:r>
            <a:r>
              <a:rPr lang="zh-CN" altLang="en-US" sz="1800">
                <a:solidFill>
                  <a:srgbClr val="595959"/>
                </a:solidFill>
                <a:latin typeface="微软雅黑" panose="020B0503020204020204" pitchFamily="34" charset="-122"/>
                <a:ea typeface="微软雅黑" panose="020B0503020204020204" pitchFamily="34" charset="-122"/>
              </a:rPr>
              <a:t>性能</a:t>
            </a:r>
            <a:r>
              <a:rPr lang="zh-CN" altLang="zh-CN" sz="1800">
                <a:solidFill>
                  <a:srgbClr val="595959"/>
                </a:solidFill>
                <a:latin typeface="微软雅黑" panose="020B0503020204020204" pitchFamily="34" charset="-122"/>
                <a:ea typeface="微软雅黑" panose="020B0503020204020204" pitchFamily="34" charset="-122"/>
              </a:rPr>
              <a:t>瓶颈</a:t>
            </a:r>
            <a:r>
              <a:rPr lang="zh-CN" altLang="zh-CN" sz="1800" dirty="0">
                <a:solidFill>
                  <a:srgbClr val="595959"/>
                </a:solidFill>
                <a:latin typeface="微软雅黑" panose="020B0503020204020204" pitchFamily="34" charset="-122"/>
                <a:ea typeface="微软雅黑" panose="020B0503020204020204" pitchFamily="34" charset="-122"/>
              </a:rPr>
              <a:t>并解决问题。</a:t>
            </a:r>
          </a:p>
        </p:txBody>
      </p:sp>
      <p:sp>
        <p:nvSpPr>
          <p:cNvPr id="24" name="矩形 23"/>
          <p:cNvSpPr/>
          <p:nvPr/>
        </p:nvSpPr>
        <p:spPr>
          <a:xfrm>
            <a:off x="8502773" y="3510748"/>
            <a:ext cx="2858245" cy="1769089"/>
          </a:xfrm>
          <a:prstGeom prst="rect">
            <a:avLst/>
          </a:prstGeom>
        </p:spPr>
        <p:txBody>
          <a:bodyPr wrap="square">
            <a:spAutoFit/>
          </a:bodyPr>
          <a:lstStyle/>
          <a:p>
            <a:pPr>
              <a:lnSpc>
                <a:spcPct val="150000"/>
              </a:lnSpc>
            </a:pPr>
            <a:r>
              <a:rPr lang="zh-CN" altLang="en-US" sz="1800">
                <a:solidFill>
                  <a:srgbClr val="1369B2"/>
                </a:solidFill>
                <a:latin typeface="微软雅黑" panose="020B0503020204020204" pitchFamily="34" charset="-122"/>
                <a:ea typeface="微软雅黑" panose="020B0503020204020204" pitchFamily="34" charset="-122"/>
              </a:rPr>
              <a:t>进行</a:t>
            </a:r>
            <a:r>
              <a:rPr lang="zh-CN" altLang="zh-CN" sz="1800">
                <a:solidFill>
                  <a:srgbClr val="1369B2"/>
                </a:solidFill>
                <a:latin typeface="微软雅黑" panose="020B0503020204020204" pitchFamily="34" charset="-122"/>
                <a:ea typeface="微软雅黑" panose="020B0503020204020204" pitchFamily="34" charset="-122"/>
              </a:rPr>
              <a:t>系统</a:t>
            </a:r>
            <a:r>
              <a:rPr lang="zh-CN" altLang="zh-CN" sz="1800" dirty="0">
                <a:solidFill>
                  <a:srgbClr val="1369B2"/>
                </a:solidFill>
                <a:latin typeface="微软雅黑" panose="020B0503020204020204" pitchFamily="34" charset="-122"/>
                <a:ea typeface="微软雅黑" panose="020B0503020204020204" pitchFamily="34" charset="-122"/>
              </a:rPr>
              <a:t>调优</a:t>
            </a:r>
            <a:r>
              <a:rPr lang="zh-CN" altLang="zh-CN" sz="1800" dirty="0">
                <a:solidFill>
                  <a:srgbClr val="595959"/>
                </a:solidFill>
                <a:latin typeface="微软雅黑" panose="020B0503020204020204" pitchFamily="34" charset="-122"/>
                <a:ea typeface="微软雅黑" panose="020B0503020204020204" pitchFamily="34" charset="-122"/>
              </a:rPr>
              <a:t>，通过重复的、长时间的测试，找出系统中存在的隐含问题，改善并优化系统的性能。</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nvPicPr>
        <p:blipFill>
          <a:blip r:embed="rId3"/>
          <a:stretch>
            <a:fillRect/>
          </a:stretch>
        </p:blipFill>
        <p:spPr>
          <a:xfrm>
            <a:off x="944880" y="2215515"/>
            <a:ext cx="2797810" cy="3898265"/>
          </a:xfrm>
          <a:prstGeom prst="rect">
            <a:avLst/>
          </a:prstGeom>
        </p:spPr>
      </p:pic>
      <p:sp>
        <p:nvSpPr>
          <p:cNvPr id="9"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0" name="TextBox 35"/>
          <p:cNvSpPr txBox="1">
            <a:spLocks noChangeArrowheads="1"/>
          </p:cNvSpPr>
          <p:nvPr/>
        </p:nvSpPr>
        <p:spPr bwMode="auto">
          <a:xfrm>
            <a:off x="3201035" y="1706408"/>
            <a:ext cx="160655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先定一个小目标！</a:t>
            </a:r>
          </a:p>
        </p:txBody>
      </p:sp>
      <p:sp>
        <p:nvSpPr>
          <p:cNvPr id="13" name="TextBox 35"/>
          <p:cNvSpPr txBox="1">
            <a:spLocks noChangeArrowheads="1"/>
          </p:cNvSpPr>
          <p:nvPr/>
        </p:nvSpPr>
        <p:spPr bwMode="auto">
          <a:xfrm>
            <a:off x="5815965" y="3576722"/>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just">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掌握</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性能测试种类</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，能够</a:t>
            </a:r>
            <a:r>
              <a:rPr lang="zh-CN" altLang="zh-CN" sz="2000" dirty="0">
                <a:solidFill>
                  <a:srgbClr val="1369B2"/>
                </a:solidFill>
                <a:latin typeface="微软雅黑" panose="020B0503020204020204" pitchFamily="34" charset="-122"/>
                <a:ea typeface="微软雅黑" panose="020B0503020204020204" pitchFamily="34" charset="-122"/>
                <a:cs typeface="+mn-ea"/>
              </a:rPr>
              <a:t>描述常见的性能测试种类及其特点</a:t>
            </a:r>
          </a:p>
        </p:txBody>
      </p:sp>
      <p:grpSp>
        <p:nvGrpSpPr>
          <p:cNvPr id="11" name="组合 10"/>
          <p:cNvGrpSpPr/>
          <p:nvPr/>
        </p:nvGrpSpPr>
        <p:grpSpPr>
          <a:xfrm>
            <a:off x="5328285" y="3787143"/>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982662" y="983982"/>
            <a:ext cx="2804477" cy="69998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基准测试</a:t>
            </a:r>
          </a:p>
        </p:txBody>
      </p:sp>
      <p:grpSp>
        <p:nvGrpSpPr>
          <p:cNvPr id="12" name="组合 11"/>
          <p:cNvGrpSpPr/>
          <p:nvPr/>
        </p:nvGrpSpPr>
        <p:grpSpPr>
          <a:xfrm>
            <a:off x="2618507" y="2070936"/>
            <a:ext cx="6963152" cy="1440000"/>
            <a:chOff x="2655457" y="2246012"/>
            <a:chExt cx="6963152" cy="1440000"/>
          </a:xfrm>
        </p:grpSpPr>
        <p:sp>
          <p:nvSpPr>
            <p:cNvPr id="16" name="Rectangle 58"/>
            <p:cNvSpPr>
              <a:spLocks noChangeArrowheads="1"/>
            </p:cNvSpPr>
            <p:nvPr/>
          </p:nvSpPr>
          <p:spPr bwMode="auto">
            <a:xfrm rot="2700000">
              <a:off x="3737952"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Rectangle 58"/>
            <p:cNvSpPr>
              <a:spLocks noChangeArrowheads="1"/>
            </p:cNvSpPr>
            <p:nvPr/>
          </p:nvSpPr>
          <p:spPr bwMode="auto">
            <a:xfrm rot="2700000">
              <a:off x="5376000" y="2246012"/>
              <a:ext cx="1440000" cy="1440000"/>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Rectangle 58"/>
            <p:cNvSpPr>
              <a:spLocks noChangeArrowheads="1"/>
            </p:cNvSpPr>
            <p:nvPr/>
          </p:nvSpPr>
          <p:spPr bwMode="auto">
            <a:xfrm rot="2700000">
              <a:off x="7084003"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Freeform 28"/>
            <p:cNvSpPr>
              <a:spLocks noEditPoints="1"/>
            </p:cNvSpPr>
            <p:nvPr/>
          </p:nvSpPr>
          <p:spPr bwMode="auto">
            <a:xfrm>
              <a:off x="5723670" y="2607118"/>
              <a:ext cx="721832" cy="688172"/>
            </a:xfrm>
            <a:custGeom>
              <a:avLst/>
              <a:gdLst>
                <a:gd name="T0" fmla="*/ 188 w 490"/>
                <a:gd name="T1" fmla="*/ 199 h 467"/>
                <a:gd name="T2" fmla="*/ 162 w 490"/>
                <a:gd name="T3" fmla="*/ 123 h 467"/>
                <a:gd name="T4" fmla="*/ 162 w 490"/>
                <a:gd name="T5" fmla="*/ 117 h 467"/>
                <a:gd name="T6" fmla="*/ 329 w 490"/>
                <a:gd name="T7" fmla="*/ 117 h 467"/>
                <a:gd name="T8" fmla="*/ 329 w 490"/>
                <a:gd name="T9" fmla="*/ 123 h 467"/>
                <a:gd name="T10" fmla="*/ 303 w 490"/>
                <a:gd name="T11" fmla="*/ 199 h 467"/>
                <a:gd name="T12" fmla="*/ 391 w 490"/>
                <a:gd name="T13" fmla="*/ 244 h 467"/>
                <a:gd name="T14" fmla="*/ 445 w 490"/>
                <a:gd name="T15" fmla="*/ 172 h 467"/>
                <a:gd name="T16" fmla="*/ 445 w 490"/>
                <a:gd name="T17" fmla="*/ 172 h 467"/>
                <a:gd name="T18" fmla="*/ 407 w 490"/>
                <a:gd name="T19" fmla="*/ 94 h 467"/>
                <a:gd name="T20" fmla="*/ 375 w 490"/>
                <a:gd name="T21" fmla="*/ 93 h 467"/>
                <a:gd name="T22" fmla="*/ 337 w 490"/>
                <a:gd name="T23" fmla="*/ 172 h 467"/>
                <a:gd name="T24" fmla="*/ 337 w 490"/>
                <a:gd name="T25" fmla="*/ 172 h 467"/>
                <a:gd name="T26" fmla="*/ 391 w 490"/>
                <a:gd name="T27" fmla="*/ 244 h 467"/>
                <a:gd name="T28" fmla="*/ 344 w 490"/>
                <a:gd name="T29" fmla="*/ 173 h 467"/>
                <a:gd name="T30" fmla="*/ 349 w 490"/>
                <a:gd name="T31" fmla="*/ 148 h 467"/>
                <a:gd name="T32" fmla="*/ 430 w 490"/>
                <a:gd name="T33" fmla="*/ 134 h 467"/>
                <a:gd name="T34" fmla="*/ 434 w 490"/>
                <a:gd name="T35" fmla="*/ 160 h 467"/>
                <a:gd name="T36" fmla="*/ 422 w 490"/>
                <a:gd name="T37" fmla="*/ 217 h 467"/>
                <a:gd name="T38" fmla="*/ 360 w 490"/>
                <a:gd name="T39" fmla="*/ 217 h 467"/>
                <a:gd name="T40" fmla="*/ 137 w 490"/>
                <a:gd name="T41" fmla="*/ 221 h 467"/>
                <a:gd name="T42" fmla="*/ 154 w 490"/>
                <a:gd name="T43" fmla="*/ 172 h 467"/>
                <a:gd name="T44" fmla="*/ 154 w 490"/>
                <a:gd name="T45" fmla="*/ 168 h 467"/>
                <a:gd name="T46" fmla="*/ 99 w 490"/>
                <a:gd name="T47" fmla="*/ 92 h 467"/>
                <a:gd name="T48" fmla="*/ 46 w 490"/>
                <a:gd name="T49" fmla="*/ 168 h 467"/>
                <a:gd name="T50" fmla="*/ 46 w 490"/>
                <a:gd name="T51" fmla="*/ 172 h 467"/>
                <a:gd name="T52" fmla="*/ 62 w 490"/>
                <a:gd name="T53" fmla="*/ 221 h 467"/>
                <a:gd name="T54" fmla="*/ 68 w 490"/>
                <a:gd name="T55" fmla="*/ 217 h 467"/>
                <a:gd name="T56" fmla="*/ 56 w 490"/>
                <a:gd name="T57" fmla="*/ 160 h 467"/>
                <a:gd name="T58" fmla="*/ 61 w 490"/>
                <a:gd name="T59" fmla="*/ 134 h 467"/>
                <a:gd name="T60" fmla="*/ 142 w 490"/>
                <a:gd name="T61" fmla="*/ 148 h 467"/>
                <a:gd name="T62" fmla="*/ 146 w 490"/>
                <a:gd name="T63" fmla="*/ 173 h 467"/>
                <a:gd name="T64" fmla="*/ 100 w 490"/>
                <a:gd name="T65" fmla="*/ 237 h 467"/>
                <a:gd name="T66" fmla="*/ 262 w 490"/>
                <a:gd name="T67" fmla="*/ 291 h 467"/>
                <a:gd name="T68" fmla="*/ 252 w 490"/>
                <a:gd name="T69" fmla="*/ 313 h 467"/>
                <a:gd name="T70" fmla="*/ 314 w 490"/>
                <a:gd name="T71" fmla="*/ 264 h 467"/>
                <a:gd name="T72" fmla="*/ 402 w 490"/>
                <a:gd name="T73" fmla="*/ 437 h 467"/>
                <a:gd name="T74" fmla="*/ 119 w 490"/>
                <a:gd name="T75" fmla="*/ 467 h 467"/>
                <a:gd name="T76" fmla="*/ 88 w 490"/>
                <a:gd name="T77" fmla="*/ 334 h 467"/>
                <a:gd name="T78" fmla="*/ 231 w 490"/>
                <a:gd name="T79" fmla="*/ 413 h 467"/>
                <a:gd name="T80" fmla="*/ 238 w 490"/>
                <a:gd name="T81" fmla="*/ 308 h 467"/>
                <a:gd name="T82" fmla="*/ 229 w 490"/>
                <a:gd name="T83" fmla="*/ 288 h 467"/>
                <a:gd name="T84" fmla="*/ 259 w 490"/>
                <a:gd name="T85" fmla="*/ 286 h 467"/>
                <a:gd name="T86" fmla="*/ 262 w 490"/>
                <a:gd name="T87" fmla="*/ 291 h 467"/>
                <a:gd name="T88" fmla="*/ 490 w 490"/>
                <a:gd name="T89" fmla="*/ 305 h 467"/>
                <a:gd name="T90" fmla="*/ 412 w 490"/>
                <a:gd name="T91" fmla="*/ 312 h 467"/>
                <a:gd name="T92" fmla="*/ 416 w 490"/>
                <a:gd name="T93" fmla="*/ 388 h 467"/>
                <a:gd name="T94" fmla="*/ 490 w 490"/>
                <a:gd name="T95" fmla="*/ 371 h 467"/>
                <a:gd name="T96" fmla="*/ 16 w 490"/>
                <a:gd name="T97" fmla="*/ 388 h 467"/>
                <a:gd name="T98" fmla="*/ 74 w 490"/>
                <a:gd name="T99" fmla="*/ 334 h 467"/>
                <a:gd name="T100" fmla="*/ 139 w 490"/>
                <a:gd name="T101" fmla="*/ 260 h 467"/>
                <a:gd name="T102" fmla="*/ 0 w 490"/>
                <a:gd name="T103" fmla="*/ 371 h 467"/>
                <a:gd name="T104" fmla="*/ 245 w 490"/>
                <a:gd name="T105" fmla="*/ 223 h 467"/>
                <a:gd name="T106" fmla="*/ 317 w 490"/>
                <a:gd name="T107" fmla="*/ 124 h 467"/>
                <a:gd name="T108" fmla="*/ 310 w 490"/>
                <a:gd name="T109" fmla="*/ 85 h 467"/>
                <a:gd name="T110" fmla="*/ 274 w 490"/>
                <a:gd name="T111" fmla="*/ 61 h 467"/>
                <a:gd name="T112" fmla="*/ 216 w 490"/>
                <a:gd name="T113" fmla="*/ 61 h 467"/>
                <a:gd name="T114" fmla="*/ 185 w 490"/>
                <a:gd name="T115" fmla="*/ 64 h 467"/>
                <a:gd name="T116" fmla="*/ 178 w 490"/>
                <a:gd name="T117" fmla="*/ 105 h 467"/>
                <a:gd name="T118" fmla="*/ 197 w 490"/>
                <a:gd name="T119" fmla="*/ 192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0" h="467">
                  <a:moveTo>
                    <a:pt x="245" y="235"/>
                  </a:moveTo>
                  <a:cubicBezTo>
                    <a:pt x="224" y="235"/>
                    <a:pt x="203" y="220"/>
                    <a:pt x="188" y="199"/>
                  </a:cubicBezTo>
                  <a:cubicBezTo>
                    <a:pt x="172" y="178"/>
                    <a:pt x="162" y="150"/>
                    <a:pt x="162" y="123"/>
                  </a:cubicBezTo>
                  <a:cubicBezTo>
                    <a:pt x="162" y="123"/>
                    <a:pt x="162" y="123"/>
                    <a:pt x="162" y="123"/>
                  </a:cubicBezTo>
                  <a:cubicBezTo>
                    <a:pt x="162" y="122"/>
                    <a:pt x="162" y="122"/>
                    <a:pt x="162" y="122"/>
                  </a:cubicBezTo>
                  <a:cubicBezTo>
                    <a:pt x="162" y="121"/>
                    <a:pt x="162" y="119"/>
                    <a:pt x="162" y="117"/>
                  </a:cubicBezTo>
                  <a:cubicBezTo>
                    <a:pt x="162" y="52"/>
                    <a:pt x="151" y="0"/>
                    <a:pt x="245" y="0"/>
                  </a:cubicBezTo>
                  <a:cubicBezTo>
                    <a:pt x="340" y="0"/>
                    <a:pt x="329" y="52"/>
                    <a:pt x="329" y="117"/>
                  </a:cubicBezTo>
                  <a:cubicBezTo>
                    <a:pt x="329" y="119"/>
                    <a:pt x="329" y="121"/>
                    <a:pt x="329" y="122"/>
                  </a:cubicBezTo>
                  <a:cubicBezTo>
                    <a:pt x="329" y="123"/>
                    <a:pt x="329" y="123"/>
                    <a:pt x="329" y="123"/>
                  </a:cubicBezTo>
                  <a:cubicBezTo>
                    <a:pt x="329" y="123"/>
                    <a:pt x="329" y="123"/>
                    <a:pt x="329" y="123"/>
                  </a:cubicBezTo>
                  <a:cubicBezTo>
                    <a:pt x="329" y="150"/>
                    <a:pt x="318" y="178"/>
                    <a:pt x="303" y="199"/>
                  </a:cubicBezTo>
                  <a:cubicBezTo>
                    <a:pt x="287" y="220"/>
                    <a:pt x="266" y="235"/>
                    <a:pt x="245" y="235"/>
                  </a:cubicBezTo>
                  <a:close/>
                  <a:moveTo>
                    <a:pt x="391" y="244"/>
                  </a:moveTo>
                  <a:cubicBezTo>
                    <a:pt x="404" y="244"/>
                    <a:pt x="418" y="235"/>
                    <a:pt x="428" y="221"/>
                  </a:cubicBezTo>
                  <a:cubicBezTo>
                    <a:pt x="438" y="208"/>
                    <a:pt x="445" y="190"/>
                    <a:pt x="445" y="172"/>
                  </a:cubicBezTo>
                  <a:cubicBezTo>
                    <a:pt x="445" y="172"/>
                    <a:pt x="445" y="172"/>
                    <a:pt x="445" y="172"/>
                  </a:cubicBezTo>
                  <a:cubicBezTo>
                    <a:pt x="445" y="172"/>
                    <a:pt x="445" y="172"/>
                    <a:pt x="445" y="172"/>
                  </a:cubicBezTo>
                  <a:cubicBezTo>
                    <a:pt x="445" y="170"/>
                    <a:pt x="445" y="169"/>
                    <a:pt x="445" y="168"/>
                  </a:cubicBezTo>
                  <a:cubicBezTo>
                    <a:pt x="445" y="131"/>
                    <a:pt x="451" y="99"/>
                    <a:pt x="407" y="94"/>
                  </a:cubicBezTo>
                  <a:cubicBezTo>
                    <a:pt x="402" y="93"/>
                    <a:pt x="397" y="92"/>
                    <a:pt x="391" y="92"/>
                  </a:cubicBezTo>
                  <a:cubicBezTo>
                    <a:pt x="385" y="92"/>
                    <a:pt x="380" y="93"/>
                    <a:pt x="375" y="93"/>
                  </a:cubicBezTo>
                  <a:cubicBezTo>
                    <a:pt x="331" y="99"/>
                    <a:pt x="337" y="130"/>
                    <a:pt x="337" y="168"/>
                  </a:cubicBezTo>
                  <a:cubicBezTo>
                    <a:pt x="337" y="169"/>
                    <a:pt x="337" y="170"/>
                    <a:pt x="337" y="172"/>
                  </a:cubicBezTo>
                  <a:cubicBezTo>
                    <a:pt x="337" y="172"/>
                    <a:pt x="337" y="172"/>
                    <a:pt x="337" y="172"/>
                  </a:cubicBezTo>
                  <a:cubicBezTo>
                    <a:pt x="337" y="172"/>
                    <a:pt x="337" y="172"/>
                    <a:pt x="337" y="172"/>
                  </a:cubicBezTo>
                  <a:cubicBezTo>
                    <a:pt x="337" y="190"/>
                    <a:pt x="344" y="208"/>
                    <a:pt x="354" y="221"/>
                  </a:cubicBezTo>
                  <a:cubicBezTo>
                    <a:pt x="364" y="235"/>
                    <a:pt x="377" y="244"/>
                    <a:pt x="391" y="244"/>
                  </a:cubicBezTo>
                  <a:close/>
                  <a:moveTo>
                    <a:pt x="360" y="217"/>
                  </a:moveTo>
                  <a:cubicBezTo>
                    <a:pt x="351" y="204"/>
                    <a:pt x="345" y="188"/>
                    <a:pt x="344" y="173"/>
                  </a:cubicBezTo>
                  <a:cubicBezTo>
                    <a:pt x="348" y="160"/>
                    <a:pt x="348" y="160"/>
                    <a:pt x="348" y="160"/>
                  </a:cubicBezTo>
                  <a:cubicBezTo>
                    <a:pt x="349" y="156"/>
                    <a:pt x="349" y="152"/>
                    <a:pt x="349" y="148"/>
                  </a:cubicBezTo>
                  <a:cubicBezTo>
                    <a:pt x="349" y="142"/>
                    <a:pt x="349" y="138"/>
                    <a:pt x="352" y="134"/>
                  </a:cubicBezTo>
                  <a:cubicBezTo>
                    <a:pt x="354" y="127"/>
                    <a:pt x="429" y="127"/>
                    <a:pt x="430" y="134"/>
                  </a:cubicBezTo>
                  <a:cubicBezTo>
                    <a:pt x="433" y="138"/>
                    <a:pt x="433" y="142"/>
                    <a:pt x="433" y="148"/>
                  </a:cubicBezTo>
                  <a:cubicBezTo>
                    <a:pt x="433" y="152"/>
                    <a:pt x="433" y="156"/>
                    <a:pt x="434" y="160"/>
                  </a:cubicBezTo>
                  <a:cubicBezTo>
                    <a:pt x="437" y="173"/>
                    <a:pt x="437" y="173"/>
                    <a:pt x="437" y="173"/>
                  </a:cubicBezTo>
                  <a:cubicBezTo>
                    <a:pt x="437" y="188"/>
                    <a:pt x="431" y="204"/>
                    <a:pt x="422" y="217"/>
                  </a:cubicBezTo>
                  <a:cubicBezTo>
                    <a:pt x="413" y="229"/>
                    <a:pt x="402" y="237"/>
                    <a:pt x="391" y="237"/>
                  </a:cubicBezTo>
                  <a:cubicBezTo>
                    <a:pt x="380" y="237"/>
                    <a:pt x="368" y="229"/>
                    <a:pt x="360" y="217"/>
                  </a:cubicBezTo>
                  <a:close/>
                  <a:moveTo>
                    <a:pt x="100" y="244"/>
                  </a:moveTo>
                  <a:cubicBezTo>
                    <a:pt x="113" y="244"/>
                    <a:pt x="127" y="235"/>
                    <a:pt x="137" y="221"/>
                  </a:cubicBezTo>
                  <a:cubicBezTo>
                    <a:pt x="147" y="208"/>
                    <a:pt x="154" y="190"/>
                    <a:pt x="154" y="172"/>
                  </a:cubicBezTo>
                  <a:cubicBezTo>
                    <a:pt x="154" y="172"/>
                    <a:pt x="154" y="172"/>
                    <a:pt x="154" y="172"/>
                  </a:cubicBezTo>
                  <a:cubicBezTo>
                    <a:pt x="154" y="172"/>
                    <a:pt x="154" y="172"/>
                    <a:pt x="154" y="172"/>
                  </a:cubicBezTo>
                  <a:cubicBezTo>
                    <a:pt x="154" y="170"/>
                    <a:pt x="154" y="169"/>
                    <a:pt x="154" y="168"/>
                  </a:cubicBezTo>
                  <a:cubicBezTo>
                    <a:pt x="154" y="130"/>
                    <a:pt x="160" y="99"/>
                    <a:pt x="114" y="93"/>
                  </a:cubicBezTo>
                  <a:cubicBezTo>
                    <a:pt x="110" y="92"/>
                    <a:pt x="105" y="92"/>
                    <a:pt x="99" y="92"/>
                  </a:cubicBezTo>
                  <a:cubicBezTo>
                    <a:pt x="93" y="92"/>
                    <a:pt x="87" y="93"/>
                    <a:pt x="82" y="94"/>
                  </a:cubicBezTo>
                  <a:cubicBezTo>
                    <a:pt x="40" y="100"/>
                    <a:pt x="46" y="131"/>
                    <a:pt x="46" y="168"/>
                  </a:cubicBezTo>
                  <a:cubicBezTo>
                    <a:pt x="46" y="169"/>
                    <a:pt x="46" y="170"/>
                    <a:pt x="46" y="172"/>
                  </a:cubicBezTo>
                  <a:cubicBezTo>
                    <a:pt x="46" y="172"/>
                    <a:pt x="46" y="172"/>
                    <a:pt x="46" y="172"/>
                  </a:cubicBezTo>
                  <a:cubicBezTo>
                    <a:pt x="46" y="172"/>
                    <a:pt x="46" y="172"/>
                    <a:pt x="46" y="172"/>
                  </a:cubicBezTo>
                  <a:cubicBezTo>
                    <a:pt x="46" y="190"/>
                    <a:pt x="52" y="208"/>
                    <a:pt x="62" y="221"/>
                  </a:cubicBezTo>
                  <a:cubicBezTo>
                    <a:pt x="72" y="235"/>
                    <a:pt x="86" y="244"/>
                    <a:pt x="100" y="244"/>
                  </a:cubicBezTo>
                  <a:close/>
                  <a:moveTo>
                    <a:pt x="68" y="217"/>
                  </a:moveTo>
                  <a:cubicBezTo>
                    <a:pt x="59" y="204"/>
                    <a:pt x="53" y="188"/>
                    <a:pt x="53" y="173"/>
                  </a:cubicBezTo>
                  <a:cubicBezTo>
                    <a:pt x="56" y="160"/>
                    <a:pt x="56" y="160"/>
                    <a:pt x="56" y="160"/>
                  </a:cubicBezTo>
                  <a:cubicBezTo>
                    <a:pt x="57" y="156"/>
                    <a:pt x="57" y="152"/>
                    <a:pt x="58" y="148"/>
                  </a:cubicBezTo>
                  <a:cubicBezTo>
                    <a:pt x="58" y="142"/>
                    <a:pt x="58" y="138"/>
                    <a:pt x="61" y="134"/>
                  </a:cubicBezTo>
                  <a:cubicBezTo>
                    <a:pt x="63" y="127"/>
                    <a:pt x="138" y="127"/>
                    <a:pt x="139" y="134"/>
                  </a:cubicBezTo>
                  <a:cubicBezTo>
                    <a:pt x="141" y="138"/>
                    <a:pt x="142" y="142"/>
                    <a:pt x="142" y="148"/>
                  </a:cubicBezTo>
                  <a:cubicBezTo>
                    <a:pt x="142" y="152"/>
                    <a:pt x="142" y="156"/>
                    <a:pt x="143" y="160"/>
                  </a:cubicBezTo>
                  <a:cubicBezTo>
                    <a:pt x="146" y="173"/>
                    <a:pt x="146" y="173"/>
                    <a:pt x="146" y="173"/>
                  </a:cubicBezTo>
                  <a:cubicBezTo>
                    <a:pt x="146" y="188"/>
                    <a:pt x="140" y="204"/>
                    <a:pt x="131" y="217"/>
                  </a:cubicBezTo>
                  <a:cubicBezTo>
                    <a:pt x="122" y="229"/>
                    <a:pt x="111" y="237"/>
                    <a:pt x="100" y="237"/>
                  </a:cubicBezTo>
                  <a:cubicBezTo>
                    <a:pt x="89" y="237"/>
                    <a:pt x="77" y="229"/>
                    <a:pt x="68" y="217"/>
                  </a:cubicBezTo>
                  <a:close/>
                  <a:moveTo>
                    <a:pt x="262" y="291"/>
                  </a:moveTo>
                  <a:cubicBezTo>
                    <a:pt x="253" y="308"/>
                    <a:pt x="253" y="308"/>
                    <a:pt x="253" y="308"/>
                  </a:cubicBezTo>
                  <a:cubicBezTo>
                    <a:pt x="252" y="310"/>
                    <a:pt x="251" y="311"/>
                    <a:pt x="252" y="313"/>
                  </a:cubicBezTo>
                  <a:cubicBezTo>
                    <a:pt x="260" y="412"/>
                    <a:pt x="260" y="412"/>
                    <a:pt x="260" y="412"/>
                  </a:cubicBezTo>
                  <a:cubicBezTo>
                    <a:pt x="285" y="360"/>
                    <a:pt x="299" y="326"/>
                    <a:pt x="314" y="264"/>
                  </a:cubicBezTo>
                  <a:cubicBezTo>
                    <a:pt x="364" y="275"/>
                    <a:pt x="402" y="298"/>
                    <a:pt x="402" y="334"/>
                  </a:cubicBezTo>
                  <a:cubicBezTo>
                    <a:pt x="402" y="437"/>
                    <a:pt x="402" y="437"/>
                    <a:pt x="402" y="437"/>
                  </a:cubicBezTo>
                  <a:cubicBezTo>
                    <a:pt x="402" y="454"/>
                    <a:pt x="388" y="467"/>
                    <a:pt x="371" y="467"/>
                  </a:cubicBezTo>
                  <a:cubicBezTo>
                    <a:pt x="287" y="467"/>
                    <a:pt x="203" y="467"/>
                    <a:pt x="119" y="467"/>
                  </a:cubicBezTo>
                  <a:cubicBezTo>
                    <a:pt x="102" y="467"/>
                    <a:pt x="88" y="454"/>
                    <a:pt x="88" y="437"/>
                  </a:cubicBezTo>
                  <a:cubicBezTo>
                    <a:pt x="88" y="402"/>
                    <a:pt x="88" y="368"/>
                    <a:pt x="88" y="334"/>
                  </a:cubicBezTo>
                  <a:cubicBezTo>
                    <a:pt x="88" y="298"/>
                    <a:pt x="126" y="275"/>
                    <a:pt x="176" y="264"/>
                  </a:cubicBezTo>
                  <a:cubicBezTo>
                    <a:pt x="191" y="327"/>
                    <a:pt x="206" y="360"/>
                    <a:pt x="231" y="413"/>
                  </a:cubicBezTo>
                  <a:cubicBezTo>
                    <a:pt x="239" y="313"/>
                    <a:pt x="239" y="313"/>
                    <a:pt x="239" y="313"/>
                  </a:cubicBezTo>
                  <a:cubicBezTo>
                    <a:pt x="239" y="311"/>
                    <a:pt x="239" y="310"/>
                    <a:pt x="238" y="308"/>
                  </a:cubicBezTo>
                  <a:cubicBezTo>
                    <a:pt x="229" y="291"/>
                    <a:pt x="229" y="291"/>
                    <a:pt x="229" y="291"/>
                  </a:cubicBezTo>
                  <a:cubicBezTo>
                    <a:pt x="228" y="290"/>
                    <a:pt x="228" y="289"/>
                    <a:pt x="229" y="288"/>
                  </a:cubicBezTo>
                  <a:cubicBezTo>
                    <a:pt x="229" y="287"/>
                    <a:pt x="230" y="286"/>
                    <a:pt x="231" y="286"/>
                  </a:cubicBezTo>
                  <a:cubicBezTo>
                    <a:pt x="241" y="286"/>
                    <a:pt x="250" y="286"/>
                    <a:pt x="259" y="286"/>
                  </a:cubicBezTo>
                  <a:cubicBezTo>
                    <a:pt x="261" y="286"/>
                    <a:pt x="262" y="287"/>
                    <a:pt x="262" y="288"/>
                  </a:cubicBezTo>
                  <a:cubicBezTo>
                    <a:pt x="263" y="289"/>
                    <a:pt x="263" y="290"/>
                    <a:pt x="262" y="291"/>
                  </a:cubicBezTo>
                  <a:close/>
                  <a:moveTo>
                    <a:pt x="490" y="371"/>
                  </a:moveTo>
                  <a:cubicBezTo>
                    <a:pt x="490" y="305"/>
                    <a:pt x="490" y="305"/>
                    <a:pt x="490" y="305"/>
                  </a:cubicBezTo>
                  <a:cubicBezTo>
                    <a:pt x="490" y="263"/>
                    <a:pt x="410" y="248"/>
                    <a:pt x="351" y="260"/>
                  </a:cubicBezTo>
                  <a:cubicBezTo>
                    <a:pt x="376" y="269"/>
                    <a:pt x="402" y="286"/>
                    <a:pt x="412" y="312"/>
                  </a:cubicBezTo>
                  <a:cubicBezTo>
                    <a:pt x="415" y="319"/>
                    <a:pt x="416" y="326"/>
                    <a:pt x="416" y="334"/>
                  </a:cubicBezTo>
                  <a:cubicBezTo>
                    <a:pt x="416" y="388"/>
                    <a:pt x="416" y="388"/>
                    <a:pt x="416" y="388"/>
                  </a:cubicBezTo>
                  <a:cubicBezTo>
                    <a:pt x="435" y="388"/>
                    <a:pt x="454" y="388"/>
                    <a:pt x="474" y="388"/>
                  </a:cubicBezTo>
                  <a:cubicBezTo>
                    <a:pt x="483" y="388"/>
                    <a:pt x="490" y="380"/>
                    <a:pt x="490" y="371"/>
                  </a:cubicBezTo>
                  <a:close/>
                  <a:moveTo>
                    <a:pt x="0" y="371"/>
                  </a:moveTo>
                  <a:cubicBezTo>
                    <a:pt x="0" y="380"/>
                    <a:pt x="7" y="388"/>
                    <a:pt x="16" y="388"/>
                  </a:cubicBezTo>
                  <a:cubicBezTo>
                    <a:pt x="36" y="388"/>
                    <a:pt x="55" y="388"/>
                    <a:pt x="74" y="388"/>
                  </a:cubicBezTo>
                  <a:cubicBezTo>
                    <a:pt x="74" y="334"/>
                    <a:pt x="74" y="334"/>
                    <a:pt x="74" y="334"/>
                  </a:cubicBezTo>
                  <a:cubicBezTo>
                    <a:pt x="74" y="326"/>
                    <a:pt x="75" y="319"/>
                    <a:pt x="78" y="312"/>
                  </a:cubicBezTo>
                  <a:cubicBezTo>
                    <a:pt x="88" y="286"/>
                    <a:pt x="114" y="269"/>
                    <a:pt x="139" y="260"/>
                  </a:cubicBezTo>
                  <a:cubicBezTo>
                    <a:pt x="80" y="248"/>
                    <a:pt x="0" y="263"/>
                    <a:pt x="0" y="305"/>
                  </a:cubicBezTo>
                  <a:cubicBezTo>
                    <a:pt x="0" y="327"/>
                    <a:pt x="0" y="349"/>
                    <a:pt x="0" y="371"/>
                  </a:cubicBezTo>
                  <a:close/>
                  <a:moveTo>
                    <a:pt x="197" y="192"/>
                  </a:moveTo>
                  <a:cubicBezTo>
                    <a:pt x="211" y="210"/>
                    <a:pt x="228" y="223"/>
                    <a:pt x="245" y="223"/>
                  </a:cubicBezTo>
                  <a:cubicBezTo>
                    <a:pt x="262" y="223"/>
                    <a:pt x="280" y="210"/>
                    <a:pt x="293" y="192"/>
                  </a:cubicBezTo>
                  <a:cubicBezTo>
                    <a:pt x="307" y="173"/>
                    <a:pt x="317" y="148"/>
                    <a:pt x="317" y="124"/>
                  </a:cubicBezTo>
                  <a:cubicBezTo>
                    <a:pt x="312" y="105"/>
                    <a:pt x="312" y="105"/>
                    <a:pt x="312" y="105"/>
                  </a:cubicBezTo>
                  <a:cubicBezTo>
                    <a:pt x="310" y="98"/>
                    <a:pt x="310" y="91"/>
                    <a:pt x="310" y="85"/>
                  </a:cubicBezTo>
                  <a:cubicBezTo>
                    <a:pt x="310" y="77"/>
                    <a:pt x="310" y="70"/>
                    <a:pt x="305" y="64"/>
                  </a:cubicBezTo>
                  <a:cubicBezTo>
                    <a:pt x="298" y="54"/>
                    <a:pt x="287" y="57"/>
                    <a:pt x="274" y="61"/>
                  </a:cubicBezTo>
                  <a:cubicBezTo>
                    <a:pt x="265" y="64"/>
                    <a:pt x="256" y="66"/>
                    <a:pt x="245" y="66"/>
                  </a:cubicBezTo>
                  <a:cubicBezTo>
                    <a:pt x="235" y="66"/>
                    <a:pt x="225" y="64"/>
                    <a:pt x="216" y="61"/>
                  </a:cubicBezTo>
                  <a:cubicBezTo>
                    <a:pt x="216" y="61"/>
                    <a:pt x="216" y="61"/>
                    <a:pt x="216" y="61"/>
                  </a:cubicBezTo>
                  <a:cubicBezTo>
                    <a:pt x="203" y="57"/>
                    <a:pt x="192" y="54"/>
                    <a:pt x="185" y="64"/>
                  </a:cubicBezTo>
                  <a:cubicBezTo>
                    <a:pt x="181" y="70"/>
                    <a:pt x="180" y="77"/>
                    <a:pt x="180" y="85"/>
                  </a:cubicBezTo>
                  <a:cubicBezTo>
                    <a:pt x="180" y="91"/>
                    <a:pt x="180" y="98"/>
                    <a:pt x="178" y="105"/>
                  </a:cubicBezTo>
                  <a:cubicBezTo>
                    <a:pt x="174" y="124"/>
                    <a:pt x="174" y="124"/>
                    <a:pt x="174" y="124"/>
                  </a:cubicBezTo>
                  <a:cubicBezTo>
                    <a:pt x="174" y="148"/>
                    <a:pt x="183" y="173"/>
                    <a:pt x="197" y="192"/>
                  </a:cubicBezTo>
                  <a:close/>
                </a:path>
              </a:pathLst>
            </a:custGeom>
            <a:solidFill>
              <a:srgbClr val="0070C0"/>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Freeform 29"/>
            <p:cNvSpPr>
              <a:spLocks noEditPoints="1"/>
            </p:cNvSpPr>
            <p:nvPr/>
          </p:nvSpPr>
          <p:spPr bwMode="auto">
            <a:xfrm>
              <a:off x="4193165" y="2651859"/>
              <a:ext cx="506744" cy="598693"/>
            </a:xfrm>
            <a:custGeom>
              <a:avLst/>
              <a:gdLst>
                <a:gd name="T0" fmla="*/ 344 w 420"/>
                <a:gd name="T1" fmla="*/ 0 h 496"/>
                <a:gd name="T2" fmla="*/ 332 w 420"/>
                <a:gd name="T3" fmla="*/ 79 h 496"/>
                <a:gd name="T4" fmla="*/ 347 w 420"/>
                <a:gd name="T5" fmla="*/ 92 h 496"/>
                <a:gd name="T6" fmla="*/ 360 w 420"/>
                <a:gd name="T7" fmla="*/ 13 h 496"/>
                <a:gd name="T8" fmla="*/ 193 w 420"/>
                <a:gd name="T9" fmla="*/ 362 h 496"/>
                <a:gd name="T10" fmla="*/ 145 w 420"/>
                <a:gd name="T11" fmla="*/ 410 h 496"/>
                <a:gd name="T12" fmla="*/ 193 w 420"/>
                <a:gd name="T13" fmla="*/ 362 h 496"/>
                <a:gd name="T14" fmla="*/ 229 w 420"/>
                <a:gd name="T15" fmla="*/ 362 h 496"/>
                <a:gd name="T16" fmla="*/ 276 w 420"/>
                <a:gd name="T17" fmla="*/ 410 h 496"/>
                <a:gd name="T18" fmla="*/ 110 w 420"/>
                <a:gd name="T19" fmla="*/ 362 h 496"/>
                <a:gd name="T20" fmla="*/ 62 w 420"/>
                <a:gd name="T21" fmla="*/ 410 h 496"/>
                <a:gd name="T22" fmla="*/ 110 w 420"/>
                <a:gd name="T23" fmla="*/ 362 h 496"/>
                <a:gd name="T24" fmla="*/ 312 w 420"/>
                <a:gd name="T25" fmla="*/ 291 h 496"/>
                <a:gd name="T26" fmla="*/ 360 w 420"/>
                <a:gd name="T27" fmla="*/ 338 h 496"/>
                <a:gd name="T28" fmla="*/ 193 w 420"/>
                <a:gd name="T29" fmla="*/ 291 h 496"/>
                <a:gd name="T30" fmla="*/ 145 w 420"/>
                <a:gd name="T31" fmla="*/ 338 h 496"/>
                <a:gd name="T32" fmla="*/ 193 w 420"/>
                <a:gd name="T33" fmla="*/ 291 h 496"/>
                <a:gd name="T34" fmla="*/ 229 w 420"/>
                <a:gd name="T35" fmla="*/ 291 h 496"/>
                <a:gd name="T36" fmla="*/ 276 w 420"/>
                <a:gd name="T37" fmla="*/ 338 h 496"/>
                <a:gd name="T38" fmla="*/ 110 w 420"/>
                <a:gd name="T39" fmla="*/ 291 h 496"/>
                <a:gd name="T40" fmla="*/ 62 w 420"/>
                <a:gd name="T41" fmla="*/ 338 h 496"/>
                <a:gd name="T42" fmla="*/ 110 w 420"/>
                <a:gd name="T43" fmla="*/ 291 h 496"/>
                <a:gd name="T44" fmla="*/ 312 w 420"/>
                <a:gd name="T45" fmla="*/ 219 h 496"/>
                <a:gd name="T46" fmla="*/ 360 w 420"/>
                <a:gd name="T47" fmla="*/ 267 h 496"/>
                <a:gd name="T48" fmla="*/ 193 w 420"/>
                <a:gd name="T49" fmla="*/ 219 h 496"/>
                <a:gd name="T50" fmla="*/ 145 w 420"/>
                <a:gd name="T51" fmla="*/ 267 h 496"/>
                <a:gd name="T52" fmla="*/ 193 w 420"/>
                <a:gd name="T53" fmla="*/ 219 h 496"/>
                <a:gd name="T54" fmla="*/ 229 w 420"/>
                <a:gd name="T55" fmla="*/ 219 h 496"/>
                <a:gd name="T56" fmla="*/ 276 w 420"/>
                <a:gd name="T57" fmla="*/ 267 h 496"/>
                <a:gd name="T58" fmla="*/ 77 w 420"/>
                <a:gd name="T59" fmla="*/ 0 h 496"/>
                <a:gd name="T60" fmla="*/ 62 w 420"/>
                <a:gd name="T61" fmla="*/ 13 h 496"/>
                <a:gd name="T62" fmla="*/ 75 w 420"/>
                <a:gd name="T63" fmla="*/ 92 h 496"/>
                <a:gd name="T64" fmla="*/ 90 w 420"/>
                <a:gd name="T65" fmla="*/ 79 h 496"/>
                <a:gd name="T66" fmla="*/ 77 w 420"/>
                <a:gd name="T67" fmla="*/ 0 h 496"/>
                <a:gd name="T68" fmla="*/ 392 w 420"/>
                <a:gd name="T69" fmla="*/ 441 h 496"/>
                <a:gd name="T70" fmla="*/ 34 w 420"/>
                <a:gd name="T71" fmla="*/ 446 h 496"/>
                <a:gd name="T72" fmla="*/ 28 w 420"/>
                <a:gd name="T73" fmla="*/ 185 h 496"/>
                <a:gd name="T74" fmla="*/ 386 w 420"/>
                <a:gd name="T75" fmla="*/ 180 h 496"/>
                <a:gd name="T76" fmla="*/ 392 w 420"/>
                <a:gd name="T77" fmla="*/ 460 h 496"/>
                <a:gd name="T78" fmla="*/ 28 w 420"/>
                <a:gd name="T79" fmla="*/ 463 h 496"/>
                <a:gd name="T80" fmla="*/ 392 w 420"/>
                <a:gd name="T81" fmla="*/ 460 h 496"/>
                <a:gd name="T82" fmla="*/ 392 w 420"/>
                <a:gd name="T83" fmla="*/ 481 h 496"/>
                <a:gd name="T84" fmla="*/ 28 w 420"/>
                <a:gd name="T85" fmla="*/ 478 h 496"/>
                <a:gd name="T86" fmla="*/ 386 w 420"/>
                <a:gd name="T87" fmla="*/ 41 h 496"/>
                <a:gd name="T88" fmla="*/ 420 w 420"/>
                <a:gd name="T89" fmla="*/ 463 h 496"/>
                <a:gd name="T90" fmla="*/ 34 w 420"/>
                <a:gd name="T91" fmla="*/ 496 h 496"/>
                <a:gd name="T92" fmla="*/ 0 w 420"/>
                <a:gd name="T93" fmla="*/ 75 h 496"/>
                <a:gd name="T94" fmla="*/ 51 w 420"/>
                <a:gd name="T95" fmla="*/ 41 h 496"/>
                <a:gd name="T96" fmla="*/ 69 w 420"/>
                <a:gd name="T97" fmla="*/ 106 h 496"/>
                <a:gd name="T98" fmla="*/ 101 w 420"/>
                <a:gd name="T99" fmla="*/ 88 h 496"/>
                <a:gd name="T100" fmla="*/ 321 w 420"/>
                <a:gd name="T101" fmla="*/ 41 h 496"/>
                <a:gd name="T102" fmla="*/ 339 w 420"/>
                <a:gd name="T103" fmla="*/ 106 h 496"/>
                <a:gd name="T104" fmla="*/ 370 w 420"/>
                <a:gd name="T105" fmla="*/ 88 h 496"/>
                <a:gd name="T106" fmla="*/ 386 w 420"/>
                <a:gd name="T107" fmla="*/ 41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0" h="496">
                  <a:moveTo>
                    <a:pt x="347" y="0"/>
                  </a:moveTo>
                  <a:cubicBezTo>
                    <a:pt x="346" y="0"/>
                    <a:pt x="345" y="0"/>
                    <a:pt x="344" y="0"/>
                  </a:cubicBezTo>
                  <a:cubicBezTo>
                    <a:pt x="337" y="0"/>
                    <a:pt x="332" y="6"/>
                    <a:pt x="332" y="13"/>
                  </a:cubicBezTo>
                  <a:cubicBezTo>
                    <a:pt x="332" y="79"/>
                    <a:pt x="332" y="79"/>
                    <a:pt x="332" y="79"/>
                  </a:cubicBezTo>
                  <a:cubicBezTo>
                    <a:pt x="332" y="87"/>
                    <a:pt x="337" y="92"/>
                    <a:pt x="344" y="92"/>
                  </a:cubicBezTo>
                  <a:cubicBezTo>
                    <a:pt x="345" y="92"/>
                    <a:pt x="346" y="92"/>
                    <a:pt x="347" y="92"/>
                  </a:cubicBezTo>
                  <a:cubicBezTo>
                    <a:pt x="354" y="92"/>
                    <a:pt x="360" y="87"/>
                    <a:pt x="360" y="79"/>
                  </a:cubicBezTo>
                  <a:cubicBezTo>
                    <a:pt x="360" y="13"/>
                    <a:pt x="360" y="13"/>
                    <a:pt x="360" y="13"/>
                  </a:cubicBezTo>
                  <a:cubicBezTo>
                    <a:pt x="360" y="6"/>
                    <a:pt x="354" y="0"/>
                    <a:pt x="347" y="0"/>
                  </a:cubicBezTo>
                  <a:close/>
                  <a:moveTo>
                    <a:pt x="193" y="362"/>
                  </a:moveTo>
                  <a:cubicBezTo>
                    <a:pt x="177" y="362"/>
                    <a:pt x="161" y="362"/>
                    <a:pt x="145" y="362"/>
                  </a:cubicBezTo>
                  <a:cubicBezTo>
                    <a:pt x="145" y="378"/>
                    <a:pt x="145" y="394"/>
                    <a:pt x="145" y="410"/>
                  </a:cubicBezTo>
                  <a:cubicBezTo>
                    <a:pt x="161" y="410"/>
                    <a:pt x="177" y="410"/>
                    <a:pt x="193" y="410"/>
                  </a:cubicBezTo>
                  <a:cubicBezTo>
                    <a:pt x="193" y="394"/>
                    <a:pt x="193" y="378"/>
                    <a:pt x="193" y="362"/>
                  </a:cubicBezTo>
                  <a:close/>
                  <a:moveTo>
                    <a:pt x="276" y="362"/>
                  </a:moveTo>
                  <a:cubicBezTo>
                    <a:pt x="260" y="362"/>
                    <a:pt x="245" y="362"/>
                    <a:pt x="229" y="362"/>
                  </a:cubicBezTo>
                  <a:cubicBezTo>
                    <a:pt x="229" y="378"/>
                    <a:pt x="229" y="394"/>
                    <a:pt x="229" y="410"/>
                  </a:cubicBezTo>
                  <a:cubicBezTo>
                    <a:pt x="245" y="410"/>
                    <a:pt x="260" y="410"/>
                    <a:pt x="276" y="410"/>
                  </a:cubicBezTo>
                  <a:cubicBezTo>
                    <a:pt x="276" y="394"/>
                    <a:pt x="276" y="378"/>
                    <a:pt x="276" y="362"/>
                  </a:cubicBezTo>
                  <a:close/>
                  <a:moveTo>
                    <a:pt x="110" y="362"/>
                  </a:moveTo>
                  <a:cubicBezTo>
                    <a:pt x="62" y="362"/>
                    <a:pt x="62" y="362"/>
                    <a:pt x="62" y="362"/>
                  </a:cubicBezTo>
                  <a:cubicBezTo>
                    <a:pt x="62" y="410"/>
                    <a:pt x="62" y="410"/>
                    <a:pt x="62" y="410"/>
                  </a:cubicBezTo>
                  <a:cubicBezTo>
                    <a:pt x="110" y="410"/>
                    <a:pt x="110" y="410"/>
                    <a:pt x="110" y="410"/>
                  </a:cubicBezTo>
                  <a:cubicBezTo>
                    <a:pt x="110" y="362"/>
                    <a:pt x="110" y="362"/>
                    <a:pt x="110" y="362"/>
                  </a:cubicBezTo>
                  <a:close/>
                  <a:moveTo>
                    <a:pt x="360" y="291"/>
                  </a:moveTo>
                  <a:cubicBezTo>
                    <a:pt x="312" y="291"/>
                    <a:pt x="312" y="291"/>
                    <a:pt x="312" y="291"/>
                  </a:cubicBezTo>
                  <a:cubicBezTo>
                    <a:pt x="312" y="338"/>
                    <a:pt x="312" y="338"/>
                    <a:pt x="312" y="338"/>
                  </a:cubicBezTo>
                  <a:cubicBezTo>
                    <a:pt x="360" y="338"/>
                    <a:pt x="360" y="338"/>
                    <a:pt x="360" y="338"/>
                  </a:cubicBezTo>
                  <a:cubicBezTo>
                    <a:pt x="360" y="291"/>
                    <a:pt x="360" y="291"/>
                    <a:pt x="360" y="291"/>
                  </a:cubicBezTo>
                  <a:close/>
                  <a:moveTo>
                    <a:pt x="193" y="291"/>
                  </a:moveTo>
                  <a:cubicBezTo>
                    <a:pt x="177" y="291"/>
                    <a:pt x="161" y="291"/>
                    <a:pt x="145" y="291"/>
                  </a:cubicBezTo>
                  <a:cubicBezTo>
                    <a:pt x="145" y="306"/>
                    <a:pt x="145" y="322"/>
                    <a:pt x="145" y="338"/>
                  </a:cubicBezTo>
                  <a:cubicBezTo>
                    <a:pt x="161" y="338"/>
                    <a:pt x="177" y="338"/>
                    <a:pt x="193" y="338"/>
                  </a:cubicBezTo>
                  <a:cubicBezTo>
                    <a:pt x="193" y="322"/>
                    <a:pt x="193" y="306"/>
                    <a:pt x="193" y="291"/>
                  </a:cubicBezTo>
                  <a:close/>
                  <a:moveTo>
                    <a:pt x="276" y="291"/>
                  </a:moveTo>
                  <a:cubicBezTo>
                    <a:pt x="260" y="291"/>
                    <a:pt x="245" y="291"/>
                    <a:pt x="229" y="291"/>
                  </a:cubicBezTo>
                  <a:cubicBezTo>
                    <a:pt x="229" y="306"/>
                    <a:pt x="229" y="322"/>
                    <a:pt x="229" y="338"/>
                  </a:cubicBezTo>
                  <a:cubicBezTo>
                    <a:pt x="245" y="338"/>
                    <a:pt x="260" y="338"/>
                    <a:pt x="276" y="338"/>
                  </a:cubicBezTo>
                  <a:cubicBezTo>
                    <a:pt x="276" y="322"/>
                    <a:pt x="276" y="306"/>
                    <a:pt x="276" y="291"/>
                  </a:cubicBezTo>
                  <a:close/>
                  <a:moveTo>
                    <a:pt x="110" y="291"/>
                  </a:moveTo>
                  <a:cubicBezTo>
                    <a:pt x="62" y="291"/>
                    <a:pt x="62" y="291"/>
                    <a:pt x="62" y="291"/>
                  </a:cubicBezTo>
                  <a:cubicBezTo>
                    <a:pt x="62" y="338"/>
                    <a:pt x="62" y="338"/>
                    <a:pt x="62" y="338"/>
                  </a:cubicBezTo>
                  <a:cubicBezTo>
                    <a:pt x="110" y="338"/>
                    <a:pt x="110" y="338"/>
                    <a:pt x="110" y="338"/>
                  </a:cubicBezTo>
                  <a:cubicBezTo>
                    <a:pt x="110" y="291"/>
                    <a:pt x="110" y="291"/>
                    <a:pt x="110" y="291"/>
                  </a:cubicBezTo>
                  <a:close/>
                  <a:moveTo>
                    <a:pt x="360" y="219"/>
                  </a:moveTo>
                  <a:cubicBezTo>
                    <a:pt x="312" y="219"/>
                    <a:pt x="312" y="219"/>
                    <a:pt x="312" y="219"/>
                  </a:cubicBezTo>
                  <a:cubicBezTo>
                    <a:pt x="312" y="267"/>
                    <a:pt x="312" y="267"/>
                    <a:pt x="312" y="267"/>
                  </a:cubicBezTo>
                  <a:cubicBezTo>
                    <a:pt x="360" y="267"/>
                    <a:pt x="360" y="267"/>
                    <a:pt x="360" y="267"/>
                  </a:cubicBezTo>
                  <a:cubicBezTo>
                    <a:pt x="360" y="219"/>
                    <a:pt x="360" y="219"/>
                    <a:pt x="360" y="219"/>
                  </a:cubicBezTo>
                  <a:close/>
                  <a:moveTo>
                    <a:pt x="193" y="219"/>
                  </a:moveTo>
                  <a:cubicBezTo>
                    <a:pt x="177" y="219"/>
                    <a:pt x="161" y="219"/>
                    <a:pt x="145" y="219"/>
                  </a:cubicBezTo>
                  <a:cubicBezTo>
                    <a:pt x="145" y="235"/>
                    <a:pt x="145" y="251"/>
                    <a:pt x="145" y="267"/>
                  </a:cubicBezTo>
                  <a:cubicBezTo>
                    <a:pt x="161" y="267"/>
                    <a:pt x="177" y="267"/>
                    <a:pt x="193" y="267"/>
                  </a:cubicBezTo>
                  <a:cubicBezTo>
                    <a:pt x="193" y="251"/>
                    <a:pt x="193" y="235"/>
                    <a:pt x="193" y="219"/>
                  </a:cubicBezTo>
                  <a:close/>
                  <a:moveTo>
                    <a:pt x="276" y="219"/>
                  </a:moveTo>
                  <a:cubicBezTo>
                    <a:pt x="260" y="219"/>
                    <a:pt x="245" y="219"/>
                    <a:pt x="229" y="219"/>
                  </a:cubicBezTo>
                  <a:cubicBezTo>
                    <a:pt x="229" y="235"/>
                    <a:pt x="229" y="251"/>
                    <a:pt x="229" y="267"/>
                  </a:cubicBezTo>
                  <a:cubicBezTo>
                    <a:pt x="245" y="267"/>
                    <a:pt x="260" y="267"/>
                    <a:pt x="276" y="267"/>
                  </a:cubicBezTo>
                  <a:cubicBezTo>
                    <a:pt x="276" y="251"/>
                    <a:pt x="276" y="235"/>
                    <a:pt x="276" y="219"/>
                  </a:cubicBezTo>
                  <a:close/>
                  <a:moveTo>
                    <a:pt x="77" y="0"/>
                  </a:moveTo>
                  <a:cubicBezTo>
                    <a:pt x="76" y="0"/>
                    <a:pt x="76" y="0"/>
                    <a:pt x="75" y="0"/>
                  </a:cubicBezTo>
                  <a:cubicBezTo>
                    <a:pt x="68" y="0"/>
                    <a:pt x="62" y="6"/>
                    <a:pt x="62" y="13"/>
                  </a:cubicBezTo>
                  <a:cubicBezTo>
                    <a:pt x="62" y="79"/>
                    <a:pt x="62" y="79"/>
                    <a:pt x="62" y="79"/>
                  </a:cubicBezTo>
                  <a:cubicBezTo>
                    <a:pt x="62" y="87"/>
                    <a:pt x="68" y="92"/>
                    <a:pt x="75" y="92"/>
                  </a:cubicBezTo>
                  <a:cubicBezTo>
                    <a:pt x="76" y="92"/>
                    <a:pt x="76" y="92"/>
                    <a:pt x="77" y="92"/>
                  </a:cubicBezTo>
                  <a:cubicBezTo>
                    <a:pt x="84" y="92"/>
                    <a:pt x="90" y="87"/>
                    <a:pt x="90" y="79"/>
                  </a:cubicBezTo>
                  <a:cubicBezTo>
                    <a:pt x="90" y="13"/>
                    <a:pt x="90" y="13"/>
                    <a:pt x="90" y="13"/>
                  </a:cubicBezTo>
                  <a:cubicBezTo>
                    <a:pt x="90" y="6"/>
                    <a:pt x="84" y="0"/>
                    <a:pt x="77" y="0"/>
                  </a:cubicBezTo>
                  <a:close/>
                  <a:moveTo>
                    <a:pt x="392" y="185"/>
                  </a:moveTo>
                  <a:cubicBezTo>
                    <a:pt x="392" y="441"/>
                    <a:pt x="392" y="441"/>
                    <a:pt x="392" y="441"/>
                  </a:cubicBezTo>
                  <a:cubicBezTo>
                    <a:pt x="392" y="443"/>
                    <a:pt x="389" y="446"/>
                    <a:pt x="386" y="446"/>
                  </a:cubicBezTo>
                  <a:cubicBezTo>
                    <a:pt x="34" y="446"/>
                    <a:pt x="34" y="446"/>
                    <a:pt x="34" y="446"/>
                  </a:cubicBezTo>
                  <a:cubicBezTo>
                    <a:pt x="31" y="446"/>
                    <a:pt x="28" y="443"/>
                    <a:pt x="28" y="441"/>
                  </a:cubicBezTo>
                  <a:cubicBezTo>
                    <a:pt x="28" y="185"/>
                    <a:pt x="28" y="185"/>
                    <a:pt x="28" y="185"/>
                  </a:cubicBezTo>
                  <a:cubicBezTo>
                    <a:pt x="28" y="182"/>
                    <a:pt x="31" y="180"/>
                    <a:pt x="34" y="180"/>
                  </a:cubicBezTo>
                  <a:cubicBezTo>
                    <a:pt x="386" y="180"/>
                    <a:pt x="386" y="180"/>
                    <a:pt x="386" y="180"/>
                  </a:cubicBezTo>
                  <a:cubicBezTo>
                    <a:pt x="389" y="180"/>
                    <a:pt x="392" y="182"/>
                    <a:pt x="392" y="185"/>
                  </a:cubicBezTo>
                  <a:close/>
                  <a:moveTo>
                    <a:pt x="392" y="460"/>
                  </a:moveTo>
                  <a:cubicBezTo>
                    <a:pt x="392" y="463"/>
                    <a:pt x="392" y="463"/>
                    <a:pt x="392" y="463"/>
                  </a:cubicBezTo>
                  <a:cubicBezTo>
                    <a:pt x="28" y="463"/>
                    <a:pt x="28" y="463"/>
                    <a:pt x="28" y="463"/>
                  </a:cubicBezTo>
                  <a:cubicBezTo>
                    <a:pt x="28" y="460"/>
                    <a:pt x="28" y="460"/>
                    <a:pt x="28" y="460"/>
                  </a:cubicBezTo>
                  <a:cubicBezTo>
                    <a:pt x="392" y="460"/>
                    <a:pt x="392" y="460"/>
                    <a:pt x="392" y="460"/>
                  </a:cubicBezTo>
                  <a:close/>
                  <a:moveTo>
                    <a:pt x="392" y="478"/>
                  </a:moveTo>
                  <a:cubicBezTo>
                    <a:pt x="392" y="481"/>
                    <a:pt x="392" y="481"/>
                    <a:pt x="392" y="481"/>
                  </a:cubicBezTo>
                  <a:cubicBezTo>
                    <a:pt x="28" y="481"/>
                    <a:pt x="28" y="481"/>
                    <a:pt x="28" y="481"/>
                  </a:cubicBezTo>
                  <a:cubicBezTo>
                    <a:pt x="28" y="478"/>
                    <a:pt x="28" y="478"/>
                    <a:pt x="28" y="478"/>
                  </a:cubicBezTo>
                  <a:cubicBezTo>
                    <a:pt x="392" y="478"/>
                    <a:pt x="392" y="478"/>
                    <a:pt x="392" y="478"/>
                  </a:cubicBezTo>
                  <a:close/>
                  <a:moveTo>
                    <a:pt x="386" y="41"/>
                  </a:moveTo>
                  <a:cubicBezTo>
                    <a:pt x="405" y="41"/>
                    <a:pt x="420" y="56"/>
                    <a:pt x="420" y="75"/>
                  </a:cubicBezTo>
                  <a:cubicBezTo>
                    <a:pt x="420" y="463"/>
                    <a:pt x="420" y="463"/>
                    <a:pt x="420" y="463"/>
                  </a:cubicBezTo>
                  <a:cubicBezTo>
                    <a:pt x="420" y="481"/>
                    <a:pt x="405" y="496"/>
                    <a:pt x="386" y="496"/>
                  </a:cubicBezTo>
                  <a:cubicBezTo>
                    <a:pt x="269" y="496"/>
                    <a:pt x="151" y="496"/>
                    <a:pt x="34" y="496"/>
                  </a:cubicBezTo>
                  <a:cubicBezTo>
                    <a:pt x="15" y="496"/>
                    <a:pt x="0" y="481"/>
                    <a:pt x="0" y="463"/>
                  </a:cubicBezTo>
                  <a:cubicBezTo>
                    <a:pt x="0" y="75"/>
                    <a:pt x="0" y="75"/>
                    <a:pt x="0" y="75"/>
                  </a:cubicBezTo>
                  <a:cubicBezTo>
                    <a:pt x="0" y="56"/>
                    <a:pt x="15" y="41"/>
                    <a:pt x="34" y="41"/>
                  </a:cubicBezTo>
                  <a:cubicBezTo>
                    <a:pt x="51" y="41"/>
                    <a:pt x="51" y="41"/>
                    <a:pt x="51" y="41"/>
                  </a:cubicBezTo>
                  <a:cubicBezTo>
                    <a:pt x="51" y="57"/>
                    <a:pt x="51" y="72"/>
                    <a:pt x="51" y="88"/>
                  </a:cubicBezTo>
                  <a:cubicBezTo>
                    <a:pt x="51" y="98"/>
                    <a:pt x="59" y="106"/>
                    <a:pt x="69" y="106"/>
                  </a:cubicBezTo>
                  <a:cubicBezTo>
                    <a:pt x="74" y="106"/>
                    <a:pt x="78" y="106"/>
                    <a:pt x="83" y="106"/>
                  </a:cubicBezTo>
                  <a:cubicBezTo>
                    <a:pt x="93" y="106"/>
                    <a:pt x="101" y="98"/>
                    <a:pt x="101" y="88"/>
                  </a:cubicBezTo>
                  <a:cubicBezTo>
                    <a:pt x="101" y="72"/>
                    <a:pt x="101" y="57"/>
                    <a:pt x="101" y="41"/>
                  </a:cubicBezTo>
                  <a:cubicBezTo>
                    <a:pt x="321" y="41"/>
                    <a:pt x="321" y="41"/>
                    <a:pt x="321" y="41"/>
                  </a:cubicBezTo>
                  <a:cubicBezTo>
                    <a:pt x="321" y="57"/>
                    <a:pt x="321" y="72"/>
                    <a:pt x="321" y="88"/>
                  </a:cubicBezTo>
                  <a:cubicBezTo>
                    <a:pt x="321" y="98"/>
                    <a:pt x="329" y="106"/>
                    <a:pt x="339" y="106"/>
                  </a:cubicBezTo>
                  <a:cubicBezTo>
                    <a:pt x="343" y="106"/>
                    <a:pt x="348" y="106"/>
                    <a:pt x="352" y="106"/>
                  </a:cubicBezTo>
                  <a:cubicBezTo>
                    <a:pt x="362" y="106"/>
                    <a:pt x="370" y="98"/>
                    <a:pt x="370" y="88"/>
                  </a:cubicBezTo>
                  <a:cubicBezTo>
                    <a:pt x="370" y="72"/>
                    <a:pt x="370" y="57"/>
                    <a:pt x="370" y="41"/>
                  </a:cubicBezTo>
                  <a:lnTo>
                    <a:pt x="386" y="41"/>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Freeform 30"/>
            <p:cNvSpPr>
              <a:spLocks noEditPoints="1"/>
            </p:cNvSpPr>
            <p:nvPr/>
          </p:nvSpPr>
          <p:spPr bwMode="auto">
            <a:xfrm>
              <a:off x="7516809" y="2606482"/>
              <a:ext cx="551558" cy="689448"/>
            </a:xfrm>
            <a:custGeom>
              <a:avLst/>
              <a:gdLst>
                <a:gd name="T0" fmla="*/ 100 w 408"/>
                <a:gd name="T1" fmla="*/ 18 h 510"/>
                <a:gd name="T2" fmla="*/ 290 w 408"/>
                <a:gd name="T3" fmla="*/ 368 h 510"/>
                <a:gd name="T4" fmla="*/ 345 w 408"/>
                <a:gd name="T5" fmla="*/ 332 h 510"/>
                <a:gd name="T6" fmla="*/ 259 w 408"/>
                <a:gd name="T7" fmla="*/ 464 h 510"/>
                <a:gd name="T8" fmla="*/ 267 w 408"/>
                <a:gd name="T9" fmla="*/ 397 h 510"/>
                <a:gd name="T10" fmla="*/ 241 w 408"/>
                <a:gd name="T11" fmla="*/ 345 h 510"/>
                <a:gd name="T12" fmla="*/ 216 w 408"/>
                <a:gd name="T13" fmla="*/ 319 h 510"/>
                <a:gd name="T14" fmla="*/ 320 w 408"/>
                <a:gd name="T15" fmla="*/ 474 h 510"/>
                <a:gd name="T16" fmla="*/ 159 w 408"/>
                <a:gd name="T17" fmla="*/ 386 h 510"/>
                <a:gd name="T18" fmla="*/ 196 w 408"/>
                <a:gd name="T19" fmla="*/ 298 h 510"/>
                <a:gd name="T20" fmla="*/ 229 w 408"/>
                <a:gd name="T21" fmla="*/ 381 h 510"/>
                <a:gd name="T22" fmla="*/ 338 w 408"/>
                <a:gd name="T23" fmla="*/ 391 h 510"/>
                <a:gd name="T24" fmla="*/ 278 w 408"/>
                <a:gd name="T25" fmla="*/ 440 h 510"/>
                <a:gd name="T26" fmla="*/ 289 w 408"/>
                <a:gd name="T27" fmla="*/ 332 h 510"/>
                <a:gd name="T28" fmla="*/ 126 w 408"/>
                <a:gd name="T29" fmla="*/ 86 h 510"/>
                <a:gd name="T30" fmla="*/ 138 w 408"/>
                <a:gd name="T31" fmla="*/ 19 h 510"/>
                <a:gd name="T32" fmla="*/ 217 w 408"/>
                <a:gd name="T33" fmla="*/ 61 h 510"/>
                <a:gd name="T34" fmla="*/ 127 w 408"/>
                <a:gd name="T35" fmla="*/ 22 h 510"/>
                <a:gd name="T36" fmla="*/ 244 w 408"/>
                <a:gd name="T37" fmla="*/ 59 h 510"/>
                <a:gd name="T38" fmla="*/ 134 w 408"/>
                <a:gd name="T39" fmla="*/ 343 h 510"/>
                <a:gd name="T40" fmla="*/ 87 w 408"/>
                <a:gd name="T41" fmla="*/ 290 h 510"/>
                <a:gd name="T42" fmla="*/ 86 w 408"/>
                <a:gd name="T43" fmla="*/ 290 h 510"/>
                <a:gd name="T44" fmla="*/ 85 w 408"/>
                <a:gd name="T45" fmla="*/ 290 h 510"/>
                <a:gd name="T46" fmla="*/ 84 w 408"/>
                <a:gd name="T47" fmla="*/ 289 h 510"/>
                <a:gd name="T48" fmla="*/ 83 w 408"/>
                <a:gd name="T49" fmla="*/ 289 h 510"/>
                <a:gd name="T50" fmla="*/ 83 w 408"/>
                <a:gd name="T51" fmla="*/ 289 h 510"/>
                <a:gd name="T52" fmla="*/ 82 w 408"/>
                <a:gd name="T53" fmla="*/ 289 h 510"/>
                <a:gd name="T54" fmla="*/ 81 w 408"/>
                <a:gd name="T55" fmla="*/ 288 h 510"/>
                <a:gd name="T56" fmla="*/ 81 w 408"/>
                <a:gd name="T57" fmla="*/ 288 h 510"/>
                <a:gd name="T58" fmla="*/ 80 w 408"/>
                <a:gd name="T59" fmla="*/ 287 h 510"/>
                <a:gd name="T60" fmla="*/ 80 w 408"/>
                <a:gd name="T61" fmla="*/ 287 h 510"/>
                <a:gd name="T62" fmla="*/ 79 w 408"/>
                <a:gd name="T63" fmla="*/ 286 h 510"/>
                <a:gd name="T64" fmla="*/ 79 w 408"/>
                <a:gd name="T65" fmla="*/ 285 h 510"/>
                <a:gd name="T66" fmla="*/ 78 w 408"/>
                <a:gd name="T67" fmla="*/ 284 h 510"/>
                <a:gd name="T68" fmla="*/ 78 w 408"/>
                <a:gd name="T69" fmla="*/ 284 h 510"/>
                <a:gd name="T70" fmla="*/ 78 w 408"/>
                <a:gd name="T71" fmla="*/ 283 h 510"/>
                <a:gd name="T72" fmla="*/ 78 w 408"/>
                <a:gd name="T73" fmla="*/ 282 h 510"/>
                <a:gd name="T74" fmla="*/ 77 w 408"/>
                <a:gd name="T75" fmla="*/ 281 h 510"/>
                <a:gd name="T76" fmla="*/ 77 w 408"/>
                <a:gd name="T77" fmla="*/ 281 h 510"/>
                <a:gd name="T78" fmla="*/ 77 w 408"/>
                <a:gd name="T79" fmla="*/ 280 h 510"/>
                <a:gd name="T80" fmla="*/ 77 w 408"/>
                <a:gd name="T81" fmla="*/ 279 h 510"/>
                <a:gd name="T82" fmla="*/ 78 w 408"/>
                <a:gd name="T83" fmla="*/ 278 h 510"/>
                <a:gd name="T84" fmla="*/ 78 w 408"/>
                <a:gd name="T85" fmla="*/ 278 h 510"/>
                <a:gd name="T86" fmla="*/ 78 w 408"/>
                <a:gd name="T87" fmla="*/ 277 h 510"/>
                <a:gd name="T88" fmla="*/ 79 w 408"/>
                <a:gd name="T89" fmla="*/ 276 h 510"/>
                <a:gd name="T90" fmla="*/ 79 w 408"/>
                <a:gd name="T91" fmla="*/ 275 h 510"/>
                <a:gd name="T92" fmla="*/ 80 w 408"/>
                <a:gd name="T93" fmla="*/ 274 h 510"/>
                <a:gd name="T94" fmla="*/ 80 w 408"/>
                <a:gd name="T95" fmla="*/ 274 h 510"/>
                <a:gd name="T96" fmla="*/ 81 w 408"/>
                <a:gd name="T97" fmla="*/ 273 h 510"/>
                <a:gd name="T98" fmla="*/ 82 w 408"/>
                <a:gd name="T99" fmla="*/ 272 h 510"/>
                <a:gd name="T100" fmla="*/ 83 w 408"/>
                <a:gd name="T101" fmla="*/ 272 h 510"/>
                <a:gd name="T102" fmla="*/ 84 w 408"/>
                <a:gd name="T103" fmla="*/ 272 h 510"/>
                <a:gd name="T104" fmla="*/ 86 w 408"/>
                <a:gd name="T105" fmla="*/ 271 h 510"/>
                <a:gd name="T106" fmla="*/ 77 w 408"/>
                <a:gd name="T107" fmla="*/ 280 h 510"/>
                <a:gd name="T108" fmla="*/ 87 w 408"/>
                <a:gd name="T109" fmla="*/ 237 h 510"/>
                <a:gd name="T110" fmla="*/ 267 w 408"/>
                <a:gd name="T111" fmla="*/ 175 h 510"/>
                <a:gd name="T112" fmla="*/ 258 w 408"/>
                <a:gd name="T113" fmla="*/ 115 h 510"/>
                <a:gd name="T114" fmla="*/ 87 w 408"/>
                <a:gd name="T115" fmla="*/ 115 h 510"/>
                <a:gd name="T116" fmla="*/ 212 w 408"/>
                <a:gd name="T117" fmla="*/ 28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8" h="510">
                  <a:moveTo>
                    <a:pt x="23" y="460"/>
                  </a:moveTo>
                  <a:cubicBezTo>
                    <a:pt x="147" y="460"/>
                    <a:pt x="147" y="460"/>
                    <a:pt x="147" y="460"/>
                  </a:cubicBezTo>
                  <a:cubicBezTo>
                    <a:pt x="140" y="447"/>
                    <a:pt x="135" y="434"/>
                    <a:pt x="132" y="419"/>
                  </a:cubicBezTo>
                  <a:cubicBezTo>
                    <a:pt x="43" y="419"/>
                    <a:pt x="43" y="419"/>
                    <a:pt x="43" y="419"/>
                  </a:cubicBezTo>
                  <a:cubicBezTo>
                    <a:pt x="43" y="59"/>
                    <a:pt x="43" y="59"/>
                    <a:pt x="43" y="59"/>
                  </a:cubicBezTo>
                  <a:cubicBezTo>
                    <a:pt x="100" y="59"/>
                    <a:pt x="100" y="59"/>
                    <a:pt x="100" y="59"/>
                  </a:cubicBezTo>
                  <a:cubicBezTo>
                    <a:pt x="100" y="18"/>
                    <a:pt x="100" y="18"/>
                    <a:pt x="100" y="18"/>
                  </a:cubicBezTo>
                  <a:cubicBezTo>
                    <a:pt x="23" y="18"/>
                    <a:pt x="23" y="18"/>
                    <a:pt x="23" y="18"/>
                  </a:cubicBezTo>
                  <a:cubicBezTo>
                    <a:pt x="11" y="18"/>
                    <a:pt x="0" y="28"/>
                    <a:pt x="0" y="41"/>
                  </a:cubicBezTo>
                  <a:cubicBezTo>
                    <a:pt x="0" y="437"/>
                    <a:pt x="0" y="437"/>
                    <a:pt x="0" y="437"/>
                  </a:cubicBezTo>
                  <a:cubicBezTo>
                    <a:pt x="0" y="450"/>
                    <a:pt x="11" y="460"/>
                    <a:pt x="23" y="460"/>
                  </a:cubicBezTo>
                  <a:close/>
                  <a:moveTo>
                    <a:pt x="286" y="370"/>
                  </a:moveTo>
                  <a:cubicBezTo>
                    <a:pt x="286" y="370"/>
                    <a:pt x="287" y="369"/>
                    <a:pt x="287" y="369"/>
                  </a:cubicBezTo>
                  <a:cubicBezTo>
                    <a:pt x="288" y="368"/>
                    <a:pt x="289" y="368"/>
                    <a:pt x="290" y="368"/>
                  </a:cubicBezTo>
                  <a:cubicBezTo>
                    <a:pt x="291" y="369"/>
                    <a:pt x="291" y="369"/>
                    <a:pt x="291" y="370"/>
                  </a:cubicBezTo>
                  <a:cubicBezTo>
                    <a:pt x="292" y="370"/>
                    <a:pt x="292" y="370"/>
                    <a:pt x="292" y="370"/>
                  </a:cubicBezTo>
                  <a:cubicBezTo>
                    <a:pt x="337" y="325"/>
                    <a:pt x="337" y="325"/>
                    <a:pt x="337" y="325"/>
                  </a:cubicBezTo>
                  <a:cubicBezTo>
                    <a:pt x="338" y="324"/>
                    <a:pt x="340" y="323"/>
                    <a:pt x="341" y="323"/>
                  </a:cubicBezTo>
                  <a:cubicBezTo>
                    <a:pt x="342" y="323"/>
                    <a:pt x="344" y="324"/>
                    <a:pt x="345" y="325"/>
                  </a:cubicBezTo>
                  <a:cubicBezTo>
                    <a:pt x="346" y="326"/>
                    <a:pt x="346" y="327"/>
                    <a:pt x="346" y="329"/>
                  </a:cubicBezTo>
                  <a:cubicBezTo>
                    <a:pt x="346" y="330"/>
                    <a:pt x="346" y="331"/>
                    <a:pt x="345" y="332"/>
                  </a:cubicBezTo>
                  <a:cubicBezTo>
                    <a:pt x="293" y="384"/>
                    <a:pt x="293" y="384"/>
                    <a:pt x="293" y="384"/>
                  </a:cubicBezTo>
                  <a:cubicBezTo>
                    <a:pt x="300" y="389"/>
                    <a:pt x="300" y="389"/>
                    <a:pt x="300" y="389"/>
                  </a:cubicBezTo>
                  <a:cubicBezTo>
                    <a:pt x="302" y="391"/>
                    <a:pt x="303" y="392"/>
                    <a:pt x="303" y="394"/>
                  </a:cubicBezTo>
                  <a:cubicBezTo>
                    <a:pt x="304" y="398"/>
                    <a:pt x="301" y="402"/>
                    <a:pt x="297" y="403"/>
                  </a:cubicBezTo>
                  <a:cubicBezTo>
                    <a:pt x="295" y="403"/>
                    <a:pt x="293" y="403"/>
                    <a:pt x="291" y="401"/>
                  </a:cubicBezTo>
                  <a:cubicBezTo>
                    <a:pt x="283" y="396"/>
                    <a:pt x="283" y="396"/>
                    <a:pt x="283" y="396"/>
                  </a:cubicBezTo>
                  <a:cubicBezTo>
                    <a:pt x="259" y="464"/>
                    <a:pt x="259" y="464"/>
                    <a:pt x="259" y="464"/>
                  </a:cubicBezTo>
                  <a:cubicBezTo>
                    <a:pt x="259" y="465"/>
                    <a:pt x="258" y="465"/>
                    <a:pt x="258" y="466"/>
                  </a:cubicBezTo>
                  <a:cubicBezTo>
                    <a:pt x="256" y="466"/>
                    <a:pt x="254" y="466"/>
                    <a:pt x="253" y="464"/>
                  </a:cubicBezTo>
                  <a:cubicBezTo>
                    <a:pt x="253" y="463"/>
                    <a:pt x="253" y="463"/>
                    <a:pt x="253" y="462"/>
                  </a:cubicBezTo>
                  <a:cubicBezTo>
                    <a:pt x="274" y="402"/>
                    <a:pt x="274" y="402"/>
                    <a:pt x="274" y="402"/>
                  </a:cubicBezTo>
                  <a:cubicBezTo>
                    <a:pt x="274" y="402"/>
                    <a:pt x="273" y="403"/>
                    <a:pt x="272" y="403"/>
                  </a:cubicBezTo>
                  <a:cubicBezTo>
                    <a:pt x="271" y="403"/>
                    <a:pt x="270" y="402"/>
                    <a:pt x="269" y="401"/>
                  </a:cubicBezTo>
                  <a:cubicBezTo>
                    <a:pt x="268" y="400"/>
                    <a:pt x="267" y="399"/>
                    <a:pt x="267" y="397"/>
                  </a:cubicBezTo>
                  <a:cubicBezTo>
                    <a:pt x="267" y="396"/>
                    <a:pt x="268" y="394"/>
                    <a:pt x="269" y="393"/>
                  </a:cubicBezTo>
                  <a:cubicBezTo>
                    <a:pt x="274" y="388"/>
                    <a:pt x="274" y="388"/>
                    <a:pt x="274" y="388"/>
                  </a:cubicBezTo>
                  <a:cubicBezTo>
                    <a:pt x="232" y="357"/>
                    <a:pt x="232" y="357"/>
                    <a:pt x="232" y="357"/>
                  </a:cubicBezTo>
                  <a:cubicBezTo>
                    <a:pt x="231" y="356"/>
                    <a:pt x="230" y="354"/>
                    <a:pt x="229" y="352"/>
                  </a:cubicBezTo>
                  <a:cubicBezTo>
                    <a:pt x="229" y="350"/>
                    <a:pt x="230" y="348"/>
                    <a:pt x="231" y="347"/>
                  </a:cubicBezTo>
                  <a:cubicBezTo>
                    <a:pt x="232" y="345"/>
                    <a:pt x="234" y="344"/>
                    <a:pt x="236" y="344"/>
                  </a:cubicBezTo>
                  <a:cubicBezTo>
                    <a:pt x="238" y="344"/>
                    <a:pt x="240" y="344"/>
                    <a:pt x="241" y="345"/>
                  </a:cubicBezTo>
                  <a:cubicBezTo>
                    <a:pt x="283" y="377"/>
                    <a:pt x="283" y="377"/>
                    <a:pt x="283" y="377"/>
                  </a:cubicBezTo>
                  <a:cubicBezTo>
                    <a:pt x="286" y="370"/>
                    <a:pt x="286" y="370"/>
                    <a:pt x="286" y="370"/>
                  </a:cubicBezTo>
                  <a:close/>
                  <a:moveTo>
                    <a:pt x="350" y="319"/>
                  </a:moveTo>
                  <a:cubicBezTo>
                    <a:pt x="342" y="310"/>
                    <a:pt x="331" y="303"/>
                    <a:pt x="320" y="299"/>
                  </a:cubicBezTo>
                  <a:cubicBezTo>
                    <a:pt x="309" y="294"/>
                    <a:pt x="296" y="291"/>
                    <a:pt x="283" y="291"/>
                  </a:cubicBezTo>
                  <a:cubicBezTo>
                    <a:pt x="271" y="291"/>
                    <a:pt x="258" y="294"/>
                    <a:pt x="247" y="299"/>
                  </a:cubicBezTo>
                  <a:cubicBezTo>
                    <a:pt x="236" y="303"/>
                    <a:pt x="225" y="310"/>
                    <a:pt x="216" y="319"/>
                  </a:cubicBezTo>
                  <a:cubicBezTo>
                    <a:pt x="208" y="328"/>
                    <a:pt x="201" y="338"/>
                    <a:pt x="196" y="350"/>
                  </a:cubicBezTo>
                  <a:cubicBezTo>
                    <a:pt x="191" y="361"/>
                    <a:pt x="189" y="373"/>
                    <a:pt x="189" y="386"/>
                  </a:cubicBezTo>
                  <a:cubicBezTo>
                    <a:pt x="189" y="399"/>
                    <a:pt x="191" y="411"/>
                    <a:pt x="196" y="422"/>
                  </a:cubicBezTo>
                  <a:cubicBezTo>
                    <a:pt x="201" y="434"/>
                    <a:pt x="208" y="444"/>
                    <a:pt x="216" y="453"/>
                  </a:cubicBezTo>
                  <a:cubicBezTo>
                    <a:pt x="225" y="462"/>
                    <a:pt x="236" y="469"/>
                    <a:pt x="247" y="474"/>
                  </a:cubicBezTo>
                  <a:cubicBezTo>
                    <a:pt x="258" y="478"/>
                    <a:pt x="271" y="481"/>
                    <a:pt x="283" y="481"/>
                  </a:cubicBezTo>
                  <a:cubicBezTo>
                    <a:pt x="296" y="481"/>
                    <a:pt x="309" y="478"/>
                    <a:pt x="320" y="474"/>
                  </a:cubicBezTo>
                  <a:cubicBezTo>
                    <a:pt x="331" y="469"/>
                    <a:pt x="342" y="462"/>
                    <a:pt x="350" y="453"/>
                  </a:cubicBezTo>
                  <a:cubicBezTo>
                    <a:pt x="359" y="444"/>
                    <a:pt x="366" y="434"/>
                    <a:pt x="371" y="422"/>
                  </a:cubicBezTo>
                  <a:cubicBezTo>
                    <a:pt x="376" y="411"/>
                    <a:pt x="378" y="399"/>
                    <a:pt x="378" y="386"/>
                  </a:cubicBezTo>
                  <a:cubicBezTo>
                    <a:pt x="378" y="373"/>
                    <a:pt x="376" y="361"/>
                    <a:pt x="371" y="350"/>
                  </a:cubicBezTo>
                  <a:cubicBezTo>
                    <a:pt x="366" y="338"/>
                    <a:pt x="359" y="328"/>
                    <a:pt x="350" y="319"/>
                  </a:cubicBezTo>
                  <a:close/>
                  <a:moveTo>
                    <a:pt x="196" y="298"/>
                  </a:moveTo>
                  <a:cubicBezTo>
                    <a:pt x="173" y="321"/>
                    <a:pt x="159" y="352"/>
                    <a:pt x="159" y="386"/>
                  </a:cubicBezTo>
                  <a:cubicBezTo>
                    <a:pt x="159" y="420"/>
                    <a:pt x="173" y="451"/>
                    <a:pt x="196" y="474"/>
                  </a:cubicBezTo>
                  <a:cubicBezTo>
                    <a:pt x="218" y="496"/>
                    <a:pt x="249" y="510"/>
                    <a:pt x="283" y="510"/>
                  </a:cubicBezTo>
                  <a:cubicBezTo>
                    <a:pt x="318" y="510"/>
                    <a:pt x="349" y="496"/>
                    <a:pt x="371" y="474"/>
                  </a:cubicBezTo>
                  <a:cubicBezTo>
                    <a:pt x="394" y="451"/>
                    <a:pt x="408" y="420"/>
                    <a:pt x="408" y="386"/>
                  </a:cubicBezTo>
                  <a:cubicBezTo>
                    <a:pt x="408" y="352"/>
                    <a:pt x="394" y="321"/>
                    <a:pt x="371" y="298"/>
                  </a:cubicBezTo>
                  <a:cubicBezTo>
                    <a:pt x="349" y="276"/>
                    <a:pt x="318" y="262"/>
                    <a:pt x="283" y="262"/>
                  </a:cubicBezTo>
                  <a:cubicBezTo>
                    <a:pt x="249" y="262"/>
                    <a:pt x="218" y="276"/>
                    <a:pt x="196" y="298"/>
                  </a:cubicBezTo>
                  <a:close/>
                  <a:moveTo>
                    <a:pt x="229" y="381"/>
                  </a:moveTo>
                  <a:cubicBezTo>
                    <a:pt x="202" y="381"/>
                    <a:pt x="202" y="381"/>
                    <a:pt x="202" y="381"/>
                  </a:cubicBezTo>
                  <a:cubicBezTo>
                    <a:pt x="199" y="381"/>
                    <a:pt x="197" y="383"/>
                    <a:pt x="197" y="386"/>
                  </a:cubicBezTo>
                  <a:cubicBezTo>
                    <a:pt x="197" y="389"/>
                    <a:pt x="199" y="391"/>
                    <a:pt x="202" y="391"/>
                  </a:cubicBezTo>
                  <a:cubicBezTo>
                    <a:pt x="229" y="391"/>
                    <a:pt x="229" y="391"/>
                    <a:pt x="229" y="391"/>
                  </a:cubicBezTo>
                  <a:cubicBezTo>
                    <a:pt x="232" y="391"/>
                    <a:pt x="235" y="389"/>
                    <a:pt x="235" y="386"/>
                  </a:cubicBezTo>
                  <a:cubicBezTo>
                    <a:pt x="235" y="383"/>
                    <a:pt x="232" y="381"/>
                    <a:pt x="229" y="381"/>
                  </a:cubicBezTo>
                  <a:close/>
                  <a:moveTo>
                    <a:pt x="338" y="391"/>
                  </a:moveTo>
                  <a:cubicBezTo>
                    <a:pt x="365" y="391"/>
                    <a:pt x="365" y="391"/>
                    <a:pt x="365" y="391"/>
                  </a:cubicBezTo>
                  <a:cubicBezTo>
                    <a:pt x="368" y="391"/>
                    <a:pt x="370" y="389"/>
                    <a:pt x="370" y="386"/>
                  </a:cubicBezTo>
                  <a:cubicBezTo>
                    <a:pt x="370" y="383"/>
                    <a:pt x="368" y="381"/>
                    <a:pt x="365" y="381"/>
                  </a:cubicBezTo>
                  <a:cubicBezTo>
                    <a:pt x="338" y="381"/>
                    <a:pt x="338" y="381"/>
                    <a:pt x="338" y="381"/>
                  </a:cubicBezTo>
                  <a:cubicBezTo>
                    <a:pt x="335" y="381"/>
                    <a:pt x="332" y="383"/>
                    <a:pt x="332" y="386"/>
                  </a:cubicBezTo>
                  <a:cubicBezTo>
                    <a:pt x="332" y="389"/>
                    <a:pt x="335" y="391"/>
                    <a:pt x="338" y="391"/>
                  </a:cubicBezTo>
                  <a:close/>
                  <a:moveTo>
                    <a:pt x="278" y="440"/>
                  </a:moveTo>
                  <a:cubicBezTo>
                    <a:pt x="278" y="467"/>
                    <a:pt x="278" y="467"/>
                    <a:pt x="278" y="467"/>
                  </a:cubicBezTo>
                  <a:cubicBezTo>
                    <a:pt x="278" y="470"/>
                    <a:pt x="280" y="473"/>
                    <a:pt x="283" y="473"/>
                  </a:cubicBezTo>
                  <a:cubicBezTo>
                    <a:pt x="286" y="473"/>
                    <a:pt x="289" y="470"/>
                    <a:pt x="289" y="467"/>
                  </a:cubicBezTo>
                  <a:cubicBezTo>
                    <a:pt x="289" y="440"/>
                    <a:pt x="289" y="440"/>
                    <a:pt x="289" y="440"/>
                  </a:cubicBezTo>
                  <a:cubicBezTo>
                    <a:pt x="289" y="437"/>
                    <a:pt x="286" y="435"/>
                    <a:pt x="283" y="435"/>
                  </a:cubicBezTo>
                  <a:cubicBezTo>
                    <a:pt x="280" y="435"/>
                    <a:pt x="278" y="437"/>
                    <a:pt x="278" y="440"/>
                  </a:cubicBezTo>
                  <a:close/>
                  <a:moveTo>
                    <a:pt x="289" y="332"/>
                  </a:moveTo>
                  <a:cubicBezTo>
                    <a:pt x="289" y="305"/>
                    <a:pt x="289" y="305"/>
                    <a:pt x="289" y="305"/>
                  </a:cubicBezTo>
                  <a:cubicBezTo>
                    <a:pt x="289" y="302"/>
                    <a:pt x="286" y="299"/>
                    <a:pt x="283" y="299"/>
                  </a:cubicBezTo>
                  <a:cubicBezTo>
                    <a:pt x="280" y="299"/>
                    <a:pt x="278" y="302"/>
                    <a:pt x="278" y="305"/>
                  </a:cubicBezTo>
                  <a:cubicBezTo>
                    <a:pt x="278" y="332"/>
                    <a:pt x="278" y="332"/>
                    <a:pt x="278" y="332"/>
                  </a:cubicBezTo>
                  <a:cubicBezTo>
                    <a:pt x="278" y="335"/>
                    <a:pt x="280" y="337"/>
                    <a:pt x="283" y="337"/>
                  </a:cubicBezTo>
                  <a:cubicBezTo>
                    <a:pt x="286" y="337"/>
                    <a:pt x="289" y="335"/>
                    <a:pt x="289" y="332"/>
                  </a:cubicBezTo>
                  <a:close/>
                  <a:moveTo>
                    <a:pt x="218" y="0"/>
                  </a:moveTo>
                  <a:cubicBezTo>
                    <a:pt x="224" y="0"/>
                    <a:pt x="228" y="2"/>
                    <a:pt x="232" y="4"/>
                  </a:cubicBezTo>
                  <a:cubicBezTo>
                    <a:pt x="235" y="7"/>
                    <a:pt x="237" y="11"/>
                    <a:pt x="237" y="14"/>
                  </a:cubicBezTo>
                  <a:cubicBezTo>
                    <a:pt x="237" y="72"/>
                    <a:pt x="237" y="72"/>
                    <a:pt x="237" y="72"/>
                  </a:cubicBezTo>
                  <a:cubicBezTo>
                    <a:pt x="237" y="75"/>
                    <a:pt x="235" y="79"/>
                    <a:pt x="232" y="82"/>
                  </a:cubicBezTo>
                  <a:cubicBezTo>
                    <a:pt x="228" y="84"/>
                    <a:pt x="224" y="86"/>
                    <a:pt x="218" y="86"/>
                  </a:cubicBezTo>
                  <a:cubicBezTo>
                    <a:pt x="126" y="86"/>
                    <a:pt x="126" y="86"/>
                    <a:pt x="126" y="86"/>
                  </a:cubicBezTo>
                  <a:cubicBezTo>
                    <a:pt x="121" y="86"/>
                    <a:pt x="116" y="84"/>
                    <a:pt x="113" y="82"/>
                  </a:cubicBezTo>
                  <a:cubicBezTo>
                    <a:pt x="110" y="79"/>
                    <a:pt x="108" y="75"/>
                    <a:pt x="108" y="72"/>
                  </a:cubicBezTo>
                  <a:cubicBezTo>
                    <a:pt x="108" y="14"/>
                    <a:pt x="108" y="14"/>
                    <a:pt x="108" y="14"/>
                  </a:cubicBezTo>
                  <a:cubicBezTo>
                    <a:pt x="108" y="11"/>
                    <a:pt x="110" y="7"/>
                    <a:pt x="113" y="4"/>
                  </a:cubicBezTo>
                  <a:cubicBezTo>
                    <a:pt x="116" y="2"/>
                    <a:pt x="121" y="0"/>
                    <a:pt x="126" y="0"/>
                  </a:cubicBezTo>
                  <a:cubicBezTo>
                    <a:pt x="218" y="0"/>
                    <a:pt x="218" y="0"/>
                    <a:pt x="218" y="0"/>
                  </a:cubicBezTo>
                  <a:close/>
                  <a:moveTo>
                    <a:pt x="138" y="19"/>
                  </a:moveTo>
                  <a:cubicBezTo>
                    <a:pt x="206" y="19"/>
                    <a:pt x="206" y="19"/>
                    <a:pt x="206" y="19"/>
                  </a:cubicBezTo>
                  <a:cubicBezTo>
                    <a:pt x="210" y="19"/>
                    <a:pt x="214" y="20"/>
                    <a:pt x="217" y="22"/>
                  </a:cubicBezTo>
                  <a:cubicBezTo>
                    <a:pt x="217" y="22"/>
                    <a:pt x="217" y="22"/>
                    <a:pt x="217" y="22"/>
                  </a:cubicBezTo>
                  <a:cubicBezTo>
                    <a:pt x="220" y="25"/>
                    <a:pt x="222" y="29"/>
                    <a:pt x="222" y="33"/>
                  </a:cubicBezTo>
                  <a:cubicBezTo>
                    <a:pt x="222" y="51"/>
                    <a:pt x="222" y="51"/>
                    <a:pt x="222" y="51"/>
                  </a:cubicBezTo>
                  <a:cubicBezTo>
                    <a:pt x="222" y="55"/>
                    <a:pt x="220" y="58"/>
                    <a:pt x="217" y="61"/>
                  </a:cubicBezTo>
                  <a:cubicBezTo>
                    <a:pt x="217" y="61"/>
                    <a:pt x="217" y="61"/>
                    <a:pt x="217" y="61"/>
                  </a:cubicBezTo>
                  <a:cubicBezTo>
                    <a:pt x="214" y="63"/>
                    <a:pt x="210" y="65"/>
                    <a:pt x="206" y="65"/>
                  </a:cubicBezTo>
                  <a:cubicBezTo>
                    <a:pt x="138" y="65"/>
                    <a:pt x="138" y="65"/>
                    <a:pt x="138" y="65"/>
                  </a:cubicBezTo>
                  <a:cubicBezTo>
                    <a:pt x="134" y="65"/>
                    <a:pt x="130" y="63"/>
                    <a:pt x="127" y="61"/>
                  </a:cubicBezTo>
                  <a:cubicBezTo>
                    <a:pt x="127" y="61"/>
                    <a:pt x="127" y="61"/>
                    <a:pt x="127" y="61"/>
                  </a:cubicBezTo>
                  <a:cubicBezTo>
                    <a:pt x="124" y="58"/>
                    <a:pt x="122" y="55"/>
                    <a:pt x="122" y="51"/>
                  </a:cubicBezTo>
                  <a:cubicBezTo>
                    <a:pt x="122" y="33"/>
                    <a:pt x="122" y="33"/>
                    <a:pt x="122" y="33"/>
                  </a:cubicBezTo>
                  <a:cubicBezTo>
                    <a:pt x="122" y="29"/>
                    <a:pt x="124" y="25"/>
                    <a:pt x="127" y="22"/>
                  </a:cubicBezTo>
                  <a:cubicBezTo>
                    <a:pt x="127" y="22"/>
                    <a:pt x="127" y="22"/>
                    <a:pt x="127" y="22"/>
                  </a:cubicBezTo>
                  <a:cubicBezTo>
                    <a:pt x="130" y="20"/>
                    <a:pt x="134" y="19"/>
                    <a:pt x="138" y="19"/>
                  </a:cubicBezTo>
                  <a:close/>
                  <a:moveTo>
                    <a:pt x="344" y="243"/>
                  </a:moveTo>
                  <a:cubicBezTo>
                    <a:pt x="344" y="41"/>
                    <a:pt x="344" y="41"/>
                    <a:pt x="344" y="41"/>
                  </a:cubicBezTo>
                  <a:cubicBezTo>
                    <a:pt x="344" y="28"/>
                    <a:pt x="334" y="18"/>
                    <a:pt x="321" y="18"/>
                  </a:cubicBezTo>
                  <a:cubicBezTo>
                    <a:pt x="244" y="18"/>
                    <a:pt x="244" y="18"/>
                    <a:pt x="244" y="18"/>
                  </a:cubicBezTo>
                  <a:cubicBezTo>
                    <a:pt x="244" y="59"/>
                    <a:pt x="244" y="59"/>
                    <a:pt x="244" y="59"/>
                  </a:cubicBezTo>
                  <a:cubicBezTo>
                    <a:pt x="302" y="59"/>
                    <a:pt x="302" y="59"/>
                    <a:pt x="302" y="59"/>
                  </a:cubicBezTo>
                  <a:cubicBezTo>
                    <a:pt x="302" y="92"/>
                    <a:pt x="302" y="92"/>
                    <a:pt x="302" y="92"/>
                  </a:cubicBezTo>
                  <a:cubicBezTo>
                    <a:pt x="302" y="232"/>
                    <a:pt x="302" y="232"/>
                    <a:pt x="302" y="232"/>
                  </a:cubicBezTo>
                  <a:cubicBezTo>
                    <a:pt x="317" y="234"/>
                    <a:pt x="331" y="238"/>
                    <a:pt x="344" y="243"/>
                  </a:cubicBezTo>
                  <a:close/>
                  <a:moveTo>
                    <a:pt x="87" y="324"/>
                  </a:moveTo>
                  <a:cubicBezTo>
                    <a:pt x="141" y="324"/>
                    <a:pt x="141" y="324"/>
                    <a:pt x="141" y="324"/>
                  </a:cubicBezTo>
                  <a:cubicBezTo>
                    <a:pt x="139" y="330"/>
                    <a:pt x="136" y="336"/>
                    <a:pt x="134" y="343"/>
                  </a:cubicBezTo>
                  <a:cubicBezTo>
                    <a:pt x="87" y="343"/>
                    <a:pt x="87" y="343"/>
                    <a:pt x="87" y="343"/>
                  </a:cubicBezTo>
                  <a:cubicBezTo>
                    <a:pt x="82" y="343"/>
                    <a:pt x="77" y="339"/>
                    <a:pt x="77" y="333"/>
                  </a:cubicBezTo>
                  <a:cubicBezTo>
                    <a:pt x="77" y="333"/>
                    <a:pt x="77" y="333"/>
                    <a:pt x="77" y="333"/>
                  </a:cubicBezTo>
                  <a:cubicBezTo>
                    <a:pt x="77" y="328"/>
                    <a:pt x="82" y="324"/>
                    <a:pt x="87" y="324"/>
                  </a:cubicBezTo>
                  <a:close/>
                  <a:moveTo>
                    <a:pt x="162" y="290"/>
                  </a:moveTo>
                  <a:cubicBezTo>
                    <a:pt x="87" y="290"/>
                    <a:pt x="87" y="290"/>
                    <a:pt x="87" y="290"/>
                  </a:cubicBezTo>
                  <a:cubicBezTo>
                    <a:pt x="87" y="290"/>
                    <a:pt x="87" y="290"/>
                    <a:pt x="87"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8"/>
                    <a:pt x="82" y="288"/>
                    <a:pt x="82" y="288"/>
                  </a:cubicBezTo>
                  <a:cubicBezTo>
                    <a:pt x="82" y="288"/>
                    <a:pt x="82" y="288"/>
                    <a:pt x="82" y="288"/>
                  </a:cubicBezTo>
                  <a:cubicBezTo>
                    <a:pt x="82" y="288"/>
                    <a:pt x="82" y="288"/>
                    <a:pt x="82" y="288"/>
                  </a:cubicBezTo>
                  <a:cubicBezTo>
                    <a:pt x="82" y="288"/>
                    <a:pt x="82" y="288"/>
                    <a:pt x="82"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7"/>
                    <a:pt x="81" y="287"/>
                    <a:pt x="81" y="287"/>
                  </a:cubicBezTo>
                  <a:cubicBezTo>
                    <a:pt x="81" y="287"/>
                    <a:pt x="81" y="287"/>
                    <a:pt x="81"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6"/>
                    <a:pt x="80" y="286"/>
                    <a:pt x="80" y="286"/>
                  </a:cubicBezTo>
                  <a:cubicBezTo>
                    <a:pt x="80" y="286"/>
                    <a:pt x="80" y="286"/>
                    <a:pt x="80"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8" y="285"/>
                    <a:pt x="78" y="285"/>
                    <a:pt x="78" y="285"/>
                  </a:cubicBezTo>
                  <a:cubicBezTo>
                    <a:pt x="78" y="285"/>
                    <a:pt x="78" y="285"/>
                    <a:pt x="78" y="285"/>
                  </a:cubicBezTo>
                  <a:cubicBezTo>
                    <a:pt x="78" y="285"/>
                    <a:pt x="78" y="285"/>
                    <a:pt x="78" y="285"/>
                  </a:cubicBezTo>
                  <a:cubicBezTo>
                    <a:pt x="78" y="285"/>
                    <a:pt x="78" y="285"/>
                    <a:pt x="78" y="285"/>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2"/>
                    <a:pt x="78" y="282"/>
                    <a:pt x="78" y="282"/>
                  </a:cubicBezTo>
                  <a:cubicBezTo>
                    <a:pt x="78" y="282"/>
                    <a:pt x="78" y="282"/>
                    <a:pt x="78" y="282"/>
                  </a:cubicBezTo>
                  <a:cubicBezTo>
                    <a:pt x="78" y="282"/>
                    <a:pt x="78" y="282"/>
                    <a:pt x="78" y="282"/>
                  </a:cubicBezTo>
                  <a:cubicBezTo>
                    <a:pt x="78" y="282"/>
                    <a:pt x="78" y="282"/>
                    <a:pt x="78" y="282"/>
                  </a:cubicBezTo>
                  <a:cubicBezTo>
                    <a:pt x="77" y="282"/>
                    <a:pt x="77" y="282"/>
                    <a:pt x="77" y="282"/>
                  </a:cubicBezTo>
                  <a:cubicBezTo>
                    <a:pt x="77" y="282"/>
                    <a:pt x="77" y="282"/>
                    <a:pt x="77" y="282"/>
                  </a:cubicBezTo>
                  <a:cubicBezTo>
                    <a:pt x="77" y="282"/>
                    <a:pt x="77" y="282"/>
                    <a:pt x="77" y="282"/>
                  </a:cubicBezTo>
                  <a:cubicBezTo>
                    <a:pt x="77" y="282"/>
                    <a:pt x="77" y="282"/>
                    <a:pt x="77" y="282"/>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79"/>
                    <a:pt x="77" y="279"/>
                    <a:pt x="77" y="279"/>
                  </a:cubicBezTo>
                  <a:cubicBezTo>
                    <a:pt x="77" y="279"/>
                    <a:pt x="77" y="279"/>
                    <a:pt x="77" y="279"/>
                  </a:cubicBezTo>
                  <a:cubicBezTo>
                    <a:pt x="77" y="279"/>
                    <a:pt x="77" y="279"/>
                    <a:pt x="77" y="279"/>
                  </a:cubicBezTo>
                  <a:cubicBezTo>
                    <a:pt x="77" y="279"/>
                    <a:pt x="77" y="279"/>
                    <a:pt x="77" y="279"/>
                  </a:cubicBezTo>
                  <a:cubicBezTo>
                    <a:pt x="78" y="279"/>
                    <a:pt x="78" y="279"/>
                    <a:pt x="78" y="279"/>
                  </a:cubicBezTo>
                  <a:cubicBezTo>
                    <a:pt x="78" y="279"/>
                    <a:pt x="78" y="279"/>
                    <a:pt x="78" y="279"/>
                  </a:cubicBezTo>
                  <a:cubicBezTo>
                    <a:pt x="78" y="279"/>
                    <a:pt x="78" y="279"/>
                    <a:pt x="78" y="279"/>
                  </a:cubicBezTo>
                  <a:cubicBezTo>
                    <a:pt x="78" y="279"/>
                    <a:pt x="78" y="279"/>
                    <a:pt x="78" y="279"/>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9" y="276"/>
                    <a:pt x="79" y="276"/>
                    <a:pt x="79" y="276"/>
                  </a:cubicBezTo>
                  <a:cubicBezTo>
                    <a:pt x="79" y="276"/>
                    <a:pt x="79" y="276"/>
                    <a:pt x="79" y="276"/>
                  </a:cubicBezTo>
                  <a:cubicBezTo>
                    <a:pt x="79" y="276"/>
                    <a:pt x="79" y="276"/>
                    <a:pt x="79" y="276"/>
                  </a:cubicBezTo>
                  <a:cubicBezTo>
                    <a:pt x="79" y="276"/>
                    <a:pt x="79" y="276"/>
                    <a:pt x="79" y="276"/>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80" y="275"/>
                    <a:pt x="80" y="275"/>
                    <a:pt x="80" y="275"/>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2" y="273"/>
                    <a:pt x="82" y="273"/>
                    <a:pt x="82" y="273"/>
                  </a:cubicBezTo>
                  <a:cubicBezTo>
                    <a:pt x="82" y="273"/>
                    <a:pt x="82" y="273"/>
                    <a:pt x="82" y="273"/>
                  </a:cubicBezTo>
                  <a:cubicBezTo>
                    <a:pt x="82" y="273"/>
                    <a:pt x="82" y="273"/>
                    <a:pt x="82" y="273"/>
                  </a:cubicBezTo>
                  <a:cubicBezTo>
                    <a:pt x="82" y="272"/>
                    <a:pt x="82" y="272"/>
                    <a:pt x="82" y="272"/>
                  </a:cubicBezTo>
                  <a:cubicBezTo>
                    <a:pt x="82" y="272"/>
                    <a:pt x="82" y="272"/>
                    <a:pt x="82" y="272"/>
                  </a:cubicBezTo>
                  <a:cubicBezTo>
                    <a:pt x="82" y="272"/>
                    <a:pt x="82" y="272"/>
                    <a:pt x="82" y="272"/>
                  </a:cubicBezTo>
                  <a:cubicBezTo>
                    <a:pt x="82" y="272"/>
                    <a:pt x="82" y="272"/>
                    <a:pt x="82"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7" y="271"/>
                    <a:pt x="87" y="271"/>
                    <a:pt x="87" y="271"/>
                  </a:cubicBezTo>
                  <a:cubicBezTo>
                    <a:pt x="179" y="271"/>
                    <a:pt x="179" y="271"/>
                    <a:pt x="179" y="271"/>
                  </a:cubicBezTo>
                  <a:cubicBezTo>
                    <a:pt x="173" y="277"/>
                    <a:pt x="167" y="283"/>
                    <a:pt x="162" y="290"/>
                  </a:cubicBezTo>
                  <a:close/>
                  <a:moveTo>
                    <a:pt x="77" y="280"/>
                  </a:moveTo>
                  <a:cubicBezTo>
                    <a:pt x="77" y="280"/>
                    <a:pt x="77" y="280"/>
                    <a:pt x="77" y="280"/>
                  </a:cubicBezTo>
                  <a:close/>
                  <a:moveTo>
                    <a:pt x="87" y="218"/>
                  </a:moveTo>
                  <a:cubicBezTo>
                    <a:pt x="258" y="218"/>
                    <a:pt x="258" y="218"/>
                    <a:pt x="258" y="218"/>
                  </a:cubicBezTo>
                  <a:cubicBezTo>
                    <a:pt x="263" y="218"/>
                    <a:pt x="267" y="222"/>
                    <a:pt x="267" y="228"/>
                  </a:cubicBezTo>
                  <a:cubicBezTo>
                    <a:pt x="267" y="228"/>
                    <a:pt x="267" y="228"/>
                    <a:pt x="267" y="228"/>
                  </a:cubicBezTo>
                  <a:cubicBezTo>
                    <a:pt x="267" y="229"/>
                    <a:pt x="267" y="231"/>
                    <a:pt x="266" y="232"/>
                  </a:cubicBezTo>
                  <a:cubicBezTo>
                    <a:pt x="257" y="233"/>
                    <a:pt x="249" y="235"/>
                    <a:pt x="241" y="237"/>
                  </a:cubicBezTo>
                  <a:cubicBezTo>
                    <a:pt x="87" y="237"/>
                    <a:pt x="87" y="237"/>
                    <a:pt x="87" y="237"/>
                  </a:cubicBezTo>
                  <a:cubicBezTo>
                    <a:pt x="82" y="237"/>
                    <a:pt x="77" y="233"/>
                    <a:pt x="77" y="228"/>
                  </a:cubicBezTo>
                  <a:cubicBezTo>
                    <a:pt x="77" y="228"/>
                    <a:pt x="77" y="228"/>
                    <a:pt x="77" y="228"/>
                  </a:cubicBezTo>
                  <a:cubicBezTo>
                    <a:pt x="77" y="222"/>
                    <a:pt x="82" y="218"/>
                    <a:pt x="87" y="218"/>
                  </a:cubicBezTo>
                  <a:close/>
                  <a:moveTo>
                    <a:pt x="87" y="165"/>
                  </a:moveTo>
                  <a:cubicBezTo>
                    <a:pt x="258" y="165"/>
                    <a:pt x="258" y="165"/>
                    <a:pt x="258" y="165"/>
                  </a:cubicBezTo>
                  <a:cubicBezTo>
                    <a:pt x="263" y="165"/>
                    <a:pt x="267" y="170"/>
                    <a:pt x="267" y="175"/>
                  </a:cubicBezTo>
                  <a:cubicBezTo>
                    <a:pt x="267" y="175"/>
                    <a:pt x="267" y="175"/>
                    <a:pt x="267" y="175"/>
                  </a:cubicBezTo>
                  <a:cubicBezTo>
                    <a:pt x="267" y="180"/>
                    <a:pt x="263" y="184"/>
                    <a:pt x="258" y="184"/>
                  </a:cubicBezTo>
                  <a:cubicBezTo>
                    <a:pt x="87" y="184"/>
                    <a:pt x="87" y="184"/>
                    <a:pt x="87" y="184"/>
                  </a:cubicBezTo>
                  <a:cubicBezTo>
                    <a:pt x="82" y="184"/>
                    <a:pt x="77" y="180"/>
                    <a:pt x="77" y="175"/>
                  </a:cubicBezTo>
                  <a:cubicBezTo>
                    <a:pt x="77" y="175"/>
                    <a:pt x="77" y="175"/>
                    <a:pt x="77" y="175"/>
                  </a:cubicBezTo>
                  <a:cubicBezTo>
                    <a:pt x="77" y="170"/>
                    <a:pt x="82" y="165"/>
                    <a:pt x="87" y="165"/>
                  </a:cubicBezTo>
                  <a:close/>
                  <a:moveTo>
                    <a:pt x="87" y="115"/>
                  </a:moveTo>
                  <a:cubicBezTo>
                    <a:pt x="258" y="115"/>
                    <a:pt x="258" y="115"/>
                    <a:pt x="258" y="115"/>
                  </a:cubicBezTo>
                  <a:cubicBezTo>
                    <a:pt x="263" y="115"/>
                    <a:pt x="267" y="120"/>
                    <a:pt x="267" y="125"/>
                  </a:cubicBezTo>
                  <a:cubicBezTo>
                    <a:pt x="267" y="125"/>
                    <a:pt x="267" y="125"/>
                    <a:pt x="267" y="125"/>
                  </a:cubicBezTo>
                  <a:cubicBezTo>
                    <a:pt x="267" y="130"/>
                    <a:pt x="263" y="134"/>
                    <a:pt x="258" y="134"/>
                  </a:cubicBezTo>
                  <a:cubicBezTo>
                    <a:pt x="87" y="134"/>
                    <a:pt x="87" y="134"/>
                    <a:pt x="87" y="134"/>
                  </a:cubicBezTo>
                  <a:cubicBezTo>
                    <a:pt x="82" y="134"/>
                    <a:pt x="77" y="130"/>
                    <a:pt x="77" y="125"/>
                  </a:cubicBezTo>
                  <a:cubicBezTo>
                    <a:pt x="77" y="125"/>
                    <a:pt x="77" y="125"/>
                    <a:pt x="77" y="125"/>
                  </a:cubicBezTo>
                  <a:cubicBezTo>
                    <a:pt x="77" y="120"/>
                    <a:pt x="82" y="115"/>
                    <a:pt x="87" y="115"/>
                  </a:cubicBezTo>
                  <a:close/>
                  <a:moveTo>
                    <a:pt x="130" y="59"/>
                  </a:moveTo>
                  <a:cubicBezTo>
                    <a:pt x="130" y="33"/>
                    <a:pt x="130" y="33"/>
                    <a:pt x="130" y="33"/>
                  </a:cubicBezTo>
                  <a:cubicBezTo>
                    <a:pt x="130" y="31"/>
                    <a:pt x="131" y="29"/>
                    <a:pt x="132" y="28"/>
                  </a:cubicBezTo>
                  <a:cubicBezTo>
                    <a:pt x="132" y="28"/>
                    <a:pt x="132" y="28"/>
                    <a:pt x="132" y="28"/>
                  </a:cubicBezTo>
                  <a:cubicBezTo>
                    <a:pt x="134" y="27"/>
                    <a:pt x="136" y="26"/>
                    <a:pt x="138" y="26"/>
                  </a:cubicBezTo>
                  <a:cubicBezTo>
                    <a:pt x="206" y="26"/>
                    <a:pt x="206" y="26"/>
                    <a:pt x="206" y="26"/>
                  </a:cubicBezTo>
                  <a:cubicBezTo>
                    <a:pt x="208" y="26"/>
                    <a:pt x="211" y="27"/>
                    <a:pt x="212" y="28"/>
                  </a:cubicBezTo>
                  <a:cubicBezTo>
                    <a:pt x="212" y="28"/>
                    <a:pt x="212" y="28"/>
                    <a:pt x="212" y="28"/>
                  </a:cubicBezTo>
                  <a:cubicBezTo>
                    <a:pt x="214" y="29"/>
                    <a:pt x="215" y="31"/>
                    <a:pt x="215" y="33"/>
                  </a:cubicBezTo>
                  <a:cubicBezTo>
                    <a:pt x="215" y="59"/>
                    <a:pt x="215" y="59"/>
                    <a:pt x="215" y="59"/>
                  </a:cubicBezTo>
                  <a:lnTo>
                    <a:pt x="130" y="59"/>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Rectangle 58"/>
            <p:cNvSpPr>
              <a:spLocks noChangeArrowheads="1"/>
            </p:cNvSpPr>
            <p:nvPr/>
          </p:nvSpPr>
          <p:spPr bwMode="auto">
            <a:xfrm rot="2700000">
              <a:off x="2655457"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Rectangle 58"/>
            <p:cNvSpPr>
              <a:spLocks noChangeArrowheads="1"/>
            </p:cNvSpPr>
            <p:nvPr/>
          </p:nvSpPr>
          <p:spPr bwMode="auto">
            <a:xfrm rot="2700000">
              <a:off x="8987566"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27" name="文本框 28"/>
          <p:cNvSpPr txBox="1"/>
          <p:nvPr/>
        </p:nvSpPr>
        <p:spPr>
          <a:xfrm>
            <a:off x="1813561" y="4760525"/>
            <a:ext cx="3842750" cy="1532727"/>
          </a:xfrm>
          <a:prstGeom prst="rect">
            <a:avLst/>
          </a:prstGeom>
          <a:noFill/>
          <a:effectLst/>
        </p:spPr>
        <p:txBody>
          <a:bodyPr wrap="square" rtlCol="0">
            <a:spAutoFit/>
          </a:bodyPr>
          <a:lstStyle/>
          <a:p>
            <a:pPr>
              <a:lnSpc>
                <a:spcPct val="130000"/>
              </a:lnSpc>
            </a:pPr>
            <a:r>
              <a:rPr lang="zh-CN" altLang="zh-CN" sz="1800" dirty="0">
                <a:solidFill>
                  <a:srgbClr val="1369B2"/>
                </a:solidFill>
                <a:latin typeface="微软雅黑" panose="020B0503020204020204" pitchFamily="34" charset="-122"/>
                <a:ea typeface="微软雅黑" panose="020B0503020204020204" pitchFamily="34" charset="-122"/>
              </a:rPr>
              <a:t>基准测试是指单用户</a:t>
            </a:r>
            <a:r>
              <a:rPr lang="zh-CN" altLang="zh-CN" sz="1800">
                <a:solidFill>
                  <a:srgbClr val="1369B2"/>
                </a:solidFill>
                <a:latin typeface="微软雅黑" panose="020B0503020204020204" pitchFamily="34" charset="-122"/>
                <a:ea typeface="微软雅黑" panose="020B0503020204020204" pitchFamily="34" charset="-122"/>
              </a:rPr>
              <a:t>测试</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即</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环境确定后，使用单个用户对业务模型中的重要业务做多次单独的测试，观察并记录各项性能指标的变化。</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44" name="TextBox 76"/>
          <p:cNvSpPr txBox="1"/>
          <p:nvPr/>
        </p:nvSpPr>
        <p:spPr>
          <a:xfrm>
            <a:off x="6783455" y="4168610"/>
            <a:ext cx="2036467" cy="461665"/>
          </a:xfrm>
          <a:prstGeom prst="rect">
            <a:avLst/>
          </a:prstGeom>
          <a:noFill/>
          <a:effectLst/>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Arial" panose="020B0604020202020204" pitchFamily="34" charset="0"/>
              </a:rPr>
              <a:t>广义上定义</a:t>
            </a:r>
          </a:p>
        </p:txBody>
      </p:sp>
      <p:sp>
        <p:nvSpPr>
          <p:cNvPr id="3" name="矩形 2"/>
          <p:cNvSpPr/>
          <p:nvPr/>
        </p:nvSpPr>
        <p:spPr>
          <a:xfrm>
            <a:off x="2070049" y="4168611"/>
            <a:ext cx="1723549" cy="461665"/>
          </a:xfrm>
          <a:prstGeom prst="rect">
            <a:avLst/>
          </a:prstGeom>
        </p:spPr>
        <p:txBody>
          <a:bodyPr wrap="none">
            <a:spAutoFit/>
          </a:bodyPr>
          <a:lstStyle/>
          <a:p>
            <a:r>
              <a:rPr lang="zh-CN"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rPr>
              <a:t>狭义上</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rPr>
              <a:t>定义</a:t>
            </a:r>
          </a:p>
        </p:txBody>
      </p:sp>
      <p:sp>
        <p:nvSpPr>
          <p:cNvPr id="4" name="矩形 3"/>
          <p:cNvSpPr/>
          <p:nvPr/>
        </p:nvSpPr>
        <p:spPr>
          <a:xfrm>
            <a:off x="6545712" y="4630276"/>
            <a:ext cx="4913976" cy="1754326"/>
          </a:xfrm>
          <a:prstGeom prst="rect">
            <a:avLst/>
          </a:prstGeom>
        </p:spPr>
        <p:txBody>
          <a:bodyPr wrap="square">
            <a:spAutoFit/>
          </a:bodyPr>
          <a:lstStyle/>
          <a:p>
            <a:pPr>
              <a:lnSpc>
                <a:spcPct val="150000"/>
              </a:lnSpc>
            </a:pPr>
            <a:r>
              <a:rPr lang="zh-CN" altLang="zh-CN" sz="1800" dirty="0">
                <a:solidFill>
                  <a:srgbClr val="1369B2"/>
                </a:solidFill>
                <a:latin typeface="微软雅黑" panose="020B0503020204020204" pitchFamily="34" charset="-122"/>
                <a:ea typeface="微软雅黑" panose="020B0503020204020204" pitchFamily="34" charset="-122"/>
              </a:rPr>
              <a:t>基准测试是一种测量和评估软件性能指标的测试</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rPr>
              <a:t>在某个时刻通过基准测试建立一个基准线</a:t>
            </a:r>
            <a:r>
              <a:rPr lang="zh-CN" altLang="zh-CN" sz="18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当系统的软硬件环境发生变化之后，再进行测试以确定软硬件环境变化对软件性能的影响。</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982662" y="983982"/>
            <a:ext cx="2804477" cy="69998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负载测试</a:t>
            </a:r>
          </a:p>
        </p:txBody>
      </p:sp>
      <p:sp>
        <p:nvSpPr>
          <p:cNvPr id="27" name="文本框 28"/>
          <p:cNvSpPr txBox="1"/>
          <p:nvPr/>
        </p:nvSpPr>
        <p:spPr>
          <a:xfrm>
            <a:off x="1143690" y="2035589"/>
            <a:ext cx="10102242" cy="4247317"/>
          </a:xfrm>
          <a:prstGeom prst="rect">
            <a:avLst/>
          </a:prstGeom>
          <a:noFill/>
          <a:effectLst/>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负载测试是指逐步增加</a:t>
            </a:r>
            <a:r>
              <a:rPr lang="zh-CN" altLang="zh-CN" sz="2000">
                <a:solidFill>
                  <a:srgbClr val="1369B2"/>
                </a:solidFill>
                <a:latin typeface="微软雅黑" panose="020B0503020204020204" pitchFamily="34" charset="-122"/>
                <a:ea typeface="微软雅黑" panose="020B0503020204020204" pitchFamily="34" charset="-122"/>
              </a:rPr>
              <a:t>系统负载</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如逐渐增加模拟用户数量</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）来</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系统性能的变化，并最终确定在满足系统性能指标的情况下，</a:t>
            </a:r>
            <a:r>
              <a:rPr lang="zh-CN" altLang="zh-CN" sz="2000" dirty="0">
                <a:solidFill>
                  <a:srgbClr val="1369B2"/>
                </a:solidFill>
                <a:latin typeface="微软雅黑" panose="020B0503020204020204" pitchFamily="34" charset="-122"/>
                <a:ea typeface="微软雅黑" panose="020B0503020204020204" pitchFamily="34" charset="-122"/>
              </a:rPr>
              <a:t>系统所能够承受的</a:t>
            </a:r>
            <a:r>
              <a:rPr lang="zh-CN" altLang="zh-CN" sz="2000">
                <a:solidFill>
                  <a:srgbClr val="1369B2"/>
                </a:solidFill>
                <a:latin typeface="微软雅黑" panose="020B0503020204020204" pitchFamily="34" charset="-122"/>
                <a:ea typeface="微软雅黑" panose="020B0503020204020204" pitchFamily="34" charset="-122"/>
              </a:rPr>
              <a:t>最大负载</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负载测试类似于举重运动，通过</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不断给</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举重</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运动员</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增加重量，</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确定运动员</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身体</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允许的情况下所能举起的最大</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重量。</a:t>
            </a:r>
            <a:endPar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进行负载测试的前提是</a:t>
            </a:r>
            <a:r>
              <a:rPr lang="en-US" altLang="zh-CN" sz="2000">
                <a:solidFill>
                  <a:srgbClr val="1369B2"/>
                </a:solidFill>
                <a:latin typeface="微软雅黑" panose="020B0503020204020204" pitchFamily="34" charset="-122"/>
                <a:ea typeface="微软雅黑" panose="020B0503020204020204" pitchFamily="34" charset="-122"/>
              </a:rPr>
              <a:t>满足性能指标要求</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。例如一个软件系统的响应时间要求不超过 2 秒，则在这个前提下，不断增加用户访问量，当访问量超过 1 万人时，系统的响应时间就会变慢，并超过 2 秒，即可以确定系统响应时间不超过 2 秒的前提下最大负载是 1 万人。</a:t>
            </a:r>
            <a:endPar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982662" y="983982"/>
            <a:ext cx="2804477" cy="69998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压力测试</a:t>
            </a:r>
          </a:p>
        </p:txBody>
      </p:sp>
      <p:sp>
        <p:nvSpPr>
          <p:cNvPr id="27" name="文本框 28"/>
          <p:cNvSpPr txBox="1"/>
          <p:nvPr/>
        </p:nvSpPr>
        <p:spPr>
          <a:xfrm>
            <a:off x="1143689" y="2071215"/>
            <a:ext cx="10054741" cy="1477328"/>
          </a:xfrm>
          <a:prstGeom prst="rect">
            <a:avLst/>
          </a:prstGeom>
          <a:noFill/>
          <a:effectLst/>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压力测试也叫强度</a:t>
            </a:r>
            <a:r>
              <a:rPr lang="zh-CN" altLang="zh-CN" sz="2000">
                <a:solidFill>
                  <a:srgbClr val="1369B2"/>
                </a:solidFill>
                <a:latin typeface="微软雅黑" panose="020B0503020204020204" pitchFamily="34" charset="-122"/>
                <a:ea typeface="微软雅黑" panose="020B0503020204020204" pitchFamily="34" charset="-122"/>
              </a:rPr>
              <a:t>测试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，是</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指</a:t>
            </a:r>
            <a:r>
              <a:rPr lang="zh-CN" altLang="zh-CN" sz="2000" dirty="0">
                <a:solidFill>
                  <a:srgbClr val="1369B2"/>
                </a:solidFill>
                <a:latin typeface="微软雅黑" panose="020B0503020204020204" pitchFamily="34" charset="-122"/>
                <a:ea typeface="微软雅黑" panose="020B0503020204020204" pitchFamily="34" charset="-122"/>
              </a:rPr>
              <a:t>让系统超负荷运行</a:t>
            </a:r>
            <a:r>
              <a:rPr lang="zh-CN" altLang="zh-CN" sz="20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使系统某些资源达到</a:t>
            </a:r>
            <a:r>
              <a:rPr lang="zh-CN" altLang="zh-CN" sz="2000">
                <a:solidFill>
                  <a:srgbClr val="1369B2"/>
                </a:solidFill>
                <a:latin typeface="微软雅黑" panose="020B0503020204020204" pitchFamily="34" charset="-122"/>
                <a:ea typeface="微软雅黑" panose="020B0503020204020204" pitchFamily="34" charset="-122"/>
              </a:rPr>
              <a:t>饱和或</a:t>
            </a:r>
            <a:r>
              <a:rPr lang="zh-CN" altLang="en-US" sz="2000">
                <a:solidFill>
                  <a:srgbClr val="1369B2"/>
                </a:solidFill>
                <a:latin typeface="微软雅黑" panose="020B0503020204020204" pitchFamily="34" charset="-122"/>
                <a:ea typeface="微软雅黑" panose="020B0503020204020204" pitchFamily="34" charset="-122"/>
              </a:rPr>
              <a:t>接近</a:t>
            </a:r>
            <a:r>
              <a:rPr lang="zh-CN" altLang="zh-CN" sz="2000">
                <a:solidFill>
                  <a:srgbClr val="1369B2"/>
                </a:solidFill>
                <a:latin typeface="微软雅黑" panose="020B0503020204020204" pitchFamily="34" charset="-122"/>
                <a:ea typeface="微软雅黑" panose="020B0503020204020204" pitchFamily="34" charset="-122"/>
              </a:rPr>
              <a:t>系统</a:t>
            </a:r>
            <a:r>
              <a:rPr lang="zh-CN" altLang="zh-CN" sz="2000" dirty="0">
                <a:solidFill>
                  <a:srgbClr val="1369B2"/>
                </a:solidFill>
                <a:latin typeface="微软雅黑" panose="020B0503020204020204" pitchFamily="34" charset="-122"/>
                <a:ea typeface="微软雅黑" panose="020B0503020204020204" pitchFamily="34" charset="-122"/>
              </a:rPr>
              <a:t>崩溃的</a:t>
            </a:r>
            <a:r>
              <a:rPr lang="zh-CN" altLang="zh-CN" sz="2000">
                <a:solidFill>
                  <a:srgbClr val="1369B2"/>
                </a:solidFill>
                <a:latin typeface="微软雅黑" panose="020B0503020204020204" pitchFamily="34" charset="-122"/>
                <a:ea typeface="微软雅黑" panose="020B0503020204020204" pitchFamily="34" charset="-122"/>
              </a:rPr>
              <a:t>边缘</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以</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系统的性能变化，从而</a:t>
            </a:r>
            <a:r>
              <a:rPr lang="zh-CN" altLang="zh-CN" sz="2000" dirty="0">
                <a:solidFill>
                  <a:srgbClr val="1369B2"/>
                </a:solidFill>
                <a:latin typeface="微软雅黑" panose="020B0503020204020204" pitchFamily="34" charset="-122"/>
                <a:ea typeface="微软雅黑" panose="020B0503020204020204" pitchFamily="34" charset="-122"/>
              </a:rPr>
              <a:t>确定系统所能承受的最大压力</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。压力</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测试可以</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暴</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露</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那些只有在高负载条件下才会出现的</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Bug</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例</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同步问题、内存泄露等。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6" name="原创设计师QQ598969553          _4"/>
          <p:cNvSpPr/>
          <p:nvPr/>
        </p:nvSpPr>
        <p:spPr>
          <a:xfrm>
            <a:off x="4710728" y="1413456"/>
            <a:ext cx="6953315" cy="5170646"/>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压力测试与负载测试是有区别的，负载测试的目的是在</a:t>
            </a:r>
            <a:r>
              <a:rPr lang="en-US" altLang="zh-CN" sz="2000">
                <a:solidFill>
                  <a:srgbClr val="1369B2"/>
                </a:solidFill>
                <a:latin typeface="微软雅黑" panose="020B0503020204020204" pitchFamily="34" charset="-122"/>
                <a:ea typeface="微软雅黑" panose="020B0503020204020204" pitchFamily="34" charset="-122"/>
              </a:rPr>
              <a:t>满足性能指标要求</a:t>
            </a:r>
            <a:r>
              <a:rPr lang="en-US" altLang="zh-CN" sz="2000">
                <a:solidFill>
                  <a:srgbClr val="595959"/>
                </a:solidFill>
                <a:latin typeface="微软雅黑" panose="020B0503020204020204" pitchFamily="34" charset="-122"/>
                <a:ea typeface="微软雅黑" panose="020B0503020204020204" pitchFamily="34" charset="-122"/>
              </a:rPr>
              <a:t>的前提下，</a:t>
            </a:r>
            <a:r>
              <a:rPr lang="en-US" altLang="zh-CN" sz="2000">
                <a:solidFill>
                  <a:srgbClr val="1369B2"/>
                </a:solidFill>
                <a:latin typeface="微软雅黑" panose="020B0503020204020204" pitchFamily="34" charset="-122"/>
                <a:ea typeface="微软雅黑" panose="020B0503020204020204" pitchFamily="34" charset="-122"/>
              </a:rPr>
              <a:t>测试系统能够承受的最大负载</a:t>
            </a:r>
            <a:r>
              <a:rPr lang="en-US" altLang="zh-CN" sz="2000">
                <a:solidFill>
                  <a:srgbClr val="595959"/>
                </a:solidFill>
                <a:latin typeface="微软雅黑" panose="020B0503020204020204" pitchFamily="34" charset="-122"/>
                <a:ea typeface="微软雅黑" panose="020B0503020204020204" pitchFamily="34" charset="-122"/>
              </a:rPr>
              <a:t>，而压力测试的目的则是</a:t>
            </a:r>
            <a:r>
              <a:rPr lang="en-US" altLang="zh-CN" sz="2000">
                <a:solidFill>
                  <a:srgbClr val="1369B2"/>
                </a:solidFill>
                <a:latin typeface="微软雅黑" panose="020B0503020204020204" pitchFamily="34" charset="-122"/>
                <a:ea typeface="微软雅黑" panose="020B0503020204020204" pitchFamily="34" charset="-122"/>
              </a:rPr>
              <a:t>测试使系统性能达到极限的状态</a:t>
            </a:r>
            <a:r>
              <a:rPr lang="en-US" altLang="zh-CN" sz="2000">
                <a:solidFill>
                  <a:srgbClr val="595959"/>
                </a:solidFill>
                <a:latin typeface="微软雅黑" panose="020B0503020204020204" pitchFamily="34" charset="-122"/>
                <a:ea typeface="微软雅黑" panose="020B0503020204020204" pitchFamily="34" charset="-122"/>
              </a:rPr>
              <a:t>。</a:t>
            </a: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例如软件系统</a:t>
            </a:r>
            <a:r>
              <a:rPr lang="en-US" altLang="zh-CN" sz="2000">
                <a:solidFill>
                  <a:srgbClr val="1369B2"/>
                </a:solidFill>
                <a:latin typeface="微软雅黑" panose="020B0503020204020204" pitchFamily="34" charset="-122"/>
                <a:ea typeface="微软雅黑" panose="020B0503020204020204" pitchFamily="34" charset="-122"/>
              </a:rPr>
              <a:t>正常的响应时间</a:t>
            </a:r>
            <a:r>
              <a:rPr lang="en-US" altLang="zh-CN" sz="2000">
                <a:solidFill>
                  <a:srgbClr val="595959"/>
                </a:solidFill>
                <a:latin typeface="微软雅黑" panose="020B0503020204020204" pitchFamily="34" charset="-122"/>
                <a:ea typeface="微软雅黑" panose="020B0503020204020204" pitchFamily="34" charset="-122"/>
              </a:rPr>
              <a:t>为 2 秒，通过负载测试确定用户访问量超过 1 万人时响应时间变慢。对于压力测试，则继续</a:t>
            </a:r>
            <a:r>
              <a:rPr lang="en-US" altLang="zh-CN" sz="2000">
                <a:solidFill>
                  <a:srgbClr val="1369B2"/>
                </a:solidFill>
                <a:latin typeface="微软雅黑" panose="020B0503020204020204" pitchFamily="34" charset="-122"/>
                <a:ea typeface="微软雅黑" panose="020B0503020204020204" pitchFamily="34" charset="-122"/>
              </a:rPr>
              <a:t>增加用户访问量</a:t>
            </a:r>
            <a:r>
              <a:rPr lang="en-US" altLang="zh-CN" sz="2000">
                <a:solidFill>
                  <a:srgbClr val="595959"/>
                </a:solidFill>
                <a:latin typeface="微软雅黑" panose="020B0503020204020204" pitchFamily="34" charset="-122"/>
                <a:ea typeface="微软雅黑" panose="020B0503020204020204" pitchFamily="34" charset="-122"/>
              </a:rPr>
              <a:t>，观察系统的性能变化，当用户访问量增加到 2 万人时系统响应时间为 3 秒，当用户访问量增加到 3 万人时响应时间为 4 秒，当用户访问量增加到 4 万人时，系统崩溃无法响应。由此确定系统能承受的最大访问量为 4 万人。</a:t>
            </a:r>
            <a:endParaRPr lang="zh-CN" altLang="zh-CN" sz="2000">
              <a:solidFill>
                <a:srgbClr val="595959"/>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982662" y="983982"/>
            <a:ext cx="2804477" cy="69998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并发测试</a:t>
            </a:r>
          </a:p>
        </p:txBody>
      </p:sp>
      <p:sp>
        <p:nvSpPr>
          <p:cNvPr id="27" name="文本框 28"/>
          <p:cNvSpPr txBox="1"/>
          <p:nvPr/>
        </p:nvSpPr>
        <p:spPr>
          <a:xfrm>
            <a:off x="1143690" y="2052971"/>
            <a:ext cx="10268497" cy="2400657"/>
          </a:xfrm>
          <a:prstGeom prst="rect">
            <a:avLst/>
          </a:prstGeom>
          <a:noFill/>
          <a:effectLst/>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并发测试是指通过模拟用户并发访问</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，测试多用户并发访问</a:t>
            </a:r>
            <a:r>
              <a:rPr lang="zh-CN" altLang="zh-CN" sz="2000" dirty="0">
                <a:solidFill>
                  <a:srgbClr val="1369B2"/>
                </a:solidFill>
                <a:latin typeface="微软雅黑" panose="020B0503020204020204" pitchFamily="34" charset="-122"/>
                <a:ea typeface="微软雅黑" panose="020B0503020204020204" pitchFamily="34" charset="-122"/>
              </a:rPr>
              <a:t>同一个应用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同一个模块</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或者数据记录时</a:t>
            </a:r>
            <a:r>
              <a:rPr lang="zh-CN" altLang="zh-CN" sz="2000" dirty="0">
                <a:solidFill>
                  <a:srgbClr val="1369B2"/>
                </a:solidFill>
                <a:latin typeface="微软雅黑" panose="020B0503020204020204" pitchFamily="34" charset="-122"/>
                <a:ea typeface="微软雅黑" panose="020B0503020204020204" pitchFamily="34" charset="-122"/>
              </a:rPr>
              <a:t>是否存在死锁</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响应慢</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或其他性能问题。</a:t>
            </a:r>
            <a:r>
              <a:rPr lang="zh-CN" altLang="zh-CN" sz="2000" dirty="0">
                <a:solidFill>
                  <a:srgbClr val="1369B2"/>
                </a:solidFill>
                <a:latin typeface="微软雅黑" panose="020B0503020204020204" pitchFamily="34" charset="-122"/>
                <a:ea typeface="微软雅黑" panose="020B0503020204020204" pitchFamily="34" charset="-122"/>
              </a:rPr>
              <a:t>并发测试一般没有标准</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，只是测试并发时会不会出现</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意外情况</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几乎</a:t>
            </a:r>
            <a:r>
              <a:rPr lang="zh-CN" altLang="zh-CN" sz="2000" dirty="0">
                <a:solidFill>
                  <a:srgbClr val="1369B2"/>
                </a:solidFill>
                <a:latin typeface="微软雅黑" panose="020B0503020204020204" pitchFamily="34" charset="-122"/>
                <a:ea typeface="微软雅黑" panose="020B0503020204020204" pitchFamily="34" charset="-122"/>
              </a:rPr>
              <a:t>所有的性能测试</a:t>
            </a:r>
            <a:r>
              <a:rPr lang="zh-CN" altLang="zh-CN" sz="2000">
                <a:solidFill>
                  <a:srgbClr val="1369B2"/>
                </a:solidFill>
                <a:latin typeface="微软雅黑" panose="020B0503020204020204" pitchFamily="34" charset="-122"/>
                <a:ea typeface="微软雅黑" panose="020B0503020204020204" pitchFamily="34" charset="-122"/>
              </a:rPr>
              <a:t>都会涉及并发</a:t>
            </a:r>
            <a:r>
              <a:rPr lang="zh-CN" altLang="zh-CN" sz="2000" dirty="0">
                <a:solidFill>
                  <a:srgbClr val="1369B2"/>
                </a:solidFill>
                <a:latin typeface="微软雅黑" panose="020B0503020204020204" pitchFamily="34" charset="-122"/>
                <a:ea typeface="微软雅黑" panose="020B0503020204020204" pitchFamily="34" charset="-122"/>
              </a:rPr>
              <a:t>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，例如多个用户同时访问某一</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条件数据</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或</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多</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个</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用户同时更新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数据，那么数据库可能就会出现访问错误、写入错误等异常情况。</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982662" y="983982"/>
            <a:ext cx="2804477" cy="69998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配置测试</a:t>
            </a:r>
          </a:p>
        </p:txBody>
      </p:sp>
      <p:sp>
        <p:nvSpPr>
          <p:cNvPr id="27" name="文本框 28"/>
          <p:cNvSpPr txBox="1"/>
          <p:nvPr/>
        </p:nvSpPr>
        <p:spPr>
          <a:xfrm>
            <a:off x="1143690" y="2142467"/>
            <a:ext cx="9971614" cy="1938992"/>
          </a:xfrm>
          <a:prstGeom prst="rect">
            <a:avLst/>
          </a:prstGeom>
          <a:noFill/>
          <a:effectLst/>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配置测试是指调整软件系统的软硬件环境，测试各种环境对系统性能的影响，从而找到系统各项资源的最优分配原则</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。配置测试不改变代码，只改变软硬件配置，例如安装版本更高的数据库、配置性能更好</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CPU</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内存等，</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其</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通过</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更改外部配置来提高软件的性能。</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982662" y="983982"/>
            <a:ext cx="2804477" cy="69998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稳定性测试</a:t>
            </a:r>
          </a:p>
        </p:txBody>
      </p:sp>
      <p:sp>
        <p:nvSpPr>
          <p:cNvPr id="27" name="文本框 28"/>
          <p:cNvSpPr txBox="1"/>
          <p:nvPr/>
        </p:nvSpPr>
        <p:spPr>
          <a:xfrm>
            <a:off x="1143690" y="2083091"/>
            <a:ext cx="10019115" cy="1477328"/>
          </a:xfrm>
          <a:prstGeom prst="rect">
            <a:avLst/>
          </a:prstGeom>
          <a:noFill/>
          <a:effectLst/>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稳定性测试也称为可靠性测试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，它是指</a:t>
            </a:r>
            <a:r>
              <a:rPr lang="zh-CN" altLang="zh-CN" sz="2000" dirty="0">
                <a:solidFill>
                  <a:srgbClr val="1369B2"/>
                </a:solidFill>
                <a:latin typeface="微软雅黑" panose="020B0503020204020204" pitchFamily="34" charset="-122"/>
                <a:ea typeface="微软雅黑" panose="020B0503020204020204" pitchFamily="34" charset="-122"/>
              </a:rPr>
              <a:t>让系统在强负载情况下</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持续运行一段时间</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7</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Symbol" panose="05050102010706020507" pitchFamily="18" charset="2"/>
              </a:rPr>
              <a:t></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24</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小时</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测试系统在这种条件下是否能够稳定运行。由于系统在强负载下有业务压力且运行时间较长，所以</a:t>
            </a:r>
            <a:r>
              <a:rPr lang="zh-CN" altLang="zh-CN" sz="2000" dirty="0">
                <a:solidFill>
                  <a:srgbClr val="1369B2"/>
                </a:solidFill>
                <a:latin typeface="微软雅黑" panose="020B0503020204020204" pitchFamily="34" charset="-122"/>
                <a:ea typeface="微软雅黑" panose="020B0503020204020204" pitchFamily="34" charset="-122"/>
              </a:rPr>
              <a:t>稳定性测试可以检测系统是否存在内存泄露等问题</a:t>
            </a:r>
            <a:r>
              <a:rPr lang="zh-CN" altLang="zh-CN" sz="2000" dirty="0">
                <a:solidFill>
                  <a:schemeClr val="tx1">
                    <a:lumMod val="95000"/>
                    <a:lumOff val="5000"/>
                  </a:schemeClr>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性能测试种类</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a:off x="982662" y="983982"/>
            <a:ext cx="2804477" cy="69998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容量测试</a:t>
            </a:r>
          </a:p>
        </p:txBody>
      </p:sp>
      <p:sp>
        <p:nvSpPr>
          <p:cNvPr id="27" name="文本框 28"/>
          <p:cNvSpPr txBox="1"/>
          <p:nvPr/>
        </p:nvSpPr>
        <p:spPr>
          <a:xfrm>
            <a:off x="1143690" y="2094965"/>
            <a:ext cx="10125993" cy="1477328"/>
          </a:xfrm>
          <a:prstGeom prst="rect">
            <a:avLst/>
          </a:prstGeom>
          <a:noFill/>
          <a:effectLst/>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容量测试是指在一定的软硬件及网络环境下，测试系统所能支持的最大用户数、最大存储量等</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。容量测试通常与</a:t>
            </a:r>
            <a:r>
              <a:rPr lang="zh-CN" altLang="zh-CN" sz="2000" dirty="0">
                <a:solidFill>
                  <a:srgbClr val="1369B2"/>
                </a:solidFill>
                <a:latin typeface="微软雅黑" panose="020B0503020204020204" pitchFamily="34" charset="-122"/>
                <a:ea typeface="微软雅黑" panose="020B0503020204020204" pitchFamily="34" charset="-122"/>
              </a:rPr>
              <a:t>数据库</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系统资源</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（如</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CPU</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、内存、磁盘等）有关，用于规划将来需求增长（如用户增长、业务量增加等）时，对数据库和系统资源的优化。</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nvPicPr>
        <p:blipFill>
          <a:blip r:embed="rId3"/>
          <a:stretch>
            <a:fillRect/>
          </a:stretch>
        </p:blipFill>
        <p:spPr>
          <a:xfrm>
            <a:off x="944880" y="2215515"/>
            <a:ext cx="2797810" cy="3898265"/>
          </a:xfrm>
          <a:prstGeom prst="rect">
            <a:avLst/>
          </a:prstGeom>
        </p:spPr>
      </p:pic>
      <p:sp>
        <p:nvSpPr>
          <p:cNvPr id="9"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0" name="TextBox 35"/>
          <p:cNvSpPr txBox="1">
            <a:spLocks noChangeArrowheads="1"/>
          </p:cNvSpPr>
          <p:nvPr/>
        </p:nvSpPr>
        <p:spPr bwMode="auto">
          <a:xfrm>
            <a:off x="3201035" y="1706408"/>
            <a:ext cx="160655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先定一个小目标！</a:t>
            </a:r>
          </a:p>
        </p:txBody>
      </p:sp>
      <p:sp>
        <p:nvSpPr>
          <p:cNvPr id="13" name="TextBox 35"/>
          <p:cNvSpPr txBox="1">
            <a:spLocks noChangeArrowheads="1"/>
          </p:cNvSpPr>
          <p:nvPr/>
        </p:nvSpPr>
        <p:spPr bwMode="auto">
          <a:xfrm>
            <a:off x="5815965" y="3576722"/>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了解性能测试的指标</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，能够</a:t>
            </a:r>
            <a:r>
              <a:rPr lang="zh-CN" altLang="zh-CN" sz="2000" dirty="0">
                <a:solidFill>
                  <a:srgbClr val="1369B2"/>
                </a:solidFill>
                <a:latin typeface="微软雅黑" panose="020B0503020204020204" pitchFamily="34" charset="-122"/>
                <a:ea typeface="微软雅黑" panose="020B0503020204020204" pitchFamily="34" charset="-122"/>
                <a:cs typeface="+mn-ea"/>
              </a:rPr>
              <a:t>描述常见的性能测试指标及其特点</a:t>
            </a:r>
          </a:p>
        </p:txBody>
      </p:sp>
      <p:grpSp>
        <p:nvGrpSpPr>
          <p:cNvPr id="11" name="组合 10"/>
          <p:cNvGrpSpPr/>
          <p:nvPr/>
        </p:nvGrpSpPr>
        <p:grpSpPr>
          <a:xfrm>
            <a:off x="5328285" y="3787143"/>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419469"/>
            <a:ext cx="10185370" cy="3785652"/>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性能测试不同于功能测试，功能测试只要求测试软件的功能是否实现，而</a:t>
            </a:r>
            <a:r>
              <a:rPr lang="en-US" altLang="zh-CN" sz="2000">
                <a:solidFill>
                  <a:srgbClr val="1369B2"/>
                </a:solidFill>
                <a:latin typeface="微软雅黑" panose="020B0503020204020204" pitchFamily="34" charset="-122"/>
                <a:ea typeface="微软雅黑" panose="020B0503020204020204" pitchFamily="34" charset="-122"/>
                <a:cs typeface="+mn-ea"/>
              </a:rPr>
              <a:t>性能测试要求测试软件功能的执行效率是否达到要求</a:t>
            </a:r>
            <a:r>
              <a:rPr lang="en-US" altLang="zh-CN" sz="2000">
                <a:solidFill>
                  <a:srgbClr val="595959"/>
                </a:solidFill>
                <a:latin typeface="微软雅黑" panose="020B0503020204020204" pitchFamily="34" charset="-122"/>
                <a:ea typeface="微软雅黑" panose="020B0503020204020204" pitchFamily="34" charset="-122"/>
              </a:rPr>
              <a:t>。例如某个软件具备</a:t>
            </a:r>
            <a:r>
              <a:rPr lang="en-US" altLang="zh-CN" sz="2000">
                <a:solidFill>
                  <a:srgbClr val="1369B2"/>
                </a:solidFill>
                <a:latin typeface="微软雅黑" panose="020B0503020204020204" pitchFamily="34" charset="-122"/>
                <a:ea typeface="微软雅黑" panose="020B0503020204020204" pitchFamily="34" charset="-122"/>
                <a:cs typeface="+mn-ea"/>
              </a:rPr>
              <a:t>查询功能</a:t>
            </a:r>
            <a:r>
              <a:rPr lang="en-US" altLang="zh-CN" sz="2000">
                <a:solidFill>
                  <a:srgbClr val="595959"/>
                </a:solidFill>
                <a:latin typeface="微软雅黑" panose="020B0503020204020204" pitchFamily="34" charset="-122"/>
                <a:ea typeface="微软雅黑" panose="020B0503020204020204" pitchFamily="34" charset="-122"/>
              </a:rPr>
              <a:t>，功能测试只测试查询功能是否实现，而性能测试却要求测试查询功能的</a:t>
            </a:r>
            <a:r>
              <a:rPr lang="en-US" altLang="zh-CN" sz="2000">
                <a:solidFill>
                  <a:srgbClr val="1369B2"/>
                </a:solidFill>
                <a:latin typeface="微软雅黑" panose="020B0503020204020204" pitchFamily="34" charset="-122"/>
                <a:ea typeface="微软雅黑" panose="020B0503020204020204" pitchFamily="34" charset="-122"/>
                <a:cs typeface="+mn-ea"/>
              </a:rPr>
              <a:t>响应时间是否足够准确、快速</a:t>
            </a:r>
            <a:r>
              <a:rPr lang="en-US" altLang="zh-CN" sz="2000">
                <a:solidFill>
                  <a:srgbClr val="595959"/>
                </a:solidFill>
                <a:latin typeface="微软雅黑" panose="020B0503020204020204" pitchFamily="34" charset="-122"/>
                <a:ea typeface="微软雅黑" panose="020B0503020204020204" pitchFamily="34" charset="-122"/>
              </a:rPr>
              <a:t>。但是，对于性能测试来说，多快的查询速度才算足够快， 什么样的查询情况才算足够准确是很难界定的。因此，我们需要一些</a:t>
            </a:r>
            <a:r>
              <a:rPr lang="en-US" altLang="zh-CN" sz="2000">
                <a:solidFill>
                  <a:srgbClr val="1369B2"/>
                </a:solidFill>
                <a:latin typeface="微软雅黑" panose="020B0503020204020204" pitchFamily="34" charset="-122"/>
                <a:ea typeface="微软雅黑" panose="020B0503020204020204" pitchFamily="34" charset="-122"/>
                <a:cs typeface="+mn-ea"/>
              </a:rPr>
              <a:t>指标</a:t>
            </a:r>
            <a:r>
              <a:rPr lang="en-US" altLang="zh-CN" sz="2000">
                <a:solidFill>
                  <a:srgbClr val="595959"/>
                </a:solidFill>
                <a:latin typeface="微软雅黑" panose="020B0503020204020204" pitchFamily="34" charset="-122"/>
                <a:ea typeface="微软雅黑" panose="020B0503020204020204" pitchFamily="34" charset="-122"/>
              </a:rPr>
              <a:t>来量化这些数据。</a:t>
            </a: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性能测试常用的指标包括</a:t>
            </a:r>
            <a:r>
              <a:rPr lang="en-US" altLang="zh-CN" sz="2000">
                <a:solidFill>
                  <a:srgbClr val="1369B2"/>
                </a:solidFill>
                <a:latin typeface="微软雅黑" panose="020B0503020204020204" pitchFamily="34" charset="-122"/>
                <a:ea typeface="微软雅黑" panose="020B0503020204020204" pitchFamily="34" charset="-122"/>
                <a:cs typeface="+mn-ea"/>
              </a:rPr>
              <a:t>响应时间</a:t>
            </a:r>
            <a:r>
              <a:rPr lang="en-US" altLang="zh-CN" sz="2000">
                <a:solidFill>
                  <a:srgbClr val="595959"/>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cs typeface="+mn-ea"/>
              </a:rPr>
              <a:t>吞吐量</a:t>
            </a:r>
            <a:r>
              <a:rPr lang="en-US" altLang="zh-CN" sz="2000">
                <a:solidFill>
                  <a:srgbClr val="595959"/>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cs typeface="+mn-ea"/>
              </a:rPr>
              <a:t>并发用户数</a:t>
            </a:r>
            <a:r>
              <a:rPr lang="en-US" altLang="zh-CN" sz="2000">
                <a:solidFill>
                  <a:srgbClr val="595959"/>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cs typeface="+mn-ea"/>
              </a:rPr>
              <a:t>QPS</a:t>
            </a:r>
            <a:r>
              <a:rPr lang="en-US" altLang="zh-CN" sz="2000">
                <a:solidFill>
                  <a:srgbClr val="595959"/>
                </a:solidFill>
                <a:latin typeface="微软雅黑" panose="020B0503020204020204" pitchFamily="34" charset="-122"/>
                <a:ea typeface="微软雅黑" panose="020B0503020204020204" pitchFamily="34" charset="-122"/>
              </a:rPr>
              <a:t>（Queries Per Second，每秒查询数）和</a:t>
            </a:r>
            <a:r>
              <a:rPr lang="en-US" altLang="zh-CN" sz="2000">
                <a:solidFill>
                  <a:srgbClr val="1369B2"/>
                </a:solidFill>
                <a:latin typeface="微软雅黑" panose="020B0503020204020204" pitchFamily="34" charset="-122"/>
                <a:ea typeface="微软雅黑" panose="020B0503020204020204" pitchFamily="34" charset="-122"/>
                <a:cs typeface="+mn-ea"/>
              </a:rPr>
              <a:t>TPS</a:t>
            </a:r>
            <a:r>
              <a:rPr lang="en-US" altLang="zh-CN" sz="2000">
                <a:solidFill>
                  <a:srgbClr val="595959"/>
                </a:solidFill>
                <a:latin typeface="微软雅黑" panose="020B0503020204020204" pitchFamily="34" charset="-122"/>
                <a:ea typeface="微软雅黑" panose="020B0503020204020204" pitchFamily="34" charset="-122"/>
              </a:rPr>
              <a:t>（Transactions Per Second，每秒事务数）等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原创设计师QQ598969553          _3"/>
          <p:cNvSpPr/>
          <p:nvPr/>
        </p:nvSpPr>
        <p:spPr>
          <a:xfrm>
            <a:off x="2228785" y="2114518"/>
            <a:ext cx="7277230" cy="2834122"/>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原创设计师QQ598969553          _4"/>
          <p:cNvSpPr/>
          <p:nvPr/>
        </p:nvSpPr>
        <p:spPr>
          <a:xfrm>
            <a:off x="2552699" y="2494635"/>
            <a:ext cx="6953315" cy="2346283"/>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响应时间</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Response Time</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是指系统对用户请求作出响应所需要的时间</a:t>
            </a:r>
            <a:r>
              <a:rPr lang="zh-CN" altLang="zh-CN" sz="2000" dirty="0">
                <a:solidFill>
                  <a:srgbClr val="595959"/>
                </a:solidFill>
                <a:latin typeface="微软雅黑" panose="020B0503020204020204" pitchFamily="34" charset="-122"/>
                <a:ea typeface="微软雅黑" panose="020B0503020204020204" pitchFamily="34" charset="-122"/>
              </a:rPr>
              <a:t>。这个时间是指用户从客户端发出请求到用户接收到返回数据的整个过程所需要的时间，包括各种中间件（如服务器、数据库等）的处理时间</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响应时间越短，说明软件的响应速度越快，性能越好</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9" name="原创设计师QQ598969553          _6"/>
          <p:cNvSpPr/>
          <p:nvPr/>
        </p:nvSpPr>
        <p:spPr>
          <a:xfrm>
            <a:off x="3773062" y="1859860"/>
            <a:ext cx="3896604" cy="607277"/>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20"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1.</a:t>
            </a:r>
            <a:r>
              <a:rPr lang="zh-CN" altLang="en-US" sz="2000" b="1">
                <a:solidFill>
                  <a:schemeClr val="bg1"/>
                </a:solidFill>
                <a:latin typeface="微软雅黑" panose="020B0503020204020204" pitchFamily="34" charset="-122"/>
                <a:ea typeface="微软雅黑" panose="020B0503020204020204" pitchFamily="34" charset="-122"/>
                <a:cs typeface="+mn-ea"/>
                <a:sym typeface="+mn-lt"/>
              </a:rPr>
              <a:t>响应时间</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原创设计师QQ598969553          _3"/>
          <p:cNvSpPr/>
          <p:nvPr/>
        </p:nvSpPr>
        <p:spPr>
          <a:xfrm>
            <a:off x="2228785" y="2114518"/>
            <a:ext cx="7277230" cy="2834122"/>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原创设计师QQ598969553          _4"/>
          <p:cNvSpPr/>
          <p:nvPr/>
        </p:nvSpPr>
        <p:spPr>
          <a:xfrm>
            <a:off x="2552699" y="2494635"/>
            <a:ext cx="6953315" cy="2400657"/>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吞吐量（</a:t>
            </a:r>
            <a:r>
              <a:rPr lang="en-US" altLang="zh-CN" sz="2000" dirty="0">
                <a:solidFill>
                  <a:srgbClr val="1369B2"/>
                </a:solidFill>
                <a:latin typeface="微软雅黑" panose="020B0503020204020204" pitchFamily="34" charset="-122"/>
                <a:ea typeface="微软雅黑" panose="020B0503020204020204" pitchFamily="34" charset="-122"/>
              </a:rPr>
              <a:t>Throughput</a:t>
            </a:r>
            <a:r>
              <a:rPr lang="zh-CN" altLang="zh-CN" sz="2000" dirty="0">
                <a:solidFill>
                  <a:srgbClr val="1369B2"/>
                </a:solidFill>
                <a:latin typeface="微软雅黑" panose="020B0503020204020204" pitchFamily="34" charset="-122"/>
                <a:ea typeface="微软雅黑" panose="020B0503020204020204" pitchFamily="34" charset="-122"/>
              </a:rPr>
              <a:t>）是指单位时间内系统能够完成的工作量</a:t>
            </a:r>
            <a:r>
              <a:rPr lang="zh-CN" altLang="zh-CN" sz="2000" dirty="0">
                <a:solidFill>
                  <a:srgbClr val="595959"/>
                </a:solidFill>
                <a:latin typeface="微软雅黑" panose="020B0503020204020204" pitchFamily="34" charset="-122"/>
                <a:ea typeface="微软雅黑" panose="020B0503020204020204" pitchFamily="34" charset="-122"/>
              </a:rPr>
              <a:t>，它衡量的是</a:t>
            </a:r>
            <a:r>
              <a:rPr lang="zh-CN" altLang="zh-CN" sz="2000" dirty="0">
                <a:solidFill>
                  <a:srgbClr val="1369B2"/>
                </a:solidFill>
                <a:latin typeface="微软雅黑" panose="020B0503020204020204" pitchFamily="34" charset="-122"/>
                <a:ea typeface="微软雅黑" panose="020B0503020204020204" pitchFamily="34" charset="-122"/>
              </a:rPr>
              <a:t>软件系统服务器的处理能力</a:t>
            </a:r>
            <a:r>
              <a:rPr lang="zh-CN" altLang="zh-CN" sz="2000" dirty="0">
                <a:solidFill>
                  <a:srgbClr val="595959"/>
                </a:solidFill>
                <a:latin typeface="微软雅黑" panose="020B0503020204020204" pitchFamily="34" charset="-122"/>
                <a:ea typeface="微软雅黑" panose="020B0503020204020204" pitchFamily="34" charset="-122"/>
              </a:rPr>
              <a:t>。吞吐量的度量单位可以是请求数</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秒、页面数</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秒、访问人数</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天、处理业务数</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小时等。</a:t>
            </a:r>
            <a:r>
              <a:rPr lang="zh-CN" altLang="zh-CN" sz="2000" dirty="0">
                <a:solidFill>
                  <a:srgbClr val="1369B2"/>
                </a:solidFill>
                <a:latin typeface="微软雅黑" panose="020B0503020204020204" pitchFamily="34" charset="-122"/>
                <a:ea typeface="微软雅黑" panose="020B0503020204020204" pitchFamily="34" charset="-122"/>
              </a:rPr>
              <a:t>吞吐量越大，系统单位时间内处理的数据就越多，系统的负载能力就越强。</a:t>
            </a:r>
          </a:p>
        </p:txBody>
      </p:sp>
      <p:sp>
        <p:nvSpPr>
          <p:cNvPr id="19" name="原创设计师QQ598969553          _6"/>
          <p:cNvSpPr/>
          <p:nvPr/>
        </p:nvSpPr>
        <p:spPr>
          <a:xfrm>
            <a:off x="3773062" y="1859860"/>
            <a:ext cx="3896604" cy="607277"/>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20"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2.</a:t>
            </a:r>
            <a:r>
              <a:rPr lang="zh-CN" altLang="en-US" sz="2000" b="1">
                <a:solidFill>
                  <a:schemeClr val="bg1"/>
                </a:solidFill>
                <a:latin typeface="微软雅黑" panose="020B0503020204020204" pitchFamily="34" charset="-122"/>
                <a:ea typeface="微软雅黑" panose="020B0503020204020204" pitchFamily="34" charset="-122"/>
                <a:cs typeface="+mn-ea"/>
                <a:sym typeface="+mn-lt"/>
              </a:rPr>
              <a:t>吞吐量</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原创设计师QQ598969553          _3"/>
          <p:cNvSpPr/>
          <p:nvPr/>
        </p:nvSpPr>
        <p:spPr>
          <a:xfrm>
            <a:off x="2228785" y="2114517"/>
            <a:ext cx="7277229" cy="3455009"/>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原创设计师QQ598969553          _4"/>
          <p:cNvSpPr/>
          <p:nvPr/>
        </p:nvSpPr>
        <p:spPr>
          <a:xfrm>
            <a:off x="2552699" y="2549423"/>
            <a:ext cx="6953315" cy="2862322"/>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并发用户数是指在同一时间内请求和访问的用户</a:t>
            </a:r>
            <a:r>
              <a:rPr lang="zh-CN" altLang="zh-CN" sz="2000">
                <a:solidFill>
                  <a:srgbClr val="1369B2"/>
                </a:solidFill>
                <a:latin typeface="微软雅黑" panose="020B0503020204020204" pitchFamily="34" charset="-122"/>
                <a:ea typeface="微软雅黑" panose="020B0503020204020204" pitchFamily="34" charset="-122"/>
              </a:rPr>
              <a:t>数量</a:t>
            </a:r>
            <a:r>
              <a:rPr lang="zh-CN" altLang="zh-CN" sz="2000">
                <a:solidFill>
                  <a:srgbClr val="595959"/>
                </a:solidFill>
                <a:latin typeface="微软雅黑" panose="020B0503020204020204" pitchFamily="34" charset="-122"/>
                <a:ea typeface="微软雅黑" panose="020B0503020204020204" pitchFamily="34" charset="-122"/>
              </a:rPr>
              <a:t>。</a:t>
            </a:r>
            <a:r>
              <a:rPr lang="en-US" altLang="zh-CN" sz="2000">
                <a:solidFill>
                  <a:srgbClr val="595959"/>
                </a:solidFill>
                <a:latin typeface="微软雅黑" panose="020B0503020204020204" pitchFamily="34" charset="-122"/>
                <a:ea typeface="微软雅黑" panose="020B0503020204020204" pitchFamily="34" charset="-122"/>
              </a:rPr>
              <a:t>例如对于某一软件，同时有 100 个用户请求登录， 则其并发用户数就是 100。</a:t>
            </a:r>
            <a:r>
              <a:rPr lang="zh-CN" altLang="zh-CN" sz="2000">
                <a:solidFill>
                  <a:srgbClr val="595959"/>
                </a:solidFill>
                <a:latin typeface="微软雅黑" panose="020B0503020204020204" pitchFamily="34" charset="-122"/>
                <a:ea typeface="微软雅黑" panose="020B0503020204020204" pitchFamily="34" charset="-122"/>
              </a:rPr>
              <a:t>并发用户数越大，</a:t>
            </a:r>
            <a:r>
              <a:rPr lang="zh-CN" altLang="en-US" sz="2000">
                <a:solidFill>
                  <a:srgbClr val="595959"/>
                </a:solidFill>
                <a:latin typeface="微软雅黑" panose="020B0503020204020204" pitchFamily="34" charset="-122"/>
                <a:ea typeface="微软雅黑" panose="020B0503020204020204" pitchFamily="34" charset="-122"/>
              </a:rPr>
              <a:t>其</a:t>
            </a:r>
            <a:r>
              <a:rPr lang="zh-CN" altLang="zh-CN" sz="2000">
                <a:solidFill>
                  <a:srgbClr val="595959"/>
                </a:solidFill>
                <a:latin typeface="微软雅黑" panose="020B0503020204020204" pitchFamily="34" charset="-122"/>
                <a:ea typeface="微软雅黑" panose="020B0503020204020204" pitchFamily="34" charset="-122"/>
              </a:rPr>
              <a:t>对</a:t>
            </a:r>
            <a:r>
              <a:rPr lang="zh-CN" altLang="zh-CN" sz="2000" dirty="0">
                <a:solidFill>
                  <a:srgbClr val="595959"/>
                </a:solidFill>
                <a:latin typeface="微软雅黑" panose="020B0503020204020204" pitchFamily="34" charset="-122"/>
                <a:ea typeface="微软雅黑" panose="020B0503020204020204" pitchFamily="34" charset="-122"/>
              </a:rPr>
              <a:t>系统的性能影响越大，并发</a:t>
            </a:r>
            <a:r>
              <a:rPr lang="zh-CN" altLang="zh-CN" sz="2000">
                <a:solidFill>
                  <a:srgbClr val="595959"/>
                </a:solidFill>
                <a:latin typeface="微软雅黑" panose="020B0503020204020204" pitchFamily="34" charset="-122"/>
                <a:ea typeface="微软雅黑" panose="020B0503020204020204" pitchFamily="34" charset="-122"/>
              </a:rPr>
              <a:t>用户数较大</a:t>
            </a:r>
            <a:r>
              <a:rPr lang="zh-CN" altLang="zh-CN" sz="2000" dirty="0">
                <a:solidFill>
                  <a:srgbClr val="595959"/>
                </a:solidFill>
                <a:latin typeface="微软雅黑" panose="020B0503020204020204" pitchFamily="34" charset="-122"/>
                <a:ea typeface="微软雅黑" panose="020B0503020204020204" pitchFamily="34" charset="-122"/>
              </a:rPr>
              <a:t>可能会导致</a:t>
            </a:r>
            <a:r>
              <a:rPr lang="zh-CN" altLang="zh-CN" sz="2000" dirty="0">
                <a:solidFill>
                  <a:srgbClr val="1369B2"/>
                </a:solidFill>
                <a:latin typeface="微软雅黑" panose="020B0503020204020204" pitchFamily="34" charset="-122"/>
                <a:ea typeface="微软雅黑" panose="020B0503020204020204" pitchFamily="34" charset="-122"/>
              </a:rPr>
              <a:t>系统响应变慢</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系统不稳定</a:t>
            </a:r>
            <a:r>
              <a:rPr lang="zh-CN" altLang="zh-CN" sz="2000">
                <a:solidFill>
                  <a:srgbClr val="595959"/>
                </a:solidFill>
                <a:latin typeface="微软雅黑" panose="020B0503020204020204" pitchFamily="34" charset="-122"/>
                <a:ea typeface="微软雅黑" panose="020B0503020204020204" pitchFamily="34" charset="-122"/>
              </a:rPr>
              <a:t>等。</a:t>
            </a:r>
            <a:endParaRPr lang="en-US" altLang="zh-CN" sz="200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软件系统在设计时必须要考虑并发访问的情况，测试人员在进行性能测试时也必须进行并发访问的测试。</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9" name="原创设计师QQ598969553          _6"/>
          <p:cNvSpPr/>
          <p:nvPr/>
        </p:nvSpPr>
        <p:spPr>
          <a:xfrm>
            <a:off x="3773062" y="1859860"/>
            <a:ext cx="3896604" cy="607277"/>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20"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3.</a:t>
            </a:r>
            <a:r>
              <a:rPr lang="zh-CN" altLang="en-US" sz="2000" b="1">
                <a:solidFill>
                  <a:schemeClr val="bg1"/>
                </a:solidFill>
                <a:latin typeface="微软雅黑" panose="020B0503020204020204" pitchFamily="34" charset="-122"/>
                <a:ea typeface="微软雅黑" panose="020B0503020204020204" pitchFamily="34" charset="-122"/>
                <a:cs typeface="+mn-ea"/>
                <a:sym typeface="+mn-lt"/>
              </a:rPr>
              <a:t>并发</a:t>
            </a: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用户数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原创设计师QQ598969553          _3"/>
          <p:cNvSpPr/>
          <p:nvPr/>
        </p:nvSpPr>
        <p:spPr>
          <a:xfrm>
            <a:off x="2228785" y="2114517"/>
            <a:ext cx="7277229" cy="3676606"/>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原创设计师QQ598969553          _4"/>
          <p:cNvSpPr/>
          <p:nvPr/>
        </p:nvSpPr>
        <p:spPr>
          <a:xfrm>
            <a:off x="2477292" y="2467136"/>
            <a:ext cx="6953315" cy="3323987"/>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QPS  是指</a:t>
            </a:r>
            <a:r>
              <a:rPr lang="en-US" altLang="zh-CN" sz="2000">
                <a:solidFill>
                  <a:srgbClr val="1369B2"/>
                </a:solidFill>
                <a:latin typeface="微软雅黑" panose="020B0503020204020204" pitchFamily="34" charset="-122"/>
                <a:ea typeface="微软雅黑" panose="020B0503020204020204" pitchFamily="34" charset="-122"/>
              </a:rPr>
              <a:t>系统每秒能够响应的查询次数</a:t>
            </a:r>
            <a:r>
              <a:rPr lang="en-US" altLang="zh-CN" sz="2000">
                <a:solidFill>
                  <a:srgbClr val="595959"/>
                </a:solidFill>
                <a:latin typeface="微软雅黑" panose="020B0503020204020204" pitchFamily="34" charset="-122"/>
                <a:ea typeface="微软雅黑" panose="020B0503020204020204" pitchFamily="34" charset="-122"/>
              </a:rPr>
              <a:t>，用于衡量特定的查询服务器在规定时间内能够处理的流量。TPS 是指</a:t>
            </a:r>
            <a:r>
              <a:rPr lang="en-US" altLang="zh-CN" sz="2000">
                <a:solidFill>
                  <a:srgbClr val="1369B2"/>
                </a:solidFill>
                <a:latin typeface="微软雅黑" panose="020B0503020204020204" pitchFamily="34" charset="-122"/>
                <a:ea typeface="微软雅黑" panose="020B0503020204020204" pitchFamily="34" charset="-122"/>
              </a:rPr>
              <a:t>系统每秒能够处理的事务数量</a:t>
            </a:r>
            <a:r>
              <a:rPr lang="en-US" altLang="zh-CN" sz="2000">
                <a:solidFill>
                  <a:srgbClr val="595959"/>
                </a:solidFill>
                <a:latin typeface="微软雅黑" panose="020B0503020204020204" pitchFamily="34" charset="-122"/>
                <a:ea typeface="微软雅黑" panose="020B0503020204020204" pitchFamily="34" charset="-122"/>
              </a:rPr>
              <a:t>。一个事务可以包含多个请求。</a:t>
            </a: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如果对一个查询接口进行压力测试，且这个接口内部不会再去请求其他接口，那么 TPS 与QPS 没有区别；如果对一个事务进行操作，该事务中包含了 n 个查询接口，且这些接口内部都不会再去请求其他接口， 那么此时的 QPS=n×TPS。</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7" name="原创设计师QQ598969553          _6"/>
          <p:cNvSpPr/>
          <p:nvPr/>
        </p:nvSpPr>
        <p:spPr>
          <a:xfrm>
            <a:off x="3773062" y="1859860"/>
            <a:ext cx="3896604" cy="607277"/>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8"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4.QPS</a:t>
            </a:r>
            <a:r>
              <a:rPr lang="zh-CN" altLang="en-US" sz="2000" b="1">
                <a:solidFill>
                  <a:schemeClr val="bg1"/>
                </a:solidFill>
                <a:latin typeface="微软雅黑" panose="020B0503020204020204" pitchFamily="34" charset="-122"/>
                <a:ea typeface="微软雅黑" panose="020B0503020204020204" pitchFamily="34" charset="-122"/>
                <a:cs typeface="+mn-ea"/>
                <a:sym typeface="+mn-lt"/>
              </a:rPr>
              <a:t>和</a:t>
            </a: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TPS</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原创设计师QQ598969553          _3"/>
          <p:cNvSpPr/>
          <p:nvPr/>
        </p:nvSpPr>
        <p:spPr>
          <a:xfrm>
            <a:off x="2228785" y="2114518"/>
            <a:ext cx="7277229" cy="2681142"/>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原创设计师QQ598969553          _4"/>
          <p:cNvSpPr/>
          <p:nvPr/>
        </p:nvSpPr>
        <p:spPr>
          <a:xfrm>
            <a:off x="2466974" y="2467137"/>
            <a:ext cx="6953315" cy="2400657"/>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点击率（</a:t>
            </a:r>
            <a:r>
              <a:rPr lang="en-US" altLang="zh-CN" sz="2000" dirty="0">
                <a:solidFill>
                  <a:srgbClr val="1369B2"/>
                </a:solidFill>
                <a:latin typeface="微软雅黑" panose="020B0503020204020204" pitchFamily="34" charset="-122"/>
                <a:ea typeface="微软雅黑" panose="020B0503020204020204" pitchFamily="34" charset="-122"/>
              </a:rPr>
              <a:t>Hits Per Second</a:t>
            </a:r>
            <a:r>
              <a:rPr lang="zh-CN" altLang="zh-CN" sz="2000" dirty="0">
                <a:solidFill>
                  <a:srgbClr val="1369B2"/>
                </a:solidFill>
                <a:latin typeface="微软雅黑" panose="020B0503020204020204" pitchFamily="34" charset="-122"/>
                <a:ea typeface="微软雅黑" panose="020B0503020204020204" pitchFamily="34" charset="-122"/>
              </a:rPr>
              <a:t>）是指用户每秒向</a:t>
            </a:r>
            <a:r>
              <a:rPr lang="en-US" altLang="zh-CN" sz="2000" dirty="0">
                <a:solidFill>
                  <a:srgbClr val="1369B2"/>
                </a:solidFill>
                <a:latin typeface="微软雅黑" panose="020B0503020204020204" pitchFamily="34" charset="-122"/>
                <a:ea typeface="微软雅黑" panose="020B0503020204020204" pitchFamily="34" charset="-122"/>
              </a:rPr>
              <a:t>Web</a:t>
            </a:r>
            <a:r>
              <a:rPr lang="zh-CN" altLang="zh-CN" sz="2000" dirty="0">
                <a:solidFill>
                  <a:srgbClr val="1369B2"/>
                </a:solidFill>
                <a:latin typeface="微软雅黑" panose="020B0503020204020204" pitchFamily="34" charset="-122"/>
                <a:ea typeface="微软雅黑" panose="020B0503020204020204" pitchFamily="34" charset="-122"/>
              </a:rPr>
              <a:t>服务器提交的</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请求数量</a:t>
            </a:r>
            <a:r>
              <a:rPr lang="zh-CN" altLang="zh-CN" sz="2000" dirty="0">
                <a:solidFill>
                  <a:srgbClr val="595959"/>
                </a:solidFill>
                <a:latin typeface="微软雅黑" panose="020B0503020204020204" pitchFamily="34" charset="-122"/>
                <a:ea typeface="微软雅黑" panose="020B0503020204020204" pitchFamily="34" charset="-122"/>
              </a:rPr>
              <a:t>，这个指标是</a:t>
            </a:r>
            <a:r>
              <a:rPr lang="en-US" altLang="zh-CN" sz="2000" dirty="0">
                <a:solidFill>
                  <a:srgbClr val="595959"/>
                </a:solidFill>
                <a:latin typeface="微软雅黑" panose="020B0503020204020204" pitchFamily="34" charset="-122"/>
                <a:ea typeface="微软雅黑" panose="020B0503020204020204" pitchFamily="34" charset="-122"/>
              </a:rPr>
              <a:t>Web</a:t>
            </a:r>
            <a:r>
              <a:rPr lang="zh-CN" altLang="zh-CN" sz="2000" dirty="0">
                <a:solidFill>
                  <a:srgbClr val="595959"/>
                </a:solidFill>
                <a:latin typeface="微软雅黑" panose="020B0503020204020204" pitchFamily="34" charset="-122"/>
                <a:ea typeface="微软雅黑" panose="020B0503020204020204" pitchFamily="34" charset="-122"/>
              </a:rPr>
              <a:t>应用特有的一个性能指标，通过点击率可以</a:t>
            </a:r>
            <a:r>
              <a:rPr lang="zh-CN" altLang="zh-CN" sz="2000" dirty="0">
                <a:solidFill>
                  <a:srgbClr val="1369B2"/>
                </a:solidFill>
                <a:latin typeface="微软雅黑" panose="020B0503020204020204" pitchFamily="34" charset="-122"/>
                <a:ea typeface="微软雅黑" panose="020B0503020204020204" pitchFamily="34" charset="-122"/>
              </a:rPr>
              <a:t>评估用户产生的负载量</a:t>
            </a:r>
            <a:r>
              <a:rPr lang="zh-CN" altLang="zh-CN" sz="2000" dirty="0">
                <a:solidFill>
                  <a:srgbClr val="595959"/>
                </a:solidFill>
                <a:latin typeface="微软雅黑" panose="020B0503020204020204" pitchFamily="34" charset="-122"/>
                <a:ea typeface="微软雅黑" panose="020B0503020204020204" pitchFamily="34" charset="-122"/>
              </a:rPr>
              <a:t>，并且可以</a:t>
            </a:r>
            <a:r>
              <a:rPr lang="zh-CN" altLang="zh-CN" sz="2000" dirty="0">
                <a:solidFill>
                  <a:srgbClr val="1369B2"/>
                </a:solidFill>
                <a:latin typeface="微软雅黑" panose="020B0503020204020204" pitchFamily="34" charset="-122"/>
                <a:ea typeface="微软雅黑" panose="020B0503020204020204" pitchFamily="34" charset="-122"/>
              </a:rPr>
              <a:t>判断系统是否稳定</a:t>
            </a:r>
            <a:r>
              <a:rPr lang="zh-CN" altLang="zh-CN" sz="2000" dirty="0">
                <a:solidFill>
                  <a:srgbClr val="595959"/>
                </a:solidFill>
                <a:latin typeface="微软雅黑" panose="020B0503020204020204" pitchFamily="34" charset="-122"/>
                <a:ea typeface="微软雅黑" panose="020B0503020204020204" pitchFamily="34" charset="-122"/>
              </a:rPr>
              <a:t>。点击率只是一个参考</a:t>
            </a:r>
            <a:r>
              <a:rPr lang="zh-CN" altLang="zh-CN" sz="2000">
                <a:solidFill>
                  <a:srgbClr val="595959"/>
                </a:solidFill>
                <a:latin typeface="微软雅黑" panose="020B0503020204020204" pitchFamily="34" charset="-122"/>
                <a:ea typeface="微软雅黑" panose="020B0503020204020204" pitchFamily="34" charset="-122"/>
              </a:rPr>
              <a:t>指标，</a:t>
            </a:r>
            <a:r>
              <a:rPr lang="zh-CN" altLang="en-US" sz="2000">
                <a:solidFill>
                  <a:srgbClr val="595959"/>
                </a:solidFill>
                <a:latin typeface="微软雅黑" panose="020B0503020204020204" pitchFamily="34" charset="-122"/>
                <a:ea typeface="微软雅黑" panose="020B0503020204020204" pitchFamily="34" charset="-122"/>
              </a:rPr>
              <a:t>用于辅助</a:t>
            </a:r>
            <a:r>
              <a:rPr lang="zh-CN" altLang="zh-CN" sz="2000">
                <a:solidFill>
                  <a:srgbClr val="595959"/>
                </a:solidFill>
                <a:latin typeface="微软雅黑" panose="020B0503020204020204" pitchFamily="34" charset="-122"/>
                <a:ea typeface="微软雅黑" panose="020B0503020204020204" pitchFamily="34" charset="-122"/>
              </a:rPr>
              <a:t>衡量</a:t>
            </a:r>
            <a:r>
              <a:rPr lang="en-US" altLang="zh-CN" sz="2000" dirty="0">
                <a:solidFill>
                  <a:srgbClr val="595959"/>
                </a:solidFill>
                <a:latin typeface="微软雅黑" panose="020B0503020204020204" pitchFamily="34" charset="-122"/>
                <a:ea typeface="微软雅黑" panose="020B0503020204020204" pitchFamily="34" charset="-122"/>
              </a:rPr>
              <a:t>Web</a:t>
            </a:r>
            <a:r>
              <a:rPr lang="zh-CN" altLang="zh-CN" sz="2000" dirty="0">
                <a:solidFill>
                  <a:srgbClr val="595959"/>
                </a:solidFill>
                <a:latin typeface="微软雅黑" panose="020B0503020204020204" pitchFamily="34" charset="-122"/>
                <a:ea typeface="微软雅黑" panose="020B0503020204020204" pitchFamily="34" charset="-122"/>
              </a:rPr>
              <a:t>服务器的性能。</a:t>
            </a:r>
          </a:p>
        </p:txBody>
      </p:sp>
      <p:sp>
        <p:nvSpPr>
          <p:cNvPr id="19" name="原创设计师QQ598969553          _6"/>
          <p:cNvSpPr/>
          <p:nvPr/>
        </p:nvSpPr>
        <p:spPr>
          <a:xfrm>
            <a:off x="3773062" y="1859860"/>
            <a:ext cx="3896604" cy="607277"/>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20"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5.</a:t>
            </a:r>
            <a:r>
              <a:rPr lang="zh-CN" altLang="en-US" sz="2000" b="1">
                <a:solidFill>
                  <a:schemeClr val="bg1"/>
                </a:solidFill>
                <a:latin typeface="微软雅黑" panose="020B0503020204020204" pitchFamily="34" charset="-122"/>
                <a:ea typeface="微软雅黑" panose="020B0503020204020204" pitchFamily="34" charset="-122"/>
                <a:cs typeface="+mn-ea"/>
                <a:sym typeface="+mn-lt"/>
              </a:rPr>
              <a:t>点击率</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原创设计师QQ598969553          _3"/>
          <p:cNvSpPr/>
          <p:nvPr/>
        </p:nvSpPr>
        <p:spPr>
          <a:xfrm>
            <a:off x="2228785" y="2114518"/>
            <a:ext cx="7277229" cy="2681142"/>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原创设计师QQ598969553          _4"/>
          <p:cNvSpPr/>
          <p:nvPr/>
        </p:nvSpPr>
        <p:spPr>
          <a:xfrm>
            <a:off x="2466974" y="2829087"/>
            <a:ext cx="6953315" cy="1477328"/>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错误率是指系统在负载情况下，失败业务的概率</a:t>
            </a:r>
            <a:r>
              <a:rPr lang="zh-CN" altLang="zh-CN" sz="2000" dirty="0">
                <a:solidFill>
                  <a:srgbClr val="595959"/>
                </a:solidFill>
                <a:latin typeface="微软雅黑" panose="020B0503020204020204" pitchFamily="34" charset="-122"/>
                <a:ea typeface="微软雅黑" panose="020B0503020204020204" pitchFamily="34" charset="-122"/>
              </a:rPr>
              <a:t>。错误率是一种性能指标，</a:t>
            </a:r>
            <a:r>
              <a:rPr lang="zh-CN" altLang="zh-CN" sz="2000" dirty="0">
                <a:solidFill>
                  <a:srgbClr val="1369B2"/>
                </a:solidFill>
                <a:latin typeface="微软雅黑" panose="020B0503020204020204" pitchFamily="34" charset="-122"/>
                <a:ea typeface="微软雅黑" panose="020B0503020204020204" pitchFamily="34" charset="-122"/>
              </a:rPr>
              <a:t>不是功能上的随机</a:t>
            </a:r>
            <a:r>
              <a:rPr lang="en-US" altLang="zh-CN" sz="2000" dirty="0">
                <a:solidFill>
                  <a:srgbClr val="1369B2"/>
                </a:solidFill>
                <a:latin typeface="微软雅黑" panose="020B0503020204020204" pitchFamily="34" charset="-122"/>
                <a:ea typeface="微软雅黑" panose="020B0503020204020204" pitchFamily="34" charset="-122"/>
              </a:rPr>
              <a:t>Bug</a:t>
            </a:r>
            <a:r>
              <a:rPr lang="zh-CN" altLang="zh-CN" sz="2000">
                <a:solidFill>
                  <a:srgbClr val="595959"/>
                </a:solidFill>
                <a:latin typeface="微软雅黑" panose="020B0503020204020204" pitchFamily="34" charset="-122"/>
                <a:ea typeface="微软雅黑" panose="020B0503020204020204" pitchFamily="34" charset="-122"/>
              </a:rPr>
              <a:t>，大多</a:t>
            </a:r>
            <a:r>
              <a:rPr lang="zh-CN" altLang="en-US" sz="2000">
                <a:solidFill>
                  <a:srgbClr val="595959"/>
                </a:solidFill>
                <a:latin typeface="微软雅黑" panose="020B0503020204020204" pitchFamily="34" charset="-122"/>
                <a:ea typeface="微软雅黑" panose="020B0503020204020204" pitchFamily="34" charset="-122"/>
              </a:rPr>
              <a:t>数</a:t>
            </a:r>
            <a:r>
              <a:rPr lang="zh-CN" altLang="zh-CN" sz="2000">
                <a:solidFill>
                  <a:srgbClr val="595959"/>
                </a:solidFill>
                <a:latin typeface="微软雅黑" panose="020B0503020204020204" pitchFamily="34" charset="-122"/>
                <a:ea typeface="微软雅黑" panose="020B0503020204020204" pitchFamily="34" charset="-122"/>
              </a:rPr>
              <a:t>系统</a:t>
            </a:r>
            <a:r>
              <a:rPr lang="zh-CN" altLang="zh-CN" sz="2000" dirty="0">
                <a:solidFill>
                  <a:srgbClr val="595959"/>
                </a:solidFill>
                <a:latin typeface="微软雅黑" panose="020B0503020204020204" pitchFamily="34" charset="-122"/>
                <a:ea typeface="微软雅黑" panose="020B0503020204020204" pitchFamily="34" charset="-122"/>
              </a:rPr>
              <a:t>都会要求错误率无限接近于</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a:t>
            </a:r>
          </a:p>
        </p:txBody>
      </p:sp>
      <p:sp>
        <p:nvSpPr>
          <p:cNvPr id="19" name="原创设计师QQ598969553          _6"/>
          <p:cNvSpPr/>
          <p:nvPr/>
        </p:nvSpPr>
        <p:spPr>
          <a:xfrm>
            <a:off x="3773062" y="1859860"/>
            <a:ext cx="3896604" cy="607277"/>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20"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6.</a:t>
            </a:r>
            <a:r>
              <a:rPr lang="zh-CN" altLang="en-US" sz="2000" b="1">
                <a:solidFill>
                  <a:schemeClr val="bg1"/>
                </a:solidFill>
                <a:latin typeface="微软雅黑" panose="020B0503020204020204" pitchFamily="34" charset="-122"/>
                <a:ea typeface="微软雅黑" panose="020B0503020204020204" pitchFamily="34" charset="-122"/>
                <a:cs typeface="+mn-ea"/>
                <a:sym typeface="+mn-lt"/>
              </a:rPr>
              <a:t>错误率</a:t>
            </a:r>
            <a:endParaRPr lang="zh-CN" altLang="en-US" sz="20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性能测试指标</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原创设计师QQ598969553          _3"/>
          <p:cNvSpPr/>
          <p:nvPr/>
        </p:nvSpPr>
        <p:spPr>
          <a:xfrm>
            <a:off x="2228785" y="2114517"/>
            <a:ext cx="7277229" cy="3724097"/>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原创设计师QQ598969553          _4"/>
          <p:cNvSpPr/>
          <p:nvPr/>
        </p:nvSpPr>
        <p:spPr>
          <a:xfrm>
            <a:off x="2390741" y="2514628"/>
            <a:ext cx="6953315" cy="3323987"/>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资源利用率是指软件对系统资源的使用情况</a:t>
            </a:r>
            <a:r>
              <a:rPr lang="zh-CN" altLang="zh-CN" sz="2000" dirty="0">
                <a:solidFill>
                  <a:srgbClr val="595959"/>
                </a:solidFill>
                <a:latin typeface="微软雅黑" panose="020B0503020204020204" pitchFamily="34" charset="-122"/>
                <a:ea typeface="微软雅黑" panose="020B0503020204020204" pitchFamily="34" charset="-122"/>
              </a:rPr>
              <a:t>，包括</a:t>
            </a:r>
            <a:r>
              <a:rPr lang="en-US" altLang="zh-CN" sz="2000" dirty="0">
                <a:solidFill>
                  <a:srgbClr val="1369B2"/>
                </a:solidFill>
                <a:latin typeface="微软雅黑" panose="020B0503020204020204" pitchFamily="34" charset="-122"/>
                <a:ea typeface="微软雅黑" panose="020B0503020204020204" pitchFamily="34" charset="-122"/>
              </a:rPr>
              <a:t>CPU</a:t>
            </a:r>
            <a:r>
              <a:rPr lang="zh-CN" altLang="zh-CN" sz="2000" dirty="0">
                <a:solidFill>
                  <a:srgbClr val="1369B2"/>
                </a:solidFill>
                <a:latin typeface="微软雅黑" panose="020B0503020204020204" pitchFamily="34" charset="-122"/>
                <a:ea typeface="微软雅黑" panose="020B0503020204020204" pitchFamily="34" charset="-122"/>
              </a:rPr>
              <a:t>利用率</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内存利用率</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磁盘利用率</a:t>
            </a:r>
            <a:r>
              <a:rPr lang="zh-CN" altLang="zh-CN" sz="2000" dirty="0">
                <a:solidFill>
                  <a:srgbClr val="595959"/>
                </a:solidFill>
                <a:latin typeface="微软雅黑" panose="020B0503020204020204" pitchFamily="34" charset="-122"/>
                <a:ea typeface="微软雅黑" panose="020B0503020204020204" pitchFamily="34" charset="-122"/>
              </a:rPr>
              <a:t>等，资源利用率是分析软件性能瓶颈的重要</a:t>
            </a:r>
            <a:r>
              <a:rPr lang="zh-CN" altLang="zh-CN" sz="2000">
                <a:solidFill>
                  <a:srgbClr val="595959"/>
                </a:solidFill>
                <a:latin typeface="微软雅黑" panose="020B0503020204020204" pitchFamily="34" charset="-122"/>
                <a:ea typeface="微软雅黑" panose="020B0503020204020204" pitchFamily="34" charset="-122"/>
              </a:rPr>
              <a:t>参数。</a:t>
            </a:r>
            <a:endParaRPr lang="en-US" altLang="zh-CN" sz="200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rPr>
              <a:t>例如某一个软件，预期最大访问量为 1 万，但是当达到 6000 访问量时内存利用率就已经达到 80%，限制了访问量的增加，此时就需要考虑软件是否有内存泄漏等缺陷，从而进行优化。</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9" name="原创设计师QQ598969553          _6"/>
          <p:cNvSpPr/>
          <p:nvPr/>
        </p:nvSpPr>
        <p:spPr>
          <a:xfrm>
            <a:off x="3773062" y="1859860"/>
            <a:ext cx="3896604" cy="607277"/>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20" name="原创设计师QQ598969553          _7"/>
          <p:cNvSpPr txBox="1"/>
          <p:nvPr/>
        </p:nvSpPr>
        <p:spPr>
          <a:xfrm>
            <a:off x="4045331" y="1963443"/>
            <a:ext cx="3324452" cy="400110"/>
          </a:xfrm>
          <a:prstGeom prst="rect">
            <a:avLst/>
          </a:prstGeom>
          <a:noFill/>
        </p:spPr>
        <p:txBody>
          <a:bodyPr wrap="square" rtlCol="0">
            <a:spAutoFit/>
          </a:bodyPr>
          <a:lstStyle/>
          <a:p>
            <a:pPr lvl="0" algn="ctr" defTabSz="1216660">
              <a:spcBef>
                <a:spcPct val="20000"/>
              </a:spcBef>
              <a:defRPr/>
            </a:pPr>
            <a:r>
              <a:rPr lang="en-US" altLang="zh-CN" sz="2000" b="1">
                <a:solidFill>
                  <a:schemeClr val="bg1"/>
                </a:solidFill>
                <a:latin typeface="微软雅黑" panose="020B0503020204020204" pitchFamily="34" charset="-122"/>
                <a:ea typeface="微软雅黑" panose="020B0503020204020204" pitchFamily="34" charset="-122"/>
                <a:cs typeface="+mn-ea"/>
                <a:sym typeface="+mn-lt"/>
              </a:rPr>
              <a:t>7.</a:t>
            </a:r>
            <a:r>
              <a:rPr lang="zh-CN" altLang="en-US" sz="2000" b="1">
                <a:solidFill>
                  <a:schemeClr val="bg1"/>
                </a:solidFill>
                <a:latin typeface="微软雅黑" panose="020B0503020204020204" pitchFamily="34" charset="-122"/>
                <a:ea typeface="微软雅黑" panose="020B0503020204020204" pitchFamily="34" charset="-122"/>
                <a:cs typeface="+mn-ea"/>
                <a:sym typeface="+mn-lt"/>
              </a:rPr>
              <a:t>资源</a:t>
            </a: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利用率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42"/>
          <p:cNvCxnSpPr/>
          <p:nvPr/>
        </p:nvCxnSpPr>
        <p:spPr>
          <a:xfrm flipH="1">
            <a:off x="3689671" y="3807803"/>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42" name="椭圆 41"/>
          <p:cNvSpPr/>
          <p:nvPr/>
        </p:nvSpPr>
        <p:spPr>
          <a:xfrm>
            <a:off x="4965815" y="3334432"/>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0" name="椭圆 39"/>
          <p:cNvSpPr/>
          <p:nvPr/>
        </p:nvSpPr>
        <p:spPr>
          <a:xfrm>
            <a:off x="4883204" y="325393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57" name="椭圆 56"/>
          <p:cNvSpPr/>
          <p:nvPr/>
        </p:nvSpPr>
        <p:spPr>
          <a:xfrm>
            <a:off x="4965814" y="3347333"/>
            <a:ext cx="923799" cy="923799"/>
          </a:xfrm>
          <a:prstGeom prst="ellipse">
            <a:avLst/>
          </a:prstGeom>
          <a:solidFill>
            <a:srgbClr val="ED7D3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JMeter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35" name="直接连接符 41"/>
          <p:cNvCxnSpPr/>
          <p:nvPr/>
        </p:nvCxnSpPr>
        <p:spPr>
          <a:xfrm flipH="1">
            <a:off x="3689671" y="206702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直接连接符 43"/>
          <p:cNvCxnSpPr/>
          <p:nvPr/>
        </p:nvCxnSpPr>
        <p:spPr>
          <a:xfrm flipH="1">
            <a:off x="3689671" y="5520879"/>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38" name="直接连接符 44"/>
          <p:cNvCxnSpPr/>
          <p:nvPr/>
        </p:nvCxnSpPr>
        <p:spPr>
          <a:xfrm>
            <a:off x="3689671" y="2067024"/>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39" name="椭圆 38"/>
          <p:cNvSpPr/>
          <p:nvPr/>
        </p:nvSpPr>
        <p:spPr>
          <a:xfrm>
            <a:off x="4883204" y="153534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41" name="椭圆 40"/>
          <p:cNvSpPr/>
          <p:nvPr/>
        </p:nvSpPr>
        <p:spPr>
          <a:xfrm>
            <a:off x="4883204" y="494734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43" name="Freeform 176"/>
          <p:cNvSpPr>
            <a:spLocks noEditPoints="1"/>
          </p:cNvSpPr>
          <p:nvPr/>
        </p:nvSpPr>
        <p:spPr bwMode="auto">
          <a:xfrm>
            <a:off x="5134393" y="3541227"/>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44" name="椭圆 43"/>
          <p:cNvSpPr/>
          <p:nvPr/>
        </p:nvSpPr>
        <p:spPr>
          <a:xfrm>
            <a:off x="4975178" y="162731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5" name="椭圆 44"/>
          <p:cNvSpPr/>
          <p:nvPr/>
        </p:nvSpPr>
        <p:spPr>
          <a:xfrm>
            <a:off x="4965816" y="5058980"/>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46" name="Freeform 175"/>
          <p:cNvSpPr>
            <a:spLocks noEditPoints="1"/>
          </p:cNvSpPr>
          <p:nvPr/>
        </p:nvSpPr>
        <p:spPr bwMode="auto">
          <a:xfrm>
            <a:off x="5190486" y="5185835"/>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47" name="Freeform 168"/>
          <p:cNvSpPr>
            <a:spLocks noEditPoints="1"/>
          </p:cNvSpPr>
          <p:nvPr/>
        </p:nvSpPr>
        <p:spPr bwMode="auto">
          <a:xfrm>
            <a:off x="5160852" y="175904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49" name="文本框 9"/>
          <p:cNvSpPr txBox="1"/>
          <p:nvPr/>
        </p:nvSpPr>
        <p:spPr>
          <a:xfrm>
            <a:off x="6104324" y="1628206"/>
            <a:ext cx="4281735" cy="46189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en-US" altLang="zh-CN" sz="2000" b="1" dirty="0" err="1">
                <a:solidFill>
                  <a:srgbClr val="1369B2"/>
                </a:solidFill>
              </a:rPr>
              <a:t>setUp</a:t>
            </a:r>
            <a:r>
              <a:rPr lang="zh-CN" altLang="zh-CN" sz="2000" b="1" dirty="0">
                <a:solidFill>
                  <a:srgbClr val="1369B2"/>
                </a:solidFill>
              </a:rPr>
              <a:t>线程组</a:t>
            </a:r>
            <a:endParaRPr lang="zh-CN" altLang="en-US" sz="2000" b="1" dirty="0">
              <a:solidFill>
                <a:srgbClr val="1369B2"/>
              </a:solidFill>
            </a:endParaRPr>
          </a:p>
        </p:txBody>
      </p:sp>
      <p:sp>
        <p:nvSpPr>
          <p:cNvPr id="51" name="文本框 9"/>
          <p:cNvSpPr txBox="1"/>
          <p:nvPr/>
        </p:nvSpPr>
        <p:spPr>
          <a:xfrm>
            <a:off x="6129838" y="3457020"/>
            <a:ext cx="2199941" cy="58610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en-US" altLang="zh-CN" sz="2000" b="1" dirty="0" err="1">
                <a:solidFill>
                  <a:srgbClr val="1369B2"/>
                </a:solidFill>
              </a:rPr>
              <a:t>tearDown</a:t>
            </a:r>
            <a:r>
              <a:rPr lang="zh-CN" altLang="zh-CN" sz="2000" b="1" dirty="0">
                <a:solidFill>
                  <a:srgbClr val="1369B2"/>
                </a:solidFill>
              </a:rPr>
              <a:t>线程组</a:t>
            </a:r>
            <a:endParaRPr lang="en-US" altLang="zh-CN" sz="2000" b="1" dirty="0">
              <a:solidFill>
                <a:srgbClr val="1369B2"/>
              </a:solidFill>
            </a:endParaRPr>
          </a:p>
        </p:txBody>
      </p:sp>
      <p:sp>
        <p:nvSpPr>
          <p:cNvPr id="53" name="文本框 9"/>
          <p:cNvSpPr txBox="1"/>
          <p:nvPr/>
        </p:nvSpPr>
        <p:spPr>
          <a:xfrm>
            <a:off x="6114285" y="5138425"/>
            <a:ext cx="1258000" cy="42729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lnSpc>
                <a:spcPct val="150000"/>
              </a:lnSpc>
            </a:pPr>
            <a:r>
              <a:rPr lang="zh-CN" altLang="en-US" sz="2000" b="1" dirty="0">
                <a:solidFill>
                  <a:srgbClr val="1369B2"/>
                </a:solidFill>
              </a:rPr>
              <a:t>线程组</a:t>
            </a:r>
            <a:endParaRPr lang="en-US" altLang="zh-CN" sz="2000" b="1" dirty="0">
              <a:solidFill>
                <a:srgbClr val="1369B2"/>
              </a:solidFill>
            </a:endParaRPr>
          </a:p>
        </p:txBody>
      </p:sp>
      <p:sp>
        <p:nvSpPr>
          <p:cNvPr id="54" name="文本框 9"/>
          <p:cNvSpPr txBox="1"/>
          <p:nvPr/>
        </p:nvSpPr>
        <p:spPr>
          <a:xfrm>
            <a:off x="938151" y="3487049"/>
            <a:ext cx="2751519" cy="641508"/>
          </a:xfrm>
          <a:prstGeom prst="rect">
            <a:avLst/>
          </a:prstGeom>
          <a:ln w="9525">
            <a:noFill/>
            <a:miter lim="800000"/>
          </a:ln>
          <a:extLst>
            <a:ext uri="{909E8E84-426E-40DD-AFC4-6F175D3DCCD1}">
              <a14:hiddenFill xmlns:a14="http://schemas.microsoft.com/office/drawing/2010/main">
                <a:solidFill>
                  <a:srgbClr val="FFFFFF"/>
                </a:solidFill>
              </a14:hiddenFill>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defTabSz="457200">
              <a:lnSpc>
                <a:spcPct val="150000"/>
              </a:lnSpc>
              <a:defRPr/>
            </a:pPr>
            <a:r>
              <a:rPr lang="en-US" altLang="zh-CN" sz="2000" b="1" dirty="0">
                <a:cs typeface="+mn-ea"/>
              </a:rPr>
              <a:t>3</a:t>
            </a:r>
            <a:r>
              <a:rPr lang="zh-CN" altLang="zh-CN" sz="2000" b="1" dirty="0">
                <a:cs typeface="+mn-ea"/>
              </a:rPr>
              <a:t>个</a:t>
            </a:r>
            <a:r>
              <a:rPr lang="zh-CN" altLang="en-US" sz="2000" b="1" dirty="0">
                <a:cs typeface="+mn-ea"/>
              </a:rPr>
              <a:t>线程组的含义与作用</a:t>
            </a:r>
          </a:p>
        </p:txBody>
      </p:sp>
      <p:sp>
        <p:nvSpPr>
          <p:cNvPr id="21" name="TextBox 33"/>
          <p:cNvSpPr txBox="1"/>
          <p:nvPr/>
        </p:nvSpPr>
        <p:spPr>
          <a:xfrm>
            <a:off x="6104324" y="2182090"/>
            <a:ext cx="4927853" cy="1246495"/>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nSpc>
                <a:spcPct val="150000"/>
              </a:lnSpc>
            </a:pP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一种特殊类型的线程组，用于</a:t>
            </a:r>
            <a:r>
              <a:rPr lang="zh-CN" altLang="zh-CN" sz="1800" dirty="0">
                <a:solidFill>
                  <a:srgbClr val="1369B2"/>
                </a:solidFill>
                <a:latin typeface="微软雅黑" panose="020B0503020204020204" pitchFamily="34" charset="-122"/>
                <a:ea typeface="微软雅黑" panose="020B0503020204020204" pitchFamily="34" charset="-122"/>
              </a:rPr>
              <a:t>执行测试前的初始化操作</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800" dirty="0" err="1">
                <a:solidFill>
                  <a:schemeClr val="tx1">
                    <a:lumMod val="75000"/>
                    <a:lumOff val="25000"/>
                  </a:schemeClr>
                </a:solidFill>
                <a:latin typeface="微软雅黑" panose="020B0503020204020204" pitchFamily="34" charset="-122"/>
                <a:ea typeface="微软雅黑" panose="020B0503020204020204" pitchFamily="34" charset="-122"/>
              </a:rPr>
              <a:t>setUp</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线程组的执行顺序在普通线程组之前。</a:t>
            </a:r>
          </a:p>
        </p:txBody>
      </p:sp>
      <p:sp>
        <p:nvSpPr>
          <p:cNvPr id="2" name="矩形 1"/>
          <p:cNvSpPr/>
          <p:nvPr/>
        </p:nvSpPr>
        <p:spPr>
          <a:xfrm>
            <a:off x="6120254" y="3890374"/>
            <a:ext cx="4911923" cy="1338828"/>
          </a:xfrm>
          <a:prstGeom prst="rect">
            <a:avLst/>
          </a:prstGeom>
        </p:spPr>
        <p:txBody>
          <a:bodyPr wrap="square">
            <a:spAutoFit/>
          </a:bodyPr>
          <a:lstStyle/>
          <a:p>
            <a:pPr algn="just" defTabSz="1218565">
              <a:lnSpc>
                <a:spcPct val="150000"/>
              </a:lnSpc>
            </a:pP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一种特殊类型的线程组，用于</a:t>
            </a:r>
            <a:r>
              <a:rPr lang="zh-CN" altLang="zh-CN" sz="1800" dirty="0">
                <a:solidFill>
                  <a:srgbClr val="1369B2"/>
                </a:solidFill>
                <a:latin typeface="微软雅黑" panose="020B0503020204020204" pitchFamily="34" charset="-122"/>
                <a:ea typeface="微软雅黑" panose="020B0503020204020204" pitchFamily="34" charset="-122"/>
              </a:rPr>
              <a:t>执行测试结束之后的回收工作</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800" dirty="0" err="1">
                <a:solidFill>
                  <a:schemeClr val="tx1">
                    <a:lumMod val="75000"/>
                    <a:lumOff val="25000"/>
                  </a:schemeClr>
                </a:solidFill>
                <a:latin typeface="微软雅黑" panose="020B0503020204020204" pitchFamily="34" charset="-122"/>
                <a:ea typeface="微软雅黑" panose="020B0503020204020204" pitchFamily="34" charset="-122"/>
              </a:rPr>
              <a:t>tearDown</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线程组的执行顺序在普通线程组之后。</a:t>
            </a:r>
            <a:endPar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5990952" y="5501218"/>
            <a:ext cx="5279680" cy="1338828"/>
          </a:xfrm>
          <a:prstGeom prst="rect">
            <a:avLst/>
          </a:prstGeom>
        </p:spPr>
        <p:txBody>
          <a:bodyPr wrap="square">
            <a:spAutoFit/>
          </a:bodyPr>
          <a:lstStyle/>
          <a:p>
            <a:pPr lvl="0">
              <a:lnSpc>
                <a:spcPct val="150000"/>
              </a:lnSpc>
            </a:pP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普通线程组，一个线程组可以</a:t>
            </a:r>
            <a:r>
              <a:rPr lang="zh-CN" altLang="zh-CN" sz="1800" dirty="0">
                <a:solidFill>
                  <a:srgbClr val="1369B2"/>
                </a:solidFill>
                <a:latin typeface="微软雅黑" panose="020B0503020204020204" pitchFamily="34" charset="-122"/>
                <a:ea typeface="微软雅黑" panose="020B0503020204020204" pitchFamily="34" charset="-122"/>
              </a:rPr>
              <a:t>表示一个虚拟用户组</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，线程组中可以</a:t>
            </a:r>
            <a:r>
              <a:rPr lang="zh-CN" altLang="zh-CN" sz="1800" dirty="0">
                <a:solidFill>
                  <a:srgbClr val="1369B2"/>
                </a:solidFill>
                <a:latin typeface="微软雅黑" panose="020B0503020204020204" pitchFamily="34" charset="-122"/>
                <a:ea typeface="微软雅黑" panose="020B0503020204020204" pitchFamily="34" charset="-122"/>
              </a:rPr>
              <a:t>设置线程数量</a:t>
            </a:r>
            <a:r>
              <a:rPr lang="zh-CN" altLang="zh-CN" sz="1800" dirty="0">
                <a:solidFill>
                  <a:schemeClr val="tx1">
                    <a:lumMod val="75000"/>
                    <a:lumOff val="25000"/>
                  </a:schemeClr>
                </a:solidFill>
                <a:latin typeface="微软雅黑" panose="020B0503020204020204" pitchFamily="34" charset="-122"/>
                <a:ea typeface="微软雅黑" panose="020B0503020204020204" pitchFamily="34" charset="-122"/>
              </a:rPr>
              <a:t>，每一个线程都可以模拟一个虚拟用户。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JMeter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文本框 10"/>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02</a:t>
            </a:r>
          </a:p>
        </p:txBody>
      </p:sp>
      <p:sp>
        <p:nvSpPr>
          <p:cNvPr id="3" name="矩形 2"/>
          <p:cNvSpPr/>
          <p:nvPr/>
        </p:nvSpPr>
        <p:spPr>
          <a:xfrm>
            <a:off x="1143690" y="1444788"/>
            <a:ext cx="10064802" cy="5078313"/>
          </a:xfrm>
          <a:prstGeom prst="rect">
            <a:avLst/>
          </a:prstGeom>
        </p:spPr>
        <p:txBody>
          <a:bodyPr wrap="square">
            <a:spAutoFit/>
          </a:bodyPr>
          <a:lstStyle/>
          <a:p>
            <a:pPr marL="285750" lvl="0" indent="-285750">
              <a:lnSpc>
                <a:spcPct val="150000"/>
              </a:lnSpc>
              <a:buFont typeface="Wingdings" panose="05000000000000000000" pitchFamily="2" charset="2"/>
              <a:buChar char="l"/>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名称：用于</a:t>
            </a:r>
            <a:r>
              <a:rPr lang="zh-CN" altLang="zh-CN" sz="1800" dirty="0">
                <a:solidFill>
                  <a:srgbClr val="1369B2"/>
                </a:solidFill>
                <a:latin typeface="微软雅黑" panose="020B0503020204020204" pitchFamily="34" charset="-122"/>
                <a:ea typeface="微软雅黑" panose="020B0503020204020204" pitchFamily="34" charset="-122"/>
              </a:rPr>
              <a:t>为线程组命名</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线程数：用于</a:t>
            </a:r>
            <a:r>
              <a:rPr lang="zh-CN" altLang="zh-CN" sz="1800" dirty="0">
                <a:solidFill>
                  <a:srgbClr val="1369B2"/>
                </a:solidFill>
                <a:latin typeface="微软雅黑" panose="020B0503020204020204" pitchFamily="34" charset="-122"/>
                <a:ea typeface="微软雅黑" panose="020B0503020204020204" pitchFamily="34" charset="-122"/>
              </a:rPr>
              <a:t>设置线程数量</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，即要模拟多少个用户。</a:t>
            </a:r>
          </a:p>
          <a:p>
            <a:pPr marL="285750" lvl="0" indent="-285750">
              <a:lnSpc>
                <a:spcPct val="150000"/>
              </a:lnSpc>
              <a:buFont typeface="Wingdings" panose="05000000000000000000" pitchFamily="2" charset="2"/>
              <a:buChar char="l"/>
            </a:pP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Ramp-Up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时间（秒）：用于</a:t>
            </a:r>
            <a:r>
              <a:rPr lang="zh-CN" altLang="zh-CN" sz="1800" dirty="0">
                <a:solidFill>
                  <a:srgbClr val="1369B2"/>
                </a:solidFill>
                <a:latin typeface="微软雅黑" panose="020B0503020204020204" pitchFamily="34" charset="-122"/>
                <a:ea typeface="微软雅黑" panose="020B0503020204020204" pitchFamily="34" charset="-122"/>
              </a:rPr>
              <a:t>设置线程全部启动的时间</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。例如，若线程数设置为</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100</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Ramp-Up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时间设置为</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5</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，表示在</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5</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秒内启动</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100</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个线程，每秒启动的线程数量为</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20</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100/5</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循环次数：用于</a:t>
            </a:r>
            <a:r>
              <a:rPr lang="zh-CN" altLang="zh-CN" sz="1800" dirty="0">
                <a:solidFill>
                  <a:srgbClr val="1369B2"/>
                </a:solidFill>
                <a:latin typeface="微软雅黑" panose="020B0503020204020204" pitchFamily="34" charset="-122"/>
                <a:ea typeface="微软雅黑" panose="020B0503020204020204" pitchFamily="34" charset="-122"/>
              </a:rPr>
              <a:t>设置线程循环次数</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。如果勾选了</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永远</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选项，则线程会一直循环。</a:t>
            </a:r>
          </a:p>
          <a:p>
            <a:pPr marL="285750" lvl="0" indent="-285750">
              <a:lnSpc>
                <a:spcPct val="150000"/>
              </a:lnSpc>
              <a:buFont typeface="Wingdings" panose="05000000000000000000" pitchFamily="2" charset="2"/>
              <a:buChar char="l"/>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调度器：用于</a:t>
            </a:r>
            <a:r>
              <a:rPr lang="zh-CN" altLang="zh-CN" sz="1800" dirty="0">
                <a:solidFill>
                  <a:srgbClr val="1369B2"/>
                </a:solidFill>
                <a:latin typeface="微软雅黑" panose="020B0503020204020204" pitchFamily="34" charset="-122"/>
                <a:ea typeface="微软雅黑" panose="020B0503020204020204" pitchFamily="34" charset="-122"/>
              </a:rPr>
              <a:t>打开时间调试配置</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勾选该</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复选框</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后</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，下方的“持续时间（秒）</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和</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启动延迟（秒）</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才能设置。</a:t>
            </a:r>
          </a:p>
          <a:p>
            <a:pPr marL="285750" lvl="0" indent="-285750">
              <a:lnSpc>
                <a:spcPct val="150000"/>
              </a:lnSpc>
              <a:buFont typeface="Wingdings" panose="05000000000000000000" pitchFamily="2" charset="2"/>
              <a:buChar char="l"/>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持续时间（秒）：用于</a:t>
            </a:r>
            <a:r>
              <a:rPr lang="zh-CN" altLang="zh-CN" sz="1800" dirty="0">
                <a:solidFill>
                  <a:srgbClr val="1369B2"/>
                </a:solidFill>
                <a:latin typeface="微软雅黑" panose="020B0503020204020204" pitchFamily="34" charset="-122"/>
                <a:ea typeface="微软雅黑" panose="020B0503020204020204" pitchFamily="34" charset="-122"/>
              </a:rPr>
              <a:t>设置线程组测试的持续时间</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。如果设置了持续时间，则以该时间为准</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，时间</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到</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则</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线程组测试结束，即使在循环次数中勾选了</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永远</a:t>
            </a:r>
            <a:r>
              <a:rPr lang="en-US"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复选框</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线程也不会一直</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循环。</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需要</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注意</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的是，</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持续时间</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设置的时间要比</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Ramp-Up</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设置</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的时间</a:t>
            </a:r>
            <a:r>
              <a:rPr lang="zh-CN" altLang="en-US" sz="1800">
                <a:solidFill>
                  <a:schemeClr val="tx1">
                    <a:lumMod val="65000"/>
                    <a:lumOff val="35000"/>
                  </a:schemeClr>
                </a:solidFill>
                <a:latin typeface="微软雅黑" panose="020B0503020204020204" pitchFamily="34" charset="-122"/>
                <a:ea typeface="微软雅黑" panose="020B0503020204020204" pitchFamily="34" charset="-122"/>
                <a:cs typeface="+mn-ea"/>
              </a:rPr>
              <a:t>长</a:t>
            </a:r>
            <a:r>
              <a:rPr lang="zh-CN" altLang="zh-CN" sz="18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否则线程还未全部启动，测试就结束了。</a:t>
            </a:r>
          </a:p>
          <a:p>
            <a:pPr marL="285750" lvl="0" indent="-285750">
              <a:lnSpc>
                <a:spcPct val="150000"/>
              </a:lnSpc>
              <a:buFont typeface="Wingdings" panose="05000000000000000000" pitchFamily="2" charset="2"/>
              <a:buChar char="l"/>
            </a:pP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启动延迟（秒）：表示</a:t>
            </a:r>
            <a:r>
              <a:rPr lang="zh-CN" altLang="zh-CN" sz="1800" dirty="0">
                <a:solidFill>
                  <a:srgbClr val="1369B2"/>
                </a:solidFill>
                <a:latin typeface="微软雅黑" panose="020B0503020204020204" pitchFamily="34" charset="-122"/>
                <a:ea typeface="微软雅黑" panose="020B0503020204020204" pitchFamily="34" charset="-122"/>
              </a:rPr>
              <a:t>启动测试后多久开始创建线程</a:t>
            </a:r>
            <a:r>
              <a:rPr lang="zh-CN"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mn-ea"/>
              </a:rPr>
              <a:t>，通常用于定时。</a:t>
            </a:r>
          </a:p>
        </p:txBody>
      </p:sp>
      <p:sp>
        <p:nvSpPr>
          <p:cNvPr id="4" name="矩形 3"/>
          <p:cNvSpPr/>
          <p:nvPr/>
        </p:nvSpPr>
        <p:spPr>
          <a:xfrm>
            <a:off x="1104788" y="1023519"/>
            <a:ext cx="4801314" cy="400110"/>
          </a:xfrm>
          <a:prstGeom prst="rect">
            <a:avLst/>
          </a:prstGeom>
        </p:spPr>
        <p:txBody>
          <a:bodyPr wrap="none">
            <a:spAutoFit/>
          </a:bodyPr>
          <a:lstStyle/>
          <a:p>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线程组的</a:t>
            </a:r>
            <a:r>
              <a:rPr lang="en-US" altLang="zh-CN" sz="2000">
                <a:solidFill>
                  <a:srgbClr val="1369B2"/>
                </a:solidFill>
                <a:latin typeface="微软雅黑" panose="020B0503020204020204" pitchFamily="34" charset="-122"/>
                <a:ea typeface="微软雅黑" panose="020B0503020204020204" pitchFamily="34" charset="-122"/>
              </a:rPr>
              <a:t>主要配置项</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en-US" altLang="zh-CN" sz="2000">
                <a:solidFill>
                  <a:srgbClr val="1369B2"/>
                </a:solidFill>
                <a:latin typeface="微软雅黑" panose="020B0503020204020204" pitchFamily="34" charset="-122"/>
                <a:ea typeface="微软雅黑" panose="020B0503020204020204" pitchFamily="34" charset="-122"/>
              </a:rPr>
              <a:t>含义</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与</a:t>
            </a:r>
            <a:r>
              <a:rPr lang="en-US" altLang="zh-CN" sz="2000">
                <a:solidFill>
                  <a:srgbClr val="1369B2"/>
                </a:solidFill>
                <a:latin typeface="微软雅黑" panose="020B0503020204020204" pitchFamily="34" charset="-122"/>
                <a:ea typeface="微软雅黑" panose="020B0503020204020204" pitchFamily="34" charset="-122"/>
              </a:rPr>
              <a:t>作用</a:t>
            </a:r>
            <a:r>
              <a:rPr lang="en-US"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如下。</a:t>
            </a:r>
            <a:endPar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JMeter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6" name="圆角矩形 15"/>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7" name="文本框 10"/>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03</a:t>
            </a:r>
          </a:p>
        </p:txBody>
      </p:sp>
      <p:sp>
        <p:nvSpPr>
          <p:cNvPr id="18" name="1"/>
          <p:cNvSpPr txBox="1"/>
          <p:nvPr>
            <p:custDataLst>
              <p:tags r:id="rId1"/>
            </p:custDataLst>
          </p:nvPr>
        </p:nvSpPr>
        <p:spPr>
          <a:xfrm>
            <a:off x="2916979" y="1004493"/>
            <a:ext cx="8649587" cy="1477328"/>
          </a:xfrm>
          <a:prstGeom prst="rect">
            <a:avLst/>
          </a:prstGeom>
          <a:noFill/>
          <a:ln>
            <a:noFill/>
          </a:ln>
        </p:spPr>
        <p:txBody>
          <a:bodyPr wrap="square" rtlCol="0">
            <a:spAutoFit/>
          </a:bodyPr>
          <a:lstStyle/>
          <a:p>
            <a:pPr marR="0" lvl="0" indent="0" defTabSz="457200" fontAlgn="auto">
              <a:lnSpc>
                <a:spcPct val="150000"/>
              </a:lnSpc>
              <a:spcBef>
                <a:spcPts val="0"/>
              </a:spcBef>
              <a:spcAft>
                <a:spcPts val="0"/>
              </a:spcAft>
              <a:buClrTx/>
              <a:buSzTx/>
              <a:buFontTx/>
              <a:buNone/>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添加</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HTTP</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请求</a:t>
            </a:r>
            <a:endPar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选中</a:t>
            </a:r>
            <a:r>
              <a:rPr lang="zh-CN" altLang="zh-CN" sz="2000">
                <a:solidFill>
                  <a:srgbClr val="1369B2"/>
                </a:solidFill>
                <a:latin typeface="微软雅黑" panose="020B0503020204020204" pitchFamily="34" charset="-122"/>
                <a:ea typeface="微软雅黑" panose="020B0503020204020204" pitchFamily="34" charset="-122"/>
              </a:rPr>
              <a:t>“线程组”</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并</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右键单击</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在弹</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出的</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快捷菜单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中</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→“取样器</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a:t>
            </a:r>
            <a:r>
              <a:rPr lang="en-US" altLang="zh-CN" sz="2000">
                <a:solidFill>
                  <a:srgbClr val="1369B2"/>
                </a:solidFill>
                <a:latin typeface="微软雅黑" panose="020B0503020204020204" pitchFamily="34" charset="-122"/>
                <a:ea typeface="微软雅黑" panose="020B0503020204020204" pitchFamily="34" charset="-122"/>
              </a:rPr>
              <a:t>”</a:t>
            </a:r>
            <a:r>
              <a:rPr lang="zh-CN" altLang="en-US" sz="2000">
                <a:solidFill>
                  <a:srgbClr val="1369B2"/>
                </a:solidFill>
                <a:latin typeface="微软雅黑" panose="020B0503020204020204" pitchFamily="34" charset="-122"/>
                <a:ea typeface="微软雅黑" panose="020B0503020204020204" pitchFamily="34" charset="-122"/>
              </a:rPr>
              <a:t>，</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如下图所示。</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5255" y="2617560"/>
            <a:ext cx="4832174" cy="3738004"/>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2115" y="2617560"/>
            <a:ext cx="5124451" cy="371301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JMeter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6" name="圆角矩形 15"/>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7" name="文本框 10"/>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pitchFamily="34" charset="-122"/>
                <a:sym typeface="Arial" panose="020B0604020202020204" pitchFamily="34" charset="0"/>
              </a:rPr>
              <a:t>STEP  04</a:t>
            </a:r>
          </a:p>
        </p:txBody>
      </p:sp>
      <p:sp>
        <p:nvSpPr>
          <p:cNvPr id="18" name="1"/>
          <p:cNvSpPr txBox="1"/>
          <p:nvPr>
            <p:custDataLst>
              <p:tags r:id="rId1"/>
            </p:custDataLst>
          </p:nvPr>
        </p:nvSpPr>
        <p:spPr>
          <a:xfrm>
            <a:off x="2916979" y="871143"/>
            <a:ext cx="8566460" cy="1477328"/>
          </a:xfrm>
          <a:prstGeom prst="rect">
            <a:avLst/>
          </a:prstGeom>
          <a:noFill/>
          <a:ln>
            <a:noFill/>
          </a:ln>
        </p:spPr>
        <p:txBody>
          <a:bodyPr wrap="square" rtlCol="0">
            <a:spAutoFit/>
          </a:bodyPr>
          <a:lstStyle/>
          <a:p>
            <a:pPr defTabSz="457200">
              <a:lnSpc>
                <a:spcPct val="150000"/>
              </a:lnSpc>
              <a:defRPr/>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添加察看结果树</a:t>
            </a:r>
            <a:endPar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选中</a:t>
            </a:r>
            <a:r>
              <a:rPr lang="zh-CN" altLang="zh-CN" sz="2000">
                <a:solidFill>
                  <a:srgbClr val="1369B2"/>
                </a:solidFill>
                <a:latin typeface="微软雅黑" panose="020B0503020204020204" pitchFamily="34" charset="-122"/>
                <a:ea typeface="微软雅黑" panose="020B0503020204020204" pitchFamily="34" charset="-122"/>
              </a:rPr>
              <a:t>“线程组”</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并</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右键单击</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在弹</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出的</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快捷菜单</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中</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依次选择</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监听器</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“察看结果树</a:t>
            </a:r>
            <a:r>
              <a:rPr lang="en-US" altLang="zh-CN" sz="2000">
                <a:solidFill>
                  <a:srgbClr val="1369B2"/>
                </a:solidFill>
                <a:latin typeface="微软雅黑" panose="020B0503020204020204" pitchFamily="34" charset="-122"/>
                <a:ea typeface="微软雅黑" panose="020B0503020204020204" pitchFamily="34" charset="-122"/>
              </a:rPr>
              <a:t>”</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，如下图所示。</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8400" y="2539514"/>
            <a:ext cx="4833412" cy="3808284"/>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8493" y="2539515"/>
            <a:ext cx="5290976" cy="380828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第一个</a:t>
            </a:r>
            <a:r>
              <a:rPr lang="en-US" altLang="zh-CN" sz="2400" b="1" dirty="0" err="1">
                <a:solidFill>
                  <a:srgbClr val="595959"/>
                </a:solidFill>
                <a:latin typeface="微软雅黑" panose="020B0503020204020204" pitchFamily="34" charset="-122"/>
                <a:ea typeface="微软雅黑" panose="020B0503020204020204" pitchFamily="34" charset="-122"/>
                <a:cs typeface="+mn-ea"/>
                <a:sym typeface="+mn-lt"/>
              </a:rPr>
              <a:t>JMeter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测试</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0" name="Picture 2" descr="C:\Users\admin\Desktop\QQ截图20201109163646.png"/>
          <p:cNvPicPr>
            <a:picLocks noChangeAspect="1" noChangeArrowheads="1"/>
          </p:cNvPicPr>
          <p:nvPr/>
        </p:nvPicPr>
        <p:blipFill rotWithShape="1">
          <a:blip r:embed="rId3">
            <a:extLst>
              <a:ext uri="{28A0092B-C50C-407E-A947-70E740481C1C}">
                <a14:useLocalDpi xmlns:a14="http://schemas.microsoft.com/office/drawing/2010/main" val="0"/>
              </a:ext>
            </a:extLst>
          </a:blip>
          <a:srcRect r="5516"/>
          <a:stretch>
            <a:fillRect/>
          </a:stretch>
        </p:blipFill>
        <p:spPr bwMode="auto">
          <a:xfrm flipH="1">
            <a:off x="8605345" y="1988314"/>
            <a:ext cx="2946548" cy="348610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143690" y="1713951"/>
            <a:ext cx="7108244" cy="3323987"/>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元件</a:t>
            </a:r>
            <a:r>
              <a:rPr lang="zh-CN" altLang="zh-CN" sz="2000" dirty="0">
                <a:solidFill>
                  <a:srgbClr val="595959"/>
                </a:solidFill>
                <a:latin typeface="微软雅黑" panose="020B0503020204020204" pitchFamily="34" charset="-122"/>
                <a:ea typeface="微软雅黑" panose="020B0503020204020204" pitchFamily="34" charset="-122"/>
              </a:rPr>
              <a:t>是指</a:t>
            </a:r>
            <a:r>
              <a:rPr lang="en-US" altLang="zh-CN" sz="2000" dirty="0" err="1">
                <a:solidFill>
                  <a:srgbClr val="595959"/>
                </a:solidFill>
                <a:latin typeface="微软雅黑" panose="020B0503020204020204" pitchFamily="34" charset="-122"/>
                <a:ea typeface="微软雅黑" panose="020B0503020204020204" pitchFamily="34" charset="-122"/>
              </a:rPr>
              <a:t>JMeter</a:t>
            </a:r>
            <a:r>
              <a:rPr lang="zh-CN" altLang="zh-CN" sz="2000" dirty="0">
                <a:solidFill>
                  <a:srgbClr val="595959"/>
                </a:solidFill>
                <a:latin typeface="微软雅黑" panose="020B0503020204020204" pitchFamily="34" charset="-122"/>
                <a:ea typeface="微软雅黑" panose="020B0503020204020204" pitchFamily="34" charset="-122"/>
              </a:rPr>
              <a:t>中的一个无法拆分的</a:t>
            </a:r>
            <a:r>
              <a:rPr lang="zh-CN" altLang="zh-CN" sz="2000" dirty="0">
                <a:solidFill>
                  <a:srgbClr val="1369B2"/>
                </a:solidFill>
                <a:latin typeface="微软雅黑" panose="020B0503020204020204" pitchFamily="34" charset="-122"/>
                <a:ea typeface="微软雅黑" panose="020B0503020204020204" pitchFamily="34" charset="-122"/>
              </a:rPr>
              <a:t>子功能</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组件</a:t>
            </a:r>
            <a:r>
              <a:rPr lang="zh-CN" altLang="zh-CN" sz="2000" dirty="0">
                <a:solidFill>
                  <a:srgbClr val="595959"/>
                </a:solidFill>
                <a:latin typeface="微软雅黑" panose="020B0503020204020204" pitchFamily="34" charset="-122"/>
                <a:ea typeface="微软雅黑" panose="020B0503020204020204" pitchFamily="34" charset="-122"/>
              </a:rPr>
              <a:t>是指一组具有相似功能的</a:t>
            </a:r>
            <a:r>
              <a:rPr lang="zh-CN" altLang="zh-CN" sz="2000" dirty="0">
                <a:solidFill>
                  <a:srgbClr val="1369B2"/>
                </a:solidFill>
                <a:latin typeface="微软雅黑" panose="020B0503020204020204" pitchFamily="34" charset="-122"/>
                <a:ea typeface="微软雅黑" panose="020B0503020204020204" pitchFamily="34" charset="-122"/>
              </a:rPr>
              <a:t>元件的集合</a:t>
            </a:r>
            <a:r>
              <a:rPr lang="zh-CN" altLang="zh-CN" sz="2000" dirty="0">
                <a:solidFill>
                  <a:srgbClr val="595959"/>
                </a:solidFill>
                <a:latin typeface="微软雅黑" panose="020B0503020204020204" pitchFamily="34" charset="-122"/>
                <a:ea typeface="微软雅黑" panose="020B0503020204020204" pitchFamily="34" charset="-122"/>
              </a:rPr>
              <a:t>。例如，</a:t>
            </a:r>
            <a:r>
              <a:rPr lang="zh-CN" altLang="zh-CN" sz="2000" dirty="0">
                <a:solidFill>
                  <a:srgbClr val="1369B2"/>
                </a:solidFill>
                <a:latin typeface="微软雅黑" panose="020B0503020204020204" pitchFamily="34" charset="-122"/>
                <a:ea typeface="微软雅黑" panose="020B0503020204020204" pitchFamily="34" charset="-122"/>
              </a:rPr>
              <a:t>取样器是一个组件</a:t>
            </a:r>
            <a:r>
              <a:rPr lang="zh-CN" altLang="zh-CN" sz="2000" dirty="0">
                <a:solidFill>
                  <a:srgbClr val="595959"/>
                </a:solidFill>
                <a:latin typeface="微软雅黑" panose="020B0503020204020204" pitchFamily="34" charset="-122"/>
                <a:ea typeface="微软雅黑" panose="020B0503020204020204" pitchFamily="34" charset="-122"/>
              </a:rPr>
              <a:t>，用于发送请求，在这个组件中有各种各样的元件，这些元件用于发送不同的请求，其中</a:t>
            </a:r>
            <a:r>
              <a:rPr lang="en-US" altLang="zh-CN" sz="2000" dirty="0">
                <a:solidFill>
                  <a:srgbClr val="595959"/>
                </a:solidFill>
                <a:latin typeface="微软雅黑" panose="020B0503020204020204" pitchFamily="34" charset="-122"/>
                <a:ea typeface="微软雅黑" panose="020B0503020204020204" pitchFamily="34" charset="-122"/>
              </a:rPr>
              <a:t>HTTP</a:t>
            </a:r>
            <a:r>
              <a:rPr lang="zh-CN" altLang="zh-CN" sz="2000" dirty="0">
                <a:solidFill>
                  <a:srgbClr val="595959"/>
                </a:solidFill>
                <a:latin typeface="微软雅黑" panose="020B0503020204020204" pitchFamily="34" charset="-122"/>
                <a:ea typeface="微软雅黑" panose="020B0503020204020204" pitchFamily="34" charset="-122"/>
              </a:rPr>
              <a:t>请求就是一个非常常用的元件。</a:t>
            </a:r>
            <a:r>
              <a:rPr lang="zh-CN" altLang="zh-CN" sz="2000" dirty="0">
                <a:solidFill>
                  <a:srgbClr val="1369B2"/>
                </a:solidFill>
                <a:latin typeface="微软雅黑" panose="020B0503020204020204" pitchFamily="34" charset="-122"/>
                <a:ea typeface="微软雅黑" panose="020B0503020204020204" pitchFamily="34" charset="-122"/>
              </a:rPr>
              <a:t>监听器也是一个组件</a:t>
            </a:r>
            <a:r>
              <a:rPr lang="zh-CN" altLang="zh-CN" sz="2000" dirty="0">
                <a:solidFill>
                  <a:srgbClr val="595959"/>
                </a:solidFill>
                <a:latin typeface="微软雅黑" panose="020B0503020204020204" pitchFamily="34" charset="-122"/>
                <a:ea typeface="微软雅黑" panose="020B0503020204020204" pitchFamily="34" charset="-122"/>
              </a:rPr>
              <a:t>，用于监听请求返回的结果。在监听器中，有多个监听结果的</a:t>
            </a:r>
            <a:r>
              <a:rPr lang="zh-CN" altLang="zh-CN" sz="2000">
                <a:solidFill>
                  <a:srgbClr val="595959"/>
                </a:solidFill>
                <a:latin typeface="微软雅黑" panose="020B0503020204020204" pitchFamily="34" charset="-122"/>
                <a:ea typeface="微软雅黑" panose="020B0503020204020204" pitchFamily="34" charset="-122"/>
              </a:rPr>
              <a:t>元件，</a:t>
            </a:r>
            <a:r>
              <a:rPr lang="zh-CN" altLang="en-US" sz="2000">
                <a:solidFill>
                  <a:srgbClr val="595959"/>
                </a:solidFill>
                <a:latin typeface="微软雅黑" panose="020B0503020204020204" pitchFamily="34" charset="-122"/>
                <a:ea typeface="微软雅黑" panose="020B0503020204020204" pitchFamily="34" charset="-122"/>
              </a:rPr>
              <a:t>例</a:t>
            </a:r>
            <a:r>
              <a:rPr lang="zh-CN" altLang="zh-CN" sz="2000">
                <a:solidFill>
                  <a:srgbClr val="595959"/>
                </a:solidFill>
                <a:latin typeface="微软雅黑" panose="020B0503020204020204" pitchFamily="34" charset="-122"/>
                <a:ea typeface="微软雅黑" panose="020B0503020204020204" pitchFamily="34" charset="-122"/>
              </a:rPr>
              <a:t>如</a:t>
            </a:r>
            <a:r>
              <a:rPr lang="zh-CN" altLang="zh-CN" sz="2000" dirty="0">
                <a:solidFill>
                  <a:srgbClr val="1369B2"/>
                </a:solidFill>
                <a:latin typeface="微软雅黑" panose="020B0503020204020204" pitchFamily="34" charset="-122"/>
                <a:ea typeface="微软雅黑" panose="020B0503020204020204" pitchFamily="34" charset="-122"/>
              </a:rPr>
              <a:t>察看结果树</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汇总报告</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聚合报告</a:t>
            </a:r>
            <a:r>
              <a:rPr lang="zh-CN" altLang="zh-CN" sz="2000" dirty="0">
                <a:solidFill>
                  <a:srgbClr val="595959"/>
                </a:solidFill>
                <a:latin typeface="微软雅黑" panose="020B0503020204020204" pitchFamily="34" charset="-122"/>
                <a:ea typeface="微软雅黑" panose="020B0503020204020204" pitchFamily="34" charset="-122"/>
              </a:rPr>
              <a:t>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718942" y="3030845"/>
            <a:ext cx="7957137" cy="830997"/>
          </a:xfrm>
          <a:prstGeom prst="rect">
            <a:avLst/>
          </a:prstGeom>
          <a:noFill/>
        </p:spPr>
        <p:txBody>
          <a:bodyPr wrap="square" lIns="91443" tIns="45720" rIns="91443" bIns="45720" rtlCol="0">
            <a:spAutoFit/>
          </a:bodyPr>
          <a:lstStyle/>
          <a:p>
            <a:pPr algn="ctr"/>
            <a:r>
              <a:rPr lang="en-US" altLang="zh-CN" sz="4800" b="1" dirty="0" err="1">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JMeter</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核心组件</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565393" y="2897862"/>
            <a:ext cx="2016224" cy="1107996"/>
          </a:xfrm>
          <a:prstGeom prst="rect">
            <a:avLst/>
          </a:prstGeom>
          <a:noFill/>
        </p:spPr>
        <p:txBody>
          <a:bodyPr wrap="square" lIns="91443" tIns="45720" rIns="91443" bIns="45720" rtlCol="0">
            <a:spAutoFit/>
          </a:bodyPr>
          <a:lstStyle/>
          <a:p>
            <a:r>
              <a:rPr lang="en-US" altLang="zh-CN" sz="6600" b="1" dirty="0">
                <a:solidFill>
                  <a:srgbClr val="FAFAFA"/>
                </a:solidFill>
                <a:latin typeface="微软雅黑" panose="020B0503020204020204" pitchFamily="34" charset="-122"/>
                <a:ea typeface="微软雅黑" panose="020B0503020204020204" pitchFamily="34" charset="-122"/>
                <a:cs typeface="+mn-ea"/>
                <a:sym typeface="+mn-lt"/>
              </a:rPr>
              <a:t>5.4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取样器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5383643" y="2010036"/>
            <a:ext cx="5532131" cy="2400657"/>
          </a:xfrm>
          <a:prstGeom prst="rect">
            <a:avLst/>
          </a:prstGeom>
          <a:noFill/>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取样器</a:t>
            </a:r>
            <a:r>
              <a:rPr lang="zh-CN" altLang="zh-CN" sz="2000" dirty="0">
                <a:solidFill>
                  <a:srgbClr val="595959"/>
                </a:solidFill>
                <a:latin typeface="微软雅黑" panose="020B0503020204020204" pitchFamily="34" charset="-122"/>
                <a:ea typeface="微软雅黑" panose="020B0503020204020204" pitchFamily="34" charset="-122"/>
                <a:cs typeface="+mn-ea"/>
              </a:rPr>
              <a:t>也称为</a:t>
            </a:r>
            <a:r>
              <a:rPr lang="zh-CN" altLang="zh-CN" sz="2000" dirty="0">
                <a:solidFill>
                  <a:srgbClr val="1369B2"/>
                </a:solidFill>
                <a:latin typeface="微软雅黑" panose="020B0503020204020204" pitchFamily="34" charset="-122"/>
                <a:ea typeface="微软雅黑" panose="020B0503020204020204" pitchFamily="34" charset="-122"/>
              </a:rPr>
              <a:t>采样器</a:t>
            </a:r>
            <a:r>
              <a:rPr lang="zh-CN" altLang="zh-CN" sz="2000" dirty="0">
                <a:solidFill>
                  <a:srgbClr val="595959"/>
                </a:solidFill>
                <a:latin typeface="微软雅黑" panose="020B0503020204020204" pitchFamily="34" charset="-122"/>
                <a:ea typeface="微软雅黑" panose="020B0503020204020204" pitchFamily="34" charset="-122"/>
                <a:cs typeface="+mn-ea"/>
              </a:rPr>
              <a:t>，它用于</a:t>
            </a:r>
            <a:r>
              <a:rPr lang="zh-CN" altLang="zh-CN" sz="2000" dirty="0">
                <a:solidFill>
                  <a:srgbClr val="1369B2"/>
                </a:solidFill>
                <a:latin typeface="微软雅黑" panose="020B0503020204020204" pitchFamily="34" charset="-122"/>
                <a:ea typeface="微软雅黑" panose="020B0503020204020204" pitchFamily="34" charset="-122"/>
              </a:rPr>
              <a:t>模拟用户操作</a:t>
            </a:r>
            <a:r>
              <a:rPr lang="zh-CN" altLang="zh-CN" sz="2000" dirty="0">
                <a:solidFill>
                  <a:srgbClr val="595959"/>
                </a:solidFill>
                <a:latin typeface="微软雅黑" panose="020B0503020204020204" pitchFamily="34" charset="-122"/>
                <a:ea typeface="微软雅黑" panose="020B0503020204020204" pitchFamily="34" charset="-122"/>
                <a:cs typeface="+mn-ea"/>
              </a:rPr>
              <a:t>，向服务器发送请求并接收服务器的响应数据。</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支持不同类型的</a:t>
            </a:r>
            <a:r>
              <a:rPr lang="zh-CN" altLang="zh-CN" sz="2000">
                <a:solidFill>
                  <a:srgbClr val="595959"/>
                </a:solidFill>
                <a:latin typeface="微软雅黑" panose="020B0503020204020204" pitchFamily="34" charset="-122"/>
                <a:ea typeface="微软雅黑" panose="020B0503020204020204" pitchFamily="34" charset="-122"/>
                <a:cs typeface="+mn-ea"/>
              </a:rPr>
              <a:t>取样器，</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FTP</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Java</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等，不同类型的取样器可以通过设置参数向服务器发送不同的请求。</a:t>
            </a:r>
          </a:p>
        </p:txBody>
      </p:sp>
      <p:pic>
        <p:nvPicPr>
          <p:cNvPr id="6" name="图片 5"/>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取样器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2454" y="2731325"/>
            <a:ext cx="6545429" cy="3702258"/>
          </a:xfrm>
          <a:prstGeom prst="rect">
            <a:avLst/>
          </a:prstGeom>
        </p:spPr>
      </p:pic>
      <p:sp>
        <p:nvSpPr>
          <p:cNvPr id="5" name="文本框 7"/>
          <p:cNvSpPr txBox="1"/>
          <p:nvPr/>
        </p:nvSpPr>
        <p:spPr>
          <a:xfrm>
            <a:off x="1282535" y="875460"/>
            <a:ext cx="9785268" cy="1938992"/>
          </a:xfrm>
          <a:prstGeom prst="rect">
            <a:avLst/>
          </a:prstGeom>
          <a:noFill/>
        </p:spPr>
        <p:txBody>
          <a:bodyPr wrap="square">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取样器</a:t>
            </a:r>
            <a:r>
              <a:rPr lang="zh-CN" altLang="en-US" sz="2000">
                <a:solidFill>
                  <a:srgbClr val="595959"/>
                </a:solidFill>
                <a:latin typeface="微软雅黑" panose="020B0503020204020204" pitchFamily="34" charset="-122"/>
                <a:ea typeface="微软雅黑" panose="020B0503020204020204" pitchFamily="34" charset="-122"/>
                <a:cs typeface="+mn-ea"/>
              </a:rPr>
              <a:t>用于</a:t>
            </a:r>
            <a:r>
              <a:rPr lang="zh-CN" altLang="zh-CN" sz="2000">
                <a:solidFill>
                  <a:srgbClr val="1369B2"/>
                </a:solidFill>
                <a:latin typeface="微软雅黑" panose="020B0503020204020204" pitchFamily="34" charset="-122"/>
                <a:ea typeface="微软雅黑" panose="020B0503020204020204" pitchFamily="34" charset="-122"/>
              </a:rPr>
              <a:t>模拟</a:t>
            </a:r>
            <a:r>
              <a:rPr lang="zh-CN" altLang="zh-CN" sz="2000" dirty="0">
                <a:solidFill>
                  <a:srgbClr val="1369B2"/>
                </a:solidFill>
                <a:latin typeface="微软雅黑" panose="020B0503020204020204" pitchFamily="34" charset="-122"/>
                <a:ea typeface="微软雅黑" panose="020B0503020204020204" pitchFamily="34" charset="-122"/>
              </a:rPr>
              <a:t>用户向服务器发送请求</a:t>
            </a:r>
            <a:r>
              <a:rPr lang="zh-CN" altLang="zh-CN" sz="2000" dirty="0">
                <a:solidFill>
                  <a:srgbClr val="595959"/>
                </a:solidFill>
                <a:latin typeface="微软雅黑" panose="020B0503020204020204" pitchFamily="34" charset="-122"/>
                <a:ea typeface="微软雅黑" panose="020B0503020204020204" pitchFamily="34" charset="-122"/>
                <a:cs typeface="+mn-ea"/>
              </a:rPr>
              <a:t>，可以通过线程组添加取样器。</a:t>
            </a:r>
            <a:r>
              <a:rPr lang="zh-CN" altLang="zh-CN" sz="2000" dirty="0">
                <a:solidFill>
                  <a:srgbClr val="1369B2"/>
                </a:solidFill>
                <a:latin typeface="微软雅黑" panose="020B0503020204020204" pitchFamily="34" charset="-122"/>
                <a:ea typeface="微软雅黑" panose="020B0503020204020204" pitchFamily="34" charset="-122"/>
              </a:rPr>
              <a:t>最常用的取样器为</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，下面以</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为例，讲解取样器的</a:t>
            </a:r>
            <a:r>
              <a:rPr lang="zh-CN" altLang="zh-CN" sz="2000">
                <a:solidFill>
                  <a:srgbClr val="595959"/>
                </a:solidFill>
                <a:latin typeface="微软雅黑" panose="020B0503020204020204" pitchFamily="34" charset="-122"/>
                <a:ea typeface="微软雅黑" panose="020B0503020204020204" pitchFamily="34" charset="-122"/>
                <a:cs typeface="+mn-ea"/>
              </a:rPr>
              <a:t>配置。</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首先</a:t>
            </a:r>
            <a:r>
              <a:rPr lang="zh-CN" altLang="zh-CN" sz="2000">
                <a:solidFill>
                  <a:srgbClr val="595959"/>
                </a:solidFill>
                <a:latin typeface="微软雅黑" panose="020B0503020204020204" pitchFamily="34" charset="-122"/>
                <a:ea typeface="微软雅黑" panose="020B0503020204020204" pitchFamily="34" charset="-122"/>
                <a:cs typeface="+mn-ea"/>
              </a:rPr>
              <a:t>在</a:t>
            </a:r>
            <a:r>
              <a:rPr lang="en-US" altLang="zh-CN" sz="2000">
                <a:solidFill>
                  <a:srgbClr val="595959"/>
                </a:solidFill>
                <a:latin typeface="微软雅黑" panose="020B0503020204020204" pitchFamily="34" charset="-122"/>
                <a:ea typeface="微软雅黑" panose="020B0503020204020204" pitchFamily="34" charset="-122"/>
                <a:cs typeface="+mn-ea"/>
              </a:rPr>
              <a:t>JMeter</a:t>
            </a:r>
            <a:r>
              <a:rPr lang="zh-CN" altLang="en-US" sz="2000" dirty="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添加一个</a:t>
            </a:r>
            <a:r>
              <a:rPr lang="en-US" altLang="zh-CN" sz="2000" dirty="0">
                <a:solidFill>
                  <a:srgbClr val="595959"/>
                </a:solidFill>
                <a:latin typeface="微软雅黑" panose="020B0503020204020204" pitchFamily="34" charset="-122"/>
                <a:ea typeface="微软雅黑" panose="020B0503020204020204" pitchFamily="34" charset="-122"/>
                <a:cs typeface="+mn-ea"/>
              </a:rPr>
              <a:t>HTTP</a:t>
            </a:r>
            <a:r>
              <a:rPr lang="zh-CN" altLang="zh-CN" sz="2000" dirty="0">
                <a:solidFill>
                  <a:srgbClr val="595959"/>
                </a:solidFill>
                <a:latin typeface="微软雅黑" panose="020B0503020204020204" pitchFamily="34" charset="-122"/>
                <a:ea typeface="微软雅黑" panose="020B0503020204020204" pitchFamily="34" charset="-122"/>
                <a:cs typeface="+mn-ea"/>
              </a:rPr>
              <a:t>请求</a:t>
            </a:r>
            <a:r>
              <a:rPr lang="zh-CN" altLang="zh-CN" sz="2000">
                <a:solidFill>
                  <a:srgbClr val="595959"/>
                </a:solidFill>
                <a:latin typeface="微软雅黑" panose="020B0503020204020204" pitchFamily="34" charset="-122"/>
                <a:ea typeface="微软雅黑" panose="020B0503020204020204" pitchFamily="34" charset="-122"/>
                <a:cs typeface="+mn-ea"/>
              </a:rPr>
              <a:t>界面，</a:t>
            </a:r>
            <a:r>
              <a:rPr lang="zh-CN" altLang="en-US" sz="2000" dirty="0">
                <a:solidFill>
                  <a:srgbClr val="595959"/>
                </a:solidFill>
                <a:latin typeface="微软雅黑" panose="020B0503020204020204" pitchFamily="34" charset="-122"/>
                <a:ea typeface="微软雅黑" panose="020B0503020204020204" pitchFamily="34" charset="-122"/>
                <a:cs typeface="+mn-ea"/>
              </a:rPr>
              <a:t>然后</a:t>
            </a:r>
            <a:r>
              <a:rPr lang="zh-CN" altLang="zh-CN" sz="200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该界面配置</a:t>
            </a:r>
            <a:r>
              <a:rPr lang="en-US" altLang="zh-CN" sz="2000" dirty="0">
                <a:solidFill>
                  <a:srgbClr val="595959"/>
                </a:solidFill>
                <a:latin typeface="微软雅黑" panose="020B0503020204020204" pitchFamily="34" charset="-122"/>
                <a:ea typeface="微软雅黑" panose="020B0503020204020204" pitchFamily="34" charset="-122"/>
                <a:cs typeface="+mn-ea"/>
              </a:rPr>
              <a:t>HTTP</a:t>
            </a:r>
            <a:r>
              <a:rPr lang="zh-CN" altLang="zh-CN" sz="2000" dirty="0">
                <a:solidFill>
                  <a:srgbClr val="595959"/>
                </a:solidFill>
                <a:latin typeface="微软雅黑" panose="020B0503020204020204" pitchFamily="34" charset="-122"/>
                <a:ea typeface="微软雅黑" panose="020B0503020204020204" pitchFamily="34" charset="-122"/>
                <a:cs typeface="+mn-ea"/>
              </a:rPr>
              <a:t>请求</a:t>
            </a:r>
            <a:r>
              <a:rPr lang="zh-CN" altLang="zh-CN" sz="2000">
                <a:solidFill>
                  <a:srgbClr val="595959"/>
                </a:solidFill>
                <a:latin typeface="微软雅黑" panose="020B0503020204020204" pitchFamily="34" charset="-122"/>
                <a:ea typeface="微软雅黑" panose="020B0503020204020204" pitchFamily="34" charset="-122"/>
                <a:cs typeface="+mn-ea"/>
              </a:rPr>
              <a:t>的信息</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取样器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190137" y="1050691"/>
            <a:ext cx="4750267" cy="553998"/>
          </a:xfrm>
          <a:prstGeom prst="rect">
            <a:avLst/>
          </a:prstGeom>
          <a:noFill/>
        </p:spPr>
        <p:txBody>
          <a:bodyPr wrap="square">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请求的基本配置项</a:t>
            </a:r>
            <a:r>
              <a:rPr lang="zh-CN" altLang="en-US" sz="2000" dirty="0">
                <a:solidFill>
                  <a:srgbClr val="595959"/>
                </a:solidFill>
                <a:latin typeface="微软雅黑" panose="020B0503020204020204" pitchFamily="34" charset="-122"/>
                <a:ea typeface="微软雅黑" panose="020B0503020204020204" pitchFamily="34" charset="-122"/>
                <a:cs typeface="+mn-ea"/>
              </a:rPr>
              <a:t>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43690" y="1739795"/>
            <a:ext cx="9840985" cy="4247317"/>
          </a:xfrm>
          <a:prstGeom prst="rect">
            <a:avLst/>
          </a:prstGeom>
        </p:spPr>
        <p:txBody>
          <a:bodyPr wrap="square">
            <a:spAutoFit/>
          </a:bodyPr>
          <a:lstStyle/>
          <a:p>
            <a:pPr marL="285750" lvl="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名称：可以</a:t>
            </a:r>
            <a:r>
              <a:rPr lang="zh-CN" altLang="zh-CN" sz="2000">
                <a:solidFill>
                  <a:srgbClr val="1369B2"/>
                </a:solidFill>
                <a:latin typeface="微软雅黑" panose="020B0503020204020204" pitchFamily="34" charset="-122"/>
                <a:ea typeface="微软雅黑" panose="020B0503020204020204" pitchFamily="34" charset="-122"/>
              </a:rPr>
              <a:t>给</a:t>
            </a:r>
            <a:r>
              <a:rPr lang="en-US" altLang="zh-CN" sz="2000">
                <a:solidFill>
                  <a:srgbClr val="1369B2"/>
                </a:solidFill>
                <a:latin typeface="微软雅黑" panose="020B0503020204020204" pitchFamily="34" charset="-122"/>
                <a:ea typeface="微软雅黑" panose="020B0503020204020204" pitchFamily="34" charset="-122"/>
              </a:rPr>
              <a:t>HTTP</a:t>
            </a:r>
            <a:r>
              <a:rPr lang="zh-CN" altLang="zh-CN" sz="2000">
                <a:solidFill>
                  <a:srgbClr val="1369B2"/>
                </a:solidFill>
                <a:latin typeface="微软雅黑" panose="020B0503020204020204" pitchFamily="34" charset="-122"/>
                <a:ea typeface="微软雅黑" panose="020B0503020204020204" pitchFamily="34" charset="-122"/>
              </a:rPr>
              <a:t>请求命名</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协议：用于</a:t>
            </a:r>
            <a:r>
              <a:rPr lang="zh-CN" altLang="zh-CN" sz="2000">
                <a:solidFill>
                  <a:srgbClr val="1369B2"/>
                </a:solidFill>
                <a:latin typeface="微软雅黑" panose="020B0503020204020204" pitchFamily="34" charset="-122"/>
                <a:ea typeface="微软雅黑" panose="020B0503020204020204" pitchFamily="34" charset="-122"/>
              </a:rPr>
              <a:t>设置</a:t>
            </a:r>
            <a:r>
              <a:rPr lang="en-US" altLang="zh-CN" sz="2000">
                <a:solidFill>
                  <a:srgbClr val="1369B2"/>
                </a:solidFill>
                <a:latin typeface="微软雅黑" panose="020B0503020204020204" pitchFamily="34" charset="-122"/>
                <a:ea typeface="微软雅黑" panose="020B0503020204020204" pitchFamily="34" charset="-122"/>
              </a:rPr>
              <a:t>HTTP</a:t>
            </a:r>
            <a:r>
              <a:rPr lang="zh-CN" altLang="zh-CN" sz="2000">
                <a:solidFill>
                  <a:srgbClr val="1369B2"/>
                </a:solidFill>
                <a:latin typeface="微软雅黑" panose="020B0503020204020204" pitchFamily="34" charset="-122"/>
                <a:ea typeface="微软雅黑" panose="020B0503020204020204" pitchFamily="34" charset="-122"/>
              </a:rPr>
              <a:t>请求的协议</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HTTP</a:t>
            </a:r>
            <a:r>
              <a:rPr lang="zh-CN" altLang="zh-CN" sz="2000">
                <a:solidFill>
                  <a:srgbClr val="595959"/>
                </a:solidFill>
                <a:latin typeface="微软雅黑" panose="020B0503020204020204" pitchFamily="34" charset="-122"/>
                <a:ea typeface="微软雅黑" panose="020B0503020204020204" pitchFamily="34" charset="-122"/>
                <a:cs typeface="+mn-ea"/>
              </a:rPr>
              <a:t>请求有两种协议，</a:t>
            </a:r>
            <a:r>
              <a:rPr lang="en-US" altLang="zh-CN" sz="2000">
                <a:solidFill>
                  <a:srgbClr val="1369B2"/>
                </a:solidFill>
                <a:latin typeface="微软雅黑" panose="020B0503020204020204" pitchFamily="34" charset="-122"/>
                <a:ea typeface="微软雅黑" panose="020B0503020204020204" pitchFamily="34" charset="-122"/>
              </a:rPr>
              <a:t>HTTP</a:t>
            </a:r>
            <a:r>
              <a:rPr lang="zh-CN" altLang="zh-CN" sz="2000">
                <a:solidFill>
                  <a:srgbClr val="1369B2"/>
                </a:solidFill>
                <a:latin typeface="微软雅黑" panose="020B0503020204020204" pitchFamily="34" charset="-122"/>
                <a:ea typeface="微软雅黑" panose="020B0503020204020204" pitchFamily="34" charset="-122"/>
              </a:rPr>
              <a:t>协议</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en-US" altLang="zh-CN" sz="2000">
                <a:solidFill>
                  <a:srgbClr val="1369B2"/>
                </a:solidFill>
                <a:latin typeface="微软雅黑" panose="020B0503020204020204" pitchFamily="34" charset="-122"/>
                <a:ea typeface="微软雅黑" panose="020B0503020204020204" pitchFamily="34" charset="-122"/>
              </a:rPr>
              <a:t>HTTPS</a:t>
            </a:r>
            <a:r>
              <a:rPr lang="zh-CN" altLang="zh-CN" sz="2000">
                <a:solidFill>
                  <a:srgbClr val="1369B2"/>
                </a:solidFill>
                <a:latin typeface="微软雅黑" panose="020B0503020204020204" pitchFamily="34" charset="-122"/>
                <a:ea typeface="微软雅黑" panose="020B0503020204020204" pitchFamily="34" charset="-122"/>
              </a:rPr>
              <a:t>协议</a:t>
            </a:r>
            <a:r>
              <a:rPr lang="zh-CN" altLang="zh-CN" sz="2000">
                <a:solidFill>
                  <a:srgbClr val="595959"/>
                </a:solidFill>
                <a:latin typeface="微软雅黑" panose="020B0503020204020204" pitchFamily="34" charset="-122"/>
                <a:ea typeface="微软雅黑" panose="020B0503020204020204" pitchFamily="34" charset="-122"/>
                <a:cs typeface="+mn-ea"/>
              </a:rPr>
              <a:t>，用户可以根据实际测试场景设置协议。如果不设置协议，</a:t>
            </a:r>
            <a:r>
              <a:rPr lang="en-US" altLang="zh-CN" sz="2000">
                <a:solidFill>
                  <a:srgbClr val="1369B2"/>
                </a:solidFill>
                <a:latin typeface="微软雅黑" panose="020B0503020204020204" pitchFamily="34" charset="-122"/>
                <a:ea typeface="微软雅黑" panose="020B0503020204020204" pitchFamily="34" charset="-122"/>
              </a:rPr>
              <a:t>JMeter</a:t>
            </a:r>
            <a:r>
              <a:rPr lang="zh-CN" altLang="zh-CN" sz="2000">
                <a:solidFill>
                  <a:srgbClr val="1369B2"/>
                </a:solidFill>
                <a:latin typeface="微软雅黑" panose="020B0503020204020204" pitchFamily="34" charset="-122"/>
                <a:ea typeface="微软雅黑" panose="020B0503020204020204" pitchFamily="34" charset="-122"/>
              </a:rPr>
              <a:t>默认使用</a:t>
            </a:r>
            <a:r>
              <a:rPr lang="en-US" altLang="zh-CN" sz="2000">
                <a:solidFill>
                  <a:srgbClr val="1369B2"/>
                </a:solidFill>
                <a:latin typeface="微软雅黑" panose="020B0503020204020204" pitchFamily="34" charset="-122"/>
                <a:ea typeface="微软雅黑" panose="020B0503020204020204" pitchFamily="34" charset="-122"/>
              </a:rPr>
              <a:t>HTTP</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服务器名称或</a:t>
            </a:r>
            <a:r>
              <a:rPr lang="en-US" altLang="zh-CN" sz="2000">
                <a:solidFill>
                  <a:srgbClr val="595959"/>
                </a:solidFill>
                <a:latin typeface="微软雅黑" panose="020B0503020204020204" pitchFamily="34" charset="-122"/>
                <a:ea typeface="微软雅黑" panose="020B0503020204020204" pitchFamily="34" charset="-122"/>
                <a:cs typeface="+mn-ea"/>
              </a:rPr>
              <a:t>IP</a:t>
            </a:r>
            <a:r>
              <a:rPr lang="zh-CN" altLang="zh-CN" sz="2000">
                <a:solidFill>
                  <a:srgbClr val="595959"/>
                </a:solidFill>
                <a:latin typeface="微软雅黑" panose="020B0503020204020204" pitchFamily="34" charset="-122"/>
                <a:ea typeface="微软雅黑" panose="020B0503020204020204" pitchFamily="34" charset="-122"/>
                <a:cs typeface="+mn-ea"/>
              </a:rPr>
              <a:t>：用于</a:t>
            </a:r>
            <a:r>
              <a:rPr lang="zh-CN" altLang="zh-CN" sz="2000">
                <a:solidFill>
                  <a:srgbClr val="1369B2"/>
                </a:solidFill>
                <a:latin typeface="微软雅黑" panose="020B0503020204020204" pitchFamily="34" charset="-122"/>
                <a:ea typeface="微软雅黑" panose="020B0503020204020204" pitchFamily="34" charset="-122"/>
              </a:rPr>
              <a:t>设置请求地址</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en-US" altLang="zh-CN" sz="2000">
                <a:solidFill>
                  <a:srgbClr val="595959"/>
                </a:solidFill>
                <a:latin typeface="微软雅黑" panose="020B0503020204020204" pitchFamily="34" charset="-122"/>
                <a:ea typeface="微软雅黑" panose="020B0503020204020204" pitchFamily="34" charset="-122"/>
                <a:cs typeface="+mn-ea"/>
              </a:rPr>
              <a:t>www.baidu.com</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端口号：用于</a:t>
            </a:r>
            <a:r>
              <a:rPr lang="zh-CN" altLang="zh-CN" sz="2000">
                <a:solidFill>
                  <a:srgbClr val="1369B2"/>
                </a:solidFill>
                <a:latin typeface="微软雅黑" panose="020B0503020204020204" pitchFamily="34" charset="-122"/>
                <a:ea typeface="微软雅黑" panose="020B0503020204020204" pitchFamily="34" charset="-122"/>
              </a:rPr>
              <a:t>设置请求的端口号</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HTTP</a:t>
            </a:r>
            <a:r>
              <a:rPr lang="zh-CN" altLang="zh-CN" sz="2000">
                <a:solidFill>
                  <a:srgbClr val="595959"/>
                </a:solidFill>
                <a:latin typeface="微软雅黑" panose="020B0503020204020204" pitchFamily="34" charset="-122"/>
                <a:ea typeface="微软雅黑" panose="020B0503020204020204" pitchFamily="34" charset="-122"/>
                <a:cs typeface="+mn-ea"/>
              </a:rPr>
              <a:t>的默认端口号为</a:t>
            </a:r>
            <a:r>
              <a:rPr lang="en-US" altLang="zh-CN" sz="2000">
                <a:solidFill>
                  <a:srgbClr val="1369B2"/>
                </a:solidFill>
                <a:latin typeface="微软雅黑" panose="020B0503020204020204" pitchFamily="34" charset="-122"/>
                <a:ea typeface="微软雅黑" panose="020B0503020204020204" pitchFamily="34" charset="-122"/>
              </a:rPr>
              <a:t>80</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HTTPS</a:t>
            </a:r>
            <a:r>
              <a:rPr lang="zh-CN" altLang="zh-CN" sz="2000">
                <a:solidFill>
                  <a:srgbClr val="595959"/>
                </a:solidFill>
                <a:latin typeface="微软雅黑" panose="020B0503020204020204" pitchFamily="34" charset="-122"/>
                <a:ea typeface="微软雅黑" panose="020B0503020204020204" pitchFamily="34" charset="-122"/>
                <a:cs typeface="+mn-ea"/>
              </a:rPr>
              <a:t>的默认端口号为</a:t>
            </a:r>
            <a:r>
              <a:rPr lang="en-US" altLang="zh-CN" sz="2000">
                <a:solidFill>
                  <a:srgbClr val="1369B2"/>
                </a:solidFill>
                <a:latin typeface="微软雅黑" panose="020B0503020204020204" pitchFamily="34" charset="-122"/>
                <a:ea typeface="微软雅黑" panose="020B0503020204020204" pitchFamily="34" charset="-122"/>
              </a:rPr>
              <a:t>443</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HTTP</a:t>
            </a:r>
            <a:r>
              <a:rPr lang="zh-CN" altLang="zh-CN" sz="2000">
                <a:solidFill>
                  <a:srgbClr val="595959"/>
                </a:solidFill>
                <a:latin typeface="微软雅黑" panose="020B0503020204020204" pitchFamily="34" charset="-122"/>
                <a:ea typeface="微软雅黑" panose="020B0503020204020204" pitchFamily="34" charset="-122"/>
                <a:cs typeface="+mn-ea"/>
              </a:rPr>
              <a:t>请求方式：在</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协议</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下方有一个“</a:t>
            </a:r>
            <a:r>
              <a:rPr lang="en-US" altLang="zh-CN" sz="2000">
                <a:solidFill>
                  <a:srgbClr val="595959"/>
                </a:solidFill>
                <a:latin typeface="微软雅黑" panose="020B0503020204020204" pitchFamily="34" charset="-122"/>
                <a:ea typeface="微软雅黑" panose="020B0503020204020204" pitchFamily="34" charset="-122"/>
                <a:cs typeface="+mn-ea"/>
              </a:rPr>
              <a:t>GET”</a:t>
            </a:r>
            <a:r>
              <a:rPr lang="zh-CN" altLang="zh-CN" sz="2000">
                <a:solidFill>
                  <a:srgbClr val="595959"/>
                </a:solidFill>
                <a:latin typeface="微软雅黑" panose="020B0503020204020204" pitchFamily="34" charset="-122"/>
                <a:ea typeface="微软雅黑" panose="020B0503020204020204" pitchFamily="34" charset="-122"/>
                <a:cs typeface="+mn-ea"/>
              </a:rPr>
              <a:t>字样的配置项，该配置项用于</a:t>
            </a:r>
            <a:r>
              <a:rPr lang="zh-CN" altLang="zh-CN" sz="2000">
                <a:solidFill>
                  <a:srgbClr val="1369B2"/>
                </a:solidFill>
                <a:latin typeface="微软雅黑" panose="020B0503020204020204" pitchFamily="34" charset="-122"/>
                <a:ea typeface="微软雅黑" panose="020B0503020204020204" pitchFamily="34" charset="-122"/>
              </a:rPr>
              <a:t>设置</a:t>
            </a:r>
            <a:r>
              <a:rPr lang="en-US" altLang="zh-CN" sz="2000">
                <a:solidFill>
                  <a:srgbClr val="1369B2"/>
                </a:solidFill>
                <a:latin typeface="微软雅黑" panose="020B0503020204020204" pitchFamily="34" charset="-122"/>
                <a:ea typeface="微软雅黑" panose="020B0503020204020204" pitchFamily="34" charset="-122"/>
              </a:rPr>
              <a:t>HTTP</a:t>
            </a:r>
            <a:r>
              <a:rPr lang="zh-CN" altLang="zh-CN" sz="2000">
                <a:solidFill>
                  <a:srgbClr val="1369B2"/>
                </a:solidFill>
                <a:latin typeface="微软雅黑" panose="020B0503020204020204" pitchFamily="34" charset="-122"/>
                <a:ea typeface="微软雅黑" panose="020B0503020204020204" pitchFamily="34" charset="-122"/>
              </a:rPr>
              <a:t>请求方式</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HTTP</a:t>
            </a:r>
            <a:r>
              <a:rPr lang="zh-CN" altLang="zh-CN" sz="2000">
                <a:solidFill>
                  <a:srgbClr val="595959"/>
                </a:solidFill>
                <a:latin typeface="微软雅黑" panose="020B0503020204020204" pitchFamily="34" charset="-122"/>
                <a:ea typeface="微软雅黑" panose="020B0503020204020204" pitchFamily="34" charset="-122"/>
                <a:cs typeface="+mn-ea"/>
              </a:rPr>
              <a:t>请求方式主要有</a:t>
            </a:r>
            <a:r>
              <a:rPr lang="en-US" altLang="zh-CN" sz="2000">
                <a:solidFill>
                  <a:srgbClr val="1369B2"/>
                </a:solidFill>
                <a:latin typeface="微软雅黑" panose="020B0503020204020204" pitchFamily="34" charset="-122"/>
                <a:ea typeface="微软雅黑" panose="020B0503020204020204" pitchFamily="34" charset="-122"/>
              </a:rPr>
              <a:t>GET</a:t>
            </a:r>
            <a:r>
              <a:rPr lang="zh-CN" altLang="zh-CN" sz="2000">
                <a:solidFill>
                  <a:srgbClr val="1369B2"/>
                </a:solidFill>
                <a:latin typeface="微软雅黑" panose="020B0503020204020204" pitchFamily="34" charset="-122"/>
                <a:ea typeface="微软雅黑" panose="020B0503020204020204" pitchFamily="34" charset="-122"/>
              </a:rPr>
              <a:t>（查找）</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POST</a:t>
            </a:r>
            <a:r>
              <a:rPr lang="zh-CN" altLang="zh-CN" sz="2000">
                <a:solidFill>
                  <a:srgbClr val="1369B2"/>
                </a:solidFill>
                <a:latin typeface="微软雅黑" panose="020B0503020204020204" pitchFamily="34" charset="-122"/>
                <a:ea typeface="微软雅黑" panose="020B0503020204020204" pitchFamily="34" charset="-122"/>
              </a:rPr>
              <a:t>（提交）</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PUT</a:t>
            </a:r>
            <a:r>
              <a:rPr lang="zh-CN" altLang="zh-CN" sz="2000">
                <a:solidFill>
                  <a:srgbClr val="1369B2"/>
                </a:solidFill>
                <a:latin typeface="微软雅黑" panose="020B0503020204020204" pitchFamily="34" charset="-122"/>
                <a:ea typeface="微软雅黑" panose="020B0503020204020204" pitchFamily="34" charset="-122"/>
              </a:rPr>
              <a:t>（更新）</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DELETE</a:t>
            </a:r>
            <a:r>
              <a:rPr lang="zh-CN" altLang="zh-CN" sz="2000">
                <a:solidFill>
                  <a:srgbClr val="1369B2"/>
                </a:solidFill>
                <a:latin typeface="微软雅黑" panose="020B0503020204020204" pitchFamily="34" charset="-122"/>
                <a:ea typeface="微软雅黑" panose="020B0503020204020204" pitchFamily="34" charset="-122"/>
              </a:rPr>
              <a:t>（删除）</a:t>
            </a:r>
            <a:r>
              <a:rPr lang="zh-CN" altLang="zh-CN" sz="2000">
                <a:solidFill>
                  <a:srgbClr val="595959"/>
                </a:solidFill>
                <a:latin typeface="微软雅黑" panose="020B0503020204020204" pitchFamily="34" charset="-122"/>
                <a:ea typeface="微软雅黑" panose="020B0503020204020204" pitchFamily="34" charset="-122"/>
                <a:cs typeface="+mn-ea"/>
              </a:rPr>
              <a:t>，用户可以根据实际测试场景选择合适的请求方式。</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取样器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1321819" y="1427962"/>
            <a:ext cx="10066616" cy="4247317"/>
          </a:xfrm>
          <a:prstGeom prst="rect">
            <a:avLst/>
          </a:prstGeom>
        </p:spPr>
        <p:txBody>
          <a:bodyPr wrap="square">
            <a:spAutoFit/>
          </a:bodyPr>
          <a:lstStyle/>
          <a:p>
            <a:pPr marL="285750" lvl="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路径：用于</a:t>
            </a:r>
            <a:r>
              <a:rPr lang="zh-CN" altLang="zh-CN" sz="2000" dirty="0">
                <a:solidFill>
                  <a:srgbClr val="1369B2"/>
                </a:solidFill>
                <a:latin typeface="微软雅黑" panose="020B0503020204020204" pitchFamily="34" charset="-122"/>
                <a:ea typeface="微软雅黑" panose="020B0503020204020204" pitchFamily="34" charset="-122"/>
              </a:rPr>
              <a:t>设置请求的接口地址</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marL="28575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内容编码：一般设置为</a:t>
            </a:r>
            <a:r>
              <a:rPr lang="en-US" altLang="zh-CN" sz="2000" dirty="0">
                <a:solidFill>
                  <a:srgbClr val="1369B2"/>
                </a:solidFill>
                <a:latin typeface="微软雅黑" panose="020B0503020204020204" pitchFamily="34" charset="-122"/>
                <a:ea typeface="微软雅黑" panose="020B0503020204020204" pitchFamily="34" charset="-122"/>
              </a:rPr>
              <a:t>UTF-8</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28575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参数：用于</a:t>
            </a:r>
            <a:r>
              <a:rPr lang="zh-CN" altLang="zh-CN" sz="2000" dirty="0">
                <a:solidFill>
                  <a:srgbClr val="1369B2"/>
                </a:solidFill>
                <a:latin typeface="微软雅黑" panose="020B0503020204020204" pitchFamily="34" charset="-122"/>
                <a:ea typeface="微软雅黑" panose="020B0503020204020204" pitchFamily="34" charset="-122"/>
              </a:rPr>
              <a:t>设置请求参数</a:t>
            </a:r>
            <a:r>
              <a:rPr lang="zh-CN" altLang="zh-CN" sz="2000" dirty="0">
                <a:solidFill>
                  <a:srgbClr val="595959"/>
                </a:solidFill>
                <a:latin typeface="微软雅黑" panose="020B0503020204020204" pitchFamily="34" charset="-122"/>
                <a:ea typeface="微软雅黑" panose="020B0503020204020204" pitchFamily="34" charset="-122"/>
                <a:cs typeface="+mn-ea"/>
              </a:rPr>
              <a:t>。当请求地址中需要携带参数时，可以单击下方的</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按钮添加一个键值对输入栏，输入相应的键和值（参数）。</a:t>
            </a:r>
          </a:p>
          <a:p>
            <a:pPr marL="28575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消息体数据：也用于</a:t>
            </a:r>
            <a:r>
              <a:rPr lang="zh-CN" altLang="zh-CN" sz="2000" dirty="0">
                <a:solidFill>
                  <a:srgbClr val="1369B2"/>
                </a:solidFill>
                <a:latin typeface="微软雅黑" panose="020B0503020204020204" pitchFamily="34" charset="-122"/>
                <a:ea typeface="微软雅黑" panose="020B0503020204020204" pitchFamily="34" charset="-122"/>
              </a:rPr>
              <a:t>设置请求参数</a:t>
            </a:r>
            <a:r>
              <a:rPr lang="zh-CN" altLang="zh-CN" sz="2000" dirty="0">
                <a:solidFill>
                  <a:srgbClr val="595959"/>
                </a:solidFill>
                <a:latin typeface="微软雅黑" panose="020B0503020204020204" pitchFamily="34" charset="-122"/>
                <a:ea typeface="微软雅黑" panose="020B0503020204020204" pitchFamily="34" charset="-122"/>
                <a:cs typeface="+mn-ea"/>
              </a:rPr>
              <a:t>。当在请求体中传递参数时，可以将请求中的参数以</a:t>
            </a: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格式</a:t>
            </a:r>
            <a:r>
              <a:rPr lang="zh-CN" altLang="zh-CN" sz="2000">
                <a:solidFill>
                  <a:srgbClr val="595959"/>
                </a:solidFill>
                <a:latin typeface="微软雅黑" panose="020B0503020204020204" pitchFamily="34" charset="-122"/>
                <a:ea typeface="微软雅黑" panose="020B0503020204020204" pitchFamily="34" charset="-122"/>
                <a:cs typeface="+mn-ea"/>
              </a:rPr>
              <a:t>写在</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消息体数据</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下方</a:t>
            </a:r>
            <a:r>
              <a:rPr lang="zh-CN" altLang="zh-CN" sz="2000" dirty="0">
                <a:solidFill>
                  <a:srgbClr val="595959"/>
                </a:solidFill>
                <a:latin typeface="微软雅黑" panose="020B0503020204020204" pitchFamily="34" charset="-122"/>
                <a:ea typeface="微软雅黑" panose="020B0503020204020204" pitchFamily="34" charset="-122"/>
                <a:cs typeface="+mn-ea"/>
              </a:rPr>
              <a:t>的空白处。</a:t>
            </a:r>
          </a:p>
          <a:p>
            <a:pPr marL="28575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文件上传：可以</a:t>
            </a:r>
            <a:r>
              <a:rPr lang="zh-CN" altLang="zh-CN" sz="2000" dirty="0">
                <a:solidFill>
                  <a:srgbClr val="1369B2"/>
                </a:solidFill>
                <a:latin typeface="微软雅黑" panose="020B0503020204020204" pitchFamily="34" charset="-122"/>
                <a:ea typeface="微软雅黑" panose="020B0503020204020204" pitchFamily="34" charset="-122"/>
              </a:rPr>
              <a:t>将请求中携带的参数以文件的形式进行传递</a:t>
            </a:r>
            <a:r>
              <a:rPr lang="zh-CN" altLang="zh-CN" sz="2000" dirty="0">
                <a:solidFill>
                  <a:srgbClr val="595959"/>
                </a:solidFill>
                <a:latin typeface="微软雅黑" panose="020B0503020204020204" pitchFamily="34" charset="-122"/>
                <a:ea typeface="微软雅黑" panose="020B0503020204020204" pitchFamily="34" charset="-122"/>
                <a:cs typeface="+mn-ea"/>
              </a:rPr>
              <a:t>。以文件上传形式传递参数时，可以单击下方的</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按钮添加一个键值对输入栏，输入文件名称和要传递的参数。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取样器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0" y="993798"/>
            <a:ext cx="10292248"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下面通过两个小案例演示</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请求的配置</a:t>
            </a:r>
            <a:r>
              <a:rPr lang="zh-CN" altLang="zh-CN" sz="2000" dirty="0">
                <a:solidFill>
                  <a:srgbClr val="595959"/>
                </a:solidFill>
                <a:latin typeface="微软雅黑" panose="020B0503020204020204" pitchFamily="34" charset="-122"/>
                <a:ea typeface="微软雅黑" panose="020B0503020204020204" pitchFamily="34" charset="-122"/>
                <a:cs typeface="+mn-ea"/>
              </a:rPr>
              <a:t>。第</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个案例要求</a:t>
            </a:r>
            <a:r>
              <a:rPr lang="zh-CN" altLang="zh-CN" sz="2000" dirty="0">
                <a:solidFill>
                  <a:srgbClr val="1369B2"/>
                </a:solidFill>
                <a:latin typeface="微软雅黑" panose="020B0503020204020204" pitchFamily="34" charset="-122"/>
                <a:ea typeface="微软雅黑" panose="020B0503020204020204" pitchFamily="34" charset="-122"/>
              </a:rPr>
              <a:t>使用</a:t>
            </a:r>
            <a:r>
              <a:rPr lang="en-US" altLang="zh-CN" sz="2000" dirty="0" err="1">
                <a:solidFill>
                  <a:srgbClr val="1369B2"/>
                </a:solidFill>
                <a:latin typeface="微软雅黑" panose="020B0503020204020204" pitchFamily="34" charset="-122"/>
                <a:ea typeface="微软雅黑" panose="020B0503020204020204" pitchFamily="34" charset="-122"/>
              </a:rPr>
              <a:t>JMeter</a:t>
            </a:r>
            <a:r>
              <a:rPr lang="zh-CN" altLang="zh-CN" sz="2000" dirty="0">
                <a:solidFill>
                  <a:srgbClr val="1369B2"/>
                </a:solidFill>
                <a:latin typeface="微软雅黑" panose="020B0503020204020204" pitchFamily="34" charset="-122"/>
                <a:ea typeface="微软雅黑" panose="020B0503020204020204" pitchFamily="34" charset="-122"/>
              </a:rPr>
              <a:t>发送一个</a:t>
            </a:r>
            <a:r>
              <a:rPr lang="en-US" altLang="zh-CN" sz="2000" dirty="0">
                <a:solidFill>
                  <a:srgbClr val="1369B2"/>
                </a:solidFill>
                <a:latin typeface="微软雅黑" panose="020B0503020204020204" pitchFamily="34" charset="-122"/>
                <a:ea typeface="微软雅黑" panose="020B0503020204020204" pitchFamily="34" charset="-122"/>
              </a:rPr>
              <a:t>GET</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，请求地址为</a:t>
            </a:r>
            <a:r>
              <a:rPr lang="en-US" altLang="zh-CN" sz="2000" dirty="0">
                <a:solidFill>
                  <a:srgbClr val="1369B2"/>
                </a:solidFill>
                <a:latin typeface="微软雅黑" panose="020B0503020204020204" pitchFamily="34" charset="-122"/>
                <a:ea typeface="微软雅黑" panose="020B0503020204020204" pitchFamily="34" charset="-122"/>
              </a:rPr>
              <a:t>http://www.baidu.com/S?wd=test</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要求分别使用</a:t>
            </a:r>
            <a:r>
              <a:rPr lang="zh-CN" altLang="zh-CN" sz="2000" dirty="0">
                <a:solidFill>
                  <a:srgbClr val="1369B2"/>
                </a:solidFill>
                <a:latin typeface="微软雅黑" panose="020B0503020204020204" pitchFamily="34" charset="-122"/>
                <a:ea typeface="微软雅黑" panose="020B0503020204020204" pitchFamily="34" charset="-122"/>
              </a:rPr>
              <a:t>路径</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rPr>
              <a:t>参数列表</a:t>
            </a:r>
            <a:r>
              <a:rPr lang="zh-CN" altLang="zh-CN" sz="2000" dirty="0">
                <a:solidFill>
                  <a:srgbClr val="595959"/>
                </a:solidFill>
                <a:latin typeface="微软雅黑" panose="020B0503020204020204" pitchFamily="34" charset="-122"/>
                <a:ea typeface="微软雅黑" panose="020B0503020204020204" pitchFamily="34" charset="-122"/>
                <a:cs typeface="+mn-ea"/>
              </a:rPr>
              <a:t>这两种方式传递</a:t>
            </a:r>
            <a:r>
              <a:rPr lang="en-US" altLang="zh-CN" sz="2000" dirty="0">
                <a:solidFill>
                  <a:srgbClr val="595959"/>
                </a:solidFill>
                <a:latin typeface="微软雅黑" panose="020B0503020204020204" pitchFamily="34" charset="-122"/>
                <a:ea typeface="微软雅黑" panose="020B0503020204020204" pitchFamily="34" charset="-122"/>
                <a:cs typeface="+mn-ea"/>
              </a:rPr>
              <a:t>GET</a:t>
            </a:r>
            <a:r>
              <a:rPr lang="zh-CN" altLang="zh-CN" sz="2000">
                <a:solidFill>
                  <a:srgbClr val="595959"/>
                </a:solidFill>
                <a:latin typeface="微软雅黑" panose="020B0503020204020204" pitchFamily="34" charset="-122"/>
                <a:ea typeface="微软雅黑" panose="020B0503020204020204" pitchFamily="34" charset="-122"/>
                <a:cs typeface="+mn-ea"/>
              </a:rPr>
              <a:t>请求参数</a:t>
            </a:r>
            <a:r>
              <a:rPr lang="zh-CN" altLang="en-US" sz="2000">
                <a:solidFill>
                  <a:srgbClr val="595959"/>
                </a:solidFill>
                <a:latin typeface="微软雅黑" panose="020B0503020204020204" pitchFamily="34" charset="-122"/>
                <a:ea typeface="微软雅黑" panose="020B0503020204020204" pitchFamily="34" charset="-122"/>
                <a:cs typeface="+mn-ea"/>
              </a:rPr>
              <a:t>，如下</a:t>
            </a:r>
            <a:r>
              <a:rPr lang="zh-CN" altLang="en-US" sz="2000" dirty="0">
                <a:solidFill>
                  <a:srgbClr val="595959"/>
                </a:solidFill>
                <a:latin typeface="微软雅黑" panose="020B0503020204020204" pitchFamily="34" charset="-122"/>
                <a:ea typeface="微软雅黑" panose="020B0503020204020204" pitchFamily="34" charset="-122"/>
                <a:cs typeface="+mn-ea"/>
              </a:rPr>
              <a:t>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695" y="2765175"/>
            <a:ext cx="4722721" cy="3093792"/>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89814" y="2765175"/>
            <a:ext cx="5282427" cy="298248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1" name="图片 10"/>
          <p:cNvPicPr>
            <a:picLocks noChangeAspect="1"/>
          </p:cNvPicPr>
          <p:nvPr/>
        </p:nvPicPr>
        <p:blipFill>
          <a:blip r:embed="rId3"/>
          <a:stretch>
            <a:fillRect/>
          </a:stretch>
        </p:blipFill>
        <p:spPr>
          <a:xfrm>
            <a:off x="1011196" y="1629594"/>
            <a:ext cx="3715858" cy="4006159"/>
          </a:xfrm>
          <a:prstGeom prst="rect">
            <a:avLst/>
          </a:prstGeom>
        </p:spPr>
      </p:pic>
      <p:sp>
        <p:nvSpPr>
          <p:cNvPr id="14" name="文本框 7"/>
          <p:cNvSpPr txBox="1"/>
          <p:nvPr/>
        </p:nvSpPr>
        <p:spPr>
          <a:xfrm>
            <a:off x="5297791" y="2113825"/>
            <a:ext cx="6017909" cy="3323987"/>
          </a:xfrm>
          <a:prstGeom prst="rect">
            <a:avLst/>
          </a:prstGeom>
          <a:noFill/>
        </p:spPr>
        <p:txBody>
          <a:bodyPr wrap="square">
            <a:spAutoFit/>
          </a:bodyPr>
          <a:lstStyle/>
          <a:p>
            <a:pPr>
              <a:lnSpc>
                <a:spcPct val="150000"/>
              </a:lnSpc>
            </a:pPr>
            <a:r>
              <a:rPr lang="en-US" altLang="zh-CN" sz="2000">
                <a:solidFill>
                  <a:srgbClr val="1369B2"/>
                </a:solidFill>
                <a:latin typeface="微软雅黑" panose="020B0503020204020204" pitchFamily="34" charset="-122"/>
                <a:ea typeface="微软雅黑" panose="020B0503020204020204" pitchFamily="34" charset="-122"/>
              </a:rPr>
              <a:t>监听器主要用于监听JMeter的测试结果</a:t>
            </a:r>
            <a:r>
              <a:rPr lang="en-US" altLang="zh-CN" sz="2000">
                <a:solidFill>
                  <a:srgbClr val="595959"/>
                </a:solidFill>
                <a:latin typeface="微软雅黑" panose="020B0503020204020204" pitchFamily="34" charset="-122"/>
                <a:ea typeface="微软雅黑" panose="020B0503020204020204" pitchFamily="34" charset="-122"/>
                <a:cs typeface="+mn-ea"/>
              </a:rPr>
              <a:t>，监听器可以将测试结果以</a:t>
            </a:r>
            <a:r>
              <a:rPr lang="en-US" altLang="zh-CN" sz="2000">
                <a:solidFill>
                  <a:srgbClr val="1369B2"/>
                </a:solidFill>
                <a:latin typeface="微软雅黑" panose="020B0503020204020204" pitchFamily="34" charset="-122"/>
                <a:ea typeface="微软雅黑" panose="020B0503020204020204" pitchFamily="34" charset="-122"/>
              </a:rPr>
              <a:t>表格</a:t>
            </a:r>
            <a:r>
              <a:rPr lang="en-US" altLang="zh-CN" sz="2000">
                <a:solidFill>
                  <a:srgbClr val="595959"/>
                </a:solidFill>
                <a:latin typeface="微软雅黑" panose="020B0503020204020204" pitchFamily="34" charset="-122"/>
                <a:ea typeface="微软雅黑" panose="020B0503020204020204" pitchFamily="34" charset="-122"/>
                <a:cs typeface="+mn-ea"/>
              </a:rPr>
              <a:t>或</a:t>
            </a:r>
            <a:r>
              <a:rPr lang="en-US" altLang="zh-CN" sz="2000">
                <a:solidFill>
                  <a:srgbClr val="1369B2"/>
                </a:solidFill>
                <a:latin typeface="微软雅黑" panose="020B0503020204020204" pitchFamily="34" charset="-122"/>
                <a:ea typeface="微软雅黑" panose="020B0503020204020204" pitchFamily="34" charset="-122"/>
              </a:rPr>
              <a:t>图形</a:t>
            </a:r>
            <a:r>
              <a:rPr lang="en-US" altLang="zh-CN" sz="2000">
                <a:solidFill>
                  <a:srgbClr val="595959"/>
                </a:solidFill>
                <a:latin typeface="微软雅黑" panose="020B0503020204020204" pitchFamily="34" charset="-122"/>
                <a:ea typeface="微软雅黑" panose="020B0503020204020204" pitchFamily="34" charset="-122"/>
                <a:cs typeface="+mn-ea"/>
              </a:rPr>
              <a:t>的形式展现给用户，也可以将测试结果保存到文件中，供用户再次分析时使用。监听器可以</a:t>
            </a:r>
            <a:r>
              <a:rPr lang="en-US" altLang="zh-CN" sz="2000">
                <a:solidFill>
                  <a:srgbClr val="1369B2"/>
                </a:solidFill>
                <a:latin typeface="微软雅黑" panose="020B0503020204020204" pitchFamily="34" charset="-122"/>
                <a:ea typeface="微软雅黑" panose="020B0503020204020204" pitchFamily="34" charset="-122"/>
              </a:rPr>
              <a:t>在测试计划的任何位置添加</a:t>
            </a:r>
            <a:r>
              <a:rPr lang="en-US" altLang="zh-CN" sz="2000">
                <a:solidFill>
                  <a:srgbClr val="595959"/>
                </a:solidFill>
                <a:latin typeface="微软雅黑" panose="020B0503020204020204" pitchFamily="34" charset="-122"/>
                <a:ea typeface="微软雅黑" panose="020B0503020204020204" pitchFamily="34" charset="-122"/>
                <a:cs typeface="+mn-ea"/>
              </a:rPr>
              <a:t>，包括直接在</a:t>
            </a:r>
            <a:r>
              <a:rPr lang="en-US" altLang="zh-CN" sz="2000">
                <a:solidFill>
                  <a:srgbClr val="1369B2"/>
                </a:solidFill>
                <a:latin typeface="微软雅黑" panose="020B0503020204020204" pitchFamily="34" charset="-122"/>
                <a:ea typeface="微软雅黑" panose="020B0503020204020204" pitchFamily="34" charset="-122"/>
              </a:rPr>
              <a:t>测试计划</a:t>
            </a:r>
            <a:r>
              <a:rPr lang="en-US" altLang="zh-CN" sz="2000">
                <a:solidFill>
                  <a:srgbClr val="595959"/>
                </a:solidFill>
                <a:latin typeface="微软雅黑" panose="020B0503020204020204" pitchFamily="34" charset="-122"/>
                <a:ea typeface="微软雅黑" panose="020B0503020204020204" pitchFamily="34" charset="-122"/>
                <a:cs typeface="+mn-ea"/>
              </a:rPr>
              <a:t>下面添加或在</a:t>
            </a:r>
            <a:r>
              <a:rPr lang="en-US" altLang="zh-CN" sz="2000">
                <a:solidFill>
                  <a:srgbClr val="1369B2"/>
                </a:solidFill>
                <a:latin typeface="微软雅黑" panose="020B0503020204020204" pitchFamily="34" charset="-122"/>
                <a:ea typeface="微软雅黑" panose="020B0503020204020204" pitchFamily="34" charset="-122"/>
              </a:rPr>
              <a:t>线程组</a:t>
            </a:r>
            <a:r>
              <a:rPr lang="en-US" altLang="zh-CN" sz="2000">
                <a:solidFill>
                  <a:srgbClr val="595959"/>
                </a:solidFill>
                <a:latin typeface="微软雅黑" panose="020B0503020204020204" pitchFamily="34" charset="-122"/>
                <a:ea typeface="微软雅黑" panose="020B0503020204020204" pitchFamily="34" charset="-122"/>
                <a:cs typeface="+mn-ea"/>
              </a:rPr>
              <a:t>下面添加。监听器只能</a:t>
            </a:r>
            <a:r>
              <a:rPr lang="en-US" altLang="zh-CN" sz="2000">
                <a:solidFill>
                  <a:srgbClr val="1369B2"/>
                </a:solidFill>
                <a:latin typeface="微软雅黑" panose="020B0503020204020204" pitchFamily="34" charset="-122"/>
                <a:ea typeface="微软雅黑" panose="020B0503020204020204" pitchFamily="34" charset="-122"/>
              </a:rPr>
              <a:t>监听</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收集同层级</a:t>
            </a:r>
            <a:r>
              <a:rPr lang="en-US" altLang="zh-CN" sz="2000">
                <a:solidFill>
                  <a:srgbClr val="595959"/>
                </a:solidFill>
                <a:latin typeface="微软雅黑" panose="020B0503020204020204" pitchFamily="34" charset="-122"/>
                <a:ea typeface="微软雅黑" panose="020B0503020204020204" pitchFamily="34" charset="-122"/>
                <a:cs typeface="+mn-ea"/>
              </a:rPr>
              <a:t>或</a:t>
            </a:r>
            <a:r>
              <a:rPr lang="en-US" altLang="zh-CN" sz="2000">
                <a:solidFill>
                  <a:srgbClr val="1369B2"/>
                </a:solidFill>
                <a:latin typeface="微软雅黑" panose="020B0503020204020204" pitchFamily="34" charset="-122"/>
                <a:ea typeface="微软雅黑" panose="020B0503020204020204" pitchFamily="34" charset="-122"/>
              </a:rPr>
              <a:t>下层级元件的数据</a:t>
            </a:r>
            <a:r>
              <a:rPr lang="en-US" altLang="zh-CN" sz="2000">
                <a:solidFill>
                  <a:srgbClr val="595959"/>
                </a:solidFill>
                <a:latin typeface="微软雅黑" panose="020B0503020204020204" pitchFamily="34" charset="-122"/>
                <a:ea typeface="微软雅黑" panose="020B0503020204020204" pitchFamily="34" charset="-122"/>
                <a:cs typeface="+mn-ea"/>
              </a:rPr>
              <a:t>，因此，在</a:t>
            </a:r>
            <a:r>
              <a:rPr lang="en-US" altLang="zh-CN" sz="2000">
                <a:solidFill>
                  <a:srgbClr val="1369B2"/>
                </a:solidFill>
                <a:latin typeface="微软雅黑" panose="020B0503020204020204" pitchFamily="34" charset="-122"/>
                <a:ea typeface="微软雅黑" panose="020B0503020204020204" pitchFamily="34" charset="-122"/>
              </a:rPr>
              <a:t>不同层级</a:t>
            </a:r>
            <a:r>
              <a:rPr lang="en-US" altLang="zh-CN" sz="2000">
                <a:solidFill>
                  <a:srgbClr val="595959"/>
                </a:solidFill>
                <a:latin typeface="微软雅黑" panose="020B0503020204020204" pitchFamily="34" charset="-122"/>
                <a:ea typeface="微软雅黑" panose="020B0503020204020204" pitchFamily="34" charset="-122"/>
                <a:cs typeface="+mn-ea"/>
              </a:rPr>
              <a:t>添加的监听器的</a:t>
            </a:r>
            <a:r>
              <a:rPr lang="en-US" altLang="zh-CN" sz="2000">
                <a:solidFill>
                  <a:srgbClr val="1369B2"/>
                </a:solidFill>
                <a:latin typeface="微软雅黑" panose="020B0503020204020204" pitchFamily="34" charset="-122"/>
                <a:ea typeface="微软雅黑" panose="020B0503020204020204" pitchFamily="34" charset="-122"/>
              </a:rPr>
              <a:t>监听范围不同</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343153" y="987403"/>
            <a:ext cx="9059631" cy="553998"/>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JMeter 常用的监听器为</a:t>
            </a:r>
            <a:r>
              <a:rPr lang="en-US" altLang="zh-CN" sz="2000">
                <a:solidFill>
                  <a:srgbClr val="1369B2"/>
                </a:solidFill>
                <a:latin typeface="微软雅黑" panose="020B0503020204020204" pitchFamily="34" charset="-122"/>
                <a:ea typeface="微软雅黑" panose="020B0503020204020204" pitchFamily="34" charset="-122"/>
              </a:rPr>
              <a:t>察看结果树</a:t>
            </a:r>
            <a:r>
              <a:rPr lang="en-US" altLang="zh-CN" sz="2000">
                <a:solidFill>
                  <a:srgbClr val="595959"/>
                </a:solidFill>
                <a:latin typeface="微软雅黑" panose="020B0503020204020204" pitchFamily="34" charset="-122"/>
                <a:ea typeface="微软雅黑" panose="020B0503020204020204" pitchFamily="34" charset="-122"/>
                <a:cs typeface="+mn-ea"/>
              </a:rPr>
              <a:t>和</a:t>
            </a:r>
            <a:r>
              <a:rPr lang="en-US" altLang="zh-CN" sz="2000">
                <a:solidFill>
                  <a:srgbClr val="1369B2"/>
                </a:solidFill>
                <a:latin typeface="微软雅黑" panose="020B0503020204020204" pitchFamily="34" charset="-122"/>
                <a:ea typeface="微软雅黑" panose="020B0503020204020204" pitchFamily="34" charset="-122"/>
              </a:rPr>
              <a:t>聚合报告</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18" name="原创设计师QQ598969553          _3"/>
          <p:cNvSpPr/>
          <p:nvPr/>
        </p:nvSpPr>
        <p:spPr>
          <a:xfrm>
            <a:off x="1151896" y="3455420"/>
            <a:ext cx="4590731" cy="1894019"/>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原创设计师QQ598969553          _4"/>
          <p:cNvSpPr/>
          <p:nvPr/>
        </p:nvSpPr>
        <p:spPr>
          <a:xfrm>
            <a:off x="1216528" y="3771331"/>
            <a:ext cx="4364876" cy="1372683"/>
          </a:xfrm>
          <a:prstGeom prst="rect">
            <a:avLst/>
          </a:prstGeom>
        </p:spPr>
        <p:txBody>
          <a:bodyPr wrap="square">
            <a:spAutoFit/>
          </a:bodyPr>
          <a:lstStyle/>
          <a:p>
            <a:pPr>
              <a:lnSpc>
                <a:spcPct val="130000"/>
              </a:lnSpc>
            </a:pPr>
            <a:r>
              <a:rPr lang="zh-CN" altLang="zh-CN" sz="1600" dirty="0">
                <a:solidFill>
                  <a:srgbClr val="595959"/>
                </a:solidFill>
                <a:latin typeface="微软雅黑" panose="020B0503020204020204" pitchFamily="34" charset="-122"/>
                <a:ea typeface="微软雅黑" panose="020B0503020204020204" pitchFamily="34" charset="-122"/>
                <a:cs typeface="+mn-ea"/>
              </a:rPr>
              <a:t>在</a:t>
            </a:r>
            <a:r>
              <a:rPr lang="en-US" altLang="zh-CN" sz="16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1600" dirty="0">
                <a:solidFill>
                  <a:srgbClr val="595959"/>
                </a:solidFill>
                <a:latin typeface="微软雅黑" panose="020B0503020204020204" pitchFamily="34" charset="-122"/>
                <a:ea typeface="微软雅黑" panose="020B0503020204020204" pitchFamily="34" charset="-122"/>
                <a:cs typeface="+mn-ea"/>
              </a:rPr>
              <a:t>主界面</a:t>
            </a:r>
            <a:r>
              <a:rPr lang="zh-CN" altLang="zh-CN" sz="1600" dirty="0">
                <a:solidFill>
                  <a:srgbClr val="1369B2"/>
                </a:solidFill>
                <a:latin typeface="微软雅黑" panose="020B0503020204020204" pitchFamily="34" charset="-122"/>
                <a:ea typeface="微软雅黑" panose="020B0503020204020204" pitchFamily="34" charset="-122"/>
              </a:rPr>
              <a:t>选中</a:t>
            </a:r>
            <a:r>
              <a:rPr lang="zh-CN" altLang="zh-CN" sz="1600">
                <a:solidFill>
                  <a:srgbClr val="1369B2"/>
                </a:solidFill>
                <a:latin typeface="微软雅黑" panose="020B0503020204020204" pitchFamily="34" charset="-122"/>
                <a:ea typeface="微软雅黑" panose="020B0503020204020204" pitchFamily="34" charset="-122"/>
              </a:rPr>
              <a:t>测试计划并</a:t>
            </a:r>
            <a:r>
              <a:rPr lang="zh-CN" altLang="en-US" sz="1600">
                <a:solidFill>
                  <a:srgbClr val="1369B2"/>
                </a:solidFill>
                <a:latin typeface="微软雅黑" panose="020B0503020204020204" pitchFamily="34" charset="-122"/>
                <a:ea typeface="微软雅黑" panose="020B0503020204020204" pitchFamily="34" charset="-122"/>
              </a:rPr>
              <a:t>右键单击</a:t>
            </a:r>
            <a:r>
              <a:rPr lang="zh-CN" altLang="zh-CN" sz="160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在弹</a:t>
            </a:r>
            <a:r>
              <a:rPr lang="zh-CN" altLang="zh-CN" sz="1600">
                <a:solidFill>
                  <a:srgbClr val="595959"/>
                </a:solidFill>
                <a:latin typeface="微软雅黑" panose="020B0503020204020204" pitchFamily="34" charset="-122"/>
                <a:ea typeface="微软雅黑" panose="020B0503020204020204" pitchFamily="34" charset="-122"/>
                <a:cs typeface="+mn-ea"/>
              </a:rPr>
              <a:t>出的</a:t>
            </a:r>
            <a:r>
              <a:rPr lang="zh-CN" altLang="en-US" sz="1600">
                <a:solidFill>
                  <a:srgbClr val="595959"/>
                </a:solidFill>
                <a:latin typeface="微软雅黑" panose="020B0503020204020204" pitchFamily="34" charset="-122"/>
                <a:ea typeface="微软雅黑" panose="020B0503020204020204" pitchFamily="34" charset="-122"/>
                <a:cs typeface="+mn-ea"/>
              </a:rPr>
              <a:t>快捷菜单</a:t>
            </a:r>
            <a:r>
              <a:rPr lang="zh-CN" altLang="zh-CN" sz="1600">
                <a:solidFill>
                  <a:srgbClr val="595959"/>
                </a:solidFill>
                <a:latin typeface="微软雅黑" panose="020B0503020204020204" pitchFamily="34" charset="-122"/>
                <a:ea typeface="微软雅黑" panose="020B0503020204020204" pitchFamily="34" charset="-122"/>
                <a:cs typeface="+mn-ea"/>
              </a:rPr>
              <a:t>中</a:t>
            </a:r>
            <a:r>
              <a:rPr lang="zh-CN" altLang="zh-CN" sz="16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1600" dirty="0">
                <a:solidFill>
                  <a:srgbClr val="1369B2"/>
                </a:solidFill>
                <a:latin typeface="微软雅黑" panose="020B0503020204020204" pitchFamily="34" charset="-122"/>
                <a:ea typeface="微软雅黑" panose="020B0503020204020204" pitchFamily="34" charset="-122"/>
              </a:rPr>
              <a:t>“添加”</a:t>
            </a:r>
            <a:r>
              <a:rPr lang="en-US" altLang="zh-CN" sz="16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1600" dirty="0">
                <a:solidFill>
                  <a:srgbClr val="1369B2"/>
                </a:solidFill>
                <a:latin typeface="微软雅黑" panose="020B0503020204020204" pitchFamily="34" charset="-122"/>
                <a:ea typeface="微软雅黑" panose="020B0503020204020204" pitchFamily="34" charset="-122"/>
              </a:rPr>
              <a:t>“监听器”</a:t>
            </a:r>
            <a:r>
              <a:rPr lang="en-US" altLang="zh-CN" sz="16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1600" dirty="0">
                <a:solidFill>
                  <a:srgbClr val="1369B2"/>
                </a:solidFill>
                <a:latin typeface="微软雅黑" panose="020B0503020204020204" pitchFamily="34" charset="-122"/>
                <a:ea typeface="微软雅黑" panose="020B0503020204020204" pitchFamily="34" charset="-122"/>
              </a:rPr>
              <a:t>“察看结果树”</a:t>
            </a:r>
            <a:r>
              <a:rPr lang="zh-CN" altLang="zh-CN" sz="1600" dirty="0">
                <a:solidFill>
                  <a:srgbClr val="595959"/>
                </a:solidFill>
                <a:latin typeface="微软雅黑" panose="020B0503020204020204" pitchFamily="34" charset="-122"/>
                <a:ea typeface="微软雅黑" panose="020B0503020204020204" pitchFamily="34" charset="-122"/>
                <a:cs typeface="+mn-ea"/>
              </a:rPr>
              <a:t>，会添加一个察看结果树界面，也就是一个察看结果树。</a:t>
            </a:r>
          </a:p>
        </p:txBody>
      </p:sp>
      <p:sp>
        <p:nvSpPr>
          <p:cNvPr id="20" name="原创设计师QQ598969553          _5"/>
          <p:cNvSpPr/>
          <p:nvPr/>
        </p:nvSpPr>
        <p:spPr>
          <a:xfrm>
            <a:off x="6242733" y="3477616"/>
            <a:ext cx="4859657" cy="187182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原创设计师QQ598969553          _6"/>
          <p:cNvSpPr/>
          <p:nvPr/>
        </p:nvSpPr>
        <p:spPr>
          <a:xfrm>
            <a:off x="1807502" y="3221337"/>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22" name="原创设计师QQ598969553          _7"/>
          <p:cNvSpPr txBox="1"/>
          <p:nvPr/>
        </p:nvSpPr>
        <p:spPr>
          <a:xfrm>
            <a:off x="1643670" y="3271135"/>
            <a:ext cx="3443347" cy="338554"/>
          </a:xfrm>
          <a:prstGeom prst="rect">
            <a:avLst/>
          </a:prstGeom>
          <a:noFill/>
        </p:spPr>
        <p:txBody>
          <a:bodyPr wrap="square" rtlCol="0">
            <a:spAutoFit/>
          </a:bodyPr>
          <a:lstStyle/>
          <a:p>
            <a:pPr lvl="0" algn="ctr" defTabSz="1216660">
              <a:spcBef>
                <a:spcPct val="20000"/>
              </a:spcBef>
              <a:defRPr/>
            </a:pPr>
            <a:r>
              <a:rPr lang="zh-CN" altLang="en-US" sz="1600" b="1">
                <a:solidFill>
                  <a:schemeClr val="bg1"/>
                </a:solidFill>
                <a:latin typeface="微软雅黑" panose="020B0503020204020204" pitchFamily="34" charset="-122"/>
                <a:ea typeface="微软雅黑" panose="020B0503020204020204" pitchFamily="34" charset="-122"/>
                <a:cs typeface="+mn-ea"/>
              </a:rPr>
              <a:t>（</a:t>
            </a:r>
            <a:r>
              <a:rPr lang="en-US" altLang="zh-CN" sz="1600" b="1">
                <a:solidFill>
                  <a:schemeClr val="bg1"/>
                </a:solidFill>
                <a:latin typeface="微软雅黑" panose="020B0503020204020204" pitchFamily="34" charset="-122"/>
                <a:ea typeface="微软雅黑" panose="020B0503020204020204" pitchFamily="34" charset="-122"/>
                <a:cs typeface="+mn-ea"/>
              </a:rPr>
              <a:t>1</a:t>
            </a:r>
            <a:r>
              <a:rPr lang="zh-CN" altLang="en-US" sz="1600" b="1">
                <a:solidFill>
                  <a:schemeClr val="bg1"/>
                </a:solidFill>
                <a:latin typeface="微软雅黑" panose="020B0503020204020204" pitchFamily="34" charset="-122"/>
                <a:ea typeface="微软雅黑" panose="020B0503020204020204" pitchFamily="34" charset="-122"/>
                <a:cs typeface="+mn-ea"/>
              </a:rPr>
              <a:t>）</a:t>
            </a:r>
            <a:r>
              <a:rPr lang="zh-CN" altLang="zh-CN" sz="1600" b="1">
                <a:solidFill>
                  <a:schemeClr val="bg1"/>
                </a:solidFill>
                <a:latin typeface="微软雅黑" panose="020B0503020204020204" pitchFamily="34" charset="-122"/>
                <a:ea typeface="微软雅黑" panose="020B0503020204020204" pitchFamily="34" charset="-122"/>
                <a:cs typeface="+mn-ea"/>
              </a:rPr>
              <a:t>在</a:t>
            </a:r>
            <a:r>
              <a:rPr lang="zh-CN" altLang="zh-CN" sz="1600" b="1" dirty="0">
                <a:solidFill>
                  <a:schemeClr val="bg1"/>
                </a:solidFill>
                <a:latin typeface="微软雅黑" panose="020B0503020204020204" pitchFamily="34" charset="-122"/>
                <a:ea typeface="微软雅黑" panose="020B0503020204020204" pitchFamily="34" charset="-122"/>
                <a:cs typeface="+mn-ea"/>
              </a:rPr>
              <a:t>测试计划中添加察看结果树</a:t>
            </a:r>
            <a:endParaRPr lang="zh-CN" altLang="en-US" sz="1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3" name="原创设计师QQ598969553          _8"/>
          <p:cNvSpPr/>
          <p:nvPr/>
        </p:nvSpPr>
        <p:spPr>
          <a:xfrm>
            <a:off x="7036742" y="3246628"/>
            <a:ext cx="3279515" cy="462161"/>
          </a:xfrm>
          <a:prstGeom prst="roundRect">
            <a:avLst/>
          </a:prstGeom>
          <a:solidFill>
            <a:srgbClr val="0070C0"/>
          </a:solidFill>
          <a:ln>
            <a:noFill/>
          </a:ln>
          <a:effectLst>
            <a:outerShdw blurRad="101600" dist="76200" dir="2700000" algn="tl" rotWithShape="0">
              <a:prstClr val="black">
                <a:alpha val="30000"/>
              </a:prstClr>
            </a:outerShdw>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22860" tIns="22860" rIns="22860" bIns="22860" numCol="1" spcCol="1270" anchor="ctr" anchorCtr="0">
            <a:noAutofit/>
          </a:bodyPr>
          <a:lstStyle/>
          <a:p>
            <a:pPr algn="ctr" defTabSz="266700">
              <a:lnSpc>
                <a:spcPct val="90000"/>
              </a:lnSpc>
              <a:spcBef>
                <a:spcPct val="0"/>
              </a:spcBef>
              <a:spcAft>
                <a:spcPct val="35000"/>
              </a:spcAft>
            </a:pPr>
            <a:endParaRPr lang="zh-CN" altLang="en-US" sz="800">
              <a:solidFill>
                <a:srgbClr val="FFFFFF"/>
              </a:solidFill>
              <a:latin typeface="Lato Light"/>
              <a:cs typeface="Lato Light"/>
              <a:sym typeface="+mn-lt"/>
            </a:endParaRPr>
          </a:p>
        </p:txBody>
      </p:sp>
      <p:sp>
        <p:nvSpPr>
          <p:cNvPr id="24" name="原创设计师QQ598969553          _9"/>
          <p:cNvSpPr txBox="1"/>
          <p:nvPr/>
        </p:nvSpPr>
        <p:spPr>
          <a:xfrm>
            <a:off x="6950215" y="3305972"/>
            <a:ext cx="3366042" cy="338554"/>
          </a:xfrm>
          <a:prstGeom prst="rect">
            <a:avLst/>
          </a:prstGeom>
          <a:noFill/>
        </p:spPr>
        <p:txBody>
          <a:bodyPr wrap="square" rtlCol="0">
            <a:spAutoFit/>
          </a:bodyPr>
          <a:lstStyle/>
          <a:p>
            <a:pPr algn="ctr" defTabSz="1216660">
              <a:spcBef>
                <a:spcPct val="20000"/>
              </a:spcBef>
              <a:defRPr/>
            </a:pPr>
            <a:r>
              <a:rPr lang="zh-CN" altLang="en-US" sz="1600" b="1">
                <a:solidFill>
                  <a:schemeClr val="bg1"/>
                </a:solidFill>
                <a:latin typeface="微软雅黑" panose="020B0503020204020204" pitchFamily="34" charset="-122"/>
                <a:ea typeface="微软雅黑" panose="020B0503020204020204" pitchFamily="34" charset="-122"/>
                <a:cs typeface="+mn-ea"/>
              </a:rPr>
              <a:t>（</a:t>
            </a:r>
            <a:r>
              <a:rPr lang="en-US" altLang="zh-CN" sz="1600" b="1">
                <a:solidFill>
                  <a:schemeClr val="bg1"/>
                </a:solidFill>
                <a:latin typeface="微软雅黑" panose="020B0503020204020204" pitchFamily="34" charset="-122"/>
                <a:ea typeface="微软雅黑" panose="020B0503020204020204" pitchFamily="34" charset="-122"/>
                <a:cs typeface="+mn-ea"/>
              </a:rPr>
              <a:t>2</a:t>
            </a:r>
            <a:r>
              <a:rPr lang="zh-CN" altLang="en-US" sz="1600" b="1">
                <a:solidFill>
                  <a:schemeClr val="bg1"/>
                </a:solidFill>
                <a:latin typeface="微软雅黑" panose="020B0503020204020204" pitchFamily="34" charset="-122"/>
                <a:ea typeface="微软雅黑" panose="020B0503020204020204" pitchFamily="34" charset="-122"/>
                <a:cs typeface="+mn-ea"/>
              </a:rPr>
              <a:t>）</a:t>
            </a:r>
            <a:r>
              <a:rPr lang="zh-CN" altLang="zh-CN" sz="1600" b="1">
                <a:solidFill>
                  <a:schemeClr val="bg1"/>
                </a:solidFill>
                <a:latin typeface="微软雅黑" panose="020B0503020204020204" pitchFamily="34" charset="-122"/>
                <a:ea typeface="微软雅黑" panose="020B0503020204020204" pitchFamily="34" charset="-122"/>
                <a:cs typeface="+mn-ea"/>
              </a:rPr>
              <a:t>在</a:t>
            </a:r>
            <a:r>
              <a:rPr lang="zh-CN" altLang="zh-CN" sz="1600" b="1" dirty="0">
                <a:solidFill>
                  <a:schemeClr val="bg1"/>
                </a:solidFill>
                <a:latin typeface="微软雅黑" panose="020B0503020204020204" pitchFamily="34" charset="-122"/>
                <a:ea typeface="微软雅黑" panose="020B0503020204020204" pitchFamily="34" charset="-122"/>
                <a:cs typeface="+mn-ea"/>
              </a:rPr>
              <a:t>线程组中添加察看结果树</a:t>
            </a:r>
          </a:p>
        </p:txBody>
      </p:sp>
      <p:sp>
        <p:nvSpPr>
          <p:cNvPr id="25" name="原创设计师QQ598969553          _10"/>
          <p:cNvSpPr/>
          <p:nvPr/>
        </p:nvSpPr>
        <p:spPr>
          <a:xfrm>
            <a:off x="6385608" y="3751006"/>
            <a:ext cx="4552950" cy="1569660"/>
          </a:xfrm>
          <a:prstGeom prst="rect">
            <a:avLst/>
          </a:prstGeom>
        </p:spPr>
        <p:txBody>
          <a:bodyPr wrap="square">
            <a:spAutoFit/>
          </a:bodyPr>
          <a:lstStyle/>
          <a:p>
            <a:pPr>
              <a:lnSpc>
                <a:spcPct val="150000"/>
              </a:lnSpc>
            </a:pPr>
            <a:r>
              <a:rPr lang="zh-CN" altLang="zh-CN" sz="1600" dirty="0">
                <a:solidFill>
                  <a:srgbClr val="595959"/>
                </a:solidFill>
                <a:latin typeface="微软雅黑" panose="020B0503020204020204" pitchFamily="34" charset="-122"/>
                <a:ea typeface="微软雅黑" panose="020B0503020204020204" pitchFamily="34" charset="-122"/>
                <a:cs typeface="+mn-ea"/>
              </a:rPr>
              <a:t>在</a:t>
            </a:r>
            <a:r>
              <a:rPr lang="en-US" altLang="zh-CN" sz="16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1600" dirty="0">
                <a:solidFill>
                  <a:srgbClr val="595959"/>
                </a:solidFill>
                <a:latin typeface="微软雅黑" panose="020B0503020204020204" pitchFamily="34" charset="-122"/>
                <a:ea typeface="微软雅黑" panose="020B0503020204020204" pitchFamily="34" charset="-122"/>
                <a:cs typeface="+mn-ea"/>
              </a:rPr>
              <a:t>主界面的测试计划中</a:t>
            </a:r>
            <a:r>
              <a:rPr lang="zh-CN" altLang="zh-CN" sz="1600" dirty="0">
                <a:solidFill>
                  <a:srgbClr val="1369B2"/>
                </a:solidFill>
                <a:latin typeface="微软雅黑" panose="020B0503020204020204" pitchFamily="34" charset="-122"/>
                <a:ea typeface="微软雅黑" panose="020B0503020204020204" pitchFamily="34" charset="-122"/>
              </a:rPr>
              <a:t>首先添加线程组</a:t>
            </a:r>
            <a:r>
              <a:rPr lang="zh-CN"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然后</a:t>
            </a:r>
            <a:r>
              <a:rPr lang="zh-CN" altLang="zh-CN" sz="1600" dirty="0">
                <a:solidFill>
                  <a:srgbClr val="1369B2"/>
                </a:solidFill>
                <a:latin typeface="微软雅黑" panose="020B0503020204020204" pitchFamily="34" charset="-122"/>
                <a:ea typeface="微软雅黑" panose="020B0503020204020204" pitchFamily="34" charset="-122"/>
              </a:rPr>
              <a:t>选中线程</a:t>
            </a:r>
            <a:r>
              <a:rPr lang="zh-CN" altLang="zh-CN" sz="1600">
                <a:solidFill>
                  <a:srgbClr val="1369B2"/>
                </a:solidFill>
                <a:latin typeface="微软雅黑" panose="020B0503020204020204" pitchFamily="34" charset="-122"/>
                <a:ea typeface="微软雅黑" panose="020B0503020204020204" pitchFamily="34" charset="-122"/>
              </a:rPr>
              <a:t>组并</a:t>
            </a:r>
            <a:r>
              <a:rPr lang="zh-CN" altLang="en-US" sz="1600">
                <a:solidFill>
                  <a:srgbClr val="1369B2"/>
                </a:solidFill>
                <a:latin typeface="微软雅黑" panose="020B0503020204020204" pitchFamily="34" charset="-122"/>
                <a:ea typeface="微软雅黑" panose="020B0503020204020204" pitchFamily="34" charset="-122"/>
              </a:rPr>
              <a:t>右键单击</a:t>
            </a:r>
            <a:r>
              <a:rPr lang="zh-CN" altLang="zh-CN" sz="160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在弹</a:t>
            </a:r>
            <a:r>
              <a:rPr lang="zh-CN" altLang="zh-CN" sz="1600">
                <a:solidFill>
                  <a:srgbClr val="595959"/>
                </a:solidFill>
                <a:latin typeface="微软雅黑" panose="020B0503020204020204" pitchFamily="34" charset="-122"/>
                <a:ea typeface="微软雅黑" panose="020B0503020204020204" pitchFamily="34" charset="-122"/>
                <a:cs typeface="+mn-ea"/>
              </a:rPr>
              <a:t>出的</a:t>
            </a:r>
            <a:r>
              <a:rPr lang="zh-CN" altLang="en-US" sz="1600">
                <a:solidFill>
                  <a:srgbClr val="595959"/>
                </a:solidFill>
                <a:latin typeface="微软雅黑" panose="020B0503020204020204" pitchFamily="34" charset="-122"/>
                <a:ea typeface="微软雅黑" panose="020B0503020204020204" pitchFamily="34" charset="-122"/>
                <a:cs typeface="+mn-ea"/>
              </a:rPr>
              <a:t>快捷菜单</a:t>
            </a:r>
            <a:r>
              <a:rPr lang="zh-CN" altLang="zh-CN" sz="1600">
                <a:solidFill>
                  <a:srgbClr val="595959"/>
                </a:solidFill>
                <a:latin typeface="微软雅黑" panose="020B0503020204020204" pitchFamily="34" charset="-122"/>
                <a:ea typeface="微软雅黑" panose="020B0503020204020204" pitchFamily="34" charset="-122"/>
                <a:cs typeface="+mn-ea"/>
              </a:rPr>
              <a:t>中</a:t>
            </a:r>
            <a:r>
              <a:rPr lang="zh-CN" altLang="zh-CN" sz="16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1600" dirty="0">
                <a:solidFill>
                  <a:srgbClr val="1369B2"/>
                </a:solidFill>
                <a:latin typeface="微软雅黑" panose="020B0503020204020204" pitchFamily="34" charset="-122"/>
                <a:ea typeface="微软雅黑" panose="020B0503020204020204" pitchFamily="34" charset="-122"/>
              </a:rPr>
              <a:t>“添加”</a:t>
            </a:r>
            <a:r>
              <a:rPr lang="en-US" altLang="zh-CN" sz="16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1600" dirty="0">
                <a:solidFill>
                  <a:srgbClr val="1369B2"/>
                </a:solidFill>
                <a:latin typeface="微软雅黑" panose="020B0503020204020204" pitchFamily="34" charset="-122"/>
                <a:ea typeface="微软雅黑" panose="020B0503020204020204" pitchFamily="34" charset="-122"/>
              </a:rPr>
              <a:t>“监听器”</a:t>
            </a:r>
            <a:r>
              <a:rPr lang="en-US" altLang="zh-CN" sz="16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1600" dirty="0">
                <a:solidFill>
                  <a:srgbClr val="1369B2"/>
                </a:solidFill>
                <a:latin typeface="微软雅黑" panose="020B0503020204020204" pitchFamily="34" charset="-122"/>
                <a:ea typeface="微软雅黑" panose="020B0503020204020204" pitchFamily="34" charset="-122"/>
              </a:rPr>
              <a:t>“察看结果树”</a:t>
            </a:r>
            <a:r>
              <a:rPr lang="zh-CN" altLang="zh-CN" sz="16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会添加一个察看结果树界面。</a:t>
            </a:r>
          </a:p>
        </p:txBody>
      </p:sp>
      <p:sp>
        <p:nvSpPr>
          <p:cNvPr id="13" name="矩形 12"/>
          <p:cNvSpPr/>
          <p:nvPr/>
        </p:nvSpPr>
        <p:spPr>
          <a:xfrm>
            <a:off x="1343153" y="1591199"/>
            <a:ext cx="1732557" cy="553998"/>
          </a:xfrm>
          <a:prstGeom prst="rect">
            <a:avLst/>
          </a:prstGeom>
        </p:spPr>
        <p:txBody>
          <a:bodyPr wrap="square">
            <a:spAutoFit/>
          </a:bodyPr>
          <a:lstStyle/>
          <a:p>
            <a:pPr>
              <a:lnSpc>
                <a:spcPct val="150000"/>
              </a:lnSpc>
            </a:pPr>
            <a:r>
              <a:rPr lang="en-US" altLang="zh-CN" sz="2000" b="1">
                <a:solidFill>
                  <a:srgbClr val="595959"/>
                </a:solidFill>
                <a:latin typeface="微软雅黑" panose="020B0503020204020204" pitchFamily="34" charset="-122"/>
                <a:ea typeface="微软雅黑" panose="020B0503020204020204" pitchFamily="34" charset="-122"/>
                <a:cs typeface="+mn-ea"/>
              </a:rPr>
              <a:t>1.</a:t>
            </a:r>
            <a:r>
              <a:rPr lang="zh-CN" altLang="en-US" sz="2000" b="1">
                <a:solidFill>
                  <a:srgbClr val="595959"/>
                </a:solidFill>
                <a:latin typeface="微软雅黑" panose="020B0503020204020204" pitchFamily="34" charset="-122"/>
                <a:ea typeface="微软雅黑" panose="020B0503020204020204" pitchFamily="34" charset="-122"/>
                <a:cs typeface="+mn-ea"/>
              </a:rPr>
              <a:t>察看结果树</a:t>
            </a:r>
            <a:endParaRPr lang="zh-CN" altLang="en-US" sz="2000" b="1" dirty="0">
              <a:solidFill>
                <a:srgbClr val="595959"/>
              </a:solidFill>
              <a:latin typeface="微软雅黑" panose="020B0503020204020204" pitchFamily="34" charset="-122"/>
              <a:ea typeface="微软雅黑" panose="020B0503020204020204" pitchFamily="34" charset="-122"/>
              <a:cs typeface="+mn-ea"/>
            </a:endParaRPr>
          </a:p>
        </p:txBody>
      </p:sp>
      <p:sp>
        <p:nvSpPr>
          <p:cNvPr id="14" name="矩形 13"/>
          <p:cNvSpPr/>
          <p:nvPr/>
        </p:nvSpPr>
        <p:spPr>
          <a:xfrm>
            <a:off x="1280165" y="2104618"/>
            <a:ext cx="9369297" cy="1015663"/>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察看结果树通常在调试脚本的时候用于</a:t>
            </a:r>
            <a:r>
              <a:rPr lang="en-US" altLang="zh-CN" sz="2000">
                <a:solidFill>
                  <a:srgbClr val="1369B2"/>
                </a:solidFill>
                <a:latin typeface="微软雅黑" panose="020B0503020204020204" pitchFamily="34" charset="-122"/>
                <a:ea typeface="微软雅黑" panose="020B0503020204020204" pitchFamily="34" charset="-122"/>
              </a:rPr>
              <a:t>观察请求和响应结果是否正确</a:t>
            </a:r>
            <a:r>
              <a:rPr lang="en-US" altLang="zh-CN" sz="2000">
                <a:solidFill>
                  <a:srgbClr val="595959"/>
                </a:solidFill>
                <a:latin typeface="微软雅黑" panose="020B0503020204020204" pitchFamily="34" charset="-122"/>
                <a:ea typeface="微软雅黑" panose="020B0503020204020204" pitchFamily="34" charset="-122"/>
                <a:cs typeface="+mn-ea"/>
              </a:rPr>
              <a:t>，包括</a:t>
            </a:r>
            <a:r>
              <a:rPr lang="en-US" altLang="zh-CN" sz="2000">
                <a:solidFill>
                  <a:srgbClr val="1369B2"/>
                </a:solidFill>
                <a:latin typeface="微软雅黑" panose="020B0503020204020204" pitchFamily="34" charset="-122"/>
                <a:ea typeface="微软雅黑" panose="020B0503020204020204" pitchFamily="34" charset="-122"/>
              </a:rPr>
              <a:t>请求头</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请求体</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响应头</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响应体</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69223" y="1094227"/>
            <a:ext cx="10041702" cy="553998"/>
          </a:xfrm>
          <a:prstGeom prst="rect">
            <a:avLst/>
          </a:prstGeom>
        </p:spPr>
        <p:txBody>
          <a:bodyPr wrap="square">
            <a:spAutoFit/>
          </a:bodyPr>
          <a:lstStyle/>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在</a:t>
            </a:r>
            <a:r>
              <a:rPr lang="zh-CN" altLang="en-US" sz="2000">
                <a:solidFill>
                  <a:srgbClr val="1369B2"/>
                </a:solidFill>
                <a:latin typeface="微软雅黑" panose="020B0503020204020204" pitchFamily="34" charset="-122"/>
                <a:ea typeface="微软雅黑" panose="020B0503020204020204" pitchFamily="34" charset="-122"/>
              </a:rPr>
              <a:t>测试计划</a:t>
            </a:r>
            <a:r>
              <a:rPr lang="zh-CN" altLang="en-US" sz="2000">
                <a:solidFill>
                  <a:srgbClr val="595959"/>
                </a:solidFill>
                <a:latin typeface="微软雅黑" panose="020B0503020204020204" pitchFamily="34" charset="-122"/>
                <a:ea typeface="微软雅黑" panose="020B0503020204020204" pitchFamily="34" charset="-122"/>
                <a:cs typeface="+mn-ea"/>
              </a:rPr>
              <a:t>中和在</a:t>
            </a:r>
            <a:r>
              <a:rPr lang="zh-CN" altLang="en-US" sz="2000">
                <a:solidFill>
                  <a:srgbClr val="1369B2"/>
                </a:solidFill>
                <a:latin typeface="微软雅黑" panose="020B0503020204020204" pitchFamily="34" charset="-122"/>
                <a:ea typeface="微软雅黑" panose="020B0503020204020204" pitchFamily="34" charset="-122"/>
              </a:rPr>
              <a:t>线程组</a:t>
            </a:r>
            <a:r>
              <a:rPr lang="zh-CN" altLang="en-US" sz="2000">
                <a:solidFill>
                  <a:srgbClr val="595959"/>
                </a:solidFill>
                <a:latin typeface="微软雅黑" panose="020B0503020204020204" pitchFamily="34" charset="-122"/>
                <a:ea typeface="微软雅黑" panose="020B0503020204020204" pitchFamily="34" charset="-122"/>
                <a:cs typeface="+mn-ea"/>
              </a:rPr>
              <a:t>中添加</a:t>
            </a:r>
            <a:r>
              <a:rPr lang="zh-CN" altLang="en-US" sz="2000">
                <a:solidFill>
                  <a:srgbClr val="1369B2"/>
                </a:solidFill>
                <a:latin typeface="微软雅黑" panose="020B0503020204020204" pitchFamily="34" charset="-122"/>
                <a:ea typeface="微软雅黑" panose="020B0503020204020204" pitchFamily="34" charset="-122"/>
              </a:rPr>
              <a:t>察看结果树</a:t>
            </a:r>
            <a:r>
              <a:rPr lang="zh-CN" altLang="en-US" sz="2000">
                <a:solidFill>
                  <a:srgbClr val="595959"/>
                </a:solidFill>
                <a:latin typeface="微软雅黑" panose="020B0503020204020204" pitchFamily="34" charset="-122"/>
                <a:ea typeface="微软雅黑" panose="020B0503020204020204" pitchFamily="34" charset="-122"/>
                <a:cs typeface="+mn-ea"/>
              </a:rPr>
              <a:t>的界面是相同的，如下图所示。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320" y="1648225"/>
            <a:ext cx="7658764" cy="467146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69223" y="1094227"/>
            <a:ext cx="9957956" cy="1015663"/>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察看结果树界面有</a:t>
            </a:r>
            <a:r>
              <a:rPr lang="en-US" altLang="zh-CN" sz="2000">
                <a:solidFill>
                  <a:srgbClr val="1369B2"/>
                </a:solidFill>
                <a:latin typeface="微软雅黑" panose="020B0503020204020204" pitchFamily="34" charset="-122"/>
                <a:ea typeface="微软雅黑" panose="020B0503020204020204" pitchFamily="34" charset="-122"/>
              </a:rPr>
              <a:t>“取样器结果”“请求”“响应数据”</a:t>
            </a:r>
            <a:r>
              <a:rPr lang="en-US" altLang="zh-CN" sz="2000">
                <a:solidFill>
                  <a:srgbClr val="595959"/>
                </a:solidFill>
                <a:latin typeface="微软雅黑" panose="020B0503020204020204" pitchFamily="34" charset="-122"/>
                <a:ea typeface="微软雅黑" panose="020B0503020204020204" pitchFamily="34" charset="-122"/>
                <a:cs typeface="+mn-ea"/>
              </a:rPr>
              <a:t>3 个选项卡，这 3 个选项卡的作用分别如下。</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5" name="矩形 4"/>
          <p:cNvSpPr/>
          <p:nvPr/>
        </p:nvSpPr>
        <p:spPr>
          <a:xfrm>
            <a:off x="1169223" y="2288020"/>
            <a:ext cx="9622971" cy="3785652"/>
          </a:xfrm>
          <a:prstGeom prst="rect">
            <a:avLst/>
          </a:prstGeom>
        </p:spPr>
        <p:txBody>
          <a:bodyPr wrap="square">
            <a:spAutoFit/>
          </a:bodyPr>
          <a:lstStyle/>
          <a:p>
            <a:pPr lvl="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取样器结果：可以查看请求的</a:t>
            </a:r>
            <a:r>
              <a:rPr lang="zh-CN" altLang="zh-CN" sz="2000">
                <a:solidFill>
                  <a:srgbClr val="1369B2"/>
                </a:solidFill>
                <a:latin typeface="微软雅黑" panose="020B0503020204020204" pitchFamily="34" charset="-122"/>
                <a:ea typeface="微软雅黑" panose="020B0503020204020204" pitchFamily="34" charset="-122"/>
              </a:rPr>
              <a:t>整体性能指标</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如发送请求的</a:t>
            </a:r>
            <a:r>
              <a:rPr lang="zh-CN" altLang="zh-CN" sz="2000">
                <a:solidFill>
                  <a:srgbClr val="1369B2"/>
                </a:solidFill>
                <a:latin typeface="微软雅黑" panose="020B0503020204020204" pitchFamily="34" charset="-122"/>
                <a:ea typeface="微软雅黑" panose="020B0503020204020204" pitchFamily="34" charset="-122"/>
              </a:rPr>
              <a:t>线程名称</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请求开始时间</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加载时间</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延迟时间</a:t>
            </a:r>
            <a:r>
              <a:rPr lang="zh-CN" altLang="zh-CN" sz="2000">
                <a:solidFill>
                  <a:srgbClr val="595959"/>
                </a:solidFill>
                <a:latin typeface="微软雅黑" panose="020B0503020204020204" pitchFamily="34" charset="-122"/>
                <a:ea typeface="微软雅黑" panose="020B0503020204020204" pitchFamily="34" charset="-122"/>
                <a:cs typeface="+mn-ea"/>
              </a:rPr>
              <a:t>等。</a:t>
            </a:r>
          </a:p>
          <a:p>
            <a:pPr lvl="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请求：</a:t>
            </a:r>
            <a:r>
              <a:rPr lang="zh-CN" altLang="en-US" sz="2000">
                <a:solidFill>
                  <a:srgbClr val="595959"/>
                </a:solidFill>
                <a:latin typeface="微软雅黑" panose="020B0503020204020204" pitchFamily="34" charset="-122"/>
                <a:ea typeface="微软雅黑" panose="020B0503020204020204" pitchFamily="34" charset="-122"/>
                <a:cs typeface="+mn-ea"/>
              </a:rPr>
              <a:t>其</a:t>
            </a:r>
            <a:r>
              <a:rPr lang="zh-CN" altLang="zh-CN" sz="2000">
                <a:solidFill>
                  <a:srgbClr val="595959"/>
                </a:solidFill>
                <a:latin typeface="微软雅黑" panose="020B0503020204020204" pitchFamily="34" charset="-122"/>
                <a:ea typeface="微软雅黑" panose="020B0503020204020204" pitchFamily="34" charset="-122"/>
                <a:cs typeface="+mn-ea"/>
              </a:rPr>
              <a:t>下有两个子选项卡，分别是</a:t>
            </a:r>
            <a:r>
              <a:rPr lang="zh-CN" altLang="en-US"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Request Body</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en-US"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Request Headers</a:t>
            </a:r>
            <a:r>
              <a:rPr lang="zh-CN" altLang="en-US" sz="2000">
                <a:solidFill>
                  <a:srgbClr val="1369B2"/>
                </a:solidFill>
                <a:latin typeface="微软雅黑" panose="020B0503020204020204" pitchFamily="34" charset="-122"/>
                <a:ea typeface="微软雅黑" panose="020B0503020204020204" pitchFamily="34" charset="-122"/>
              </a:rPr>
              <a: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Request Body</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为</a:t>
            </a:r>
            <a:r>
              <a:rPr lang="zh-CN" altLang="zh-CN" sz="2000">
                <a:solidFill>
                  <a:srgbClr val="1369B2"/>
                </a:solidFill>
                <a:latin typeface="微软雅黑" panose="020B0503020204020204" pitchFamily="34" charset="-122"/>
                <a:ea typeface="微软雅黑" panose="020B0503020204020204" pitchFamily="34" charset="-122"/>
              </a:rPr>
              <a:t>请求体</a:t>
            </a:r>
            <a:r>
              <a:rPr lang="zh-CN" altLang="zh-CN" sz="2000">
                <a:solidFill>
                  <a:srgbClr val="595959"/>
                </a:solidFill>
                <a:latin typeface="微软雅黑" panose="020B0503020204020204" pitchFamily="34" charset="-122"/>
                <a:ea typeface="微软雅黑" panose="020B0503020204020204" pitchFamily="34" charset="-122"/>
                <a:cs typeface="+mn-ea"/>
              </a:rPr>
              <a:t>，可以查看</a:t>
            </a:r>
            <a:r>
              <a:rPr lang="zh-CN" altLang="zh-CN" sz="2000">
                <a:solidFill>
                  <a:srgbClr val="1369B2"/>
                </a:solidFill>
                <a:latin typeface="微软雅黑" panose="020B0503020204020204" pitchFamily="34" charset="-122"/>
                <a:ea typeface="微软雅黑" panose="020B0503020204020204" pitchFamily="34" charset="-122"/>
              </a:rPr>
              <a:t>请求体信息</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Request Headers</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为</a:t>
            </a:r>
            <a:r>
              <a:rPr lang="zh-CN" altLang="zh-CN" sz="2000">
                <a:solidFill>
                  <a:srgbClr val="1369B2"/>
                </a:solidFill>
                <a:latin typeface="微软雅黑" panose="020B0503020204020204" pitchFamily="34" charset="-122"/>
                <a:ea typeface="微软雅黑" panose="020B0503020204020204" pitchFamily="34" charset="-122"/>
              </a:rPr>
              <a:t>请求头</a:t>
            </a:r>
            <a:r>
              <a:rPr lang="zh-CN" altLang="zh-CN" sz="2000">
                <a:solidFill>
                  <a:srgbClr val="595959"/>
                </a:solidFill>
                <a:latin typeface="微软雅黑" panose="020B0503020204020204" pitchFamily="34" charset="-122"/>
                <a:ea typeface="微软雅黑" panose="020B0503020204020204" pitchFamily="34" charset="-122"/>
                <a:cs typeface="+mn-ea"/>
              </a:rPr>
              <a:t>，可以查看</a:t>
            </a:r>
            <a:r>
              <a:rPr lang="zh-CN" altLang="zh-CN" sz="2000">
                <a:solidFill>
                  <a:srgbClr val="1369B2"/>
                </a:solidFill>
                <a:latin typeface="微软雅黑" panose="020B0503020204020204" pitchFamily="34" charset="-122"/>
                <a:ea typeface="微软雅黑" panose="020B0503020204020204" pitchFamily="34" charset="-122"/>
              </a:rPr>
              <a:t>请求头信息</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lvl="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响应数据：</a:t>
            </a:r>
            <a:r>
              <a:rPr lang="zh-CN" altLang="en-US" sz="2000">
                <a:solidFill>
                  <a:srgbClr val="595959"/>
                </a:solidFill>
                <a:latin typeface="微软雅黑" panose="020B0503020204020204" pitchFamily="34" charset="-122"/>
                <a:ea typeface="微软雅黑" panose="020B0503020204020204" pitchFamily="34" charset="-122"/>
                <a:cs typeface="+mn-ea"/>
              </a:rPr>
              <a:t>其</a:t>
            </a:r>
            <a:r>
              <a:rPr lang="zh-CN" altLang="zh-CN" sz="2000">
                <a:solidFill>
                  <a:srgbClr val="595959"/>
                </a:solidFill>
                <a:latin typeface="微软雅黑" panose="020B0503020204020204" pitchFamily="34" charset="-122"/>
                <a:ea typeface="微软雅黑" panose="020B0503020204020204" pitchFamily="34" charset="-122"/>
                <a:cs typeface="+mn-ea"/>
              </a:rPr>
              <a:t>下也有两个子选项卡，分别是</a:t>
            </a:r>
            <a:r>
              <a:rPr lang="zh-CN" altLang="en-US"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Request Body</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en-US"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Request Headers</a:t>
            </a:r>
            <a:r>
              <a:rPr lang="zh-CN" altLang="en-US" sz="2000">
                <a:solidFill>
                  <a:srgbClr val="1369B2"/>
                </a:solidFill>
                <a:latin typeface="微软雅黑" panose="020B0503020204020204" pitchFamily="34" charset="-122"/>
                <a:ea typeface="微软雅黑" panose="020B0503020204020204" pitchFamily="34" charset="-122"/>
              </a:rPr>
              <a:t>” </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Response Body</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为</a:t>
            </a:r>
            <a:r>
              <a:rPr lang="zh-CN" altLang="zh-CN" sz="2000">
                <a:solidFill>
                  <a:srgbClr val="1369B2"/>
                </a:solidFill>
                <a:latin typeface="微软雅黑" panose="020B0503020204020204" pitchFamily="34" charset="-122"/>
                <a:ea typeface="微软雅黑" panose="020B0503020204020204" pitchFamily="34" charset="-122"/>
              </a:rPr>
              <a:t>响应体</a:t>
            </a:r>
            <a:r>
              <a:rPr lang="zh-CN" altLang="zh-CN" sz="2000">
                <a:solidFill>
                  <a:srgbClr val="595959"/>
                </a:solidFill>
                <a:latin typeface="微软雅黑" panose="020B0503020204020204" pitchFamily="34" charset="-122"/>
                <a:ea typeface="微软雅黑" panose="020B0503020204020204" pitchFamily="34" charset="-122"/>
                <a:cs typeface="+mn-ea"/>
              </a:rPr>
              <a:t>，可以查看</a:t>
            </a:r>
            <a:r>
              <a:rPr lang="zh-CN" altLang="zh-CN" sz="2000">
                <a:solidFill>
                  <a:srgbClr val="1369B2"/>
                </a:solidFill>
                <a:latin typeface="微软雅黑" panose="020B0503020204020204" pitchFamily="34" charset="-122"/>
                <a:ea typeface="微软雅黑" panose="020B0503020204020204" pitchFamily="34" charset="-122"/>
              </a:rPr>
              <a:t>响应体数据</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Response Headers</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为</a:t>
            </a:r>
            <a:r>
              <a:rPr lang="zh-CN" altLang="zh-CN" sz="2000">
                <a:solidFill>
                  <a:srgbClr val="1369B2"/>
                </a:solidFill>
                <a:latin typeface="微软雅黑" panose="020B0503020204020204" pitchFamily="34" charset="-122"/>
                <a:ea typeface="微软雅黑" panose="020B0503020204020204" pitchFamily="34" charset="-122"/>
              </a:rPr>
              <a:t>响应头</a:t>
            </a:r>
            <a:r>
              <a:rPr lang="zh-CN" altLang="zh-CN" sz="2000">
                <a:solidFill>
                  <a:srgbClr val="595959"/>
                </a:solidFill>
                <a:latin typeface="微软雅黑" panose="020B0503020204020204" pitchFamily="34" charset="-122"/>
                <a:ea typeface="微软雅黑" panose="020B0503020204020204" pitchFamily="34" charset="-122"/>
                <a:cs typeface="+mn-ea"/>
              </a:rPr>
              <a:t>，可以查看</a:t>
            </a:r>
            <a:r>
              <a:rPr lang="zh-CN" altLang="zh-CN" sz="2000">
                <a:solidFill>
                  <a:srgbClr val="1369B2"/>
                </a:solidFill>
                <a:latin typeface="微软雅黑" panose="020B0503020204020204" pitchFamily="34" charset="-122"/>
                <a:ea typeface="微软雅黑" panose="020B0503020204020204" pitchFamily="34" charset="-122"/>
              </a:rPr>
              <a:t>响应头数据</a:t>
            </a:r>
            <a:r>
              <a:rPr lang="zh-CN" altLang="zh-CN" sz="200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69223" y="1094227"/>
            <a:ext cx="10041702"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zh-CN" altLang="en-US" sz="2000" dirty="0">
                <a:solidFill>
                  <a:srgbClr val="595959"/>
                </a:solidFill>
                <a:latin typeface="微软雅黑" panose="020B0503020204020204" pitchFamily="34" charset="-122"/>
                <a:ea typeface="微软雅黑" panose="020B0503020204020204" pitchFamily="34" charset="-122"/>
                <a:cs typeface="+mn-ea"/>
              </a:rPr>
              <a:t>取样器列举的两个</a:t>
            </a:r>
            <a:r>
              <a:rPr lang="zh-CN" altLang="zh-CN" sz="2000" dirty="0">
                <a:solidFill>
                  <a:srgbClr val="595959"/>
                </a:solidFill>
                <a:latin typeface="微软雅黑" panose="020B0503020204020204" pitchFamily="34" charset="-122"/>
                <a:ea typeface="微软雅黑" panose="020B0503020204020204" pitchFamily="34" charset="-122"/>
                <a:cs typeface="+mn-ea"/>
              </a:rPr>
              <a:t>案例的</a:t>
            </a:r>
            <a:r>
              <a:rPr lang="zh-CN" altLang="zh-CN" sz="2000">
                <a:solidFill>
                  <a:srgbClr val="595959"/>
                </a:solidFill>
                <a:latin typeface="微软雅黑" panose="020B0503020204020204" pitchFamily="34" charset="-122"/>
                <a:ea typeface="微软雅黑" panose="020B0503020204020204" pitchFamily="34" charset="-122"/>
                <a:cs typeface="+mn-ea"/>
              </a:rPr>
              <a:t>基础上添加</a:t>
            </a:r>
            <a:r>
              <a:rPr lang="zh-CN" altLang="en-US" sz="2000">
                <a:solidFill>
                  <a:srgbClr val="595959"/>
                </a:solidFill>
                <a:latin typeface="微软雅黑" panose="020B0503020204020204" pitchFamily="34" charset="-122"/>
                <a:ea typeface="微软雅黑" panose="020B0503020204020204" pitchFamily="34" charset="-122"/>
                <a:cs typeface="+mn-ea"/>
              </a:rPr>
              <a:t>两个</a:t>
            </a:r>
            <a:r>
              <a:rPr lang="zh-CN" altLang="zh-CN" sz="2000">
                <a:solidFill>
                  <a:srgbClr val="595959"/>
                </a:solidFill>
                <a:latin typeface="微软雅黑" panose="020B0503020204020204" pitchFamily="34" charset="-122"/>
                <a:ea typeface="微软雅黑" panose="020B0503020204020204" pitchFamily="34" charset="-122"/>
                <a:cs typeface="+mn-ea"/>
              </a:rPr>
              <a:t>察看</a:t>
            </a:r>
            <a:r>
              <a:rPr lang="zh-CN" altLang="zh-CN" sz="2000" dirty="0">
                <a:solidFill>
                  <a:srgbClr val="595959"/>
                </a:solidFill>
                <a:latin typeface="微软雅黑" panose="020B0503020204020204" pitchFamily="34" charset="-122"/>
                <a:ea typeface="微软雅黑" panose="020B0503020204020204" pitchFamily="34" charset="-122"/>
                <a:cs typeface="+mn-ea"/>
              </a:rPr>
              <a:t>结果树，第一个察看结果树</a:t>
            </a:r>
            <a:r>
              <a:rPr lang="zh-CN" altLang="zh-CN" sz="2000" dirty="0">
                <a:solidFill>
                  <a:srgbClr val="1369B2"/>
                </a:solidFill>
                <a:latin typeface="微软雅黑" panose="020B0503020204020204" pitchFamily="34" charset="-122"/>
                <a:ea typeface="微软雅黑" panose="020B0503020204020204" pitchFamily="34" charset="-122"/>
              </a:rPr>
              <a:t>从测试计划添加</a:t>
            </a:r>
            <a:r>
              <a:rPr lang="zh-CN" altLang="zh-CN" sz="2000" dirty="0">
                <a:solidFill>
                  <a:srgbClr val="595959"/>
                </a:solidFill>
                <a:latin typeface="微软雅黑" panose="020B0503020204020204" pitchFamily="34" charset="-122"/>
                <a:ea typeface="微软雅黑" panose="020B0503020204020204" pitchFamily="34" charset="-122"/>
                <a:cs typeface="+mn-ea"/>
              </a:rPr>
              <a:t>，第二个察看结果树</a:t>
            </a:r>
            <a:r>
              <a:rPr lang="zh-CN" altLang="zh-CN" sz="2000" dirty="0">
                <a:solidFill>
                  <a:srgbClr val="1369B2"/>
                </a:solidFill>
                <a:latin typeface="微软雅黑" panose="020B0503020204020204" pitchFamily="34" charset="-122"/>
                <a:ea typeface="微软雅黑" panose="020B0503020204020204" pitchFamily="34" charset="-122"/>
              </a:rPr>
              <a:t>从名称为“使用路径传递</a:t>
            </a:r>
            <a:r>
              <a:rPr lang="en-US" altLang="zh-CN" sz="2000" dirty="0">
                <a:solidFill>
                  <a:srgbClr val="1369B2"/>
                </a:solidFill>
                <a:latin typeface="微软雅黑" panose="020B0503020204020204" pitchFamily="34" charset="-122"/>
                <a:ea typeface="微软雅黑" panose="020B0503020204020204" pitchFamily="34" charset="-122"/>
              </a:rPr>
              <a:t>GET</a:t>
            </a:r>
            <a:r>
              <a:rPr lang="zh-CN" altLang="zh-CN" sz="2000" dirty="0">
                <a:solidFill>
                  <a:srgbClr val="1369B2"/>
                </a:solidFill>
                <a:latin typeface="微软雅黑" panose="020B0503020204020204" pitchFamily="34" charset="-122"/>
                <a:ea typeface="微软雅黑" panose="020B0503020204020204" pitchFamily="34" charset="-122"/>
              </a:rPr>
              <a:t>请求参数”的线程组添加</a:t>
            </a:r>
            <a:r>
              <a:rPr lang="zh-CN" altLang="zh-CN" sz="2000" dirty="0">
                <a:solidFill>
                  <a:srgbClr val="595959"/>
                </a:solidFill>
                <a:latin typeface="微软雅黑" panose="020B0503020204020204" pitchFamily="34" charset="-122"/>
                <a:ea typeface="微软雅黑" panose="020B0503020204020204" pitchFamily="34" charset="-122"/>
                <a:cs typeface="+mn-ea"/>
              </a:rPr>
              <a:t>。添加成功之后，发送请求并查看</a:t>
            </a:r>
            <a:r>
              <a:rPr lang="zh-CN" altLang="zh-CN" sz="2000">
                <a:solidFill>
                  <a:srgbClr val="595959"/>
                </a:solidFill>
                <a:latin typeface="微软雅黑" panose="020B0503020204020204" pitchFamily="34" charset="-122"/>
                <a:ea typeface="微软雅黑" panose="020B0503020204020204" pitchFamily="34" charset="-122"/>
                <a:cs typeface="+mn-ea"/>
              </a:rPr>
              <a:t>测试结果</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4432" y="2713152"/>
            <a:ext cx="4545173" cy="36499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095429"/>
            <a:ext cx="9820894" cy="55399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添加成功之后执行测试，</a:t>
            </a:r>
            <a:r>
              <a:rPr lang="zh-CN" altLang="zh-CN" sz="2000" dirty="0">
                <a:solidFill>
                  <a:srgbClr val="1369B2"/>
                </a:solidFill>
                <a:latin typeface="微软雅黑" panose="020B0503020204020204" pitchFamily="34" charset="-122"/>
                <a:ea typeface="微软雅黑" panose="020B0503020204020204" pitchFamily="34" charset="-122"/>
              </a:rPr>
              <a:t>察看结果树</a:t>
            </a:r>
            <a:r>
              <a:rPr lang="en-US" altLang="zh-CN" sz="2000" dirty="0">
                <a:solidFill>
                  <a:srgbClr val="1369B2"/>
                </a:solidFill>
                <a:latin typeface="微软雅黑" panose="020B0503020204020204" pitchFamily="34" charset="-122"/>
                <a:ea typeface="微软雅黑" panose="020B0503020204020204" pitchFamily="34" charset="-122"/>
              </a:rPr>
              <a:t>-1</a:t>
            </a:r>
            <a:r>
              <a:rPr lang="zh-CN" altLang="zh-CN" sz="2000" dirty="0">
                <a:solidFill>
                  <a:srgbClr val="1369B2"/>
                </a:solidFill>
                <a:latin typeface="微软雅黑" panose="020B0503020204020204" pitchFamily="34" charset="-122"/>
                <a:ea typeface="微软雅黑" panose="020B0503020204020204" pitchFamily="34" charset="-122"/>
              </a:rPr>
              <a:t>的界面</a:t>
            </a:r>
            <a:r>
              <a:rPr lang="zh-CN" altLang="en-US"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rPr>
              <a:t>察看结果树</a:t>
            </a:r>
            <a:r>
              <a:rPr lang="en-US" altLang="zh-CN" sz="2000" dirty="0">
                <a:solidFill>
                  <a:srgbClr val="1369B2"/>
                </a:solidFill>
                <a:latin typeface="微软雅黑" panose="020B0503020204020204" pitchFamily="34" charset="-122"/>
                <a:ea typeface="微软雅黑" panose="020B0503020204020204" pitchFamily="34" charset="-122"/>
              </a:rPr>
              <a:t>-2</a:t>
            </a:r>
            <a:r>
              <a:rPr lang="zh-CN" altLang="zh-CN" sz="2000" dirty="0">
                <a:solidFill>
                  <a:srgbClr val="1369B2"/>
                </a:solidFill>
                <a:latin typeface="微软雅黑" panose="020B0503020204020204" pitchFamily="34" charset="-122"/>
                <a:ea typeface="微软雅黑" panose="020B0503020204020204" pitchFamily="34" charset="-122"/>
              </a:rPr>
              <a:t>的界面</a:t>
            </a:r>
            <a:r>
              <a:rPr lang="zh-CN" altLang="en-US" sz="2000" dirty="0">
                <a:solidFill>
                  <a:srgbClr val="595959"/>
                </a:solidFill>
                <a:latin typeface="微软雅黑" panose="020B0503020204020204" pitchFamily="34" charset="-122"/>
                <a:ea typeface="微软雅黑" panose="020B0503020204020204" pitchFamily="34" charset="-122"/>
                <a:cs typeface="+mn-ea"/>
              </a:rPr>
              <a:t>分别</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690" y="2096979"/>
            <a:ext cx="4764233" cy="3149834"/>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5480" y="2096979"/>
            <a:ext cx="5195244" cy="314983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2150621" y="1724607"/>
            <a:ext cx="4421629"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7" name="文本框 25"/>
          <p:cNvSpPr txBox="1"/>
          <p:nvPr/>
        </p:nvSpPr>
        <p:spPr>
          <a:xfrm>
            <a:off x="2182152" y="1843691"/>
            <a:ext cx="4279098" cy="461665"/>
          </a:xfrm>
          <a:prstGeom prst="rect">
            <a:avLst/>
          </a:prstGeom>
          <a:noFill/>
        </p:spPr>
        <p:txBody>
          <a:bodyPr wrap="square" rtlCol="0">
            <a:spAutoFit/>
          </a:bodyPr>
          <a:lstStyle/>
          <a:p>
            <a:pPr algn="dist"/>
            <a:r>
              <a:rPr lang="zh-CN" altLang="en-US" b="1" dirty="0">
                <a:solidFill>
                  <a:schemeClr val="bg1"/>
                </a:solidFill>
                <a:latin typeface="微软雅黑" panose="020B0503020204020204" pitchFamily="34" charset="-122"/>
                <a:ea typeface="微软雅黑" panose="020B0503020204020204" pitchFamily="34" charset="-122"/>
              </a:rPr>
              <a:t>解决察看结果树中的乱码问题</a:t>
            </a:r>
            <a:endParaRPr lang="zh-CN" altLang="zh-CN" b="1"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6706565" y="1739996"/>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894294" y="1739996"/>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3" name="矩形 2"/>
          <p:cNvSpPr/>
          <p:nvPr/>
        </p:nvSpPr>
        <p:spPr>
          <a:xfrm>
            <a:off x="828379" y="2854953"/>
            <a:ext cx="10124385" cy="1938992"/>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a:t>
            </a:r>
            <a:r>
              <a:rPr lang="zh-CN" altLang="zh-CN" sz="2000" dirty="0">
                <a:solidFill>
                  <a:srgbClr val="1369B2"/>
                </a:solidFill>
                <a:latin typeface="微软雅黑" panose="020B0503020204020204" pitchFamily="34" charset="-122"/>
                <a:ea typeface="微软雅黑" panose="020B0503020204020204" pitchFamily="34" charset="-122"/>
              </a:rPr>
              <a:t>察看结果树</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中有时会出现</a:t>
            </a:r>
            <a:r>
              <a:rPr lang="zh-CN" altLang="zh-CN" sz="2000" dirty="0">
                <a:solidFill>
                  <a:srgbClr val="1369B2"/>
                </a:solidFill>
                <a:latin typeface="微软雅黑" panose="020B0503020204020204" pitchFamily="34" charset="-122"/>
                <a:ea typeface="微软雅黑" panose="020B0503020204020204" pitchFamily="34" charset="-122"/>
              </a:rPr>
              <a:t>乱码</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的问题</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这是因为</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JMeter</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在解析响应数据时，</a:t>
            </a:r>
            <a:r>
              <a:rPr lang="zh-CN" altLang="zh-CN" sz="2000" dirty="0">
                <a:solidFill>
                  <a:srgbClr val="1369B2"/>
                </a:solidFill>
                <a:latin typeface="微软雅黑" panose="020B0503020204020204" pitchFamily="34" charset="-122"/>
                <a:ea typeface="微软雅黑" panose="020B0503020204020204" pitchFamily="34" charset="-122"/>
              </a:rPr>
              <a:t>使用的编码</a:t>
            </a:r>
            <a:r>
              <a:rPr lang="zh-CN" altLang="zh-CN" sz="2000">
                <a:solidFill>
                  <a:srgbClr val="1369B2"/>
                </a:solidFill>
                <a:latin typeface="微软雅黑" panose="020B0503020204020204" pitchFamily="34" charset="-122"/>
                <a:ea typeface="微软雅黑" panose="020B0503020204020204" pitchFamily="34" charset="-122"/>
              </a:rPr>
              <a:t>不能很好</a:t>
            </a:r>
            <a:r>
              <a:rPr lang="zh-CN" altLang="en-US" sz="2000">
                <a:solidFill>
                  <a:srgbClr val="1369B2"/>
                </a:solidFill>
                <a:latin typeface="微软雅黑" panose="020B0503020204020204" pitchFamily="34" charset="-122"/>
                <a:ea typeface="微软雅黑" panose="020B0503020204020204" pitchFamily="34" charset="-122"/>
              </a:rPr>
              <a:t>地</a:t>
            </a:r>
            <a:r>
              <a:rPr lang="zh-CN" altLang="zh-CN" sz="2000">
                <a:solidFill>
                  <a:srgbClr val="1369B2"/>
                </a:solidFill>
                <a:latin typeface="微软雅黑" panose="020B0503020204020204" pitchFamily="34" charset="-122"/>
                <a:ea typeface="微软雅黑" panose="020B0503020204020204" pitchFamily="34" charset="-122"/>
              </a:rPr>
              <a:t>支持</a:t>
            </a:r>
            <a:r>
              <a:rPr lang="zh-CN" altLang="zh-CN" sz="2000" dirty="0">
                <a:solidFill>
                  <a:srgbClr val="1369B2"/>
                </a:solidFill>
                <a:latin typeface="微软雅黑" panose="020B0503020204020204" pitchFamily="34" charset="-122"/>
                <a:ea typeface="微软雅黑" panose="020B0503020204020204" pitchFamily="34" charset="-122"/>
              </a:rPr>
              <a:t>中文</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。解决</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察看结果树中</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乱码问题需要修改</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JMeter</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配置文件。</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编辑</a:t>
            </a:r>
            <a:r>
              <a:rPr lang="en-US" altLang="zh-CN" sz="2000">
                <a:solidFill>
                  <a:srgbClr val="1369B2"/>
                </a:solidFill>
                <a:latin typeface="微软雅黑" panose="020B0503020204020204" pitchFamily="34" charset="-122"/>
                <a:ea typeface="微软雅黑" panose="020B0503020204020204" pitchFamily="34" charset="-122"/>
              </a:rPr>
              <a:t>jmeter.properties</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将</a:t>
            </a:r>
            <a:r>
              <a:rPr lang="en-US" altLang="zh-CN" sz="2000">
                <a:solidFill>
                  <a:srgbClr val="1369B2"/>
                </a:solidFill>
                <a:latin typeface="微软雅黑" panose="020B0503020204020204" pitchFamily="34" charset="-122"/>
                <a:ea typeface="微软雅黑" panose="020B0503020204020204" pitchFamily="34" charset="-122"/>
              </a:rPr>
              <a:t>sampleresult.default.encoding</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值修改为</a:t>
            </a:r>
            <a:r>
              <a:rPr lang="en-US" altLang="zh-CN" sz="2000" dirty="0">
                <a:solidFill>
                  <a:srgbClr val="1369B2"/>
                </a:solidFill>
                <a:latin typeface="微软雅黑" panose="020B0503020204020204" pitchFamily="34" charset="-122"/>
                <a:ea typeface="微软雅黑" panose="020B0503020204020204" pitchFamily="34" charset="-122"/>
              </a:rPr>
              <a:t>UTF-8</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，并</a:t>
            </a:r>
            <a:r>
              <a:rPr lang="zh-CN" altLang="zh-CN" sz="2000" dirty="0">
                <a:solidFill>
                  <a:srgbClr val="1369B2"/>
                </a:solidFill>
                <a:latin typeface="微软雅黑" panose="020B0503020204020204" pitchFamily="34" charset="-122"/>
                <a:ea typeface="微软雅黑" panose="020B0503020204020204" pitchFamily="34" charset="-122"/>
              </a:rPr>
              <a:t>取消注释</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，修改之后的</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设置如下。</a:t>
            </a:r>
            <a:endPar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11" name="文本框 5"/>
          <p:cNvSpPr txBox="1"/>
          <p:nvPr/>
        </p:nvSpPr>
        <p:spPr>
          <a:xfrm>
            <a:off x="828380" y="5041077"/>
            <a:ext cx="9692476" cy="553998"/>
          </a:xfrm>
          <a:prstGeom prst="rect">
            <a:avLst/>
          </a:prstGeom>
          <a:solidFill>
            <a:srgbClr val="F2F2F2"/>
          </a:solidFill>
        </p:spPr>
        <p:txBody>
          <a:bodyPr wrap="square" rtlCol="0">
            <a:spAutoFit/>
          </a:bodyPr>
          <a:lstStyle/>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sampleresult.default.encoding</a:t>
            </a:r>
            <a:r>
              <a:rPr lang="en-US" altLang="zh-CN" sz="2000" dirty="0">
                <a:solidFill>
                  <a:srgbClr val="595959"/>
                </a:solidFill>
                <a:latin typeface="微软雅黑" panose="020B0503020204020204" pitchFamily="34" charset="-122"/>
                <a:ea typeface="微软雅黑" panose="020B0503020204020204" pitchFamily="34" charset="-122"/>
                <a:cs typeface="+mn-ea"/>
              </a:rPr>
              <a:t>=UTF-8	</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12" name="矩形 11"/>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pic>
        <p:nvPicPr>
          <p:cNvPr id="1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595735"/>
            <a:ext cx="10340772" cy="1938992"/>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聚合报告</a:t>
            </a:r>
            <a:r>
              <a:rPr lang="zh-CN" altLang="zh-CN" sz="2000" dirty="0">
                <a:solidFill>
                  <a:srgbClr val="595959"/>
                </a:solidFill>
                <a:latin typeface="微软雅黑" panose="020B0503020204020204" pitchFamily="34" charset="-122"/>
                <a:ea typeface="微软雅黑" panose="020B0503020204020204" pitchFamily="34" charset="-122"/>
                <a:cs typeface="+mn-ea"/>
              </a:rPr>
              <a:t>用于测试结束后，</a:t>
            </a:r>
            <a:r>
              <a:rPr lang="zh-CN" altLang="zh-CN" sz="2000" dirty="0">
                <a:solidFill>
                  <a:srgbClr val="1369B2"/>
                </a:solidFill>
                <a:latin typeface="微软雅黑" panose="020B0503020204020204" pitchFamily="34" charset="-122"/>
                <a:ea typeface="微软雅黑" panose="020B0503020204020204" pitchFamily="34" charset="-122"/>
              </a:rPr>
              <a:t>收集系统各项</a:t>
            </a:r>
            <a:r>
              <a:rPr lang="zh-CN" altLang="zh-CN" sz="2000">
                <a:solidFill>
                  <a:srgbClr val="1369B2"/>
                </a:solidFill>
                <a:latin typeface="微软雅黑" panose="020B0503020204020204" pitchFamily="34" charset="-122"/>
                <a:ea typeface="微软雅黑" panose="020B0503020204020204" pitchFamily="34" charset="-122"/>
              </a:rPr>
              <a:t>性能指标</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zh-CN" sz="2000" dirty="0">
                <a:solidFill>
                  <a:srgbClr val="1369B2"/>
                </a:solidFill>
                <a:latin typeface="微软雅黑" panose="020B0503020204020204" pitchFamily="34" charset="-122"/>
                <a:ea typeface="微软雅黑" panose="020B0503020204020204" pitchFamily="34" charset="-122"/>
              </a:rPr>
              <a:t>响应时间</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并发数</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吞吐量</a:t>
            </a:r>
            <a:r>
              <a:rPr lang="zh-CN" altLang="zh-CN" sz="2000" dirty="0">
                <a:solidFill>
                  <a:srgbClr val="595959"/>
                </a:solidFill>
                <a:latin typeface="微软雅黑" panose="020B0503020204020204" pitchFamily="34" charset="-122"/>
                <a:ea typeface="微软雅黑" panose="020B0503020204020204" pitchFamily="34" charset="-122"/>
                <a:cs typeface="+mn-ea"/>
              </a:rPr>
              <a:t>等。添加聚合报告的方式与添加察看结果树的方式相似，首先选中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主界面的测试计划或线程</a:t>
            </a:r>
            <a:r>
              <a:rPr lang="zh-CN" altLang="zh-CN" sz="2000">
                <a:solidFill>
                  <a:srgbClr val="595959"/>
                </a:solidFill>
                <a:latin typeface="微软雅黑" panose="020B0503020204020204" pitchFamily="34" charset="-122"/>
                <a:ea typeface="微软雅黑" panose="020B0503020204020204" pitchFamily="34" charset="-122"/>
                <a:cs typeface="+mn-ea"/>
              </a:rPr>
              <a:t>组并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“监听器”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a:solidFill>
                  <a:srgbClr val="1369B2"/>
                </a:solidFill>
                <a:latin typeface="微软雅黑" panose="020B0503020204020204" pitchFamily="34" charset="-122"/>
                <a:ea typeface="微软雅黑" panose="020B0503020204020204" pitchFamily="34" charset="-122"/>
              </a:rPr>
              <a:t>“聚合报告”</a:t>
            </a:r>
            <a:r>
              <a:rPr lang="zh-CN" altLang="zh-CN" sz="2000">
                <a:solidFill>
                  <a:srgbClr val="595959"/>
                </a:solidFill>
                <a:latin typeface="微软雅黑" panose="020B0503020204020204" pitchFamily="34" charset="-122"/>
                <a:ea typeface="微软雅黑" panose="020B0503020204020204" pitchFamily="34" charset="-122"/>
                <a:cs typeface="+mn-ea"/>
              </a:rPr>
              <a:t>，聚合报告界面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8229" y="3534727"/>
            <a:ext cx="6022902" cy="3196086"/>
          </a:xfrm>
          <a:prstGeom prst="rect">
            <a:avLst/>
          </a:prstGeom>
        </p:spPr>
      </p:pic>
      <p:sp>
        <p:nvSpPr>
          <p:cNvPr id="6" name="矩形 5"/>
          <p:cNvSpPr/>
          <p:nvPr/>
        </p:nvSpPr>
        <p:spPr>
          <a:xfrm>
            <a:off x="1143690" y="1045454"/>
            <a:ext cx="1732557" cy="553998"/>
          </a:xfrm>
          <a:prstGeom prst="rect">
            <a:avLst/>
          </a:prstGeom>
        </p:spPr>
        <p:txBody>
          <a:bodyPr wrap="square">
            <a:spAutoFit/>
          </a:bodyPr>
          <a:lstStyle/>
          <a:p>
            <a:pPr>
              <a:lnSpc>
                <a:spcPct val="150000"/>
              </a:lnSpc>
            </a:pPr>
            <a:r>
              <a:rPr lang="en-US" altLang="zh-CN" sz="2000" b="1">
                <a:solidFill>
                  <a:srgbClr val="595959"/>
                </a:solidFill>
                <a:latin typeface="微软雅黑" panose="020B0503020204020204" pitchFamily="34" charset="-122"/>
                <a:ea typeface="微软雅黑" panose="020B0503020204020204" pitchFamily="34" charset="-122"/>
                <a:cs typeface="+mn-ea"/>
              </a:rPr>
              <a:t>2.</a:t>
            </a:r>
            <a:r>
              <a:rPr lang="zh-CN" altLang="en-US" sz="2000" b="1">
                <a:solidFill>
                  <a:srgbClr val="595959"/>
                </a:solidFill>
                <a:latin typeface="微软雅黑" panose="020B0503020204020204" pitchFamily="34" charset="-122"/>
                <a:ea typeface="微软雅黑" panose="020B0503020204020204" pitchFamily="34" charset="-122"/>
                <a:cs typeface="+mn-ea"/>
              </a:rPr>
              <a:t>聚合报告</a:t>
            </a:r>
            <a:endParaRPr lang="zh-CN" altLang="en-US" sz="2000" b="1"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168223"/>
            <a:ext cx="10340772" cy="553998"/>
          </a:xfrm>
          <a:prstGeom prst="rect">
            <a:avLst/>
          </a:prstGeom>
        </p:spPr>
        <p:txBody>
          <a:bodyPr wrap="square">
            <a:spAutoFit/>
          </a:bodyPr>
          <a:lstStyle/>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下面介绍</a:t>
            </a:r>
            <a:r>
              <a:rPr lang="zh-CN" altLang="zh-CN" sz="2000">
                <a:solidFill>
                  <a:srgbClr val="1369B2"/>
                </a:solidFill>
                <a:latin typeface="微软雅黑" panose="020B0503020204020204" pitchFamily="34" charset="-122"/>
                <a:ea typeface="微软雅黑" panose="020B0503020204020204" pitchFamily="34" charset="-122"/>
              </a:rPr>
              <a:t>聚合报告</a:t>
            </a:r>
            <a:r>
              <a:rPr lang="zh-CN" altLang="en-US" sz="2000">
                <a:solidFill>
                  <a:srgbClr val="595959"/>
                </a:solidFill>
                <a:latin typeface="微软雅黑" panose="020B0503020204020204" pitchFamily="34" charset="-122"/>
                <a:ea typeface="微软雅黑" panose="020B0503020204020204" pitchFamily="34" charset="-122"/>
                <a:cs typeface="+mn-ea"/>
              </a:rPr>
              <a:t>中的各项</a:t>
            </a:r>
            <a:r>
              <a:rPr lang="zh-CN" altLang="en-US" sz="2000">
                <a:solidFill>
                  <a:srgbClr val="1369B2"/>
                </a:solidFill>
                <a:latin typeface="微软雅黑" panose="020B0503020204020204" pitchFamily="34" charset="-122"/>
                <a:ea typeface="微软雅黑" panose="020B0503020204020204" pitchFamily="34" charset="-122"/>
              </a:rPr>
              <a:t>指标</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143690" y="1805348"/>
            <a:ext cx="9499634" cy="4247317"/>
          </a:xfrm>
          <a:prstGeom prst="rect">
            <a:avLst/>
          </a:prstGeom>
        </p:spPr>
        <p:txBody>
          <a:bodyPr wrap="square">
            <a:spAutoFit/>
          </a:bodyPr>
          <a:lstStyle/>
          <a:p>
            <a:pPr marL="342900" lvl="0" indent="-342900">
              <a:lnSpc>
                <a:spcPct val="150000"/>
              </a:lnSpc>
              <a:buFont typeface="Wingdings" panose="05000000000000000000" pitchFamily="2" charset="2"/>
              <a:buChar char=""/>
            </a:pPr>
            <a:r>
              <a:rPr lang="en-US" altLang="zh-CN" sz="2000">
                <a:solidFill>
                  <a:srgbClr val="595959"/>
                </a:solidFill>
                <a:latin typeface="微软雅黑" panose="020B0503020204020204" pitchFamily="34" charset="-122"/>
                <a:ea typeface="微软雅黑" panose="020B0503020204020204" pitchFamily="34" charset="-122"/>
                <a:cs typeface="+mn-ea"/>
              </a:rPr>
              <a:t>Label</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请求的类型</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en-US" altLang="zh-CN" sz="2000">
                <a:solidFill>
                  <a:srgbClr val="595959"/>
                </a:solidFill>
                <a:latin typeface="微软雅黑" panose="020B0503020204020204" pitchFamily="34" charset="-122"/>
                <a:ea typeface="微软雅黑" panose="020B0503020204020204" pitchFamily="34" charset="-122"/>
                <a:cs typeface="+mn-ea"/>
              </a:rPr>
              <a:t>HTTP</a:t>
            </a:r>
            <a:r>
              <a:rPr lang="zh-CN" altLang="zh-CN" sz="2000">
                <a:solidFill>
                  <a:srgbClr val="595959"/>
                </a:solidFill>
                <a:latin typeface="微软雅黑" panose="020B0503020204020204" pitchFamily="34" charset="-122"/>
                <a:ea typeface="微软雅黑" panose="020B0503020204020204" pitchFamily="34" charset="-122"/>
                <a:cs typeface="+mn-ea"/>
              </a:rPr>
              <a:t>请求、</a:t>
            </a:r>
            <a:r>
              <a:rPr lang="en-US" altLang="zh-CN" sz="2000">
                <a:solidFill>
                  <a:srgbClr val="595959"/>
                </a:solidFill>
                <a:latin typeface="微软雅黑" panose="020B0503020204020204" pitchFamily="34" charset="-122"/>
                <a:ea typeface="微软雅黑" panose="020B0503020204020204" pitchFamily="34" charset="-122"/>
                <a:cs typeface="+mn-ea"/>
              </a:rPr>
              <a:t>FTP</a:t>
            </a:r>
            <a:r>
              <a:rPr lang="zh-CN" altLang="zh-CN" sz="2000">
                <a:solidFill>
                  <a:srgbClr val="595959"/>
                </a:solidFill>
                <a:latin typeface="微软雅黑" panose="020B0503020204020204" pitchFamily="34" charset="-122"/>
                <a:ea typeface="微软雅黑" panose="020B0503020204020204" pitchFamily="34" charset="-122"/>
                <a:cs typeface="+mn-ea"/>
              </a:rPr>
              <a:t>请求、</a:t>
            </a:r>
            <a:r>
              <a:rPr lang="en-US" altLang="zh-CN" sz="2000">
                <a:solidFill>
                  <a:srgbClr val="595959"/>
                </a:solidFill>
                <a:latin typeface="微软雅黑" panose="020B0503020204020204" pitchFamily="34" charset="-122"/>
                <a:ea typeface="微软雅黑" panose="020B0503020204020204" pitchFamily="34" charset="-122"/>
                <a:cs typeface="+mn-ea"/>
              </a:rPr>
              <a:t>Java</a:t>
            </a:r>
            <a:r>
              <a:rPr lang="zh-CN" altLang="zh-CN" sz="2000">
                <a:solidFill>
                  <a:srgbClr val="595959"/>
                </a:solidFill>
                <a:latin typeface="微软雅黑" panose="020B0503020204020204" pitchFamily="34" charset="-122"/>
                <a:ea typeface="微软雅黑" panose="020B0503020204020204" pitchFamily="34" charset="-122"/>
                <a:cs typeface="+mn-ea"/>
              </a:rPr>
              <a:t>请求等。</a:t>
            </a:r>
          </a:p>
          <a:p>
            <a:pPr marL="342900" lvl="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样本：发送到服务器的</a:t>
            </a:r>
            <a:r>
              <a:rPr lang="zh-CN" altLang="zh-CN" sz="2000">
                <a:solidFill>
                  <a:srgbClr val="1369B2"/>
                </a:solidFill>
                <a:latin typeface="微软雅黑" panose="020B0503020204020204" pitchFamily="34" charset="-122"/>
                <a:ea typeface="微软雅黑" panose="020B0503020204020204" pitchFamily="34" charset="-122"/>
              </a:rPr>
              <a:t>请求数量</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平均值：请求的</a:t>
            </a:r>
            <a:r>
              <a:rPr lang="zh-CN" altLang="zh-CN" sz="2000">
                <a:solidFill>
                  <a:srgbClr val="1369B2"/>
                </a:solidFill>
                <a:latin typeface="微软雅黑" panose="020B0503020204020204" pitchFamily="34" charset="-122"/>
                <a:ea typeface="微软雅黑" panose="020B0503020204020204" pitchFamily="34" charset="-122"/>
              </a:rPr>
              <a:t>平均响应时间</a:t>
            </a:r>
            <a:r>
              <a:rPr lang="zh-CN" altLang="zh-CN" sz="2000">
                <a:solidFill>
                  <a:srgbClr val="595959"/>
                </a:solidFill>
                <a:latin typeface="微软雅黑" panose="020B0503020204020204" pitchFamily="34" charset="-122"/>
                <a:ea typeface="微软雅黑" panose="020B0503020204020204" pitchFamily="34" charset="-122"/>
                <a:cs typeface="+mn-ea"/>
              </a:rPr>
              <a:t>，单位是毫秒。</a:t>
            </a:r>
          </a:p>
          <a:p>
            <a:pPr marL="342900" lvl="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中位数：是一个</a:t>
            </a:r>
            <a:r>
              <a:rPr lang="zh-CN" altLang="zh-CN" sz="2000">
                <a:solidFill>
                  <a:srgbClr val="1369B2"/>
                </a:solidFill>
                <a:latin typeface="微软雅黑" panose="020B0503020204020204" pitchFamily="34" charset="-122"/>
                <a:ea typeface="微软雅黑" panose="020B0503020204020204" pitchFamily="34" charset="-122"/>
              </a:rPr>
              <a:t>时间值</a:t>
            </a:r>
            <a:r>
              <a:rPr lang="zh-CN" altLang="zh-CN" sz="2000">
                <a:solidFill>
                  <a:srgbClr val="595959"/>
                </a:solidFill>
                <a:latin typeface="微软雅黑" panose="020B0503020204020204" pitchFamily="34" charset="-122"/>
                <a:ea typeface="微软雅黑" panose="020B0503020204020204" pitchFamily="34" charset="-122"/>
                <a:cs typeface="+mn-ea"/>
              </a:rPr>
              <a:t>，单位是毫秒。有</a:t>
            </a:r>
            <a:r>
              <a:rPr lang="en-US" altLang="zh-CN" sz="2000">
                <a:solidFill>
                  <a:srgbClr val="595959"/>
                </a:solidFill>
                <a:latin typeface="微软雅黑" panose="020B0503020204020204" pitchFamily="34" charset="-122"/>
                <a:ea typeface="微软雅黑" panose="020B0503020204020204" pitchFamily="34" charset="-122"/>
                <a:cs typeface="+mn-ea"/>
              </a:rPr>
              <a:t>50%</a:t>
            </a:r>
            <a:r>
              <a:rPr lang="zh-CN" altLang="zh-CN" sz="2000">
                <a:solidFill>
                  <a:srgbClr val="595959"/>
                </a:solidFill>
                <a:latin typeface="微软雅黑" panose="020B0503020204020204" pitchFamily="34" charset="-122"/>
                <a:ea typeface="微软雅黑" panose="020B0503020204020204" pitchFamily="34" charset="-122"/>
                <a:cs typeface="+mn-ea"/>
              </a:rPr>
              <a:t>的请求响应时间</a:t>
            </a:r>
            <a:r>
              <a:rPr lang="zh-CN" altLang="zh-CN" sz="2000">
                <a:solidFill>
                  <a:srgbClr val="1369B2"/>
                </a:solidFill>
                <a:latin typeface="微软雅黑" panose="020B0503020204020204" pitchFamily="34" charset="-122"/>
                <a:ea typeface="微软雅黑" panose="020B0503020204020204" pitchFamily="34" charset="-122"/>
              </a:rPr>
              <a:t>低于该值</a:t>
            </a:r>
            <a:r>
              <a:rPr lang="zh-CN" altLang="zh-CN" sz="2000">
                <a:solidFill>
                  <a:srgbClr val="595959"/>
                </a:solidFill>
                <a:latin typeface="微软雅黑" panose="020B0503020204020204" pitchFamily="34" charset="-122"/>
                <a:ea typeface="微软雅黑" panose="020B0503020204020204" pitchFamily="34" charset="-122"/>
                <a:cs typeface="+mn-ea"/>
              </a:rPr>
              <a:t>，有</a:t>
            </a:r>
            <a:r>
              <a:rPr lang="en-US" altLang="zh-CN" sz="2000">
                <a:solidFill>
                  <a:srgbClr val="595959"/>
                </a:solidFill>
                <a:latin typeface="微软雅黑" panose="020B0503020204020204" pitchFamily="34" charset="-122"/>
                <a:ea typeface="微软雅黑" panose="020B0503020204020204" pitchFamily="34" charset="-122"/>
                <a:cs typeface="+mn-ea"/>
              </a:rPr>
              <a:t>50%</a:t>
            </a:r>
            <a:r>
              <a:rPr lang="zh-CN" altLang="zh-CN" sz="2000">
                <a:solidFill>
                  <a:srgbClr val="595959"/>
                </a:solidFill>
                <a:latin typeface="微软雅黑" panose="020B0503020204020204" pitchFamily="34" charset="-122"/>
                <a:ea typeface="微软雅黑" panose="020B0503020204020204" pitchFamily="34" charset="-122"/>
                <a:cs typeface="+mn-ea"/>
              </a:rPr>
              <a:t>的请求</a:t>
            </a:r>
            <a:r>
              <a:rPr lang="zh-CN" altLang="en-US" sz="2000">
                <a:solidFill>
                  <a:srgbClr val="595959"/>
                </a:solidFill>
                <a:latin typeface="微软雅黑" panose="020B0503020204020204" pitchFamily="34" charset="-122"/>
                <a:ea typeface="微软雅黑" panose="020B0503020204020204" pitchFamily="34" charset="-122"/>
                <a:cs typeface="+mn-ea"/>
              </a:rPr>
              <a:t>响应</a:t>
            </a:r>
            <a:r>
              <a:rPr lang="zh-CN" altLang="zh-CN" sz="2000">
                <a:solidFill>
                  <a:srgbClr val="595959"/>
                </a:solidFill>
                <a:latin typeface="微软雅黑" panose="020B0503020204020204" pitchFamily="34" charset="-122"/>
                <a:ea typeface="微软雅黑" panose="020B0503020204020204" pitchFamily="34" charset="-122"/>
                <a:cs typeface="+mn-ea"/>
              </a:rPr>
              <a:t>时间</a:t>
            </a:r>
            <a:r>
              <a:rPr lang="zh-CN" altLang="zh-CN" sz="2000">
                <a:solidFill>
                  <a:srgbClr val="1369B2"/>
                </a:solidFill>
                <a:latin typeface="微软雅黑" panose="020B0503020204020204" pitchFamily="34" charset="-122"/>
                <a:ea typeface="微软雅黑" panose="020B0503020204020204" pitchFamily="34" charset="-122"/>
              </a:rPr>
              <a:t>高于该值</a:t>
            </a:r>
            <a:r>
              <a:rPr lang="zh-CN" altLang="zh-CN" sz="2000">
                <a:solidFill>
                  <a:srgbClr val="595959"/>
                </a:solidFill>
                <a:latin typeface="微软雅黑" panose="020B0503020204020204" pitchFamily="34" charset="-122"/>
                <a:ea typeface="微软雅黑" panose="020B0503020204020204" pitchFamily="34" charset="-122"/>
                <a:cs typeface="+mn-ea"/>
              </a:rPr>
              <a:t>。例如，中位数为</a:t>
            </a:r>
            <a:r>
              <a:rPr lang="en-US" altLang="zh-CN" sz="2000">
                <a:solidFill>
                  <a:srgbClr val="595959"/>
                </a:solidFill>
                <a:latin typeface="微软雅黑" panose="020B0503020204020204" pitchFamily="34" charset="-122"/>
                <a:ea typeface="微软雅黑" panose="020B0503020204020204" pitchFamily="34" charset="-122"/>
                <a:cs typeface="+mn-ea"/>
              </a:rPr>
              <a:t>10</a:t>
            </a:r>
            <a:r>
              <a:rPr lang="zh-CN" altLang="zh-CN" sz="2000">
                <a:solidFill>
                  <a:srgbClr val="595959"/>
                </a:solidFill>
                <a:latin typeface="微软雅黑" panose="020B0503020204020204" pitchFamily="34" charset="-122"/>
                <a:ea typeface="微软雅黑" panose="020B0503020204020204" pitchFamily="34" charset="-122"/>
                <a:cs typeface="+mn-ea"/>
              </a:rPr>
              <a:t>，表示有</a:t>
            </a:r>
            <a:r>
              <a:rPr lang="en-US" altLang="zh-CN" sz="2000">
                <a:solidFill>
                  <a:srgbClr val="595959"/>
                </a:solidFill>
                <a:latin typeface="微软雅黑" panose="020B0503020204020204" pitchFamily="34" charset="-122"/>
                <a:ea typeface="微软雅黑" panose="020B0503020204020204" pitchFamily="34" charset="-122"/>
                <a:cs typeface="+mn-ea"/>
              </a:rPr>
              <a:t>50%</a:t>
            </a:r>
            <a:r>
              <a:rPr lang="zh-CN" altLang="zh-CN" sz="2000">
                <a:solidFill>
                  <a:srgbClr val="595959"/>
                </a:solidFill>
                <a:latin typeface="微软雅黑" panose="020B0503020204020204" pitchFamily="34" charset="-122"/>
                <a:ea typeface="微软雅黑" panose="020B0503020204020204" pitchFamily="34" charset="-122"/>
                <a:cs typeface="+mn-ea"/>
              </a:rPr>
              <a:t>的请求在</a:t>
            </a:r>
            <a:r>
              <a:rPr lang="en-US" altLang="zh-CN" sz="2000">
                <a:solidFill>
                  <a:srgbClr val="595959"/>
                </a:solidFill>
                <a:latin typeface="微软雅黑" panose="020B0503020204020204" pitchFamily="34" charset="-122"/>
                <a:ea typeface="微软雅黑" panose="020B0503020204020204" pitchFamily="34" charset="-122"/>
                <a:cs typeface="+mn-ea"/>
              </a:rPr>
              <a:t>10</a:t>
            </a:r>
            <a:r>
              <a:rPr lang="zh-CN" altLang="zh-CN" sz="2000">
                <a:solidFill>
                  <a:srgbClr val="595959"/>
                </a:solidFill>
                <a:latin typeface="微软雅黑" panose="020B0503020204020204" pitchFamily="34" charset="-122"/>
                <a:ea typeface="微软雅黑" panose="020B0503020204020204" pitchFamily="34" charset="-122"/>
                <a:cs typeface="+mn-ea"/>
              </a:rPr>
              <a:t>毫秒内响应，有</a:t>
            </a:r>
            <a:r>
              <a:rPr lang="en-US" altLang="zh-CN" sz="2000">
                <a:solidFill>
                  <a:srgbClr val="595959"/>
                </a:solidFill>
                <a:latin typeface="微软雅黑" panose="020B0503020204020204" pitchFamily="34" charset="-122"/>
                <a:ea typeface="微软雅黑" panose="020B0503020204020204" pitchFamily="34" charset="-122"/>
                <a:cs typeface="+mn-ea"/>
              </a:rPr>
              <a:t>50%</a:t>
            </a:r>
            <a:r>
              <a:rPr lang="zh-CN" altLang="zh-CN" sz="2000">
                <a:solidFill>
                  <a:srgbClr val="595959"/>
                </a:solidFill>
                <a:latin typeface="微软雅黑" panose="020B0503020204020204" pitchFamily="34" charset="-122"/>
                <a:ea typeface="微软雅黑" panose="020B0503020204020204" pitchFamily="34" charset="-122"/>
                <a:cs typeface="+mn-ea"/>
              </a:rPr>
              <a:t>的请求响应时间超过</a:t>
            </a:r>
            <a:r>
              <a:rPr lang="en-US" altLang="zh-CN" sz="2000">
                <a:solidFill>
                  <a:srgbClr val="595959"/>
                </a:solidFill>
                <a:latin typeface="微软雅黑" panose="020B0503020204020204" pitchFamily="34" charset="-122"/>
                <a:ea typeface="微软雅黑" panose="020B0503020204020204" pitchFamily="34" charset="-122"/>
                <a:cs typeface="+mn-ea"/>
              </a:rPr>
              <a:t>10</a:t>
            </a:r>
            <a:r>
              <a:rPr lang="zh-CN" altLang="zh-CN" sz="2000">
                <a:solidFill>
                  <a:srgbClr val="595959"/>
                </a:solidFill>
                <a:latin typeface="微软雅黑" panose="020B0503020204020204" pitchFamily="34" charset="-122"/>
                <a:ea typeface="微软雅黑" panose="020B0503020204020204" pitchFamily="34" charset="-122"/>
                <a:cs typeface="+mn-ea"/>
              </a:rPr>
              <a:t>毫秒。</a:t>
            </a:r>
          </a:p>
          <a:p>
            <a:pPr marL="342900" lvl="0" indent="-342900">
              <a:lnSpc>
                <a:spcPct val="150000"/>
              </a:lnSpc>
              <a:buFont typeface="Wingdings" panose="05000000000000000000" pitchFamily="2" charset="2"/>
              <a:buChar char=""/>
            </a:pPr>
            <a:r>
              <a:rPr lang="en-US" altLang="zh-CN" sz="2000">
                <a:solidFill>
                  <a:srgbClr val="595959"/>
                </a:solidFill>
                <a:latin typeface="微软雅黑" panose="020B0503020204020204" pitchFamily="34" charset="-122"/>
                <a:ea typeface="微软雅黑" panose="020B0503020204020204" pitchFamily="34" charset="-122"/>
                <a:cs typeface="+mn-ea"/>
              </a:rPr>
              <a:t>90%</a:t>
            </a:r>
            <a:r>
              <a:rPr lang="zh-CN" altLang="zh-CN" sz="2000">
                <a:solidFill>
                  <a:srgbClr val="595959"/>
                </a:solidFill>
                <a:latin typeface="微软雅黑" panose="020B0503020204020204" pitchFamily="34" charset="-122"/>
                <a:ea typeface="微软雅黑" panose="020B0503020204020204" pitchFamily="34" charset="-122"/>
                <a:cs typeface="+mn-ea"/>
              </a:rPr>
              <a:t>百分位：</a:t>
            </a:r>
            <a:r>
              <a:rPr lang="en-US" altLang="zh-CN" sz="2000">
                <a:solidFill>
                  <a:srgbClr val="1369B2"/>
                </a:solidFill>
                <a:latin typeface="微软雅黑" panose="020B0503020204020204" pitchFamily="34" charset="-122"/>
                <a:ea typeface="微软雅黑" panose="020B0503020204020204" pitchFamily="34" charset="-122"/>
              </a:rPr>
              <a:t>90%</a:t>
            </a:r>
            <a:r>
              <a:rPr lang="zh-CN" altLang="zh-CN" sz="2000">
                <a:solidFill>
                  <a:srgbClr val="1369B2"/>
                </a:solidFill>
                <a:latin typeface="微软雅黑" panose="020B0503020204020204" pitchFamily="34" charset="-122"/>
                <a:ea typeface="微软雅黑" panose="020B0503020204020204" pitchFamily="34" charset="-122"/>
              </a:rPr>
              <a:t>的请求的响应时间</a:t>
            </a:r>
            <a:r>
              <a:rPr lang="zh-CN" altLang="en-US" sz="2000">
                <a:solidFill>
                  <a:srgbClr val="1369B2"/>
                </a:solidFill>
                <a:latin typeface="微软雅黑" panose="020B0503020204020204" pitchFamily="34" charset="-122"/>
                <a:ea typeface="微软雅黑" panose="020B0503020204020204" pitchFamily="34" charset="-122"/>
              </a:rPr>
              <a:t>少</a:t>
            </a:r>
            <a:r>
              <a:rPr lang="zh-CN" altLang="zh-CN" sz="2000">
                <a:solidFill>
                  <a:srgbClr val="1369B2"/>
                </a:solidFill>
                <a:latin typeface="微软雅黑" panose="020B0503020204020204" pitchFamily="34" charset="-122"/>
                <a:ea typeface="微软雅黑" panose="020B0503020204020204" pitchFamily="34" charset="-122"/>
              </a:rPr>
              <a:t>于该时间</a:t>
            </a:r>
            <a:r>
              <a:rPr lang="zh-CN" altLang="zh-CN" sz="2000">
                <a:solidFill>
                  <a:srgbClr val="595959"/>
                </a:solidFill>
                <a:latin typeface="微软雅黑" panose="020B0503020204020204" pitchFamily="34" charset="-122"/>
                <a:ea typeface="微软雅黑" panose="020B0503020204020204" pitchFamily="34" charset="-122"/>
                <a:cs typeface="+mn-ea"/>
              </a:rPr>
              <a:t>，单位是毫秒。</a:t>
            </a:r>
          </a:p>
          <a:p>
            <a:pPr marL="342900" lvl="0" indent="-342900">
              <a:lnSpc>
                <a:spcPct val="150000"/>
              </a:lnSpc>
              <a:buFont typeface="Wingdings" panose="05000000000000000000" pitchFamily="2" charset="2"/>
              <a:buChar char=""/>
            </a:pPr>
            <a:r>
              <a:rPr lang="en-US" altLang="zh-CN" sz="2000">
                <a:solidFill>
                  <a:srgbClr val="595959"/>
                </a:solidFill>
                <a:latin typeface="微软雅黑" panose="020B0503020204020204" pitchFamily="34" charset="-122"/>
                <a:ea typeface="微软雅黑" panose="020B0503020204020204" pitchFamily="34" charset="-122"/>
                <a:cs typeface="+mn-ea"/>
              </a:rPr>
              <a:t>95%</a:t>
            </a:r>
            <a:r>
              <a:rPr lang="zh-CN" altLang="zh-CN" sz="2000">
                <a:solidFill>
                  <a:srgbClr val="595959"/>
                </a:solidFill>
                <a:latin typeface="微软雅黑" panose="020B0503020204020204" pitchFamily="34" charset="-122"/>
                <a:ea typeface="微软雅黑" panose="020B0503020204020204" pitchFamily="34" charset="-122"/>
                <a:cs typeface="+mn-ea"/>
              </a:rPr>
              <a:t>百分位：</a:t>
            </a:r>
            <a:r>
              <a:rPr lang="en-US" altLang="zh-CN" sz="2000">
                <a:solidFill>
                  <a:srgbClr val="1369B2"/>
                </a:solidFill>
                <a:latin typeface="微软雅黑" panose="020B0503020204020204" pitchFamily="34" charset="-122"/>
                <a:ea typeface="微软雅黑" panose="020B0503020204020204" pitchFamily="34" charset="-122"/>
              </a:rPr>
              <a:t>95%</a:t>
            </a:r>
            <a:r>
              <a:rPr lang="zh-CN" altLang="zh-CN" sz="2000">
                <a:solidFill>
                  <a:srgbClr val="1369B2"/>
                </a:solidFill>
                <a:latin typeface="微软雅黑" panose="020B0503020204020204" pitchFamily="34" charset="-122"/>
                <a:ea typeface="微软雅黑" panose="020B0503020204020204" pitchFamily="34" charset="-122"/>
              </a:rPr>
              <a:t>的请求的响应时间</a:t>
            </a:r>
            <a:r>
              <a:rPr lang="zh-CN" altLang="en-US" sz="2000">
                <a:solidFill>
                  <a:srgbClr val="1369B2"/>
                </a:solidFill>
                <a:latin typeface="微软雅黑" panose="020B0503020204020204" pitchFamily="34" charset="-122"/>
                <a:ea typeface="微软雅黑" panose="020B0503020204020204" pitchFamily="34" charset="-122"/>
              </a:rPr>
              <a:t>少</a:t>
            </a:r>
            <a:r>
              <a:rPr lang="zh-CN" altLang="zh-CN" sz="2000">
                <a:solidFill>
                  <a:srgbClr val="1369B2"/>
                </a:solidFill>
                <a:latin typeface="微软雅黑" panose="020B0503020204020204" pitchFamily="34" charset="-122"/>
                <a:ea typeface="微软雅黑" panose="020B0503020204020204" pitchFamily="34" charset="-122"/>
              </a:rPr>
              <a:t>于该时间</a:t>
            </a:r>
            <a:r>
              <a:rPr lang="zh-CN" altLang="zh-CN" sz="2000">
                <a:solidFill>
                  <a:srgbClr val="595959"/>
                </a:solidFill>
                <a:latin typeface="微软雅黑" panose="020B0503020204020204" pitchFamily="34" charset="-122"/>
                <a:ea typeface="微软雅黑" panose="020B0503020204020204" pitchFamily="34" charset="-122"/>
                <a:cs typeface="+mn-ea"/>
              </a:rPr>
              <a:t>，单位是毫秒。</a:t>
            </a:r>
          </a:p>
          <a:p>
            <a:pPr marL="342900" lvl="0" indent="-342900">
              <a:lnSpc>
                <a:spcPct val="150000"/>
              </a:lnSpc>
              <a:buFont typeface="Wingdings" panose="05000000000000000000" pitchFamily="2" charset="2"/>
              <a:buChar char=""/>
            </a:pPr>
            <a:r>
              <a:rPr lang="en-US" altLang="zh-CN" sz="2000">
                <a:solidFill>
                  <a:srgbClr val="595959"/>
                </a:solidFill>
                <a:latin typeface="微软雅黑" panose="020B0503020204020204" pitchFamily="34" charset="-122"/>
                <a:ea typeface="微软雅黑" panose="020B0503020204020204" pitchFamily="34" charset="-122"/>
                <a:cs typeface="+mn-ea"/>
              </a:rPr>
              <a:t>99%</a:t>
            </a:r>
            <a:r>
              <a:rPr lang="zh-CN" altLang="zh-CN" sz="2000">
                <a:solidFill>
                  <a:srgbClr val="595959"/>
                </a:solidFill>
                <a:latin typeface="微软雅黑" panose="020B0503020204020204" pitchFamily="34" charset="-122"/>
                <a:ea typeface="微软雅黑" panose="020B0503020204020204" pitchFamily="34" charset="-122"/>
                <a:cs typeface="+mn-ea"/>
              </a:rPr>
              <a:t>百分位：</a:t>
            </a:r>
            <a:r>
              <a:rPr lang="en-US" altLang="zh-CN" sz="2000">
                <a:solidFill>
                  <a:srgbClr val="1369B2"/>
                </a:solidFill>
                <a:latin typeface="微软雅黑" panose="020B0503020204020204" pitchFamily="34" charset="-122"/>
                <a:ea typeface="微软雅黑" panose="020B0503020204020204" pitchFamily="34" charset="-122"/>
              </a:rPr>
              <a:t>99%</a:t>
            </a:r>
            <a:r>
              <a:rPr lang="zh-CN" altLang="zh-CN" sz="2000">
                <a:solidFill>
                  <a:srgbClr val="1369B2"/>
                </a:solidFill>
                <a:latin typeface="微软雅黑" panose="020B0503020204020204" pitchFamily="34" charset="-122"/>
                <a:ea typeface="微软雅黑" panose="020B0503020204020204" pitchFamily="34" charset="-122"/>
              </a:rPr>
              <a:t>的请求的响应时间</a:t>
            </a:r>
            <a:r>
              <a:rPr lang="zh-CN" altLang="en-US" sz="2000">
                <a:solidFill>
                  <a:srgbClr val="1369B2"/>
                </a:solidFill>
                <a:latin typeface="微软雅黑" panose="020B0503020204020204" pitchFamily="34" charset="-122"/>
                <a:ea typeface="微软雅黑" panose="020B0503020204020204" pitchFamily="34" charset="-122"/>
              </a:rPr>
              <a:t>少</a:t>
            </a:r>
            <a:r>
              <a:rPr lang="zh-CN" altLang="zh-CN" sz="2000">
                <a:solidFill>
                  <a:srgbClr val="1369B2"/>
                </a:solidFill>
                <a:latin typeface="微软雅黑" panose="020B0503020204020204" pitchFamily="34" charset="-122"/>
                <a:ea typeface="微软雅黑" panose="020B0503020204020204" pitchFamily="34" charset="-122"/>
              </a:rPr>
              <a:t>于该时间</a:t>
            </a:r>
            <a:r>
              <a:rPr lang="zh-CN" altLang="zh-CN" sz="2000">
                <a:solidFill>
                  <a:srgbClr val="595959"/>
                </a:solidFill>
                <a:latin typeface="微软雅黑" panose="020B0503020204020204" pitchFamily="34" charset="-122"/>
                <a:ea typeface="微软雅黑" panose="020B0503020204020204" pitchFamily="34" charset="-122"/>
                <a:cs typeface="+mn-ea"/>
              </a:rPr>
              <a:t>，单位是毫秒。</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监听器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1460677" y="1698470"/>
            <a:ext cx="7845931" cy="3323987"/>
          </a:xfrm>
          <a:prstGeom prst="rect">
            <a:avLst/>
          </a:prstGeom>
        </p:spPr>
        <p:txBody>
          <a:bodyPr wrap="square">
            <a:spAutoFit/>
          </a:bodyPr>
          <a:lstStyle/>
          <a:p>
            <a:pPr marL="34290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最小值：</a:t>
            </a:r>
            <a:r>
              <a:rPr lang="zh-CN" altLang="zh-CN" sz="2000">
                <a:solidFill>
                  <a:srgbClr val="1369B2"/>
                </a:solidFill>
                <a:latin typeface="微软雅黑" panose="020B0503020204020204" pitchFamily="34" charset="-122"/>
                <a:ea typeface="微软雅黑" panose="020B0503020204020204" pitchFamily="34" charset="-122"/>
              </a:rPr>
              <a:t>请求响应的最小时间</a:t>
            </a:r>
            <a:r>
              <a:rPr lang="zh-CN" altLang="zh-CN" sz="2000">
                <a:solidFill>
                  <a:srgbClr val="595959"/>
                </a:solidFill>
                <a:latin typeface="微软雅黑" panose="020B0503020204020204" pitchFamily="34" charset="-122"/>
                <a:ea typeface="微软雅黑" panose="020B0503020204020204" pitchFamily="34" charset="-122"/>
                <a:cs typeface="+mn-ea"/>
              </a:rPr>
              <a:t>，单位是毫秒。</a:t>
            </a:r>
          </a:p>
          <a:p>
            <a:pPr marL="34290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最大值：</a:t>
            </a:r>
            <a:r>
              <a:rPr lang="zh-CN" altLang="zh-CN" sz="2000">
                <a:solidFill>
                  <a:srgbClr val="1369B2"/>
                </a:solidFill>
                <a:latin typeface="微软雅黑" panose="020B0503020204020204" pitchFamily="34" charset="-122"/>
                <a:ea typeface="微软雅黑" panose="020B0503020204020204" pitchFamily="34" charset="-122"/>
              </a:rPr>
              <a:t>请求响应的最大时间</a:t>
            </a:r>
            <a:r>
              <a:rPr lang="zh-CN" altLang="zh-CN" sz="2000">
                <a:solidFill>
                  <a:srgbClr val="595959"/>
                </a:solidFill>
                <a:latin typeface="微软雅黑" panose="020B0503020204020204" pitchFamily="34" charset="-122"/>
                <a:ea typeface="微软雅黑" panose="020B0503020204020204" pitchFamily="34" charset="-122"/>
                <a:cs typeface="+mn-ea"/>
              </a:rPr>
              <a:t>，单位是毫秒。</a:t>
            </a:r>
          </a:p>
          <a:p>
            <a:pPr marL="34290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异常：</a:t>
            </a:r>
            <a:r>
              <a:rPr lang="zh-CN" altLang="zh-CN" sz="2000">
                <a:solidFill>
                  <a:srgbClr val="1369B2"/>
                </a:solidFill>
                <a:latin typeface="微软雅黑" panose="020B0503020204020204" pitchFamily="34" charset="-122"/>
                <a:ea typeface="微软雅黑" panose="020B0503020204020204" pitchFamily="34" charset="-122"/>
              </a:rPr>
              <a:t>请求的错误率</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吞吐量：</a:t>
            </a:r>
            <a:r>
              <a:rPr lang="zh-CN" altLang="zh-CN" sz="2000">
                <a:solidFill>
                  <a:srgbClr val="1369B2"/>
                </a:solidFill>
                <a:latin typeface="微软雅黑" panose="020B0503020204020204" pitchFamily="34" charset="-122"/>
                <a:ea typeface="微软雅黑" panose="020B0503020204020204" pitchFamily="34" charset="-122"/>
              </a:rPr>
              <a:t>服务器单位时间内处理的请求数量</a:t>
            </a:r>
            <a:r>
              <a:rPr lang="zh-CN" altLang="zh-CN" sz="2000">
                <a:solidFill>
                  <a:srgbClr val="595959"/>
                </a:solidFill>
                <a:latin typeface="微软雅黑" panose="020B0503020204020204" pitchFamily="34" charset="-122"/>
                <a:ea typeface="微软雅黑" panose="020B0503020204020204" pitchFamily="34" charset="-122"/>
                <a:cs typeface="+mn-ea"/>
              </a:rPr>
              <a:t>。默认情况下是每秒（</a:t>
            </a:r>
            <a:r>
              <a:rPr lang="en-US" altLang="zh-CN" sz="2000">
                <a:solidFill>
                  <a:srgbClr val="595959"/>
                </a:solidFill>
                <a:latin typeface="微软雅黑" panose="020B0503020204020204" pitchFamily="34" charset="-122"/>
                <a:ea typeface="微软雅黑" panose="020B0503020204020204" pitchFamily="34" charset="-122"/>
                <a:cs typeface="+mn-ea"/>
              </a:rPr>
              <a:t>sec</a:t>
            </a:r>
            <a:r>
              <a:rPr lang="zh-CN" altLang="zh-CN" sz="2000">
                <a:solidFill>
                  <a:srgbClr val="595959"/>
                </a:solidFill>
                <a:latin typeface="微软雅黑" panose="020B0503020204020204" pitchFamily="34" charset="-122"/>
                <a:ea typeface="微软雅黑" panose="020B0503020204020204" pitchFamily="34" charset="-122"/>
                <a:cs typeface="+mn-ea"/>
              </a:rPr>
              <a:t>）处理的请求数量，通常认为吞吐量就是</a:t>
            </a:r>
            <a:r>
              <a:rPr lang="en-US" altLang="zh-CN" sz="2000">
                <a:solidFill>
                  <a:srgbClr val="595959"/>
                </a:solidFill>
                <a:latin typeface="微软雅黑" panose="020B0503020204020204" pitchFamily="34" charset="-122"/>
                <a:ea typeface="微软雅黑" panose="020B0503020204020204" pitchFamily="34" charset="-122"/>
                <a:cs typeface="+mn-ea"/>
              </a:rPr>
              <a:t>TPS</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接收</a:t>
            </a:r>
            <a:r>
              <a:rPr lang="en-US" altLang="zh-CN" sz="2000">
                <a:solidFill>
                  <a:srgbClr val="595959"/>
                </a:solidFill>
                <a:latin typeface="微软雅黑" panose="020B0503020204020204" pitchFamily="34" charset="-122"/>
                <a:ea typeface="微软雅黑" panose="020B0503020204020204" pitchFamily="34" charset="-122"/>
                <a:cs typeface="+mn-ea"/>
              </a:rPr>
              <a:t>KB/sec</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每秒从服务器接收到的数据量</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
            </a:pPr>
            <a:r>
              <a:rPr lang="zh-CN" altLang="zh-CN" sz="2000">
                <a:solidFill>
                  <a:srgbClr val="595959"/>
                </a:solidFill>
                <a:latin typeface="微软雅黑" panose="020B0503020204020204" pitchFamily="34" charset="-122"/>
                <a:ea typeface="微软雅黑" panose="020B0503020204020204" pitchFamily="34" charset="-122"/>
                <a:cs typeface="+mn-ea"/>
              </a:rPr>
              <a:t>发送</a:t>
            </a:r>
            <a:r>
              <a:rPr lang="en-US" altLang="zh-CN" sz="2000">
                <a:solidFill>
                  <a:srgbClr val="595959"/>
                </a:solidFill>
                <a:latin typeface="微软雅黑" panose="020B0503020204020204" pitchFamily="34" charset="-122"/>
                <a:ea typeface="微软雅黑" panose="020B0503020204020204" pitchFamily="34" charset="-122"/>
                <a:cs typeface="+mn-ea"/>
              </a:rPr>
              <a:t>KB/sec</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每秒发送的数据量</a:t>
            </a:r>
            <a:r>
              <a:rPr lang="zh-CN" altLang="zh-CN" sz="200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1" name="图片 10"/>
          <p:cNvPicPr>
            <a:picLocks noChangeAspect="1"/>
          </p:cNvPicPr>
          <p:nvPr/>
        </p:nvPicPr>
        <p:blipFill>
          <a:blip r:embed="rId3"/>
          <a:stretch>
            <a:fillRect/>
          </a:stretch>
        </p:blipFill>
        <p:spPr>
          <a:xfrm>
            <a:off x="1011196" y="1629594"/>
            <a:ext cx="3715858" cy="4006159"/>
          </a:xfrm>
          <a:prstGeom prst="rect">
            <a:avLst/>
          </a:prstGeom>
        </p:spPr>
      </p:pic>
      <p:sp>
        <p:nvSpPr>
          <p:cNvPr id="14" name="文本框 7"/>
          <p:cNvSpPr txBox="1"/>
          <p:nvPr/>
        </p:nvSpPr>
        <p:spPr>
          <a:xfrm>
            <a:off x="5297791" y="2113825"/>
            <a:ext cx="6221274" cy="1938992"/>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性能测试中为了</a:t>
            </a:r>
            <a:r>
              <a:rPr lang="zh-CN" altLang="zh-CN" sz="2000" dirty="0">
                <a:solidFill>
                  <a:srgbClr val="1369B2"/>
                </a:solidFill>
                <a:latin typeface="微软雅黑" panose="020B0503020204020204" pitchFamily="34" charset="-122"/>
                <a:ea typeface="微软雅黑" panose="020B0503020204020204" pitchFamily="34" charset="-122"/>
              </a:rPr>
              <a:t>模拟大量用户操作</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往往需要</a:t>
            </a:r>
            <a:r>
              <a:rPr lang="zh-CN" altLang="en-US" sz="2000">
                <a:solidFill>
                  <a:srgbClr val="595959"/>
                </a:solidFill>
                <a:latin typeface="微软雅黑" panose="020B0503020204020204" pitchFamily="34" charset="-122"/>
                <a:ea typeface="微软雅黑" panose="020B0503020204020204" pitchFamily="34" charset="-122"/>
                <a:cs typeface="+mn-ea"/>
              </a:rPr>
              <a:t>进行</a:t>
            </a:r>
            <a:r>
              <a:rPr lang="zh-CN" altLang="zh-CN" sz="2000">
                <a:solidFill>
                  <a:srgbClr val="1369B2"/>
                </a:solidFill>
                <a:latin typeface="微软雅黑" panose="020B0503020204020204" pitchFamily="34" charset="-122"/>
                <a:ea typeface="微软雅黑" panose="020B0503020204020204" pitchFamily="34" charset="-122"/>
              </a:rPr>
              <a:t>参数</a:t>
            </a:r>
            <a:r>
              <a:rPr lang="zh-CN" altLang="zh-CN" sz="2000" dirty="0">
                <a:solidFill>
                  <a:srgbClr val="1369B2"/>
                </a:solidFill>
                <a:latin typeface="微软雅黑" panose="020B0503020204020204" pitchFamily="34" charset="-122"/>
                <a:ea typeface="微软雅黑" panose="020B0503020204020204" pitchFamily="34" charset="-122"/>
              </a:rPr>
              <a:t>化</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中的参数化可以通过</a:t>
            </a:r>
            <a:r>
              <a:rPr lang="zh-CN" altLang="zh-CN" sz="2000" dirty="0">
                <a:solidFill>
                  <a:srgbClr val="1369B2"/>
                </a:solidFill>
                <a:latin typeface="微软雅黑" panose="020B0503020204020204" pitchFamily="34" charset="-122"/>
                <a:ea typeface="微软雅黑" panose="020B0503020204020204" pitchFamily="34" charset="-122"/>
              </a:rPr>
              <a:t>配置元件</a:t>
            </a:r>
            <a:r>
              <a:rPr lang="zh-CN" altLang="zh-CN" sz="2000" dirty="0">
                <a:solidFill>
                  <a:srgbClr val="595959"/>
                </a:solidFill>
                <a:latin typeface="微软雅黑" panose="020B0503020204020204" pitchFamily="34" charset="-122"/>
                <a:ea typeface="微软雅黑" panose="020B0503020204020204" pitchFamily="34" charset="-122"/>
                <a:cs typeface="+mn-ea"/>
              </a:rPr>
              <a:t>完成。配置元件可以</a:t>
            </a:r>
            <a:r>
              <a:rPr lang="zh-CN" altLang="zh-CN" sz="2000" dirty="0">
                <a:solidFill>
                  <a:srgbClr val="1369B2"/>
                </a:solidFill>
                <a:latin typeface="微软雅黑" panose="020B0503020204020204" pitchFamily="34" charset="-122"/>
                <a:ea typeface="微软雅黑" panose="020B0503020204020204" pitchFamily="34" charset="-122"/>
              </a:rPr>
              <a:t>配置测试计划的一些公用信息</a:t>
            </a:r>
            <a:r>
              <a:rPr lang="zh-CN" altLang="zh-CN" sz="2000" dirty="0">
                <a:solidFill>
                  <a:srgbClr val="595959"/>
                </a:solidFill>
                <a:latin typeface="微软雅黑" panose="020B0503020204020204" pitchFamily="34" charset="-122"/>
                <a:ea typeface="微软雅黑" panose="020B0503020204020204" pitchFamily="34" charset="-122"/>
                <a:cs typeface="+mn-ea"/>
              </a:rPr>
              <a:t>（参数），其配置会影响作用域内的所有元件。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Group 14"/>
          <p:cNvGrpSpPr/>
          <p:nvPr/>
        </p:nvGrpSpPr>
        <p:grpSpPr>
          <a:xfrm>
            <a:off x="5379143" y="3062299"/>
            <a:ext cx="1414667" cy="1619124"/>
            <a:chOff x="5379142" y="2991066"/>
            <a:chExt cx="1414667" cy="1619124"/>
          </a:xfrm>
        </p:grpSpPr>
        <p:sp>
          <p:nvSpPr>
            <p:cNvPr id="8" name="Shape 1723"/>
            <p:cNvSpPr/>
            <p:nvPr/>
          </p:nvSpPr>
          <p:spPr>
            <a:xfrm rot="18900000">
              <a:off x="5379143"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9" name="Shape 1726"/>
            <p:cNvSpPr/>
            <p:nvPr/>
          </p:nvSpPr>
          <p:spPr>
            <a:xfrm rot="18900000">
              <a:off x="5379142"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0" name="Group 12"/>
          <p:cNvGrpSpPr/>
          <p:nvPr/>
        </p:nvGrpSpPr>
        <p:grpSpPr>
          <a:xfrm>
            <a:off x="3563871" y="3270642"/>
            <a:ext cx="1414667" cy="1619124"/>
            <a:chOff x="3563871" y="3199409"/>
            <a:chExt cx="1414666" cy="1619124"/>
          </a:xfrm>
        </p:grpSpPr>
        <p:sp>
          <p:nvSpPr>
            <p:cNvPr id="13" name="Shape 1722"/>
            <p:cNvSpPr/>
            <p:nvPr/>
          </p:nvSpPr>
          <p:spPr>
            <a:xfrm rot="8100000">
              <a:off x="3563871" y="3403867"/>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5" name="Shape 1729"/>
            <p:cNvSpPr/>
            <p:nvPr/>
          </p:nvSpPr>
          <p:spPr>
            <a:xfrm rot="8100000">
              <a:off x="3563871"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6" name="Group 11"/>
          <p:cNvGrpSpPr/>
          <p:nvPr/>
        </p:nvGrpSpPr>
        <p:grpSpPr>
          <a:xfrm>
            <a:off x="1743076" y="3062299"/>
            <a:ext cx="1414667" cy="1619124"/>
            <a:chOff x="1743076" y="2991066"/>
            <a:chExt cx="1414666" cy="1619124"/>
          </a:xfrm>
        </p:grpSpPr>
        <p:sp>
          <p:nvSpPr>
            <p:cNvPr id="17" name="Shape 1721"/>
            <p:cNvSpPr/>
            <p:nvPr/>
          </p:nvSpPr>
          <p:spPr>
            <a:xfrm rot="18900000">
              <a:off x="1743076"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18" name="Shape 1732"/>
            <p:cNvSpPr/>
            <p:nvPr/>
          </p:nvSpPr>
          <p:spPr>
            <a:xfrm rot="18900000">
              <a:off x="1743076"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19" name="Group 15"/>
          <p:cNvGrpSpPr/>
          <p:nvPr/>
        </p:nvGrpSpPr>
        <p:grpSpPr>
          <a:xfrm>
            <a:off x="7199937" y="3270642"/>
            <a:ext cx="1414667" cy="1619125"/>
            <a:chOff x="7199937" y="3199409"/>
            <a:chExt cx="1414666" cy="1619125"/>
          </a:xfrm>
        </p:grpSpPr>
        <p:sp>
          <p:nvSpPr>
            <p:cNvPr id="20" name="Shape 1724"/>
            <p:cNvSpPr/>
            <p:nvPr/>
          </p:nvSpPr>
          <p:spPr>
            <a:xfrm rot="8100000">
              <a:off x="7199937" y="3403868"/>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21" name="Shape 1735"/>
            <p:cNvSpPr/>
            <p:nvPr/>
          </p:nvSpPr>
          <p:spPr>
            <a:xfrm rot="8100000">
              <a:off x="7199937" y="3199409"/>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grpSp>
      <p:grpSp>
        <p:nvGrpSpPr>
          <p:cNvPr id="22" name="Group 16"/>
          <p:cNvGrpSpPr/>
          <p:nvPr/>
        </p:nvGrpSpPr>
        <p:grpSpPr>
          <a:xfrm>
            <a:off x="9015209" y="3062299"/>
            <a:ext cx="1414667" cy="1619124"/>
            <a:chOff x="9015209" y="2991066"/>
            <a:chExt cx="1414666" cy="1619124"/>
          </a:xfrm>
        </p:grpSpPr>
        <p:sp>
          <p:nvSpPr>
            <p:cNvPr id="23" name="Shape 1725"/>
            <p:cNvSpPr/>
            <p:nvPr/>
          </p:nvSpPr>
          <p:spPr>
            <a:xfrm rot="18900000">
              <a:off x="9015209" y="2991066"/>
              <a:ext cx="1414666" cy="1414666"/>
            </a:xfrm>
            <a:prstGeom prst="roundRect">
              <a:avLst>
                <a:gd name="adj" fmla="val 15000"/>
              </a:avLst>
            </a:prstGeom>
            <a:solidFill>
              <a:srgbClr val="0070C0"/>
            </a:solidFill>
            <a:ln w="12700">
              <a:miter lim="400000"/>
            </a:ln>
          </p:spPr>
          <p:txBody>
            <a:bodyPr lIns="67733" tIns="67733" rIns="67733" bIns="67733" anchor="ctr"/>
            <a:lstStyle/>
            <a:p>
              <a:pPr>
                <a:spcBef>
                  <a:spcPts val="4500"/>
                </a:spcBef>
                <a:defRPr sz="2500">
                  <a:latin typeface="Aller Light"/>
                  <a:ea typeface="Aller Light"/>
                  <a:cs typeface="Aller Light"/>
                  <a:sym typeface="Aller Light"/>
                </a:defRPr>
              </a:pPr>
              <a:endParaRPr sz="3335">
                <a:latin typeface="微软雅黑" panose="020B0503020204020204" pitchFamily="34" charset="-122"/>
                <a:ea typeface="微软雅黑" panose="020B0503020204020204" pitchFamily="34" charset="-122"/>
                <a:cs typeface="+mn-ea"/>
                <a:sym typeface="+mn-lt"/>
              </a:endParaRPr>
            </a:p>
          </p:txBody>
        </p:sp>
        <p:sp>
          <p:nvSpPr>
            <p:cNvPr id="24" name="Shape 1738"/>
            <p:cNvSpPr/>
            <p:nvPr/>
          </p:nvSpPr>
          <p:spPr>
            <a:xfrm rot="18900000">
              <a:off x="9015209" y="3195523"/>
              <a:ext cx="1414666" cy="1414667"/>
            </a:xfrm>
            <a:prstGeom prst="roundRect">
              <a:avLst>
                <a:gd name="adj" fmla="val 15000"/>
              </a:avLst>
            </a:prstGeom>
            <a:solidFill>
              <a:schemeClr val="bg2"/>
            </a:solidFill>
            <a:ln w="12700" cap="flat">
              <a:noFill/>
              <a:miter lim="400000"/>
            </a:ln>
            <a:effectLst/>
          </p:spPr>
          <p:txBody>
            <a:bodyPr wrap="square" lIns="67733" tIns="67733" rIns="67733" bIns="67733" numCol="1" anchor="ctr">
              <a:noAutofit/>
            </a:bodyPr>
            <a:lstStyle/>
            <a:p>
              <a:pPr>
                <a:spcBef>
                  <a:spcPts val="4500"/>
                </a:spcBef>
                <a:defRPr sz="2500">
                  <a:latin typeface="Aller Light"/>
                  <a:ea typeface="Aller Light"/>
                  <a:cs typeface="Aller Light"/>
                  <a:sym typeface="Aller Light"/>
                </a:defRPr>
              </a:pPr>
              <a:endParaRPr sz="3335" dirty="0">
                <a:latin typeface="微软雅黑" panose="020B0503020204020204" pitchFamily="34" charset="-122"/>
                <a:ea typeface="微软雅黑" panose="020B0503020204020204" pitchFamily="34" charset="-122"/>
                <a:cs typeface="+mn-ea"/>
                <a:sym typeface="+mn-lt"/>
              </a:endParaRPr>
            </a:p>
          </p:txBody>
        </p:sp>
      </p:grpSp>
      <p:sp>
        <p:nvSpPr>
          <p:cNvPr id="25" name="Text Placeholder 4"/>
          <p:cNvSpPr txBox="1"/>
          <p:nvPr/>
        </p:nvSpPr>
        <p:spPr>
          <a:xfrm>
            <a:off x="1845000" y="3840206"/>
            <a:ext cx="1269395" cy="338752"/>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用户定义的变量</a:t>
            </a:r>
            <a:endParaRPr lang="en-GB"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
        <p:nvSpPr>
          <p:cNvPr id="26" name="Text Placeholder 4"/>
          <p:cNvSpPr txBox="1"/>
          <p:nvPr/>
        </p:nvSpPr>
        <p:spPr>
          <a:xfrm>
            <a:off x="3665794" y="3769633"/>
            <a:ext cx="1420361" cy="555146"/>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HTTP</a:t>
            </a: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信息头管理器</a:t>
            </a:r>
            <a:endParaRPr lang="en-GB"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
        <p:nvSpPr>
          <p:cNvPr id="27" name="Text Placeholder 4"/>
          <p:cNvSpPr txBox="1"/>
          <p:nvPr/>
        </p:nvSpPr>
        <p:spPr>
          <a:xfrm>
            <a:off x="5480353" y="3840206"/>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HTTP</a:t>
            </a: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请求默认值</a:t>
            </a:r>
            <a:endParaRPr lang="en-GB"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
        <p:nvSpPr>
          <p:cNvPr id="28" name="Text Placeholder 4"/>
          <p:cNvSpPr txBox="1"/>
          <p:nvPr/>
        </p:nvSpPr>
        <p:spPr>
          <a:xfrm>
            <a:off x="9231433" y="3840206"/>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计数器</a:t>
            </a:r>
            <a:endParaRPr lang="en-GB"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
        <p:nvSpPr>
          <p:cNvPr id="29" name="Text Placeholder 4"/>
          <p:cNvSpPr txBox="1"/>
          <p:nvPr/>
        </p:nvSpPr>
        <p:spPr>
          <a:xfrm>
            <a:off x="7301860" y="3911193"/>
            <a:ext cx="1210819" cy="267765"/>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CSV</a:t>
            </a: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rPr>
              <a:t>数据文件设置</a:t>
            </a:r>
            <a:endParaRPr lang="en-GB" altLang="zh-CN" sz="18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354939" y="1430152"/>
            <a:ext cx="3518912" cy="400110"/>
          </a:xfrm>
          <a:prstGeom prst="rect">
            <a:avLst/>
          </a:prstGeom>
        </p:spPr>
        <p:txBody>
          <a:bodyPr wrap="none">
            <a:spAutoFit/>
          </a:bodyPr>
          <a:lstStyle/>
          <a:p>
            <a:r>
              <a:rPr lang="zh-CN" altLang="zh-CN" sz="2000" dirty="0">
                <a:solidFill>
                  <a:schemeClr val="lt1"/>
                </a:solidFill>
                <a:latin typeface="微软雅黑" panose="020B0503020204020204" pitchFamily="34" charset="-122"/>
                <a:ea typeface="微软雅黑" panose="020B0503020204020204" pitchFamily="34" charset="-122"/>
              </a:rPr>
              <a:t>配置元件中常用的参数化工具</a:t>
            </a:r>
            <a:endParaRPr lang="zh-CN" altLang="en-US" sz="2000" dirty="0">
              <a:solidFill>
                <a:schemeClr val="lt1"/>
              </a:solidFill>
              <a:latin typeface="微软雅黑" panose="020B0503020204020204" pitchFamily="34" charset="-122"/>
              <a:ea typeface="微软雅黑" panose="020B0503020204020204" pitchFamily="34" charset="-122"/>
            </a:endParaRPr>
          </a:p>
        </p:txBody>
      </p:sp>
      <p:sp>
        <p:nvSpPr>
          <p:cNvPr id="3" name="矩形 2"/>
          <p:cNvSpPr/>
          <p:nvPr/>
        </p:nvSpPr>
        <p:spPr>
          <a:xfrm>
            <a:off x="1224791" y="1171031"/>
            <a:ext cx="10068643" cy="1015663"/>
          </a:xfrm>
          <a:prstGeom prst="rect">
            <a:avLst/>
          </a:prstGeom>
        </p:spPr>
        <p:txBody>
          <a:bodyPr wrap="square">
            <a:spAutoFit/>
          </a:bodyPr>
          <a:lstStyle/>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配置元件常用的参数化工具有</a:t>
            </a:r>
            <a:r>
              <a:rPr lang="en-US" altLang="zh-CN" sz="2000">
                <a:solidFill>
                  <a:srgbClr val="1369B2"/>
                </a:solidFill>
                <a:latin typeface="微软雅黑" panose="020B0503020204020204" pitchFamily="34" charset="-122"/>
                <a:ea typeface="微软雅黑" panose="020B0503020204020204" pitchFamily="34" charset="-122"/>
              </a:rPr>
              <a:t>用户定义的变量</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HTTP 信息头管理器</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HTTP 请求默认值</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rPr>
              <a:t>CSV 数据文件设置</a:t>
            </a:r>
            <a:r>
              <a:rPr lang="en-US" altLang="zh-CN" sz="2000">
                <a:solidFill>
                  <a:srgbClr val="595959"/>
                </a:solidFill>
                <a:latin typeface="微软雅黑" panose="020B0503020204020204" pitchFamily="34" charset="-122"/>
                <a:ea typeface="微软雅黑" panose="020B0503020204020204" pitchFamily="34" charset="-122"/>
                <a:cs typeface="+mn-ea"/>
              </a:rPr>
              <a:t>和</a:t>
            </a:r>
            <a:r>
              <a:rPr lang="en-US" altLang="zh-CN" sz="2000">
                <a:solidFill>
                  <a:srgbClr val="1369B2"/>
                </a:solidFill>
                <a:latin typeface="微软雅黑" panose="020B0503020204020204" pitchFamily="34" charset="-122"/>
                <a:ea typeface="微软雅黑" panose="020B0503020204020204" pitchFamily="34" charset="-122"/>
              </a:rPr>
              <a:t>计数器</a:t>
            </a:r>
            <a:r>
              <a:rPr lang="zh-CN" altLang="en-US" sz="200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1" name="圆角矩形 30"/>
          <p:cNvSpPr/>
          <p:nvPr/>
        </p:nvSpPr>
        <p:spPr>
          <a:xfrm>
            <a:off x="1043492" y="965665"/>
            <a:ext cx="2519106"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用户定义的变量</a:t>
            </a:r>
          </a:p>
        </p:txBody>
      </p:sp>
      <p:sp>
        <p:nvSpPr>
          <p:cNvPr id="3" name="矩形 2"/>
          <p:cNvSpPr/>
          <p:nvPr/>
        </p:nvSpPr>
        <p:spPr>
          <a:xfrm>
            <a:off x="1043492" y="1738234"/>
            <a:ext cx="10355192" cy="1938992"/>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用户定义的变量可以被其作用域范围内的所有元件引用</a:t>
            </a:r>
            <a:r>
              <a:rPr lang="zh-CN" altLang="zh-CN" sz="2000" dirty="0">
                <a:solidFill>
                  <a:srgbClr val="595959"/>
                </a:solidFill>
                <a:latin typeface="微软雅黑" panose="020B0503020204020204" pitchFamily="34" charset="-122"/>
                <a:ea typeface="微软雅黑" panose="020B0503020204020204" pitchFamily="34" charset="-122"/>
                <a:cs typeface="+mn-ea"/>
              </a:rPr>
              <a:t>。如果在测试计划中需要使用用户定义的变量，则可以选中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a:t>
            </a:r>
            <a:r>
              <a:rPr lang="zh-CN" altLang="zh-CN" sz="2000">
                <a:solidFill>
                  <a:srgbClr val="1369B2"/>
                </a:solidFill>
                <a:latin typeface="微软雅黑" panose="020B0503020204020204" pitchFamily="34" charset="-122"/>
                <a:ea typeface="微软雅黑" panose="020B0503020204020204" pitchFamily="34" charset="-122"/>
              </a:rPr>
              <a:t>测试计划</a:t>
            </a:r>
            <a:r>
              <a:rPr lang="zh-CN" altLang="zh-CN" sz="2000">
                <a:solidFill>
                  <a:srgbClr val="595959"/>
                </a:solidFill>
                <a:latin typeface="微软雅黑" panose="020B0503020204020204" pitchFamily="34" charset="-122"/>
                <a:ea typeface="微软雅黑" panose="020B0503020204020204" pitchFamily="34" charset="-122"/>
                <a:cs typeface="+mn-ea"/>
              </a:rPr>
              <a:t>并</a:t>
            </a:r>
            <a:r>
              <a:rPr lang="zh-CN" altLang="en-US" sz="2000">
                <a:solidFill>
                  <a:srgbClr val="1369B2"/>
                </a:solidFill>
                <a:latin typeface="微软雅黑" panose="020B0503020204020204" pitchFamily="34" charset="-122"/>
                <a:ea typeface="微软雅黑" panose="020B0503020204020204" pitchFamily="34" charset="-122"/>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“配置元件”</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“用户定义的变量”</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，会添加一个用户定义的</a:t>
            </a:r>
            <a:r>
              <a:rPr lang="zh-CN" altLang="zh-CN" sz="2000">
                <a:solidFill>
                  <a:srgbClr val="595959"/>
                </a:solidFill>
                <a:latin typeface="微软雅黑" panose="020B0503020204020204" pitchFamily="34" charset="-122"/>
                <a:ea typeface="微软雅黑" panose="020B0503020204020204" pitchFamily="34" charset="-122"/>
                <a:cs typeface="+mn-ea"/>
              </a:rPr>
              <a:t>变量界面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0669" y="3677226"/>
            <a:ext cx="6473086" cy="293679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354939" y="1430152"/>
            <a:ext cx="3518912" cy="400110"/>
          </a:xfrm>
          <a:prstGeom prst="rect">
            <a:avLst/>
          </a:prstGeom>
        </p:spPr>
        <p:txBody>
          <a:bodyPr wrap="none">
            <a:spAutoFit/>
          </a:bodyPr>
          <a:lstStyle/>
          <a:p>
            <a:r>
              <a:rPr lang="zh-CN" altLang="zh-CN" sz="2000" dirty="0">
                <a:solidFill>
                  <a:schemeClr val="lt1"/>
                </a:solidFill>
                <a:latin typeface="微软雅黑" panose="020B0503020204020204" pitchFamily="34" charset="-122"/>
                <a:ea typeface="微软雅黑" panose="020B0503020204020204" pitchFamily="34" charset="-122"/>
              </a:rPr>
              <a:t>配置元件中常用的参数化工具</a:t>
            </a:r>
            <a:endParaRPr lang="zh-CN" altLang="en-US" sz="2000" dirty="0">
              <a:solidFill>
                <a:schemeClr val="lt1"/>
              </a:solidFill>
              <a:latin typeface="微软雅黑" panose="020B0503020204020204" pitchFamily="34" charset="-122"/>
              <a:ea typeface="微软雅黑" panose="020B0503020204020204" pitchFamily="34" charset="-122"/>
            </a:endParaRPr>
          </a:p>
        </p:txBody>
      </p:sp>
      <p:sp>
        <p:nvSpPr>
          <p:cNvPr id="5" name="矩形 4"/>
          <p:cNvSpPr/>
          <p:nvPr/>
        </p:nvSpPr>
        <p:spPr>
          <a:xfrm>
            <a:off x="1013060" y="959545"/>
            <a:ext cx="10458504"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zh-CN" sz="2000" dirty="0">
                <a:solidFill>
                  <a:srgbClr val="1369B2"/>
                </a:solidFill>
                <a:latin typeface="微软雅黑" panose="020B0503020204020204" pitchFamily="34" charset="-122"/>
                <a:ea typeface="微软雅黑" panose="020B0503020204020204" pitchFamily="34" charset="-122"/>
              </a:rPr>
              <a:t>用户定义的变量</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本案例要求使用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发送一个</a:t>
            </a:r>
            <a:r>
              <a:rPr lang="en-US" altLang="zh-CN" sz="2000" dirty="0">
                <a:solidFill>
                  <a:srgbClr val="1369B2"/>
                </a:solidFill>
                <a:latin typeface="微软雅黑" panose="020B0503020204020204" pitchFamily="34" charset="-122"/>
                <a:ea typeface="微软雅黑" panose="020B0503020204020204" pitchFamily="34" charset="-122"/>
              </a:rPr>
              <a:t>GET</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，请求地址为</a:t>
            </a:r>
            <a:r>
              <a:rPr lang="en-US" altLang="zh-CN" sz="2000" dirty="0">
                <a:solidFill>
                  <a:srgbClr val="1369B2"/>
                </a:solidFill>
                <a:latin typeface="微软雅黑" panose="020B0503020204020204" pitchFamily="34" charset="-122"/>
                <a:ea typeface="微软雅黑" panose="020B0503020204020204" pitchFamily="34" charset="-122"/>
              </a:rPr>
              <a:t>https://www.baidu.com:443</a:t>
            </a:r>
            <a:r>
              <a:rPr lang="zh-CN" altLang="zh-CN" sz="2000" dirty="0">
                <a:solidFill>
                  <a:srgbClr val="595959"/>
                </a:solidFill>
                <a:latin typeface="微软雅黑" panose="020B0503020204020204" pitchFamily="34" charset="-122"/>
                <a:ea typeface="微软雅黑" panose="020B0503020204020204" pitchFamily="34" charset="-122"/>
                <a:cs typeface="+mn-ea"/>
              </a:rPr>
              <a:t>，通过用户定义的变量定义变量</a:t>
            </a:r>
            <a:r>
              <a:rPr lang="en-US" altLang="zh-CN" sz="2000" dirty="0">
                <a:solidFill>
                  <a:srgbClr val="1369B2"/>
                </a:solidFill>
                <a:latin typeface="微软雅黑" panose="020B0503020204020204" pitchFamily="34" charset="-122"/>
                <a:ea typeface="微软雅黑" panose="020B0503020204020204" pitchFamily="34" charset="-122"/>
              </a:rPr>
              <a:t>protocol</a:t>
            </a:r>
            <a:r>
              <a:rPr lang="zh-CN" altLang="zh-CN" sz="2000" dirty="0">
                <a:solidFill>
                  <a:srgbClr val="1369B2"/>
                </a:solidFill>
                <a:latin typeface="微软雅黑" panose="020B0503020204020204" pitchFamily="34" charset="-122"/>
                <a:ea typeface="微软雅黑" panose="020B0503020204020204" pitchFamily="34" charset="-122"/>
              </a:rPr>
              <a:t>（协议）</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domain</a:t>
            </a:r>
            <a:r>
              <a:rPr lang="zh-CN" altLang="zh-CN" sz="2000" dirty="0">
                <a:solidFill>
                  <a:srgbClr val="1369B2"/>
                </a:solidFill>
                <a:latin typeface="微软雅黑" panose="020B0503020204020204" pitchFamily="34" charset="-122"/>
                <a:ea typeface="微软雅黑" panose="020B0503020204020204" pitchFamily="34" charset="-122"/>
              </a:rPr>
              <a:t>（域名）</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rPr>
              <a:t>port</a:t>
            </a:r>
            <a:r>
              <a:rPr lang="zh-CN" altLang="zh-CN" sz="2000" dirty="0">
                <a:solidFill>
                  <a:srgbClr val="1369B2"/>
                </a:solidFill>
                <a:latin typeface="微软雅黑" panose="020B0503020204020204" pitchFamily="34" charset="-122"/>
                <a:ea typeface="微软雅黑" panose="020B0503020204020204" pitchFamily="34" charset="-122"/>
              </a:rPr>
              <a:t>（端口），</a:t>
            </a:r>
            <a:r>
              <a:rPr lang="zh-CN" altLang="zh-CN" sz="2000" dirty="0">
                <a:solidFill>
                  <a:srgbClr val="595959"/>
                </a:solidFill>
                <a:latin typeface="微软雅黑" panose="020B0503020204020204" pitchFamily="34" charset="-122"/>
                <a:ea typeface="微软雅黑" panose="020B0503020204020204" pitchFamily="34" charset="-122"/>
                <a:cs typeface="+mn-ea"/>
              </a:rPr>
              <a:t>使用这</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个变量实现请求的参数化。</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690" y="2907480"/>
            <a:ext cx="4928709" cy="2388915"/>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93110" y="2907480"/>
            <a:ext cx="4591565" cy="240463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259270" y="1067579"/>
            <a:ext cx="7915410" cy="553998"/>
          </a:xfrm>
          <a:prstGeom prst="rect">
            <a:avLst/>
          </a:prstGeom>
        </p:spPr>
        <p:txBody>
          <a:bodyPr wrap="square">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CSV</a:t>
            </a:r>
            <a:r>
              <a:rPr lang="zh-CN" altLang="zh-CN" sz="2000" dirty="0">
                <a:solidFill>
                  <a:srgbClr val="1369B2"/>
                </a:solidFill>
                <a:latin typeface="微软雅黑" panose="020B0503020204020204" pitchFamily="34" charset="-122"/>
                <a:ea typeface="微软雅黑" panose="020B0503020204020204" pitchFamily="34" charset="-122"/>
              </a:rPr>
              <a:t>数据文件设置的主要配置项</a:t>
            </a:r>
            <a:r>
              <a:rPr lang="zh-CN" altLang="en-US" sz="2000" dirty="0">
                <a:solidFill>
                  <a:srgbClr val="595959"/>
                </a:solidFill>
                <a:latin typeface="微软雅黑" panose="020B0503020204020204" pitchFamily="34" charset="-122"/>
                <a:ea typeface="微软雅黑" panose="020B0503020204020204" pitchFamily="34" charset="-122"/>
                <a:cs typeface="+mn-ea"/>
              </a:rPr>
              <a:t>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259270" y="1916075"/>
            <a:ext cx="9321644" cy="3323987"/>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文件名：</a:t>
            </a:r>
            <a:r>
              <a:rPr lang="zh-CN" altLang="zh-CN" sz="2000" dirty="0">
                <a:solidFill>
                  <a:srgbClr val="1369B2"/>
                </a:solidFill>
                <a:latin typeface="微软雅黑" panose="020B0503020204020204" pitchFamily="34" charset="-122"/>
                <a:ea typeface="微软雅黑" panose="020B0503020204020204" pitchFamily="34" charset="-122"/>
              </a:rPr>
              <a:t>数据文件名</a:t>
            </a:r>
            <a:r>
              <a:rPr lang="zh-CN" altLang="zh-CN" sz="2000" dirty="0">
                <a:solidFill>
                  <a:srgbClr val="595959"/>
                </a:solidFill>
                <a:latin typeface="微软雅黑" panose="020B0503020204020204" pitchFamily="34" charset="-122"/>
                <a:ea typeface="微软雅黑" panose="020B0503020204020204" pitchFamily="34" charset="-122"/>
                <a:cs typeface="+mn-ea"/>
              </a:rPr>
              <a:t>，包括路径。</a:t>
            </a:r>
          </a:p>
          <a:p>
            <a:pPr marL="28575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文件编码：</a:t>
            </a:r>
            <a:r>
              <a:rPr lang="zh-CN" altLang="zh-CN" sz="2000" dirty="0">
                <a:solidFill>
                  <a:srgbClr val="1369B2"/>
                </a:solidFill>
                <a:latin typeface="微软雅黑" panose="020B0503020204020204" pitchFamily="34" charset="-122"/>
                <a:ea typeface="微软雅黑" panose="020B0503020204020204" pitchFamily="34" charset="-122"/>
              </a:rPr>
              <a:t>文件的编码格式</a:t>
            </a:r>
            <a:r>
              <a:rPr lang="zh-CN" altLang="zh-CN" sz="2000" dirty="0">
                <a:solidFill>
                  <a:srgbClr val="595959"/>
                </a:solidFill>
                <a:latin typeface="微软雅黑" panose="020B0503020204020204" pitchFamily="34" charset="-122"/>
                <a:ea typeface="微软雅黑" panose="020B0503020204020204" pitchFamily="34" charset="-122"/>
                <a:cs typeface="+mn-ea"/>
              </a:rPr>
              <a:t>，通常是</a:t>
            </a:r>
            <a:r>
              <a:rPr lang="en-US" altLang="zh-CN" sz="2000" dirty="0">
                <a:solidFill>
                  <a:srgbClr val="595959"/>
                </a:solidFill>
                <a:latin typeface="微软雅黑" panose="020B0503020204020204" pitchFamily="34" charset="-122"/>
                <a:ea typeface="微软雅黑" panose="020B0503020204020204" pitchFamily="34" charset="-122"/>
                <a:cs typeface="+mn-ea"/>
              </a:rPr>
              <a:t>UTF-8</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28575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变量名称</a:t>
            </a:r>
            <a:r>
              <a:rPr lang="zh-CN" altLang="en-US" sz="2000">
                <a:solidFill>
                  <a:srgbClr val="595959"/>
                </a:solidFill>
                <a:latin typeface="微软雅黑" panose="020B0503020204020204" pitchFamily="34" charset="-122"/>
                <a:ea typeface="微软雅黑" panose="020B0503020204020204" pitchFamily="34" charset="-122"/>
                <a:cs typeface="+mn-ea"/>
              </a:rPr>
              <a:t>（英文逗号隔开）</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数据文件中每列参数对应的</a:t>
            </a:r>
            <a:r>
              <a:rPr lang="zh-CN" altLang="zh-CN" sz="2000" dirty="0">
                <a:solidFill>
                  <a:srgbClr val="1369B2"/>
                </a:solidFill>
                <a:latin typeface="微软雅黑" panose="020B0503020204020204" pitchFamily="34" charset="-122"/>
                <a:ea typeface="微软雅黑" panose="020B0503020204020204" pitchFamily="34" charset="-122"/>
              </a:rPr>
              <a:t>变量名</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多个变量名之间使用英文</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隔开</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28575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忽略首行</a:t>
            </a:r>
            <a:r>
              <a:rPr lang="zh-CN" altLang="en-US" sz="2000">
                <a:solidFill>
                  <a:srgbClr val="595959"/>
                </a:solidFill>
                <a:latin typeface="微软雅黑" panose="020B0503020204020204" pitchFamily="34" charset="-122"/>
                <a:ea typeface="微软雅黑" panose="020B0503020204020204" pitchFamily="34" charset="-122"/>
                <a:cs typeface="+mn-ea"/>
              </a:rPr>
              <a:t>（只在设置了变量名称后才生效）</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是否从第一行开始读取</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285750" indent="-28575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分隔符</a:t>
            </a:r>
            <a:r>
              <a:rPr lang="zh-CN" altLang="en-US" sz="2000">
                <a:solidFill>
                  <a:srgbClr val="595959"/>
                </a:solidFill>
                <a:latin typeface="微软雅黑" panose="020B0503020204020204" pitchFamily="34" charset="-122"/>
                <a:ea typeface="微软雅黑" panose="020B0503020204020204" pitchFamily="34" charset="-122"/>
                <a:cs typeface="+mn-ea"/>
              </a:rPr>
              <a:t>（用‘</a:t>
            </a:r>
            <a:r>
              <a:rPr lang="en-US" altLang="zh-CN" sz="2000">
                <a:solidFill>
                  <a:srgbClr val="595959"/>
                </a:solidFill>
                <a:latin typeface="微软雅黑" panose="020B0503020204020204" pitchFamily="34" charset="-122"/>
                <a:ea typeface="微软雅黑" panose="020B0503020204020204" pitchFamily="34" charset="-122"/>
                <a:cs typeface="+mn-ea"/>
              </a:rPr>
              <a:t>\t</a:t>
            </a:r>
            <a:r>
              <a:rPr lang="zh-CN" altLang="en-US" sz="2000">
                <a:solidFill>
                  <a:srgbClr val="595959"/>
                </a:solidFill>
                <a:latin typeface="微软雅黑" panose="020B0503020204020204" pitchFamily="34" charset="-122"/>
                <a:ea typeface="微软雅黑" panose="020B0503020204020204" pitchFamily="34" charset="-122"/>
                <a:cs typeface="+mn-ea"/>
              </a:rPr>
              <a:t>代替制表符’）</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数据文件中的</a:t>
            </a:r>
            <a:r>
              <a:rPr lang="zh-CN" altLang="zh-CN" sz="2000" dirty="0">
                <a:solidFill>
                  <a:srgbClr val="1369B2"/>
                </a:solidFill>
                <a:latin typeface="微软雅黑" panose="020B0503020204020204" pitchFamily="34" charset="-122"/>
                <a:ea typeface="微软雅黑" panose="020B0503020204020204" pitchFamily="34" charset="-122"/>
              </a:rPr>
              <a:t>参数数据之间使用什么分隔符</a:t>
            </a:r>
            <a:r>
              <a:rPr lang="zh-CN" altLang="zh-CN" sz="2000" dirty="0">
                <a:solidFill>
                  <a:srgbClr val="595959"/>
                </a:solidFill>
                <a:latin typeface="微软雅黑" panose="020B0503020204020204" pitchFamily="34" charset="-122"/>
                <a:ea typeface="微软雅黑" panose="020B0503020204020204" pitchFamily="34" charset="-122"/>
                <a:cs typeface="+mn-ea"/>
              </a:rPr>
              <a:t>，此处就填写什么分隔符。</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457695" y="1969939"/>
            <a:ext cx="9479479" cy="2862322"/>
          </a:xfrm>
          <a:prstGeom prst="rect">
            <a:avLst/>
          </a:prstGeom>
        </p:spPr>
        <p:txBody>
          <a:bodyPr wrap="square">
            <a:spAutoFit/>
          </a:bodyPr>
          <a:lstStyle/>
          <a:p>
            <a:pPr marL="285750" lvl="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是否允许带引号？</a:t>
            </a:r>
            <a:r>
              <a:rPr lang="zh-CN" altLang="zh-CN" sz="2000">
                <a:solidFill>
                  <a:srgbClr val="595959"/>
                </a:solidFill>
                <a:latin typeface="微软雅黑" panose="020B0503020204020204" pitchFamily="34" charset="-122"/>
                <a:ea typeface="微软雅黑" panose="020B0503020204020204" pitchFamily="34" charset="-122"/>
                <a:cs typeface="+mn-ea"/>
              </a:rPr>
              <a:t>：如果选择</a:t>
            </a:r>
            <a:r>
              <a:rPr lang="zh-CN" altLang="en-US"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True</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数据文件中</a:t>
            </a:r>
            <a:r>
              <a:rPr lang="zh-CN" altLang="zh-CN" sz="2000" dirty="0">
                <a:solidFill>
                  <a:srgbClr val="1369B2"/>
                </a:solidFill>
                <a:latin typeface="微软雅黑" panose="020B0503020204020204" pitchFamily="34" charset="-122"/>
                <a:ea typeface="微软雅黑" panose="020B0503020204020204" pitchFamily="34" charset="-122"/>
              </a:rPr>
              <a:t>有引号</a:t>
            </a:r>
            <a:r>
              <a:rPr lang="zh-CN" altLang="zh-CN" sz="2000" dirty="0">
                <a:solidFill>
                  <a:srgbClr val="595959"/>
                </a:solidFill>
                <a:latin typeface="微软雅黑" panose="020B0503020204020204" pitchFamily="34" charset="-122"/>
                <a:ea typeface="微软雅黑" panose="020B0503020204020204" pitchFamily="34" charset="-122"/>
                <a:cs typeface="+mn-ea"/>
              </a:rPr>
              <a:t>，则变量引用后也带引号；</a:t>
            </a:r>
            <a:r>
              <a:rPr lang="zh-CN" altLang="zh-CN" sz="2000">
                <a:solidFill>
                  <a:srgbClr val="595959"/>
                </a:solidFill>
                <a:latin typeface="微软雅黑" panose="020B0503020204020204" pitchFamily="34" charset="-122"/>
                <a:ea typeface="微软雅黑" panose="020B0503020204020204" pitchFamily="34" charset="-122"/>
                <a:cs typeface="+mn-ea"/>
              </a:rPr>
              <a:t>如果选择</a:t>
            </a:r>
            <a:r>
              <a:rPr lang="zh-CN" altLang="en-US"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False</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无论数据文件中是否有引号，</a:t>
            </a:r>
            <a:r>
              <a:rPr lang="zh-CN" altLang="zh-CN" sz="2000" dirty="0">
                <a:solidFill>
                  <a:srgbClr val="1369B2"/>
                </a:solidFill>
                <a:latin typeface="微软雅黑" panose="020B0503020204020204" pitchFamily="34" charset="-122"/>
                <a:ea typeface="微软雅黑" panose="020B0503020204020204" pitchFamily="34" charset="-122"/>
              </a:rPr>
              <a:t>变量引用后都不带引号</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遇到文件结束符再次循环？：文件结束</a:t>
            </a:r>
            <a:r>
              <a:rPr lang="zh-CN" altLang="zh-CN" sz="2000">
                <a:solidFill>
                  <a:srgbClr val="595959"/>
                </a:solidFill>
                <a:latin typeface="微软雅黑" panose="020B0503020204020204" pitchFamily="34" charset="-122"/>
                <a:ea typeface="微软雅黑" panose="020B0503020204020204" pitchFamily="34" charset="-122"/>
                <a:cs typeface="+mn-ea"/>
              </a:rPr>
              <a:t>后是否</a:t>
            </a:r>
            <a:r>
              <a:rPr lang="zh-CN" altLang="en-US" sz="2000">
                <a:solidFill>
                  <a:srgbClr val="595959"/>
                </a:solidFill>
                <a:latin typeface="微软雅黑" panose="020B0503020204020204" pitchFamily="34" charset="-122"/>
                <a:ea typeface="微软雅黑" panose="020B0503020204020204" pitchFamily="34" charset="-122"/>
                <a:cs typeface="+mn-ea"/>
              </a:rPr>
              <a:t>从</a:t>
            </a:r>
            <a:r>
              <a:rPr lang="zh-CN" altLang="zh-CN" sz="2000">
                <a:solidFill>
                  <a:srgbClr val="595959"/>
                </a:solidFill>
                <a:latin typeface="微软雅黑" panose="020B0503020204020204" pitchFamily="34" charset="-122"/>
                <a:ea typeface="微软雅黑" panose="020B0503020204020204" pitchFamily="34" charset="-122"/>
                <a:cs typeface="+mn-ea"/>
              </a:rPr>
              <a:t>头</a:t>
            </a:r>
            <a:r>
              <a:rPr lang="zh-CN" altLang="zh-CN" sz="2000" dirty="0">
                <a:solidFill>
                  <a:srgbClr val="595959"/>
                </a:solidFill>
                <a:latin typeface="微软雅黑" panose="020B0503020204020204" pitchFamily="34" charset="-122"/>
                <a:ea typeface="微软雅黑" panose="020B0503020204020204" pitchFamily="34" charset="-122"/>
                <a:cs typeface="+mn-ea"/>
              </a:rPr>
              <a:t>开始读取数据，</a:t>
            </a:r>
            <a:r>
              <a:rPr lang="zh-CN" altLang="zh-CN" sz="2000" dirty="0">
                <a:solidFill>
                  <a:srgbClr val="1369B2"/>
                </a:solidFill>
                <a:latin typeface="微软雅黑" panose="020B0503020204020204" pitchFamily="34" charset="-122"/>
                <a:ea typeface="微软雅黑" panose="020B0503020204020204" pitchFamily="34" charset="-122"/>
              </a:rPr>
              <a:t>通常保持默认的</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遇到文件结束符停止线程？：文件结束后是否停止线程，</a:t>
            </a:r>
            <a:r>
              <a:rPr lang="zh-CN" altLang="zh-CN" sz="2000" dirty="0">
                <a:solidFill>
                  <a:srgbClr val="1369B2"/>
                </a:solidFill>
                <a:latin typeface="微软雅黑" panose="020B0503020204020204" pitchFamily="34" charset="-122"/>
                <a:ea typeface="微软雅黑" panose="020B0503020204020204" pitchFamily="34" charset="-122"/>
              </a:rPr>
              <a:t>通常保持默认的</a:t>
            </a:r>
            <a:r>
              <a:rPr lang="en-US" altLang="zh-CN" sz="2000" dirty="0">
                <a:solidFill>
                  <a:srgbClr val="1369B2"/>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线程共享模式：</a:t>
            </a:r>
            <a:r>
              <a:rPr lang="zh-CN" altLang="zh-CN" sz="2000" dirty="0">
                <a:solidFill>
                  <a:srgbClr val="1369B2"/>
                </a:solidFill>
                <a:latin typeface="微软雅黑" panose="020B0503020204020204" pitchFamily="34" charset="-122"/>
                <a:ea typeface="微软雅黑" panose="020B0503020204020204" pitchFamily="34" charset="-122"/>
              </a:rPr>
              <a:t>读取的参数作用范围</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通常选择</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所有现场</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rPr>
              <a:t>作用于全局</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043491" y="1822992"/>
            <a:ext cx="10048062"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进行测试</a:t>
            </a:r>
            <a:r>
              <a:rPr lang="zh-CN" altLang="zh-CN" sz="2000">
                <a:solidFill>
                  <a:srgbClr val="595959"/>
                </a:solidFill>
                <a:latin typeface="微软雅黑" panose="020B0503020204020204" pitchFamily="34" charset="-122"/>
                <a:ea typeface="微软雅黑" panose="020B0503020204020204" pitchFamily="34" charset="-122"/>
                <a:cs typeface="+mn-ea"/>
              </a:rPr>
              <a:t>时，</a:t>
            </a:r>
            <a:r>
              <a:rPr lang="zh-CN" altLang="en-US" sz="2000">
                <a:solidFill>
                  <a:srgbClr val="595959"/>
                </a:solidFill>
                <a:latin typeface="微软雅黑" panose="020B0503020204020204" pitchFamily="34" charset="-122"/>
                <a:ea typeface="微软雅黑" panose="020B0503020204020204" pitchFamily="34" charset="-122"/>
                <a:cs typeface="+mn-ea"/>
              </a:rPr>
              <a:t>当</a:t>
            </a:r>
            <a:r>
              <a:rPr lang="zh-CN" altLang="zh-CN" sz="2000">
                <a:solidFill>
                  <a:srgbClr val="595959"/>
                </a:solidFill>
                <a:latin typeface="微软雅黑" panose="020B0503020204020204" pitchFamily="34" charset="-122"/>
                <a:ea typeface="微软雅黑" panose="020B0503020204020204" pitchFamily="34" charset="-122"/>
                <a:cs typeface="+mn-ea"/>
              </a:rPr>
              <a:t>需要</a:t>
            </a:r>
            <a:r>
              <a:rPr lang="zh-CN" altLang="zh-CN" sz="2000" dirty="0">
                <a:solidFill>
                  <a:srgbClr val="595959"/>
                </a:solidFill>
                <a:latin typeface="微软雅黑" panose="020B0503020204020204" pitchFamily="34" charset="-122"/>
                <a:ea typeface="微软雅黑" panose="020B0503020204020204" pitchFamily="34" charset="-122"/>
                <a:cs typeface="+mn-ea"/>
              </a:rPr>
              <a:t>引用大量</a:t>
            </a:r>
            <a:r>
              <a:rPr lang="zh-CN" altLang="zh-CN" sz="2000">
                <a:solidFill>
                  <a:srgbClr val="595959"/>
                </a:solidFill>
                <a:latin typeface="微软雅黑" panose="020B0503020204020204" pitchFamily="34" charset="-122"/>
                <a:ea typeface="微软雅黑" panose="020B0503020204020204" pitchFamily="34" charset="-122"/>
                <a:cs typeface="+mn-ea"/>
              </a:rPr>
              <a:t>的测试数据</a:t>
            </a:r>
            <a:r>
              <a:rPr lang="zh-CN" altLang="en-US" sz="2000">
                <a:solidFill>
                  <a:srgbClr val="595959"/>
                </a:solidFill>
                <a:latin typeface="微软雅黑" panose="020B0503020204020204" pitchFamily="34" charset="-122"/>
                <a:ea typeface="微软雅黑" panose="020B0503020204020204" pitchFamily="34" charset="-122"/>
                <a:cs typeface="+mn-ea"/>
              </a:rPr>
              <a:t>并</a:t>
            </a:r>
            <a:r>
              <a:rPr lang="zh-CN" altLang="zh-CN" sz="2000">
                <a:solidFill>
                  <a:srgbClr val="595959"/>
                </a:solidFill>
                <a:latin typeface="微软雅黑" panose="020B0503020204020204" pitchFamily="34" charset="-122"/>
                <a:ea typeface="微软雅黑" panose="020B0503020204020204" pitchFamily="34" charset="-122"/>
                <a:cs typeface="+mn-ea"/>
              </a:rPr>
              <a:t>要求</a:t>
            </a:r>
            <a:r>
              <a:rPr lang="zh-CN" altLang="zh-CN" sz="2000" dirty="0">
                <a:solidFill>
                  <a:srgbClr val="1369B2"/>
                </a:solidFill>
                <a:latin typeface="微软雅黑" panose="020B0503020204020204" pitchFamily="34" charset="-122"/>
                <a:ea typeface="微软雅黑" panose="020B0503020204020204" pitchFamily="34" charset="-122"/>
              </a:rPr>
              <a:t>测试数据能够自增且不能重复时</a:t>
            </a:r>
            <a:r>
              <a:rPr lang="zh-CN" altLang="zh-CN" sz="2000" dirty="0">
                <a:solidFill>
                  <a:srgbClr val="595959"/>
                </a:solidFill>
                <a:latin typeface="微软雅黑" panose="020B0503020204020204" pitchFamily="34" charset="-122"/>
                <a:ea typeface="微软雅黑" panose="020B0503020204020204" pitchFamily="34" charset="-122"/>
                <a:cs typeface="+mn-ea"/>
              </a:rPr>
              <a:t>，则可以使用</a:t>
            </a:r>
            <a:r>
              <a:rPr lang="zh-CN" altLang="zh-CN" sz="2000" dirty="0">
                <a:solidFill>
                  <a:srgbClr val="1369B2"/>
                </a:solidFill>
                <a:latin typeface="微软雅黑" panose="020B0503020204020204" pitchFamily="34" charset="-122"/>
                <a:ea typeface="微软雅黑" panose="020B0503020204020204" pitchFamily="34" charset="-122"/>
              </a:rPr>
              <a:t>计数器</a:t>
            </a:r>
            <a:r>
              <a:rPr lang="zh-CN" altLang="zh-CN" sz="2000" dirty="0">
                <a:solidFill>
                  <a:srgbClr val="595959"/>
                </a:solidFill>
                <a:latin typeface="微软雅黑" panose="020B0503020204020204" pitchFamily="34" charset="-122"/>
                <a:ea typeface="微软雅黑" panose="020B0503020204020204" pitchFamily="34" charset="-122"/>
                <a:cs typeface="+mn-ea"/>
              </a:rPr>
              <a:t>来</a:t>
            </a:r>
            <a:r>
              <a:rPr lang="zh-CN" altLang="zh-CN" sz="2000">
                <a:solidFill>
                  <a:srgbClr val="595959"/>
                </a:solidFill>
                <a:latin typeface="微软雅黑" panose="020B0503020204020204" pitchFamily="34" charset="-122"/>
                <a:ea typeface="微软雅黑" panose="020B0503020204020204" pitchFamily="34" charset="-122"/>
                <a:cs typeface="+mn-ea"/>
              </a:rPr>
              <a:t>实现</a:t>
            </a:r>
            <a:r>
              <a:rPr lang="zh-CN" altLang="en-US" sz="2000">
                <a:solidFill>
                  <a:srgbClr val="595959"/>
                </a:solidFill>
                <a:latin typeface="微软雅黑" panose="020B0503020204020204" pitchFamily="34" charset="-122"/>
                <a:ea typeface="微软雅黑" panose="020B0503020204020204" pitchFamily="34" charset="-122"/>
                <a:cs typeface="+mn-ea"/>
              </a:rPr>
              <a:t>。计数器设置界面如下图所示。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5205" y="3203843"/>
            <a:ext cx="7034226" cy="3268209"/>
          </a:xfrm>
          <a:prstGeom prst="rect">
            <a:avLst/>
          </a:prstGeom>
        </p:spPr>
      </p:pic>
      <p:sp>
        <p:nvSpPr>
          <p:cNvPr id="6" name="圆角矩形 5"/>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5.</a:t>
            </a:r>
            <a:r>
              <a:rPr lang="zh-CN" altLang="en-US" sz="2000">
                <a:latin typeface="微软雅黑" panose="020B0503020204020204" pitchFamily="34" charset="-122"/>
                <a:ea typeface="微软雅黑" panose="020B0503020204020204" pitchFamily="34" charset="-122"/>
              </a:rPr>
              <a:t>计数器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配置元件</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0" y="1130111"/>
            <a:ext cx="4239953" cy="553998"/>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计数器设置界面的主要配置项</a:t>
            </a:r>
            <a:r>
              <a:rPr lang="zh-CN" altLang="en-US" sz="2000" dirty="0">
                <a:solidFill>
                  <a:srgbClr val="595959"/>
                </a:solidFill>
                <a:latin typeface="微软雅黑" panose="020B0503020204020204" pitchFamily="34" charset="-122"/>
                <a:ea typeface="微软雅黑" panose="020B0503020204020204" pitchFamily="34" charset="-122"/>
                <a:cs typeface="+mn-ea"/>
              </a:rPr>
              <a:t>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90" y="1869565"/>
            <a:ext cx="10114118" cy="4300007"/>
          </a:xfrm>
          <a:prstGeom prst="rect">
            <a:avLst/>
          </a:prstGeom>
        </p:spPr>
        <p:txBody>
          <a:bodyPr wrap="square">
            <a:spAutoFit/>
          </a:bodyPr>
          <a:lstStyle/>
          <a:p>
            <a:pPr marL="285750" lvl="0" indent="-285750">
              <a:lnSpc>
                <a:spcPct val="150000"/>
              </a:lnSpc>
              <a:buFont typeface="Wingdings" panose="05000000000000000000" pitchFamily="2" charset="2"/>
              <a:buChar char="l"/>
            </a:pPr>
            <a:r>
              <a:rPr lang="en-US" altLang="zh-CN" sz="1800" dirty="0">
                <a:solidFill>
                  <a:srgbClr val="595959"/>
                </a:solidFill>
                <a:latin typeface="微软雅黑" panose="020B0503020204020204" pitchFamily="34" charset="-122"/>
                <a:ea typeface="微软雅黑" panose="020B0503020204020204" pitchFamily="34" charset="-122"/>
                <a:cs typeface="+mn-ea"/>
              </a:rPr>
              <a:t>Starting value</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rPr>
              <a:t>计数器的起始值</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递增：</a:t>
            </a:r>
            <a:r>
              <a:rPr lang="zh-CN" altLang="zh-CN" sz="1800" dirty="0">
                <a:solidFill>
                  <a:srgbClr val="1369B2"/>
                </a:solidFill>
                <a:latin typeface="微软雅黑" panose="020B0503020204020204" pitchFamily="34" charset="-122"/>
                <a:ea typeface="微软雅黑" panose="020B0503020204020204" pitchFamily="34" charset="-122"/>
              </a:rPr>
              <a:t>计数器递增的值</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en-US" altLang="zh-CN" sz="1800" dirty="0">
                <a:solidFill>
                  <a:srgbClr val="595959"/>
                </a:solidFill>
                <a:latin typeface="微软雅黑" panose="020B0503020204020204" pitchFamily="34" charset="-122"/>
                <a:ea typeface="微软雅黑" panose="020B0503020204020204" pitchFamily="34" charset="-122"/>
                <a:cs typeface="+mn-ea"/>
              </a:rPr>
              <a:t>Maximum value</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rPr>
              <a:t>计数器的最大值</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数字格式：</a:t>
            </a:r>
            <a:r>
              <a:rPr lang="zh-CN" altLang="zh-CN" sz="1800" dirty="0">
                <a:solidFill>
                  <a:srgbClr val="1369B2"/>
                </a:solidFill>
                <a:latin typeface="微软雅黑" panose="020B0503020204020204" pitchFamily="34" charset="-122"/>
                <a:ea typeface="微软雅黑" panose="020B0503020204020204" pitchFamily="34" charset="-122"/>
              </a:rPr>
              <a:t>可选格式</a:t>
            </a:r>
            <a:r>
              <a:rPr lang="zh-CN" altLang="zh-CN" sz="1800" dirty="0">
                <a:solidFill>
                  <a:srgbClr val="595959"/>
                </a:solidFill>
                <a:latin typeface="微软雅黑" panose="020B0503020204020204" pitchFamily="34" charset="-122"/>
                <a:ea typeface="微软雅黑" panose="020B0503020204020204" pitchFamily="34" charset="-122"/>
                <a:cs typeface="+mn-ea"/>
              </a:rPr>
              <a:t>，例如设置为</a:t>
            </a:r>
            <a:r>
              <a:rPr lang="en-US" altLang="zh-CN" sz="1800" dirty="0">
                <a:solidFill>
                  <a:srgbClr val="595959"/>
                </a:solidFill>
                <a:latin typeface="微软雅黑" panose="020B0503020204020204" pitchFamily="34" charset="-122"/>
                <a:ea typeface="微软雅黑" panose="020B0503020204020204" pitchFamily="34" charset="-122"/>
                <a:cs typeface="+mn-ea"/>
              </a:rPr>
              <a:t>000</a:t>
            </a:r>
            <a:r>
              <a:rPr lang="zh-CN" altLang="zh-CN" sz="1800" dirty="0">
                <a:solidFill>
                  <a:srgbClr val="595959"/>
                </a:solidFill>
                <a:latin typeface="微软雅黑" panose="020B0503020204020204" pitchFamily="34" charset="-122"/>
                <a:ea typeface="微软雅黑" panose="020B0503020204020204" pitchFamily="34" charset="-122"/>
                <a:cs typeface="+mn-ea"/>
              </a:rPr>
              <a:t>，格式化后为</a:t>
            </a:r>
            <a:r>
              <a:rPr lang="en-US" altLang="zh-CN" sz="1800" dirty="0">
                <a:solidFill>
                  <a:srgbClr val="595959"/>
                </a:solidFill>
                <a:latin typeface="微软雅黑" panose="020B0503020204020204" pitchFamily="34" charset="-122"/>
                <a:ea typeface="微软雅黑" panose="020B0503020204020204" pitchFamily="34" charset="-122"/>
                <a:cs typeface="+mn-ea"/>
              </a:rPr>
              <a:t>001</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002</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引用</a:t>
            </a:r>
            <a:r>
              <a:rPr lang="zh-CN" altLang="zh-CN" sz="1800">
                <a:solidFill>
                  <a:srgbClr val="595959"/>
                </a:solidFill>
                <a:latin typeface="微软雅黑" panose="020B0503020204020204" pitchFamily="34" charset="-122"/>
                <a:ea typeface="微软雅黑" panose="020B0503020204020204" pitchFamily="34" charset="-122"/>
                <a:cs typeface="+mn-ea"/>
              </a:rPr>
              <a:t>名称：</a:t>
            </a:r>
            <a:r>
              <a:rPr lang="zh-CN" altLang="en-US" sz="1800">
                <a:solidFill>
                  <a:srgbClr val="595959"/>
                </a:solidFill>
                <a:latin typeface="微软雅黑" panose="020B0503020204020204" pitchFamily="34" charset="-122"/>
                <a:ea typeface="微软雅黑" panose="020B0503020204020204" pitchFamily="34" charset="-122"/>
                <a:cs typeface="+mn-ea"/>
              </a:rPr>
              <a:t>用于</a:t>
            </a:r>
            <a:r>
              <a:rPr lang="zh-CN" altLang="zh-CN" sz="1800">
                <a:solidFill>
                  <a:srgbClr val="1369B2"/>
                </a:solidFill>
                <a:latin typeface="微软雅黑" panose="020B0503020204020204" pitchFamily="34" charset="-122"/>
                <a:ea typeface="微软雅黑" panose="020B0503020204020204" pitchFamily="34" charset="-122"/>
              </a:rPr>
              <a:t>设置</a:t>
            </a:r>
            <a:r>
              <a:rPr lang="zh-CN" altLang="zh-CN" sz="1800" dirty="0">
                <a:solidFill>
                  <a:srgbClr val="1369B2"/>
                </a:solidFill>
                <a:latin typeface="微软雅黑" panose="020B0503020204020204" pitchFamily="34" charset="-122"/>
                <a:ea typeface="微软雅黑" panose="020B0503020204020204" pitchFamily="34" charset="-122"/>
              </a:rPr>
              <a:t>变量名</a:t>
            </a:r>
            <a:r>
              <a:rPr lang="zh-CN" altLang="zh-CN" sz="1800" dirty="0">
                <a:solidFill>
                  <a:srgbClr val="595959"/>
                </a:solidFill>
                <a:latin typeface="微软雅黑" panose="020B0503020204020204" pitchFamily="34" charset="-122"/>
                <a:ea typeface="微软雅黑" panose="020B0503020204020204" pitchFamily="34" charset="-122"/>
                <a:cs typeface="+mn-ea"/>
              </a:rPr>
              <a:t>，引用的方式为</a:t>
            </a:r>
            <a:r>
              <a:rPr lang="en-US" altLang="zh-CN" sz="1800" dirty="0">
                <a:solidFill>
                  <a:srgbClr val="1369B2"/>
                </a:solidFill>
                <a:latin typeface="微软雅黑" panose="020B0503020204020204" pitchFamily="34" charset="-122"/>
                <a:ea typeface="微软雅黑" panose="020B0503020204020204" pitchFamily="34" charset="-122"/>
              </a:rPr>
              <a:t>${</a:t>
            </a:r>
            <a:r>
              <a:rPr lang="zh-CN" altLang="zh-CN" sz="1800" dirty="0">
                <a:solidFill>
                  <a:srgbClr val="1369B2"/>
                </a:solidFill>
                <a:latin typeface="微软雅黑" panose="020B0503020204020204" pitchFamily="34" charset="-122"/>
                <a:ea typeface="微软雅黑" panose="020B0503020204020204" pitchFamily="34" charset="-122"/>
              </a:rPr>
              <a:t>变量名</a:t>
            </a:r>
            <a:r>
              <a:rPr lang="en-US" altLang="zh-CN" sz="1800" dirty="0">
                <a:solidFill>
                  <a:srgbClr val="1369B2"/>
                </a:solidFill>
                <a:latin typeface="微软雅黑" panose="020B0503020204020204" pitchFamily="34" charset="-122"/>
                <a:ea typeface="微软雅黑" panose="020B0503020204020204" pitchFamily="34" charset="-122"/>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与每用户独立的跟踪计数器：每个线程都有自己的计数器。如果</a:t>
            </a:r>
            <a:r>
              <a:rPr lang="zh-CN" altLang="zh-CN" sz="1800">
                <a:solidFill>
                  <a:srgbClr val="595959"/>
                </a:solidFill>
                <a:latin typeface="微软雅黑" panose="020B0503020204020204" pitchFamily="34" charset="-122"/>
                <a:ea typeface="微软雅黑" panose="020B0503020204020204" pitchFamily="34" charset="-122"/>
                <a:cs typeface="+mn-ea"/>
              </a:rPr>
              <a:t>勾选该</a:t>
            </a:r>
            <a:r>
              <a:rPr lang="zh-CN" altLang="en-US" sz="1800">
                <a:solidFill>
                  <a:srgbClr val="595959"/>
                </a:solidFill>
                <a:latin typeface="微软雅黑" panose="020B0503020204020204" pitchFamily="34" charset="-122"/>
                <a:ea typeface="微软雅黑" panose="020B0503020204020204" pitchFamily="34" charset="-122"/>
                <a:cs typeface="+mn-ea"/>
              </a:rPr>
              <a:t>复选框</a:t>
            </a:r>
            <a:r>
              <a:rPr lang="zh-CN" altLang="zh-CN" sz="180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则用户</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获取的值为</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，用户</a:t>
            </a:r>
            <a:r>
              <a:rPr lang="en-US" altLang="zh-CN" sz="1800" dirty="0">
                <a:solidFill>
                  <a:srgbClr val="595959"/>
                </a:solidFill>
                <a:latin typeface="微软雅黑" panose="020B0503020204020204" pitchFamily="34" charset="-122"/>
                <a:ea typeface="微软雅黑" panose="020B0503020204020204" pitchFamily="34" charset="-122"/>
                <a:cs typeface="+mn-ea"/>
              </a:rPr>
              <a:t>2</a:t>
            </a:r>
            <a:r>
              <a:rPr lang="zh-CN" altLang="zh-CN" sz="1800" dirty="0">
                <a:solidFill>
                  <a:srgbClr val="595959"/>
                </a:solidFill>
                <a:latin typeface="微软雅黑" panose="020B0503020204020204" pitchFamily="34" charset="-122"/>
                <a:ea typeface="微软雅黑" panose="020B0503020204020204" pitchFamily="34" charset="-122"/>
                <a:cs typeface="+mn-ea"/>
              </a:rPr>
              <a:t>获取的值为</a:t>
            </a:r>
            <a:r>
              <a:rPr lang="en-US" altLang="zh-CN" sz="1800" dirty="0">
                <a:solidFill>
                  <a:srgbClr val="595959"/>
                </a:solidFill>
                <a:latin typeface="微软雅黑" panose="020B0503020204020204" pitchFamily="34" charset="-122"/>
                <a:ea typeface="微软雅黑" panose="020B0503020204020204" pitchFamily="34" charset="-122"/>
                <a:cs typeface="+mn-ea"/>
              </a:rPr>
              <a:t>2</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rPr>
              <a:t>如果不</a:t>
            </a:r>
            <a:r>
              <a:rPr lang="zh-CN" altLang="zh-CN" sz="1800">
                <a:solidFill>
                  <a:srgbClr val="1369B2"/>
                </a:solidFill>
                <a:latin typeface="微软雅黑" panose="020B0503020204020204" pitchFamily="34" charset="-122"/>
                <a:ea typeface="微软雅黑" panose="020B0503020204020204" pitchFamily="34" charset="-122"/>
              </a:rPr>
              <a:t>勾选该</a:t>
            </a:r>
            <a:r>
              <a:rPr lang="zh-CN" altLang="en-US" sz="1800">
                <a:solidFill>
                  <a:srgbClr val="1369B2"/>
                </a:solidFill>
                <a:latin typeface="微软雅黑" panose="020B0503020204020204" pitchFamily="34" charset="-122"/>
                <a:ea typeface="微软雅黑" panose="020B0503020204020204" pitchFamily="34" charset="-122"/>
              </a:rPr>
              <a:t>复选框</a:t>
            </a:r>
            <a:r>
              <a:rPr lang="zh-CN" altLang="zh-CN" sz="180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rPr>
              <a:t>就表示全局计数器</a:t>
            </a:r>
            <a:r>
              <a:rPr lang="zh-CN" altLang="zh-CN" sz="1800" dirty="0">
                <a:solidFill>
                  <a:srgbClr val="595959"/>
                </a:solidFill>
                <a:latin typeface="微软雅黑" panose="020B0503020204020204" pitchFamily="34" charset="-122"/>
                <a:ea typeface="微软雅黑" panose="020B0503020204020204" pitchFamily="34" charset="-122"/>
                <a:cs typeface="+mn-ea"/>
              </a:rPr>
              <a:t>，则用户</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获取的值为</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，用户</a:t>
            </a:r>
            <a:r>
              <a:rPr lang="en-US" altLang="zh-CN" sz="1800" dirty="0">
                <a:solidFill>
                  <a:srgbClr val="595959"/>
                </a:solidFill>
                <a:latin typeface="微软雅黑" panose="020B0503020204020204" pitchFamily="34" charset="-122"/>
                <a:ea typeface="微软雅黑" panose="020B0503020204020204" pitchFamily="34" charset="-122"/>
                <a:cs typeface="+mn-ea"/>
              </a:rPr>
              <a:t>2</a:t>
            </a:r>
            <a:r>
              <a:rPr lang="zh-CN" altLang="zh-CN" sz="1800" dirty="0">
                <a:solidFill>
                  <a:srgbClr val="595959"/>
                </a:solidFill>
                <a:latin typeface="微软雅黑" panose="020B0503020204020204" pitchFamily="34" charset="-122"/>
                <a:ea typeface="微软雅黑" panose="020B0503020204020204" pitchFamily="34" charset="-122"/>
                <a:cs typeface="+mn-ea"/>
              </a:rPr>
              <a:t>获取的值也是</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285750" lvl="0" indent="-28575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在每个线程组迭代上重置计数器：</a:t>
            </a:r>
            <a:r>
              <a:rPr lang="zh-CN" altLang="zh-CN" sz="1800" dirty="0">
                <a:solidFill>
                  <a:srgbClr val="1369B2"/>
                </a:solidFill>
                <a:latin typeface="微软雅黑" panose="020B0503020204020204" pitchFamily="34" charset="-122"/>
                <a:ea typeface="微软雅黑" panose="020B0503020204020204" pitchFamily="34" charset="-122"/>
              </a:rPr>
              <a:t>可选项</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a:solidFill>
                  <a:srgbClr val="595959"/>
                </a:solidFill>
                <a:latin typeface="微软雅黑" panose="020B0503020204020204" pitchFamily="34" charset="-122"/>
                <a:ea typeface="微软雅黑" panose="020B0503020204020204" pitchFamily="34" charset="-122"/>
                <a:cs typeface="+mn-ea"/>
              </a:rPr>
              <a:t>当勾选</a:t>
            </a:r>
            <a:r>
              <a:rPr lang="zh-CN" altLang="en-US" sz="1800">
                <a:solidFill>
                  <a:srgbClr val="1369B2"/>
                </a:solidFill>
                <a:latin typeface="微软雅黑" panose="020B0503020204020204" pitchFamily="34" charset="-122"/>
                <a:ea typeface="微软雅黑" panose="020B0503020204020204" pitchFamily="34" charset="-122"/>
              </a:rPr>
              <a:t>“</a:t>
            </a:r>
            <a:r>
              <a:rPr lang="zh-CN" altLang="zh-CN" sz="1800">
                <a:solidFill>
                  <a:srgbClr val="1369B2"/>
                </a:solidFill>
                <a:latin typeface="微软雅黑" panose="020B0503020204020204" pitchFamily="34" charset="-122"/>
                <a:ea typeface="微软雅黑" panose="020B0503020204020204" pitchFamily="34" charset="-122"/>
              </a:rPr>
              <a:t>与每用户独立的跟踪计数器</a:t>
            </a:r>
            <a:r>
              <a:rPr lang="zh-CN" altLang="en-US" sz="1800">
                <a:solidFill>
                  <a:srgbClr val="1369B2"/>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cs typeface="+mn-ea"/>
              </a:rPr>
              <a:t>复选框</a:t>
            </a:r>
            <a:r>
              <a:rPr lang="zh-CN" altLang="zh-CN" sz="1800">
                <a:solidFill>
                  <a:srgbClr val="595959"/>
                </a:solidFill>
                <a:latin typeface="微软雅黑" panose="020B0503020204020204" pitchFamily="34" charset="-122"/>
                <a:ea typeface="微软雅黑" panose="020B0503020204020204" pitchFamily="34" charset="-122"/>
                <a:cs typeface="+mn-ea"/>
              </a:rPr>
              <a:t>时</a:t>
            </a:r>
            <a:r>
              <a:rPr lang="zh-CN" altLang="zh-CN" sz="1800" dirty="0">
                <a:solidFill>
                  <a:srgbClr val="595959"/>
                </a:solidFill>
                <a:latin typeface="微软雅黑" panose="020B0503020204020204" pitchFamily="34" charset="-122"/>
                <a:ea typeface="微软雅黑" panose="020B0503020204020204" pitchFamily="34" charset="-122"/>
                <a:cs typeface="+mn-ea"/>
              </a:rPr>
              <a:t>才可以使用。</a:t>
            </a:r>
            <a:r>
              <a:rPr lang="zh-CN" altLang="zh-CN" sz="1800">
                <a:solidFill>
                  <a:srgbClr val="1369B2"/>
                </a:solidFill>
                <a:latin typeface="微软雅黑" panose="020B0503020204020204" pitchFamily="34" charset="-122"/>
                <a:ea typeface="微软雅黑" panose="020B0503020204020204" pitchFamily="34" charset="-122"/>
              </a:rPr>
              <a:t>如果勾选</a:t>
            </a:r>
            <a:r>
              <a:rPr lang="zh-CN" altLang="en-US" sz="1800">
                <a:solidFill>
                  <a:srgbClr val="1369B2"/>
                </a:solidFill>
                <a:latin typeface="微软雅黑" panose="020B0503020204020204" pitchFamily="34" charset="-122"/>
                <a:ea typeface="微软雅黑" panose="020B0503020204020204" pitchFamily="34" charset="-122"/>
              </a:rPr>
              <a:t>了该复选框</a:t>
            </a:r>
            <a:r>
              <a:rPr lang="zh-CN" altLang="zh-CN" sz="180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rPr>
              <a:t>则每次线程组迭代都会重置计数器的值</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1" name="图片 10"/>
          <p:cNvPicPr>
            <a:picLocks noChangeAspect="1"/>
          </p:cNvPicPr>
          <p:nvPr/>
        </p:nvPicPr>
        <p:blipFill>
          <a:blip r:embed="rId3"/>
          <a:stretch>
            <a:fillRect/>
          </a:stretch>
        </p:blipFill>
        <p:spPr>
          <a:xfrm>
            <a:off x="1011196" y="1629594"/>
            <a:ext cx="3715858" cy="4006159"/>
          </a:xfrm>
          <a:prstGeom prst="rect">
            <a:avLst/>
          </a:prstGeom>
        </p:spPr>
      </p:pic>
      <p:sp>
        <p:nvSpPr>
          <p:cNvPr id="14" name="文本框 7"/>
          <p:cNvSpPr txBox="1"/>
          <p:nvPr/>
        </p:nvSpPr>
        <p:spPr>
          <a:xfrm>
            <a:off x="5169589" y="2303600"/>
            <a:ext cx="6017909" cy="1938992"/>
          </a:xfrm>
          <a:prstGeom prst="rect">
            <a:avLst/>
          </a:prstGeom>
          <a:noFill/>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断言用于验证响应结果是否正确</a:t>
            </a:r>
            <a:r>
              <a:rPr lang="zh-CN" altLang="zh-CN" sz="2000" dirty="0">
                <a:solidFill>
                  <a:srgbClr val="595959"/>
                </a:solidFill>
                <a:latin typeface="微软雅黑" panose="020B0503020204020204" pitchFamily="34" charset="-122"/>
                <a:ea typeface="微软雅黑" panose="020B0503020204020204" pitchFamily="34" charset="-122"/>
                <a:cs typeface="+mn-ea"/>
              </a:rPr>
              <a:t>，即用一个</a:t>
            </a:r>
            <a:r>
              <a:rPr lang="zh-CN" altLang="zh-CN" sz="2000" dirty="0">
                <a:solidFill>
                  <a:srgbClr val="1369B2"/>
                </a:solidFill>
                <a:latin typeface="微软雅黑" panose="020B0503020204020204" pitchFamily="34" charset="-122"/>
                <a:ea typeface="微软雅黑" panose="020B0503020204020204" pitchFamily="34" charset="-122"/>
              </a:rPr>
              <a:t>预设的</a:t>
            </a:r>
            <a:r>
              <a:rPr lang="zh-CN" altLang="zh-CN" sz="2000">
                <a:solidFill>
                  <a:srgbClr val="1369B2"/>
                </a:solidFill>
                <a:latin typeface="微软雅黑" panose="020B0503020204020204" pitchFamily="34" charset="-122"/>
                <a:ea typeface="微软雅黑" panose="020B0503020204020204" pitchFamily="34" charset="-122"/>
              </a:rPr>
              <a:t>结果</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如</a:t>
            </a:r>
            <a:r>
              <a:rPr lang="zh-CN" altLang="zh-CN" sz="2000">
                <a:solidFill>
                  <a:srgbClr val="595959"/>
                </a:solidFill>
                <a:latin typeface="微软雅黑" panose="020B0503020204020204" pitchFamily="34" charset="-122"/>
                <a:ea typeface="微软雅黑" panose="020B0503020204020204" pitchFamily="34" charset="-122"/>
                <a:cs typeface="+mn-ea"/>
              </a:rPr>
              <a:t>值</a:t>
            </a:r>
            <a:r>
              <a:rPr lang="zh-CN" altLang="zh-CN" sz="2000" dirty="0">
                <a:solidFill>
                  <a:srgbClr val="595959"/>
                </a:solidFill>
                <a:latin typeface="微软雅黑" panose="020B0503020204020204" pitchFamily="34" charset="-122"/>
                <a:ea typeface="微软雅黑" panose="020B0503020204020204" pitchFamily="34" charset="-122"/>
                <a:cs typeface="+mn-ea"/>
              </a:rPr>
              <a:t>、表达式、时间长短等）与</a:t>
            </a:r>
            <a:r>
              <a:rPr lang="zh-CN" altLang="zh-CN" sz="2000" dirty="0">
                <a:solidFill>
                  <a:srgbClr val="1369B2"/>
                </a:solidFill>
                <a:latin typeface="微软雅黑" panose="020B0503020204020204" pitchFamily="34" charset="-122"/>
                <a:ea typeface="微软雅黑" panose="020B0503020204020204" pitchFamily="34" charset="-122"/>
              </a:rPr>
              <a:t>实际结果</a:t>
            </a:r>
            <a:r>
              <a:rPr lang="zh-CN" altLang="zh-CN" sz="2000" dirty="0">
                <a:solidFill>
                  <a:srgbClr val="595959"/>
                </a:solidFill>
                <a:latin typeface="微软雅黑" panose="020B0503020204020204" pitchFamily="34" charset="-122"/>
                <a:ea typeface="微软雅黑" panose="020B0503020204020204" pitchFamily="34" charset="-122"/>
                <a:cs typeface="+mn-ea"/>
              </a:rPr>
              <a:t>进行匹配，匹配成功就是断言成功，匹配失败就是断言失败。</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43491" y="1822992"/>
            <a:ext cx="10285569" cy="1477328"/>
          </a:xfrm>
          <a:prstGeom prst="rect">
            <a:avLst/>
          </a:prstGeom>
          <a:noFill/>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响应断言可以对任意格式的响应数据进行断言</a:t>
            </a:r>
            <a:r>
              <a:rPr lang="zh-CN" altLang="zh-CN" sz="2000" dirty="0">
                <a:solidFill>
                  <a:srgbClr val="595959"/>
                </a:solidFill>
                <a:latin typeface="微软雅黑" panose="020B0503020204020204" pitchFamily="34" charset="-122"/>
                <a:ea typeface="微软雅黑" panose="020B0503020204020204" pitchFamily="34" charset="-122"/>
                <a:cs typeface="+mn-ea"/>
              </a:rPr>
              <a:t>。如果想要在测试计划中使用响应断言的方式进行断言，则可以选中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“断言”</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a:solidFill>
                  <a:srgbClr val="1369B2"/>
                </a:solidFill>
                <a:latin typeface="微软雅黑" panose="020B0503020204020204" pitchFamily="34" charset="-122"/>
                <a:ea typeface="微软雅黑" panose="020B0503020204020204" pitchFamily="34" charset="-122"/>
              </a:rPr>
              <a:t>“响应断言”</a:t>
            </a:r>
            <a:r>
              <a:rPr lang="zh-CN" altLang="zh-CN" sz="2000">
                <a:solidFill>
                  <a:srgbClr val="595959"/>
                </a:solidFill>
                <a:latin typeface="微软雅黑" panose="020B0503020204020204" pitchFamily="34" charset="-122"/>
                <a:ea typeface="微软雅黑" panose="020B0503020204020204" pitchFamily="34" charset="-122"/>
                <a:cs typeface="+mn-ea"/>
              </a:rPr>
              <a:t>，会添加一个响应断言界面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2602" y="3320917"/>
            <a:ext cx="5370961" cy="3375125"/>
          </a:xfrm>
          <a:prstGeom prst="rect">
            <a:avLst/>
          </a:prstGeom>
        </p:spPr>
      </p:pic>
      <p:sp>
        <p:nvSpPr>
          <p:cNvPr id="8" name="圆角矩形 7"/>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响应断言</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0" y="1833087"/>
            <a:ext cx="7109639" cy="553998"/>
          </a:xfrm>
          <a:prstGeom prst="rect">
            <a:avLst/>
          </a:prstGeom>
        </p:spPr>
        <p:txBody>
          <a:bodyPr wrap="non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测试字段用于配置要断言的项</a:t>
            </a:r>
            <a:r>
              <a:rPr lang="zh-CN" altLang="zh-CN" sz="2000" dirty="0">
                <a:solidFill>
                  <a:srgbClr val="595959"/>
                </a:solidFill>
                <a:latin typeface="微软雅黑" panose="020B0503020204020204" pitchFamily="34" charset="-122"/>
                <a:ea typeface="微软雅黑" panose="020B0503020204020204" pitchFamily="34" charset="-122"/>
                <a:cs typeface="+mn-ea"/>
              </a:rPr>
              <a:t>。测试字段有多个，</a:t>
            </a:r>
            <a:r>
              <a:rPr lang="zh-CN" altLang="zh-CN" sz="2000">
                <a:solidFill>
                  <a:srgbClr val="595959"/>
                </a:solidFill>
                <a:latin typeface="微软雅黑" panose="020B0503020204020204" pitchFamily="34" charset="-122"/>
                <a:ea typeface="微软雅黑" panose="020B0503020204020204" pitchFamily="34" charset="-122"/>
                <a:cs typeface="+mn-ea"/>
              </a:rPr>
              <a:t>具体如下。</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238692" y="2387085"/>
            <a:ext cx="9019485" cy="4247317"/>
          </a:xfrm>
          <a:prstGeom prst="rect">
            <a:avLst/>
          </a:prstGeom>
        </p:spPr>
        <p:txBody>
          <a:bodyPr wrap="square">
            <a:spAutoFit/>
          </a:bodyPr>
          <a:lstStyle/>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响应文本：</a:t>
            </a:r>
            <a:r>
              <a:rPr lang="zh-CN" altLang="zh-CN" sz="2000" dirty="0">
                <a:solidFill>
                  <a:srgbClr val="1369B2"/>
                </a:solidFill>
                <a:latin typeface="微软雅黑" panose="020B0503020204020204" pitchFamily="34" charset="-122"/>
                <a:ea typeface="微软雅黑" panose="020B0503020204020204" pitchFamily="34" charset="-122"/>
              </a:rPr>
              <a:t>响应主体</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响应代码：</a:t>
            </a:r>
            <a:r>
              <a:rPr lang="zh-CN" altLang="zh-CN" sz="2000" dirty="0">
                <a:solidFill>
                  <a:srgbClr val="1369B2"/>
                </a:solidFill>
                <a:latin typeface="微软雅黑" panose="020B0503020204020204" pitchFamily="34" charset="-122"/>
                <a:ea typeface="微软雅黑" panose="020B0503020204020204" pitchFamily="34" charset="-122"/>
              </a:rPr>
              <a:t>响应的状态</a:t>
            </a:r>
            <a:r>
              <a:rPr lang="zh-CN" altLang="zh-CN" sz="2000">
                <a:solidFill>
                  <a:srgbClr val="1369B2"/>
                </a:solidFill>
                <a:latin typeface="微软雅黑" panose="020B0503020204020204" pitchFamily="34" charset="-122"/>
                <a:ea typeface="微软雅黑" panose="020B0503020204020204" pitchFamily="34" charset="-122"/>
              </a:rPr>
              <a:t>码</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en-US" altLang="zh-CN" sz="2000" dirty="0">
                <a:solidFill>
                  <a:srgbClr val="595959"/>
                </a:solidFill>
                <a:latin typeface="微软雅黑" panose="020B0503020204020204" pitchFamily="34" charset="-122"/>
                <a:ea typeface="微软雅黑" panose="020B0503020204020204" pitchFamily="34" charset="-122"/>
                <a:cs typeface="+mn-ea"/>
              </a:rPr>
              <a:t>200</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响应信息：</a:t>
            </a:r>
            <a:r>
              <a:rPr lang="zh-CN" altLang="zh-CN" sz="2000" dirty="0">
                <a:solidFill>
                  <a:srgbClr val="1369B2"/>
                </a:solidFill>
                <a:latin typeface="微软雅黑" panose="020B0503020204020204" pitchFamily="34" charset="-122"/>
                <a:ea typeface="微软雅黑" panose="020B0503020204020204" pitchFamily="34" charset="-122"/>
              </a:rPr>
              <a:t>响应的状态</a:t>
            </a:r>
            <a:r>
              <a:rPr lang="zh-CN" altLang="zh-CN" sz="2000">
                <a:solidFill>
                  <a:srgbClr val="1369B2"/>
                </a:solidFill>
                <a:latin typeface="微软雅黑" panose="020B0503020204020204" pitchFamily="34" charset="-122"/>
                <a:ea typeface="微软雅黑" panose="020B0503020204020204" pitchFamily="34" charset="-122"/>
              </a:rPr>
              <a:t>信息</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en-US" altLang="zh-CN" sz="2000" dirty="0">
                <a:solidFill>
                  <a:srgbClr val="595959"/>
                </a:solidFill>
                <a:latin typeface="微软雅黑" panose="020B0503020204020204" pitchFamily="34" charset="-122"/>
                <a:ea typeface="微软雅黑" panose="020B0503020204020204" pitchFamily="34" charset="-122"/>
                <a:cs typeface="+mn-ea"/>
              </a:rPr>
              <a:t>OK</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响应头：</a:t>
            </a:r>
            <a:r>
              <a:rPr lang="zh-CN" altLang="zh-CN" sz="2000" dirty="0">
                <a:solidFill>
                  <a:srgbClr val="1369B2"/>
                </a:solidFill>
                <a:latin typeface="微软雅黑" panose="020B0503020204020204" pitchFamily="34" charset="-122"/>
                <a:ea typeface="微软雅黑" panose="020B0503020204020204" pitchFamily="34" charset="-122"/>
              </a:rPr>
              <a:t>响应的头部信息</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请求头：</a:t>
            </a:r>
            <a:r>
              <a:rPr lang="zh-CN" altLang="zh-CN" sz="2000" dirty="0">
                <a:solidFill>
                  <a:srgbClr val="1369B2"/>
                </a:solidFill>
                <a:latin typeface="微软雅黑" panose="020B0503020204020204" pitchFamily="34" charset="-122"/>
                <a:ea typeface="微软雅黑" panose="020B0503020204020204" pitchFamily="34" charset="-122"/>
              </a:rPr>
              <a:t>请求的头部信息</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URL</a:t>
            </a:r>
            <a:r>
              <a:rPr lang="zh-CN" altLang="zh-CN" sz="2000" dirty="0">
                <a:solidFill>
                  <a:srgbClr val="595959"/>
                </a:solidFill>
                <a:latin typeface="微软雅黑" panose="020B0503020204020204" pitchFamily="34" charset="-122"/>
                <a:ea typeface="微软雅黑" panose="020B0503020204020204" pitchFamily="34" charset="-122"/>
                <a:cs typeface="+mn-ea"/>
              </a:rPr>
              <a:t>样本：</a:t>
            </a:r>
            <a:r>
              <a:rPr lang="zh-CN" altLang="zh-CN" sz="2000" dirty="0">
                <a:solidFill>
                  <a:srgbClr val="1369B2"/>
                </a:solidFill>
                <a:latin typeface="微软雅黑" panose="020B0503020204020204" pitchFamily="34" charset="-122"/>
                <a:ea typeface="微软雅黑" panose="020B0503020204020204" pitchFamily="34" charset="-122"/>
              </a:rPr>
              <a:t>请求的</a:t>
            </a:r>
            <a:r>
              <a:rPr lang="en-US" altLang="zh-CN" sz="2000" dirty="0">
                <a:solidFill>
                  <a:srgbClr val="1369B2"/>
                </a:solidFill>
                <a:latin typeface="微软雅黑" panose="020B0503020204020204" pitchFamily="34" charset="-122"/>
                <a:ea typeface="微软雅黑" panose="020B0503020204020204" pitchFamily="34" charset="-122"/>
              </a:rPr>
              <a:t>URL</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文档（文本）：</a:t>
            </a:r>
            <a:r>
              <a:rPr lang="zh-CN" altLang="zh-CN" sz="2000" dirty="0">
                <a:solidFill>
                  <a:srgbClr val="1369B2"/>
                </a:solidFill>
                <a:latin typeface="微软雅黑" panose="020B0503020204020204" pitchFamily="34" charset="-122"/>
                <a:ea typeface="微软雅黑" panose="020B0503020204020204" pitchFamily="34" charset="-122"/>
              </a:rPr>
              <a:t>响应的整个文档</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忽略状态：</a:t>
            </a:r>
            <a:r>
              <a:rPr lang="zh-CN" altLang="zh-CN" sz="2000" dirty="0">
                <a:solidFill>
                  <a:srgbClr val="1369B2"/>
                </a:solidFill>
                <a:latin typeface="微软雅黑" panose="020B0503020204020204" pitchFamily="34" charset="-122"/>
                <a:ea typeface="微软雅黑" panose="020B0503020204020204" pitchFamily="34" charset="-122"/>
              </a:rPr>
              <a:t>忽略返回的响应状态码</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请求数据：</a:t>
            </a:r>
            <a:r>
              <a:rPr lang="zh-CN" altLang="zh-CN" sz="2000" dirty="0">
                <a:solidFill>
                  <a:srgbClr val="1369B2"/>
                </a:solidFill>
                <a:latin typeface="微软雅黑" panose="020B0503020204020204" pitchFamily="34" charset="-122"/>
                <a:ea typeface="微软雅黑" panose="020B0503020204020204" pitchFamily="34" charset="-122"/>
              </a:rPr>
              <a:t>请求内容</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2" name="矩形 1"/>
          <p:cNvSpPr/>
          <p:nvPr/>
        </p:nvSpPr>
        <p:spPr>
          <a:xfrm>
            <a:off x="991290" y="1264264"/>
            <a:ext cx="1874231" cy="400110"/>
          </a:xfrm>
          <a:prstGeom prst="rect">
            <a:avLst/>
          </a:prstGeom>
        </p:spPr>
        <p:txBody>
          <a:bodyPr wrap="none">
            <a:spAutoFit/>
          </a:bodyPr>
          <a:lstStyle/>
          <a:p>
            <a:r>
              <a:rPr lang="zh-CN" altLang="en-US" sz="2000" b="1" dirty="0">
                <a:solidFill>
                  <a:srgbClr val="595959"/>
                </a:solidFill>
                <a:latin typeface="微软雅黑" panose="020B0503020204020204" pitchFamily="34" charset="-122"/>
                <a:ea typeface="微软雅黑" panose="020B0503020204020204" pitchFamily="34" charset="-122"/>
                <a:cs typeface="+mn-ea"/>
              </a:rPr>
              <a:t>（</a:t>
            </a:r>
            <a:r>
              <a:rPr lang="en-US" altLang="zh-CN" sz="2000" b="1" dirty="0">
                <a:solidFill>
                  <a:srgbClr val="595959"/>
                </a:solidFill>
                <a:latin typeface="微软雅黑" panose="020B0503020204020204" pitchFamily="34" charset="-122"/>
                <a:ea typeface="微软雅黑" panose="020B0503020204020204" pitchFamily="34" charset="-122"/>
                <a:cs typeface="+mn-ea"/>
              </a:rPr>
              <a:t>1</a:t>
            </a:r>
            <a:r>
              <a:rPr lang="zh-CN" altLang="en-US" sz="2000" b="1" dirty="0">
                <a:solidFill>
                  <a:srgbClr val="595959"/>
                </a:solidFill>
                <a:latin typeface="微软雅黑" panose="020B0503020204020204" pitchFamily="34" charset="-122"/>
                <a:ea typeface="微软雅黑" panose="020B0503020204020204" pitchFamily="34" charset="-122"/>
                <a:cs typeface="+mn-ea"/>
              </a:rPr>
              <a:t>）测试字段</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228796" y="1879253"/>
            <a:ext cx="9161482" cy="1015663"/>
          </a:xfrm>
          <a:prstGeom prst="rect">
            <a:avLst/>
          </a:prstGeom>
        </p:spPr>
        <p:txBody>
          <a:bodyPr wrap="non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模式匹配规则是对断言内容进行匹配的方式</a:t>
            </a:r>
            <a:r>
              <a:rPr lang="zh-CN" altLang="zh-CN" sz="2000" dirty="0">
                <a:solidFill>
                  <a:srgbClr val="595959"/>
                </a:solidFill>
                <a:latin typeface="微软雅黑" panose="020B0503020204020204" pitchFamily="34" charset="-122"/>
                <a:ea typeface="微软雅黑" panose="020B0503020204020204" pitchFamily="34" charset="-122"/>
                <a:cs typeface="+mn-ea"/>
              </a:rPr>
              <a:t>。模式匹配规则主要有以下几种。</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143690" y="2387085"/>
            <a:ext cx="8890960" cy="3785652"/>
          </a:xfrm>
          <a:prstGeom prst="rect">
            <a:avLst/>
          </a:prstGeom>
        </p:spPr>
        <p:txBody>
          <a:bodyPr wrap="square">
            <a:spAutoFit/>
          </a:bodyPr>
          <a:lstStyle/>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包括：</a:t>
            </a:r>
            <a:r>
              <a:rPr lang="zh-CN" altLang="zh-CN" sz="2000" dirty="0">
                <a:solidFill>
                  <a:srgbClr val="1369B2"/>
                </a:solidFill>
                <a:latin typeface="微软雅黑" panose="020B0503020204020204" pitchFamily="34" charset="-122"/>
                <a:ea typeface="微软雅黑" panose="020B0503020204020204" pitchFamily="34" charset="-122"/>
              </a:rPr>
              <a:t>返回结果包含指定的内容</a:t>
            </a:r>
            <a:r>
              <a:rPr lang="zh-CN" altLang="zh-CN" sz="2000" dirty="0">
                <a:solidFill>
                  <a:srgbClr val="595959"/>
                </a:solidFill>
                <a:latin typeface="微软雅黑" panose="020B0503020204020204" pitchFamily="34" charset="-122"/>
                <a:ea typeface="微软雅黑" panose="020B0503020204020204" pitchFamily="34" charset="-122"/>
                <a:cs typeface="+mn-ea"/>
              </a:rPr>
              <a:t>，支持正则匹配。</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匹配：</a:t>
            </a:r>
            <a:r>
              <a:rPr lang="zh-CN" altLang="zh-CN" sz="2000" dirty="0">
                <a:solidFill>
                  <a:srgbClr val="1369B2"/>
                </a:solidFill>
                <a:latin typeface="微软雅黑" panose="020B0503020204020204" pitchFamily="34" charset="-122"/>
                <a:ea typeface="微软雅黑" panose="020B0503020204020204" pitchFamily="34" charset="-122"/>
              </a:rPr>
              <a:t>预期结果与实际结果相等</a:t>
            </a:r>
            <a:r>
              <a:rPr lang="zh-CN" altLang="zh-CN" sz="2000" dirty="0">
                <a:solidFill>
                  <a:srgbClr val="595959"/>
                </a:solidFill>
                <a:latin typeface="微软雅黑" panose="020B0503020204020204" pitchFamily="34" charset="-122"/>
                <a:ea typeface="微软雅黑" panose="020B0503020204020204" pitchFamily="34" charset="-122"/>
                <a:cs typeface="+mn-ea"/>
              </a:rPr>
              <a:t>，支持正则匹配。</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相等：</a:t>
            </a:r>
            <a:r>
              <a:rPr lang="zh-CN" altLang="zh-CN" sz="2000" dirty="0">
                <a:solidFill>
                  <a:srgbClr val="1369B2"/>
                </a:solidFill>
                <a:latin typeface="微软雅黑" panose="020B0503020204020204" pitchFamily="34" charset="-122"/>
                <a:ea typeface="微软雅黑" panose="020B0503020204020204" pitchFamily="34" charset="-122"/>
              </a:rPr>
              <a:t>预期结果与实际结果相等</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不支持正则匹配</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字符串：与</a:t>
            </a:r>
            <a:r>
              <a:rPr lang="zh-CN" altLang="zh-CN" sz="2000" dirty="0">
                <a:solidFill>
                  <a:srgbClr val="1369B2"/>
                </a:solidFill>
                <a:latin typeface="微软雅黑" panose="020B0503020204020204" pitchFamily="34" charset="-122"/>
                <a:ea typeface="微软雅黑" panose="020B0503020204020204" pitchFamily="34" charset="-122"/>
              </a:rPr>
              <a:t>包括</a:t>
            </a:r>
            <a:r>
              <a:rPr lang="zh-CN" altLang="zh-CN" sz="2000" dirty="0">
                <a:solidFill>
                  <a:srgbClr val="595959"/>
                </a:solidFill>
                <a:latin typeface="微软雅黑" panose="020B0503020204020204" pitchFamily="34" charset="-122"/>
                <a:ea typeface="微软雅黑" panose="020B0503020204020204" pitchFamily="34" charset="-122"/>
                <a:cs typeface="+mn-ea"/>
              </a:rPr>
              <a:t>类似，但</a:t>
            </a:r>
            <a:r>
              <a:rPr lang="zh-CN" altLang="zh-CN" sz="2000" dirty="0">
                <a:solidFill>
                  <a:srgbClr val="1369B2"/>
                </a:solidFill>
                <a:latin typeface="微软雅黑" panose="020B0503020204020204" pitchFamily="34" charset="-122"/>
                <a:ea typeface="微软雅黑" panose="020B0503020204020204" pitchFamily="34" charset="-122"/>
              </a:rPr>
              <a:t>不支持正则匹配</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否：</a:t>
            </a:r>
            <a:r>
              <a:rPr lang="zh-CN" altLang="zh-CN" sz="2000" dirty="0">
                <a:solidFill>
                  <a:srgbClr val="1369B2"/>
                </a:solidFill>
                <a:latin typeface="微软雅黑" panose="020B0503020204020204" pitchFamily="34" charset="-122"/>
                <a:ea typeface="微软雅黑" panose="020B0503020204020204" pitchFamily="34" charset="-122"/>
              </a:rPr>
              <a:t>取反</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a:solidFill>
                  <a:srgbClr val="595959"/>
                </a:solidFill>
                <a:latin typeface="微软雅黑" panose="020B0503020204020204" pitchFamily="34" charset="-122"/>
                <a:ea typeface="微软雅黑" panose="020B0503020204020204" pitchFamily="34" charset="-122"/>
                <a:cs typeface="+mn-ea"/>
              </a:rPr>
              <a:t>断言结果</a:t>
            </a:r>
            <a:r>
              <a:rPr lang="zh-CN" altLang="en-US" sz="2000">
                <a:solidFill>
                  <a:srgbClr val="595959"/>
                </a:solidFill>
                <a:latin typeface="微软雅黑" panose="020B0503020204020204" pitchFamily="34" charset="-122"/>
                <a:ea typeface="微软雅黑" panose="020B0503020204020204" pitchFamily="34" charset="-122"/>
                <a:cs typeface="+mn-ea"/>
              </a:rPr>
              <a:t>为</a:t>
            </a:r>
            <a:r>
              <a:rPr lang="en-US" altLang="zh-CN" sz="2000">
                <a:solidFill>
                  <a:srgbClr val="595959"/>
                </a:solidFill>
                <a:latin typeface="微软雅黑" panose="020B0503020204020204" pitchFamily="34" charset="-122"/>
                <a:ea typeface="微软雅黑" panose="020B0503020204020204" pitchFamily="34" charset="-122"/>
                <a:cs typeface="+mn-ea"/>
              </a:rPr>
              <a:t>true</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那么在</a:t>
            </a:r>
            <a:r>
              <a:rPr lang="zh-CN" altLang="zh-CN" sz="2000">
                <a:solidFill>
                  <a:srgbClr val="595959"/>
                </a:solidFill>
                <a:latin typeface="微软雅黑" panose="020B0503020204020204" pitchFamily="34" charset="-122"/>
                <a:ea typeface="微软雅黑" panose="020B0503020204020204" pitchFamily="34" charset="-122"/>
                <a:cs typeface="+mn-ea"/>
              </a:rPr>
              <a:t>选择</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否</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之后，</a:t>
            </a:r>
            <a:r>
              <a:rPr lang="zh-CN" altLang="en-US" sz="2000">
                <a:solidFill>
                  <a:srgbClr val="595959"/>
                </a:solidFill>
                <a:latin typeface="微软雅黑" panose="020B0503020204020204" pitchFamily="34" charset="-122"/>
                <a:ea typeface="微软雅黑" panose="020B0503020204020204" pitchFamily="34" charset="-122"/>
                <a:cs typeface="+mn-ea"/>
              </a:rPr>
              <a:t>最终</a:t>
            </a:r>
            <a:r>
              <a:rPr lang="zh-CN" altLang="zh-CN" sz="2000">
                <a:solidFill>
                  <a:srgbClr val="595959"/>
                </a:solidFill>
                <a:latin typeface="微软雅黑" panose="020B0503020204020204" pitchFamily="34" charset="-122"/>
                <a:ea typeface="微软雅黑" panose="020B0503020204020204" pitchFamily="34" charset="-122"/>
                <a:cs typeface="+mn-ea"/>
              </a:rPr>
              <a:t>断言结果</a:t>
            </a:r>
            <a:r>
              <a:rPr lang="zh-CN" altLang="en-US" sz="2000">
                <a:solidFill>
                  <a:srgbClr val="595959"/>
                </a:solidFill>
                <a:latin typeface="微软雅黑" panose="020B0503020204020204" pitchFamily="34" charset="-122"/>
                <a:ea typeface="微软雅黑" panose="020B0503020204020204" pitchFamily="34" charset="-122"/>
                <a:cs typeface="+mn-ea"/>
              </a:rPr>
              <a:t>为</a:t>
            </a:r>
            <a:r>
              <a:rPr lang="en-US" altLang="zh-CN" sz="2000">
                <a:solidFill>
                  <a:srgbClr val="1369B2"/>
                </a:solidFill>
                <a:latin typeface="微软雅黑" panose="020B0503020204020204" pitchFamily="34" charset="-122"/>
                <a:ea typeface="微软雅黑" panose="020B0503020204020204" pitchFamily="34" charset="-122"/>
              </a:rPr>
              <a:t>false</a:t>
            </a:r>
            <a:r>
              <a:rPr lang="zh-CN" altLang="zh-CN" sz="2000">
                <a:solidFill>
                  <a:srgbClr val="595959"/>
                </a:solidFill>
                <a:latin typeface="微软雅黑" panose="020B0503020204020204" pitchFamily="34" charset="-122"/>
                <a:ea typeface="微软雅黑" panose="020B0503020204020204" pitchFamily="34" charset="-122"/>
                <a:cs typeface="+mn-ea"/>
              </a:rPr>
              <a:t>。如果断言结果为</a:t>
            </a:r>
            <a:r>
              <a:rPr lang="en-US" altLang="zh-CN" sz="2000">
                <a:solidFill>
                  <a:srgbClr val="1369B2"/>
                </a:solidFill>
                <a:latin typeface="微软雅黑" panose="020B0503020204020204" pitchFamily="34" charset="-122"/>
                <a:ea typeface="微软雅黑" panose="020B0503020204020204" pitchFamily="34" charset="-122"/>
              </a:rPr>
              <a:t>false</a:t>
            </a:r>
            <a:r>
              <a:rPr lang="zh-CN" altLang="zh-CN" sz="2000">
                <a:solidFill>
                  <a:srgbClr val="595959"/>
                </a:solidFill>
                <a:latin typeface="微软雅黑" panose="020B0503020204020204" pitchFamily="34" charset="-122"/>
                <a:ea typeface="微软雅黑" panose="020B0503020204020204" pitchFamily="34" charset="-122"/>
                <a:cs typeface="+mn-ea"/>
              </a:rPr>
              <a:t>，那么在选择</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否</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之后，最终结果为</a:t>
            </a:r>
            <a:r>
              <a:rPr lang="zh-CN" altLang="zh-CN" sz="2000">
                <a:solidFill>
                  <a:srgbClr val="1369B2"/>
                </a:solidFill>
                <a:latin typeface="微软雅黑" panose="020B0503020204020204" pitchFamily="34" charset="-122"/>
                <a:ea typeface="微软雅黑" panose="020B0503020204020204" pitchFamily="34" charset="-122"/>
              </a:rPr>
              <a:t> </a:t>
            </a:r>
            <a:r>
              <a:rPr lang="en-US" altLang="zh-CN" sz="2000">
                <a:solidFill>
                  <a:srgbClr val="1369B2"/>
                </a:solidFill>
                <a:latin typeface="微软雅黑" panose="020B0503020204020204" pitchFamily="34" charset="-122"/>
                <a:ea typeface="微软雅黑" panose="020B0503020204020204" pitchFamily="34" charset="-122"/>
              </a:rPr>
              <a:t>true</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lvl="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或者：如果测试模式有多个，只要其中一个测试模式匹配，断言就会成功；如果</a:t>
            </a:r>
            <a:r>
              <a:rPr lang="zh-CN" altLang="zh-CN" sz="2000">
                <a:solidFill>
                  <a:srgbClr val="595959"/>
                </a:solidFill>
                <a:latin typeface="微软雅黑" panose="020B0503020204020204" pitchFamily="34" charset="-122"/>
                <a:ea typeface="微软雅黑" panose="020B0503020204020204" pitchFamily="34" charset="-122"/>
                <a:cs typeface="+mn-ea"/>
              </a:rPr>
              <a:t>没有选择</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或者</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则多个测试模式必须都匹配成功，断言才会成功。</a:t>
            </a:r>
          </a:p>
        </p:txBody>
      </p:sp>
      <p:sp>
        <p:nvSpPr>
          <p:cNvPr id="6" name="矩形 5"/>
          <p:cNvSpPr/>
          <p:nvPr/>
        </p:nvSpPr>
        <p:spPr>
          <a:xfrm>
            <a:off x="991290" y="1264264"/>
            <a:ext cx="2395207" cy="400110"/>
          </a:xfrm>
          <a:prstGeom prst="rect">
            <a:avLst/>
          </a:prstGeom>
        </p:spPr>
        <p:txBody>
          <a:bodyPr wrap="none">
            <a:spAutoFit/>
          </a:bodyPr>
          <a:lstStyle/>
          <a:p>
            <a:r>
              <a:rPr lang="zh-CN" altLang="en-US" sz="2000" b="1" dirty="0">
                <a:solidFill>
                  <a:srgbClr val="595959"/>
                </a:solidFill>
                <a:latin typeface="微软雅黑" panose="020B0503020204020204" pitchFamily="34" charset="-122"/>
                <a:ea typeface="微软雅黑" panose="020B0503020204020204" pitchFamily="34" charset="-122"/>
                <a:cs typeface="+mn-ea"/>
              </a:rPr>
              <a:t>（</a:t>
            </a:r>
            <a:r>
              <a:rPr lang="en-US" altLang="zh-CN" sz="2000" b="1" dirty="0">
                <a:solidFill>
                  <a:srgbClr val="595959"/>
                </a:solidFill>
                <a:latin typeface="微软雅黑" panose="020B0503020204020204" pitchFamily="34" charset="-122"/>
                <a:ea typeface="微软雅黑" panose="020B0503020204020204" pitchFamily="34" charset="-122"/>
                <a:cs typeface="+mn-ea"/>
              </a:rPr>
              <a:t>2</a:t>
            </a:r>
            <a:r>
              <a:rPr lang="zh-CN" altLang="en-US" sz="2000" b="1" dirty="0">
                <a:solidFill>
                  <a:srgbClr val="595959"/>
                </a:solidFill>
                <a:latin typeface="微软雅黑" panose="020B0503020204020204" pitchFamily="34" charset="-122"/>
                <a:ea typeface="微软雅黑" panose="020B0503020204020204" pitchFamily="34" charset="-122"/>
                <a:cs typeface="+mn-ea"/>
              </a:rPr>
              <a:t>）模式匹配规则</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0" y="1941448"/>
            <a:ext cx="9375870" cy="1015663"/>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测试模式即填写的预期结果</a:t>
            </a:r>
            <a:r>
              <a:rPr lang="zh-CN" altLang="zh-CN" sz="2000">
                <a:solidFill>
                  <a:srgbClr val="595959"/>
                </a:solidFill>
                <a:latin typeface="微软雅黑" panose="020B0503020204020204" pitchFamily="34" charset="-122"/>
                <a:ea typeface="微软雅黑" panose="020B0503020204020204" pitchFamily="34" charset="-122"/>
                <a:cs typeface="+mn-ea"/>
              </a:rPr>
              <a:t>。单击</a:t>
            </a:r>
            <a:r>
              <a:rPr lang="zh-CN" altLang="en-US" sz="2000">
                <a:solidFill>
                  <a:srgbClr val="595959"/>
                </a:solidFill>
                <a:latin typeface="微软雅黑" panose="020B0503020204020204" pitchFamily="34" charset="-122"/>
                <a:ea typeface="微软雅黑" panose="020B0503020204020204" pitchFamily="34" charset="-122"/>
                <a:cs typeface="+mn-ea"/>
              </a:rPr>
              <a:t>下方的</a:t>
            </a:r>
            <a:r>
              <a:rPr lang="zh-CN" altLang="zh-CN" sz="2000">
                <a:solidFill>
                  <a:srgbClr val="1369B2"/>
                </a:solidFill>
                <a:latin typeface="微软雅黑" panose="020B0503020204020204" pitchFamily="34" charset="-122"/>
                <a:ea typeface="微软雅黑" panose="020B0503020204020204" pitchFamily="34" charset="-122"/>
              </a:rPr>
              <a:t>“添加”</a:t>
            </a:r>
            <a:r>
              <a:rPr lang="zh-CN" altLang="zh-CN" sz="2000" dirty="0">
                <a:solidFill>
                  <a:srgbClr val="595959"/>
                </a:solidFill>
                <a:latin typeface="微软雅黑" panose="020B0503020204020204" pitchFamily="34" charset="-122"/>
                <a:ea typeface="微软雅黑" panose="020B0503020204020204" pitchFamily="34" charset="-122"/>
                <a:cs typeface="+mn-ea"/>
              </a:rPr>
              <a:t>按钮，可以添加测试模式；单击</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删除</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按钮，可以删除测试模式。</a:t>
            </a:r>
            <a:r>
              <a:rPr lang="zh-CN" altLang="zh-CN" sz="2000" dirty="0">
                <a:solidFill>
                  <a:srgbClr val="1369B2"/>
                </a:solidFill>
                <a:latin typeface="微软雅黑" panose="020B0503020204020204" pitchFamily="34" charset="-122"/>
                <a:ea typeface="微软雅黑" panose="020B0503020204020204" pitchFamily="34" charset="-122"/>
              </a:rPr>
              <a:t>测试模式可以添加多个</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5" name="矩形 4"/>
          <p:cNvSpPr/>
          <p:nvPr/>
        </p:nvSpPr>
        <p:spPr>
          <a:xfrm>
            <a:off x="991290" y="1264264"/>
            <a:ext cx="1882247" cy="400110"/>
          </a:xfrm>
          <a:prstGeom prst="rect">
            <a:avLst/>
          </a:prstGeom>
        </p:spPr>
        <p:txBody>
          <a:bodyPr wrap="none">
            <a:spAutoFit/>
          </a:bodyPr>
          <a:lstStyle/>
          <a:p>
            <a:r>
              <a:rPr lang="zh-CN" altLang="en-US" sz="2000" b="1" dirty="0">
                <a:solidFill>
                  <a:srgbClr val="595959"/>
                </a:solidFill>
                <a:latin typeface="微软雅黑" panose="020B0503020204020204" pitchFamily="34" charset="-122"/>
                <a:ea typeface="微软雅黑" panose="020B0503020204020204" pitchFamily="34" charset="-122"/>
                <a:cs typeface="+mn-ea"/>
              </a:rPr>
              <a:t>（</a:t>
            </a:r>
            <a:r>
              <a:rPr lang="en-US" altLang="zh-CN" sz="2000" b="1" dirty="0">
                <a:solidFill>
                  <a:srgbClr val="595959"/>
                </a:solidFill>
                <a:latin typeface="微软雅黑" panose="020B0503020204020204" pitchFamily="34" charset="-122"/>
                <a:ea typeface="微软雅黑" panose="020B0503020204020204" pitchFamily="34" charset="-122"/>
                <a:cs typeface="+mn-ea"/>
              </a:rPr>
              <a:t>3</a:t>
            </a:r>
            <a:r>
              <a:rPr lang="zh-CN" altLang="en-US" sz="2000" b="1" dirty="0">
                <a:solidFill>
                  <a:srgbClr val="595959"/>
                </a:solidFill>
                <a:latin typeface="微软雅黑" panose="020B0503020204020204" pitchFamily="34" charset="-122"/>
                <a:ea typeface="微软雅黑" panose="020B0503020204020204" pitchFamily="34" charset="-122"/>
                <a:cs typeface="+mn-ea"/>
              </a:rPr>
              <a:t>）测试模式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43491" y="1804271"/>
            <a:ext cx="9924606" cy="1517129"/>
          </a:xfrm>
          <a:prstGeom prst="rect">
            <a:avLst/>
          </a:prstGeom>
          <a:noFill/>
        </p:spPr>
        <p:txBody>
          <a:bodyPr wrap="square">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断言用于对</a:t>
            </a: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格式的响应结果进行断言</a:t>
            </a:r>
            <a:r>
              <a:rPr lang="zh-CN" altLang="zh-CN" sz="2000" dirty="0">
                <a:solidFill>
                  <a:srgbClr val="595959"/>
                </a:solidFill>
                <a:latin typeface="微软雅黑" panose="020B0503020204020204" pitchFamily="34" charset="-122"/>
                <a:ea typeface="微软雅黑" panose="020B0503020204020204" pitchFamily="34" charset="-122"/>
                <a:cs typeface="+mn-ea"/>
              </a:rPr>
              <a:t>。如果想要在测试计划中添加</a:t>
            </a:r>
            <a:r>
              <a:rPr lang="en-US" altLang="zh-CN" sz="2000" dirty="0">
                <a:solidFill>
                  <a:srgbClr val="595959"/>
                </a:solidFill>
                <a:latin typeface="微软雅黑" panose="020B0503020204020204" pitchFamily="34" charset="-122"/>
                <a:ea typeface="微软雅黑" panose="020B0503020204020204" pitchFamily="34" charset="-122"/>
                <a:cs typeface="+mn-ea"/>
              </a:rPr>
              <a:t>JSON</a:t>
            </a:r>
            <a:r>
              <a:rPr lang="zh-CN" altLang="zh-CN" sz="2000" dirty="0">
                <a:solidFill>
                  <a:srgbClr val="595959"/>
                </a:solidFill>
                <a:latin typeface="微软雅黑" panose="020B0503020204020204" pitchFamily="34" charset="-122"/>
                <a:ea typeface="微软雅黑" panose="020B0503020204020204" pitchFamily="34" charset="-122"/>
                <a:cs typeface="+mn-ea"/>
              </a:rPr>
              <a:t>断言，则可以选中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“断言”</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断言”</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a:t>
            </a:r>
            <a:r>
              <a:rPr lang="en-US" altLang="zh-CN" sz="2000" dirty="0">
                <a:solidFill>
                  <a:srgbClr val="595959"/>
                </a:solidFill>
                <a:latin typeface="微软雅黑" panose="020B0503020204020204" pitchFamily="34" charset="-122"/>
                <a:ea typeface="微软雅黑" panose="020B0503020204020204" pitchFamily="34" charset="-122"/>
                <a:cs typeface="+mn-ea"/>
              </a:rPr>
              <a:t>JSON</a:t>
            </a:r>
            <a:r>
              <a:rPr lang="zh-CN" altLang="zh-CN" sz="2000">
                <a:solidFill>
                  <a:srgbClr val="595959"/>
                </a:solidFill>
                <a:latin typeface="微软雅黑" panose="020B0503020204020204" pitchFamily="34" charset="-122"/>
                <a:ea typeface="微软雅黑" panose="020B0503020204020204" pitchFamily="34" charset="-122"/>
                <a:cs typeface="+mn-ea"/>
              </a:rPr>
              <a:t>断言界面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971" y="3376089"/>
            <a:ext cx="5960459" cy="3148232"/>
          </a:xfrm>
          <a:prstGeom prst="rect">
            <a:avLst/>
          </a:prstGeom>
        </p:spPr>
      </p:pic>
      <p:sp>
        <p:nvSpPr>
          <p:cNvPr id="8" name="圆角矩形 7"/>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2.JSON</a:t>
            </a:r>
            <a:r>
              <a:rPr lang="zh-CN" altLang="en-US" sz="2000">
                <a:latin typeface="微软雅黑" panose="020B0503020204020204" pitchFamily="34" charset="-122"/>
                <a:ea typeface="微软雅黑" panose="020B0503020204020204" pitchFamily="34" charset="-122"/>
              </a:rPr>
              <a:t>断言</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99484" y="1241171"/>
            <a:ext cx="4184159" cy="553998"/>
          </a:xfrm>
          <a:prstGeom prst="rect">
            <a:avLst/>
          </a:prstGeom>
        </p:spPr>
        <p:txBody>
          <a:bodyPr wrap="non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rPr>
              <a:t>关于</a:t>
            </a: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断言的配置项</a:t>
            </a:r>
            <a:r>
              <a:rPr lang="zh-CN" altLang="en-US" sz="2000" dirty="0">
                <a:solidFill>
                  <a:srgbClr val="595959"/>
                </a:solidFill>
                <a:latin typeface="微软雅黑" panose="020B0503020204020204" pitchFamily="34" charset="-122"/>
                <a:ea typeface="微软雅黑" panose="020B0503020204020204" pitchFamily="34" charset="-122"/>
                <a:cs typeface="+mn-ea"/>
              </a:rPr>
              <a:t>介绍如下。</a:t>
            </a:r>
          </a:p>
        </p:txBody>
      </p:sp>
      <p:sp>
        <p:nvSpPr>
          <p:cNvPr id="4" name="矩形 3"/>
          <p:cNvSpPr/>
          <p:nvPr/>
        </p:nvSpPr>
        <p:spPr>
          <a:xfrm>
            <a:off x="1199484" y="1954502"/>
            <a:ext cx="9282846" cy="3785652"/>
          </a:xfrm>
          <a:prstGeom prst="rect">
            <a:avLst/>
          </a:prstGeom>
        </p:spPr>
        <p:txBody>
          <a:bodyPr wrap="square">
            <a:spAutoFit/>
          </a:bodyPr>
          <a:lstStyle/>
          <a:p>
            <a:pPr marL="34290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Assert JSON Path exists</a:t>
            </a:r>
            <a:r>
              <a:rPr lang="zh-CN" altLang="zh-CN" sz="2000" dirty="0">
                <a:solidFill>
                  <a:srgbClr val="595959"/>
                </a:solidFill>
                <a:latin typeface="微软雅黑" panose="020B0503020204020204" pitchFamily="34" charset="-122"/>
                <a:ea typeface="微软雅黑" panose="020B0503020204020204" pitchFamily="34" charset="-122"/>
                <a:cs typeface="+mn-ea"/>
              </a:rPr>
              <a:t>：用于</a:t>
            </a:r>
            <a:r>
              <a:rPr lang="zh-CN" altLang="zh-CN" sz="2000" dirty="0">
                <a:solidFill>
                  <a:srgbClr val="1369B2"/>
                </a:solidFill>
                <a:latin typeface="微软雅黑" panose="020B0503020204020204" pitchFamily="34" charset="-122"/>
                <a:ea typeface="微软雅黑" panose="020B0503020204020204" pitchFamily="34" charset="-122"/>
              </a:rPr>
              <a:t>配置要断言的</a:t>
            </a: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元素的路径</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Additionally assert value</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是否要使用指定的值生成断言</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Match as regular expression</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使用正则表达式断言</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Expected Value</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期望值</a:t>
            </a:r>
            <a:r>
              <a:rPr lang="zh-CN" altLang="zh-CN" sz="2000" dirty="0">
                <a:solidFill>
                  <a:srgbClr val="595959"/>
                </a:solidFill>
                <a:latin typeface="微软雅黑" panose="020B0503020204020204" pitchFamily="34" charset="-122"/>
                <a:ea typeface="微软雅黑" panose="020B0503020204020204" pitchFamily="34" charset="-122"/>
                <a:cs typeface="+mn-ea"/>
              </a:rPr>
              <a:t>。如果勾选了</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Additionally assert </a:t>
            </a:r>
            <a:r>
              <a:rPr lang="en-US" altLang="zh-CN" sz="2000">
                <a:solidFill>
                  <a:srgbClr val="1369B2"/>
                </a:solidFill>
                <a:latin typeface="微软雅黑" panose="020B0503020204020204" pitchFamily="34" charset="-122"/>
                <a:ea typeface="微软雅黑" panose="020B0503020204020204" pitchFamily="34" charset="-122"/>
              </a:rPr>
              <a:t>value”</a:t>
            </a:r>
            <a:r>
              <a:rPr lang="zh-CN" altLang="en-US" sz="2000">
                <a:solidFill>
                  <a:srgbClr val="595959"/>
                </a:solidFill>
                <a:latin typeface="微软雅黑" panose="020B0503020204020204" pitchFamily="34" charset="-122"/>
                <a:ea typeface="微软雅黑" panose="020B0503020204020204" pitchFamily="34" charset="-122"/>
                <a:cs typeface="+mn-ea"/>
              </a:rPr>
              <a:t>复选框</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就在这里填写期望值。</a:t>
            </a:r>
          </a:p>
          <a:p>
            <a:pPr marL="34290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Expected null</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如果期望的值为</a:t>
            </a:r>
            <a:r>
              <a:rPr lang="en-US" altLang="zh-CN" sz="2000" dirty="0">
                <a:solidFill>
                  <a:srgbClr val="1369B2"/>
                </a:solidFill>
                <a:latin typeface="微软雅黑" panose="020B0503020204020204" pitchFamily="34" charset="-122"/>
                <a:ea typeface="微软雅黑" panose="020B0503020204020204" pitchFamily="34" charset="-122"/>
              </a:rPr>
              <a:t>null</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就</a:t>
            </a:r>
            <a:r>
              <a:rPr lang="zh-CN" altLang="zh-CN" sz="2000">
                <a:solidFill>
                  <a:srgbClr val="1369B2"/>
                </a:solidFill>
                <a:latin typeface="微软雅黑" panose="020B0503020204020204" pitchFamily="34" charset="-122"/>
                <a:ea typeface="微软雅黑" panose="020B0503020204020204" pitchFamily="34" charset="-122"/>
              </a:rPr>
              <a:t>勾选该</a:t>
            </a:r>
            <a:r>
              <a:rPr lang="zh-CN" altLang="en-US" sz="2000">
                <a:solidFill>
                  <a:srgbClr val="1369B2"/>
                </a:solidFill>
                <a:latin typeface="微软雅黑" panose="020B0503020204020204" pitchFamily="34" charset="-122"/>
                <a:ea typeface="微软雅黑" panose="020B0503020204020204" pitchFamily="34" charset="-122"/>
              </a:rPr>
              <a:t>复选框</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en-US" altLang="zh-CN" sz="2000">
                <a:solidFill>
                  <a:srgbClr val="595959"/>
                </a:solidFill>
                <a:latin typeface="微软雅黑" panose="020B0503020204020204" pitchFamily="34" charset="-122"/>
                <a:ea typeface="微软雅黑" panose="020B0503020204020204" pitchFamily="34" charset="-122"/>
                <a:cs typeface="+mn-ea"/>
              </a:rPr>
              <a:t>Invert assertion</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will fail if above conditions met</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反转断言</a:t>
            </a:r>
            <a:r>
              <a:rPr lang="zh-CN" altLang="zh-CN" sz="2000" dirty="0">
                <a:solidFill>
                  <a:srgbClr val="595959"/>
                </a:solidFill>
                <a:latin typeface="微软雅黑" panose="020B0503020204020204" pitchFamily="34" charset="-122"/>
                <a:ea typeface="微软雅黑" panose="020B0503020204020204" pitchFamily="34" charset="-122"/>
                <a:cs typeface="+mn-ea"/>
              </a:rPr>
              <a:t>。断言成功时，如果</a:t>
            </a:r>
            <a:r>
              <a:rPr lang="zh-CN" altLang="zh-CN" sz="2000">
                <a:solidFill>
                  <a:srgbClr val="595959"/>
                </a:solidFill>
                <a:latin typeface="微软雅黑" panose="020B0503020204020204" pitchFamily="34" charset="-122"/>
                <a:ea typeface="微软雅黑" panose="020B0503020204020204" pitchFamily="34" charset="-122"/>
                <a:cs typeface="+mn-ea"/>
              </a:rPr>
              <a:t>勾选该</a:t>
            </a:r>
            <a:r>
              <a:rPr lang="zh-CN" altLang="en-US" sz="2000">
                <a:solidFill>
                  <a:srgbClr val="595959"/>
                </a:solidFill>
                <a:latin typeface="微软雅黑" panose="020B0503020204020204" pitchFamily="34" charset="-122"/>
                <a:ea typeface="微软雅黑" panose="020B0503020204020204" pitchFamily="34" charset="-122"/>
                <a:cs typeface="+mn-ea"/>
              </a:rPr>
              <a:t>复选框</a:t>
            </a:r>
            <a:r>
              <a:rPr lang="zh-CN" altLang="zh-CN" sz="2000">
                <a:solidFill>
                  <a:srgbClr val="595959"/>
                </a:solidFill>
                <a:latin typeface="微软雅黑" panose="020B0503020204020204" pitchFamily="34" charset="-122"/>
                <a:ea typeface="微软雅黑" panose="020B0503020204020204" pitchFamily="34" charset="-122"/>
                <a:cs typeface="+mn-ea"/>
              </a:rPr>
              <a:t>，则断言失败</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0" y="1052036"/>
            <a:ext cx="10185370"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断言</a:t>
            </a:r>
            <a:r>
              <a:rPr lang="zh-CN" altLang="zh-CN" sz="2000">
                <a:solidFill>
                  <a:srgbClr val="595959"/>
                </a:solidFill>
                <a:latin typeface="微软雅黑" panose="020B0503020204020204" pitchFamily="34" charset="-122"/>
                <a:ea typeface="微软雅黑" panose="020B0503020204020204" pitchFamily="34" charset="-122"/>
                <a:cs typeface="+mn-ea"/>
              </a:rPr>
              <a:t>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本</a:t>
            </a:r>
            <a:r>
              <a:rPr lang="zh-CN" altLang="zh-CN" sz="2000" dirty="0">
                <a:solidFill>
                  <a:srgbClr val="595959"/>
                </a:solidFill>
                <a:latin typeface="微软雅黑" panose="020B0503020204020204" pitchFamily="34" charset="-122"/>
                <a:ea typeface="微软雅黑" panose="020B0503020204020204" pitchFamily="34" charset="-122"/>
                <a:cs typeface="+mn-ea"/>
              </a:rPr>
              <a:t>案例要求使用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发送一个</a:t>
            </a:r>
            <a:r>
              <a:rPr lang="en-US" altLang="zh-CN" sz="2000" dirty="0">
                <a:solidFill>
                  <a:srgbClr val="1369B2"/>
                </a:solidFill>
                <a:latin typeface="微软雅黑" panose="020B0503020204020204" pitchFamily="34" charset="-122"/>
                <a:ea typeface="微软雅黑" panose="020B0503020204020204" pitchFamily="34" charset="-122"/>
              </a:rPr>
              <a:t>GET</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，请求地址为</a:t>
            </a:r>
            <a:r>
              <a:rPr lang="en-US" altLang="zh-CN" sz="2000" dirty="0">
                <a:solidFill>
                  <a:srgbClr val="1369B2"/>
                </a:solidFill>
                <a:latin typeface="微软雅黑" panose="020B0503020204020204" pitchFamily="34" charset="-122"/>
                <a:ea typeface="微软雅黑" panose="020B0503020204020204" pitchFamily="34" charset="-122"/>
              </a:rPr>
              <a:t>http://</a:t>
            </a:r>
            <a:r>
              <a:rPr lang="en-US" altLang="zh-CN" sz="2000">
                <a:solidFill>
                  <a:srgbClr val="1369B2"/>
                </a:solidFill>
                <a:latin typeface="微软雅黑" panose="020B0503020204020204" pitchFamily="34" charset="-122"/>
                <a:ea typeface="微软雅黑" panose="020B0503020204020204" pitchFamily="34" charset="-122"/>
              </a:rPr>
              <a:t>www.weather.com.cn/data/</a:t>
            </a:r>
            <a:r>
              <a:rPr lang="en-US" altLang="zh-CN" sz="2000" err="1">
                <a:solidFill>
                  <a:srgbClr val="1369B2"/>
                </a:solidFill>
                <a:latin typeface="微软雅黑" panose="020B0503020204020204" pitchFamily="34" charset="-122"/>
                <a:ea typeface="微软雅黑" panose="020B0503020204020204" pitchFamily="34" charset="-122"/>
              </a:rPr>
              <a:t>sk</a:t>
            </a:r>
            <a:r>
              <a:rPr lang="en-US" altLang="zh-CN" sz="2000">
                <a:solidFill>
                  <a:srgbClr val="1369B2"/>
                </a:solidFill>
                <a:latin typeface="微软雅黑" panose="020B0503020204020204" pitchFamily="34" charset="-122"/>
                <a:ea typeface="微软雅黑" panose="020B0503020204020204" pitchFamily="34" charset="-122"/>
              </a:rPr>
              <a:t>/101010100.html</a:t>
            </a:r>
            <a:r>
              <a:rPr lang="en-US" altLang="zh-CN" sz="2000">
                <a:solidFill>
                  <a:srgbClr val="595959"/>
                </a:solidFill>
                <a:latin typeface="微软雅黑" panose="020B0503020204020204" pitchFamily="34" charset="-122"/>
                <a:ea typeface="微软雅黑" panose="020B0503020204020204" pitchFamily="34" charset="-122"/>
                <a:cs typeface="+mn-ea"/>
              </a:rPr>
              <a:t>，检查响应的</a:t>
            </a:r>
            <a:r>
              <a:rPr lang="en-US" altLang="zh-CN" sz="2000" dirty="0" err="1">
                <a:solidFill>
                  <a:srgbClr val="595959"/>
                </a:solidFill>
                <a:latin typeface="微软雅黑" panose="020B0503020204020204" pitchFamily="34" charset="-122"/>
                <a:ea typeface="微软雅黑" panose="020B0503020204020204" pitchFamily="34" charset="-122"/>
                <a:cs typeface="+mn-ea"/>
              </a:rPr>
              <a:t>JSON数据中，</a:t>
            </a:r>
            <a:r>
              <a:rPr lang="en-US" altLang="zh-CN" sz="2000" dirty="0" err="1">
                <a:solidFill>
                  <a:srgbClr val="1369B2"/>
                </a:solidFill>
                <a:latin typeface="微软雅黑" panose="020B0503020204020204" pitchFamily="34" charset="-122"/>
                <a:ea typeface="微软雅黑" panose="020B0503020204020204" pitchFamily="34" charset="-122"/>
              </a:rPr>
              <a:t>city</a:t>
            </a:r>
            <a:r>
              <a:rPr lang="en-US" altLang="zh-CN" sz="2000" err="1">
                <a:solidFill>
                  <a:srgbClr val="595959"/>
                </a:solidFill>
                <a:latin typeface="微软雅黑" panose="020B0503020204020204" pitchFamily="34" charset="-122"/>
                <a:ea typeface="微软雅黑" panose="020B0503020204020204" pitchFamily="34" charset="-122"/>
                <a:cs typeface="+mn-ea"/>
              </a:rPr>
              <a:t>对应的内容是否为</a:t>
            </a:r>
            <a:r>
              <a:rPr lang="zh-CN" altLang="zh-CN" sz="2000">
                <a:solidFill>
                  <a:srgbClr val="1369B2"/>
                </a:solidFill>
                <a:latin typeface="微软雅黑" panose="020B0503020204020204" pitchFamily="34" charset="-122"/>
                <a:ea typeface="微软雅黑" panose="020B0503020204020204" pitchFamily="34" charset="-122"/>
              </a:rPr>
              <a:t>“北京”</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2104" y="2991397"/>
            <a:ext cx="5097094" cy="2829041"/>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572" y="2991397"/>
            <a:ext cx="4621110" cy="281402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0" y="1027718"/>
            <a:ext cx="10200585" cy="55399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配置</a:t>
            </a:r>
            <a:r>
              <a:rPr lang="zh-CN" altLang="zh-CN" sz="2000">
                <a:solidFill>
                  <a:srgbClr val="595959"/>
                </a:solidFill>
                <a:latin typeface="微软雅黑" panose="020B0503020204020204" pitchFamily="34" charset="-122"/>
                <a:ea typeface="微软雅黑" panose="020B0503020204020204" pitchFamily="34" charset="-122"/>
                <a:cs typeface="+mn-ea"/>
              </a:rPr>
              <a:t>完成之后</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执行</a:t>
            </a:r>
            <a:r>
              <a:rPr lang="zh-CN" altLang="zh-CN" sz="2000" dirty="0">
                <a:solidFill>
                  <a:srgbClr val="595959"/>
                </a:solidFill>
                <a:latin typeface="微软雅黑" panose="020B0503020204020204" pitchFamily="34" charset="-122"/>
                <a:ea typeface="微软雅黑" panose="020B0503020204020204" pitchFamily="34" charset="-122"/>
                <a:cs typeface="+mn-ea"/>
              </a:rPr>
              <a:t>测试</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rPr>
              <a:t>测试结果</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775" y="1836354"/>
            <a:ext cx="7523722" cy="443832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43491" y="1950468"/>
            <a:ext cx="10399619" cy="1477328"/>
          </a:xfrm>
          <a:prstGeom prst="rect">
            <a:avLst/>
          </a:prstGeom>
          <a:noFill/>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断言持续时间主要用于断言请求的响应时间是否满足要求</a:t>
            </a:r>
            <a:r>
              <a:rPr lang="zh-CN" altLang="zh-CN" sz="2000" dirty="0">
                <a:solidFill>
                  <a:srgbClr val="595959"/>
                </a:solidFill>
                <a:latin typeface="微软雅黑" panose="020B0503020204020204" pitchFamily="34" charset="-122"/>
                <a:ea typeface="微软雅黑" panose="020B0503020204020204" pitchFamily="34" charset="-122"/>
                <a:cs typeface="+mn-ea"/>
              </a:rPr>
              <a:t>。如果在测试计划中需要添加断言持续时间，则可以选中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“断言”</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“断言持续时间”</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，会添加一个断言</a:t>
            </a:r>
            <a:r>
              <a:rPr lang="zh-CN" altLang="zh-CN" sz="2000">
                <a:solidFill>
                  <a:srgbClr val="595959"/>
                </a:solidFill>
                <a:latin typeface="微软雅黑" panose="020B0503020204020204" pitchFamily="34" charset="-122"/>
                <a:ea typeface="微软雅黑" panose="020B0503020204020204" pitchFamily="34" charset="-122"/>
                <a:cs typeface="+mn-ea"/>
              </a:rPr>
              <a:t>持续时间界面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2602" y="3427796"/>
            <a:ext cx="6057810" cy="3163009"/>
          </a:xfrm>
          <a:prstGeom prst="rect">
            <a:avLst/>
          </a:prstGeom>
        </p:spPr>
      </p:pic>
      <p:sp>
        <p:nvSpPr>
          <p:cNvPr id="8" name="圆角矩形 7"/>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断言持续时间</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断言</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67490" y="1074035"/>
            <a:ext cx="10019610" cy="961289"/>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zh-CN" sz="2000" dirty="0">
                <a:solidFill>
                  <a:srgbClr val="1369B2"/>
                </a:solidFill>
                <a:latin typeface="微软雅黑" panose="020B0503020204020204" pitchFamily="34" charset="-122"/>
                <a:ea typeface="微软雅黑" panose="020B0503020204020204" pitchFamily="34" charset="-122"/>
              </a:rPr>
              <a:t>断言持续时间</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的使用。本案例要求使用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发送一个</a:t>
            </a:r>
            <a:r>
              <a:rPr lang="en-US" altLang="zh-CN" sz="2000" dirty="0">
                <a:solidFill>
                  <a:srgbClr val="1369B2"/>
                </a:solidFill>
                <a:latin typeface="微软雅黑" panose="020B0503020204020204" pitchFamily="34" charset="-122"/>
                <a:ea typeface="微软雅黑" panose="020B0503020204020204" pitchFamily="34" charset="-122"/>
              </a:rPr>
              <a:t>GET</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，请求地址为</a:t>
            </a:r>
            <a:r>
              <a:rPr lang="en-US" altLang="zh-CN" sz="2000" dirty="0">
                <a:solidFill>
                  <a:srgbClr val="1369B2"/>
                </a:solidFill>
                <a:latin typeface="微软雅黑" panose="020B0503020204020204" pitchFamily="34" charset="-122"/>
                <a:ea typeface="微软雅黑" panose="020B0503020204020204" pitchFamily="34" charset="-122"/>
              </a:rPr>
              <a:t>https://www.jd.com</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检查响应时间是否超过</a:t>
            </a:r>
            <a:r>
              <a:rPr lang="en-US" altLang="zh-CN" sz="2000">
                <a:solidFill>
                  <a:srgbClr val="1369B2"/>
                </a:solidFill>
                <a:latin typeface="微软雅黑" panose="020B0503020204020204" pitchFamily="34" charset="-122"/>
                <a:ea typeface="微软雅黑" panose="020B0503020204020204" pitchFamily="34" charset="-122"/>
              </a:rPr>
              <a:t>100毫秒</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3690" y="2464903"/>
            <a:ext cx="4793730" cy="2919786"/>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0914" y="2464903"/>
            <a:ext cx="5263126" cy="257694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前置处理器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1" name="图片 10"/>
          <p:cNvPicPr>
            <a:picLocks noChangeAspect="1"/>
          </p:cNvPicPr>
          <p:nvPr/>
        </p:nvPicPr>
        <p:blipFill>
          <a:blip r:embed="rId3"/>
          <a:stretch>
            <a:fillRect/>
          </a:stretch>
        </p:blipFill>
        <p:spPr>
          <a:xfrm>
            <a:off x="1011196" y="1629594"/>
            <a:ext cx="3715858" cy="4006159"/>
          </a:xfrm>
          <a:prstGeom prst="rect">
            <a:avLst/>
          </a:prstGeom>
        </p:spPr>
      </p:pic>
      <p:sp>
        <p:nvSpPr>
          <p:cNvPr id="14" name="文本框 7"/>
          <p:cNvSpPr txBox="1"/>
          <p:nvPr/>
        </p:nvSpPr>
        <p:spPr>
          <a:xfrm>
            <a:off x="5169589" y="2303600"/>
            <a:ext cx="6017909" cy="1938992"/>
          </a:xfrm>
          <a:prstGeom prst="rect">
            <a:avLst/>
          </a:prstGeom>
          <a:noFill/>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前置处理器用于在请求发送之前对请求进行一些特殊的</a:t>
            </a:r>
            <a:r>
              <a:rPr lang="zh-CN" altLang="zh-CN" sz="2000">
                <a:solidFill>
                  <a:srgbClr val="1369B2"/>
                </a:solidFill>
                <a:latin typeface="微软雅黑" panose="020B0503020204020204" pitchFamily="34" charset="-122"/>
                <a:ea typeface="微软雅黑" panose="020B0503020204020204" pitchFamily="34" charset="-122"/>
              </a:rPr>
              <a:t>处理</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zh-CN" sz="2000" dirty="0">
                <a:solidFill>
                  <a:srgbClr val="1369B2"/>
                </a:solidFill>
                <a:latin typeface="微软雅黑" panose="020B0503020204020204" pitchFamily="34" charset="-122"/>
                <a:ea typeface="微软雅黑" panose="020B0503020204020204" pitchFamily="34" charset="-122"/>
              </a:rPr>
              <a:t>参数化</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加密请求</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rPr>
              <a:t>替换请求字段</a:t>
            </a:r>
            <a:r>
              <a:rPr lang="zh-CN" altLang="zh-CN" sz="2000">
                <a:solidFill>
                  <a:srgbClr val="595959"/>
                </a:solidFill>
                <a:latin typeface="微软雅黑" panose="020B0503020204020204" pitchFamily="34" charset="-122"/>
                <a:ea typeface="微软雅黑" panose="020B0503020204020204" pitchFamily="34" charset="-122"/>
                <a:cs typeface="+mn-ea"/>
              </a:rPr>
              <a:t>等。较为</a:t>
            </a:r>
            <a:r>
              <a:rPr lang="zh-CN" altLang="zh-CN" sz="2000" dirty="0">
                <a:solidFill>
                  <a:srgbClr val="595959"/>
                </a:solidFill>
                <a:latin typeface="微软雅黑" panose="020B0503020204020204" pitchFamily="34" charset="-122"/>
                <a:ea typeface="微软雅黑" panose="020B0503020204020204" pitchFamily="34" charset="-122"/>
                <a:cs typeface="+mn-ea"/>
              </a:rPr>
              <a:t>常用的元件是</a:t>
            </a:r>
            <a:r>
              <a:rPr lang="zh-CN" altLang="zh-CN" sz="2000" dirty="0">
                <a:solidFill>
                  <a:srgbClr val="1369B2"/>
                </a:solidFill>
                <a:latin typeface="微软雅黑" panose="020B0503020204020204" pitchFamily="34" charset="-122"/>
                <a:ea typeface="微软雅黑" panose="020B0503020204020204" pitchFamily="34" charset="-122"/>
              </a:rPr>
              <a:t>用户参数</a:t>
            </a:r>
            <a:r>
              <a:rPr lang="zh-CN" altLang="zh-CN" sz="2000" dirty="0">
                <a:solidFill>
                  <a:srgbClr val="595959"/>
                </a:solidFill>
                <a:latin typeface="微软雅黑" panose="020B0503020204020204" pitchFamily="34" charset="-122"/>
                <a:ea typeface="微软雅黑" panose="020B0503020204020204" pitchFamily="34" charset="-122"/>
                <a:cs typeface="+mn-ea"/>
              </a:rPr>
              <a:t>，用户参数可以保证不同的用户访问时，获取不同的参数值。</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前置处理器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67119" y="1136973"/>
            <a:ext cx="10127561" cy="1422954"/>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下面以</a:t>
            </a:r>
            <a:r>
              <a:rPr lang="zh-CN" altLang="zh-CN" sz="2000" dirty="0">
                <a:solidFill>
                  <a:srgbClr val="1369B2"/>
                </a:solidFill>
                <a:latin typeface="微软雅黑" panose="020B0503020204020204" pitchFamily="34" charset="-122"/>
                <a:ea typeface="微软雅黑" panose="020B0503020204020204" pitchFamily="34" charset="-122"/>
              </a:rPr>
              <a:t>用户参数</a:t>
            </a:r>
            <a:r>
              <a:rPr lang="zh-CN" altLang="zh-CN" sz="2000" dirty="0">
                <a:solidFill>
                  <a:srgbClr val="595959"/>
                </a:solidFill>
                <a:latin typeface="微软雅黑" panose="020B0503020204020204" pitchFamily="34" charset="-122"/>
                <a:ea typeface="微软雅黑" panose="020B0503020204020204" pitchFamily="34" charset="-122"/>
                <a:cs typeface="+mn-ea"/>
              </a:rPr>
              <a:t>为例，讲解</a:t>
            </a:r>
            <a:r>
              <a:rPr lang="zh-CN" altLang="zh-CN" sz="2000" dirty="0">
                <a:solidFill>
                  <a:srgbClr val="1369B2"/>
                </a:solidFill>
                <a:latin typeface="微软雅黑" panose="020B0503020204020204" pitchFamily="34" charset="-122"/>
                <a:ea typeface="微软雅黑" panose="020B0503020204020204" pitchFamily="34" charset="-122"/>
              </a:rPr>
              <a:t>前置处理器</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的使用。首先选中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“前置处理器”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“用户参数”</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，会添加一个用户</a:t>
            </a:r>
            <a:r>
              <a:rPr lang="zh-CN" altLang="zh-CN" sz="2000">
                <a:solidFill>
                  <a:srgbClr val="595959"/>
                </a:solidFill>
                <a:latin typeface="微软雅黑" panose="020B0503020204020204" pitchFamily="34" charset="-122"/>
                <a:ea typeface="微软雅黑" panose="020B0503020204020204" pitchFamily="34" charset="-122"/>
                <a:cs typeface="+mn-ea"/>
              </a:rPr>
              <a:t>参数界面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4125" y="2793373"/>
            <a:ext cx="7921842" cy="348871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前置处理器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40327" y="1093925"/>
            <a:ext cx="10127561" cy="1422954"/>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zh-CN" sz="2000" dirty="0">
                <a:solidFill>
                  <a:srgbClr val="1369B2"/>
                </a:solidFill>
                <a:latin typeface="微软雅黑" panose="020B0503020204020204" pitchFamily="34" charset="-122"/>
                <a:ea typeface="微软雅黑" panose="020B0503020204020204" pitchFamily="34" charset="-122"/>
              </a:rPr>
              <a:t>用户参数</a:t>
            </a:r>
            <a:r>
              <a:rPr lang="zh-CN" altLang="zh-CN" sz="2000">
                <a:solidFill>
                  <a:srgbClr val="595959"/>
                </a:solidFill>
                <a:latin typeface="微软雅黑" panose="020B0503020204020204" pitchFamily="34" charset="-122"/>
                <a:ea typeface="微软雅黑" panose="020B0503020204020204" pitchFamily="34" charset="-122"/>
                <a:cs typeface="+mn-ea"/>
              </a:rPr>
              <a:t>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本</a:t>
            </a:r>
            <a:r>
              <a:rPr lang="zh-CN" altLang="zh-CN" sz="2000" dirty="0">
                <a:solidFill>
                  <a:srgbClr val="595959"/>
                </a:solidFill>
                <a:latin typeface="微软雅黑" panose="020B0503020204020204" pitchFamily="34" charset="-122"/>
                <a:ea typeface="微软雅黑" panose="020B0503020204020204" pitchFamily="34" charset="-122"/>
                <a:cs typeface="+mn-ea"/>
              </a:rPr>
              <a:t>案例要求使用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发送一个</a:t>
            </a:r>
            <a:r>
              <a:rPr lang="en-US" altLang="zh-CN" sz="2000" dirty="0">
                <a:solidFill>
                  <a:srgbClr val="1369B2"/>
                </a:solidFill>
                <a:latin typeface="微软雅黑" panose="020B0503020204020204" pitchFamily="34" charset="-122"/>
                <a:ea typeface="微软雅黑" panose="020B0503020204020204" pitchFamily="34" charset="-122"/>
              </a:rPr>
              <a:t>GET</a:t>
            </a:r>
            <a:r>
              <a:rPr lang="zh-CN" altLang="zh-CN" sz="2000" dirty="0">
                <a:solidFill>
                  <a:srgbClr val="1369B2"/>
                </a:solidFill>
                <a:latin typeface="微软雅黑" panose="020B0503020204020204" pitchFamily="34" charset="-122"/>
                <a:ea typeface="微软雅黑" panose="020B0503020204020204" pitchFamily="34" charset="-122"/>
              </a:rPr>
              <a:t>请求</a:t>
            </a:r>
            <a:r>
              <a:rPr lang="zh-CN" altLang="zh-CN" sz="2000" dirty="0">
                <a:solidFill>
                  <a:srgbClr val="595959"/>
                </a:solidFill>
                <a:latin typeface="微软雅黑" panose="020B0503020204020204" pitchFamily="34" charset="-122"/>
                <a:ea typeface="微软雅黑" panose="020B0503020204020204" pitchFamily="34" charset="-122"/>
                <a:cs typeface="+mn-ea"/>
              </a:rPr>
              <a:t>，请求地址为</a:t>
            </a:r>
            <a:r>
              <a:rPr lang="en-US" altLang="zh-CN" sz="2000" dirty="0">
                <a:solidFill>
                  <a:srgbClr val="1369B2"/>
                </a:solidFill>
                <a:latin typeface="微软雅黑" panose="020B0503020204020204" pitchFamily="34" charset="-122"/>
                <a:ea typeface="微软雅黑" panose="020B0503020204020204" pitchFamily="34" charset="-122"/>
              </a:rPr>
              <a:t>https://www.baidu.com/S</a:t>
            </a:r>
            <a:r>
              <a:rPr lang="zh-CN" altLang="zh-CN" sz="2000" dirty="0">
                <a:solidFill>
                  <a:srgbClr val="595959"/>
                </a:solidFill>
                <a:latin typeface="微软雅黑" panose="020B0503020204020204" pitchFamily="34" charset="-122"/>
                <a:ea typeface="微软雅黑" panose="020B0503020204020204" pitchFamily="34" charset="-122"/>
                <a:cs typeface="+mn-ea"/>
              </a:rPr>
              <a:t>，第一个用户携带参数为：</a:t>
            </a:r>
            <a:r>
              <a:rPr lang="en-US" altLang="zh-CN" sz="2000" dirty="0">
                <a:solidFill>
                  <a:srgbClr val="1369B2"/>
                </a:solidFill>
                <a:latin typeface="微软雅黑" panose="020B0503020204020204" pitchFamily="34" charset="-122"/>
                <a:ea typeface="微软雅黑" panose="020B0503020204020204" pitchFamily="34" charset="-122"/>
              </a:rPr>
              <a:t>name=</a:t>
            </a:r>
            <a:r>
              <a:rPr lang="zh-CN" altLang="zh-CN" sz="2000" dirty="0">
                <a:solidFill>
                  <a:srgbClr val="1369B2"/>
                </a:solidFill>
                <a:latin typeface="微软雅黑" panose="020B0503020204020204" pitchFamily="34" charset="-122"/>
                <a:ea typeface="微软雅黑" panose="020B0503020204020204" pitchFamily="34" charset="-122"/>
              </a:rPr>
              <a:t>张三</a:t>
            </a:r>
            <a:r>
              <a:rPr lang="en-US" altLang="zh-CN" sz="2000" dirty="0">
                <a:solidFill>
                  <a:srgbClr val="1369B2"/>
                </a:solidFill>
                <a:latin typeface="微软雅黑" panose="020B0503020204020204" pitchFamily="34" charset="-122"/>
                <a:ea typeface="微软雅黑" panose="020B0503020204020204" pitchFamily="34" charset="-122"/>
              </a:rPr>
              <a:t>&amp;age=28</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第二个用户携带参数为：</a:t>
            </a:r>
            <a:r>
              <a:rPr lang="en-US" altLang="zh-CN" sz="2000" dirty="0">
                <a:solidFill>
                  <a:srgbClr val="1369B2"/>
                </a:solidFill>
                <a:latin typeface="微软雅黑" panose="020B0503020204020204" pitchFamily="34" charset="-122"/>
                <a:ea typeface="微软雅黑" panose="020B0503020204020204" pitchFamily="34" charset="-122"/>
              </a:rPr>
              <a:t>name=</a:t>
            </a:r>
            <a:r>
              <a:rPr lang="zh-CN" altLang="zh-CN" sz="2000" dirty="0">
                <a:solidFill>
                  <a:srgbClr val="1369B2"/>
                </a:solidFill>
                <a:latin typeface="微软雅黑" panose="020B0503020204020204" pitchFamily="34" charset="-122"/>
                <a:ea typeface="微软雅黑" panose="020B0503020204020204" pitchFamily="34" charset="-122"/>
              </a:rPr>
              <a:t>李四</a:t>
            </a:r>
            <a:r>
              <a:rPr lang="en-US" altLang="zh-CN" sz="2000">
                <a:solidFill>
                  <a:srgbClr val="1369B2"/>
                </a:solidFill>
                <a:latin typeface="微软雅黑" panose="020B0503020204020204" pitchFamily="34" charset="-122"/>
                <a:ea typeface="微软雅黑" panose="020B0503020204020204" pitchFamily="34" charset="-122"/>
              </a:rPr>
              <a:t>&amp;age=30</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0185" y="2892097"/>
            <a:ext cx="5088700" cy="2572575"/>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9167" y="2892097"/>
            <a:ext cx="4847726" cy="268930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1" name="图片 10"/>
          <p:cNvPicPr>
            <a:picLocks noChangeAspect="1"/>
          </p:cNvPicPr>
          <p:nvPr/>
        </p:nvPicPr>
        <p:blipFill>
          <a:blip r:embed="rId3"/>
          <a:stretch>
            <a:fillRect/>
          </a:stretch>
        </p:blipFill>
        <p:spPr>
          <a:xfrm>
            <a:off x="1011196" y="1629594"/>
            <a:ext cx="3715858" cy="4006159"/>
          </a:xfrm>
          <a:prstGeom prst="rect">
            <a:avLst/>
          </a:prstGeom>
        </p:spPr>
      </p:pic>
      <p:sp>
        <p:nvSpPr>
          <p:cNvPr id="14" name="文本框 7"/>
          <p:cNvSpPr txBox="1"/>
          <p:nvPr/>
        </p:nvSpPr>
        <p:spPr>
          <a:xfrm>
            <a:off x="5169589" y="1976466"/>
            <a:ext cx="6017909" cy="3731278"/>
          </a:xfrm>
          <a:prstGeom prst="rect">
            <a:avLst/>
          </a:prstGeom>
          <a:noFill/>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后置处理器用于对响应数据进行关联处理</a:t>
            </a:r>
            <a:r>
              <a:rPr lang="zh-CN" altLang="zh-CN" sz="2000" dirty="0">
                <a:solidFill>
                  <a:srgbClr val="595959"/>
                </a:solidFill>
                <a:latin typeface="微软雅黑" panose="020B0503020204020204" pitchFamily="34" charset="-122"/>
                <a:ea typeface="微软雅黑" panose="020B0503020204020204" pitchFamily="34" charset="-122"/>
                <a:cs typeface="+mn-ea"/>
              </a:rPr>
              <a:t>，所谓关联就是</a:t>
            </a:r>
            <a:r>
              <a:rPr lang="zh-CN" altLang="zh-CN" sz="2000" dirty="0">
                <a:solidFill>
                  <a:srgbClr val="1369B2"/>
                </a:solidFill>
                <a:latin typeface="微软雅黑" panose="020B0503020204020204" pitchFamily="34" charset="-122"/>
                <a:ea typeface="微软雅黑" panose="020B0503020204020204" pitchFamily="34" charset="-122"/>
              </a:rPr>
              <a:t>请求之间有依赖</a:t>
            </a:r>
            <a:r>
              <a:rPr lang="zh-CN" altLang="zh-CN" sz="2000">
                <a:solidFill>
                  <a:srgbClr val="1369B2"/>
                </a:solidFill>
                <a:latin typeface="微软雅黑" panose="020B0503020204020204" pitchFamily="34" charset="-122"/>
                <a:ea typeface="微软雅黑" panose="020B0503020204020204" pitchFamily="34" charset="-122"/>
              </a:rPr>
              <a:t>关系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例</a:t>
            </a:r>
            <a:r>
              <a:rPr lang="zh-CN" altLang="zh-CN" sz="2000">
                <a:solidFill>
                  <a:srgbClr val="595959"/>
                </a:solidFill>
                <a:latin typeface="微软雅黑" panose="020B0503020204020204" pitchFamily="34" charset="-122"/>
                <a:ea typeface="微软雅黑" panose="020B0503020204020204" pitchFamily="34" charset="-122"/>
                <a:cs typeface="+mn-ea"/>
              </a:rPr>
              <a:t>如</a:t>
            </a:r>
            <a:r>
              <a:rPr lang="zh-CN" altLang="zh-CN" sz="2000" dirty="0">
                <a:solidFill>
                  <a:srgbClr val="595959"/>
                </a:solidFill>
                <a:latin typeface="微软雅黑" panose="020B0503020204020204" pitchFamily="34" charset="-122"/>
                <a:ea typeface="微软雅黑" panose="020B0503020204020204" pitchFamily="34" charset="-122"/>
                <a:cs typeface="+mn-ea"/>
              </a:rPr>
              <a:t>一个请求需要另一个请求的响应数据作为参数，则需要先获取另一个请求的响应数据，</a:t>
            </a:r>
            <a:r>
              <a:rPr lang="zh-CN" altLang="zh-CN" sz="2000">
                <a:solidFill>
                  <a:srgbClr val="595959"/>
                </a:solidFill>
                <a:latin typeface="微软雅黑" panose="020B0503020204020204" pitchFamily="34" charset="-122"/>
                <a:ea typeface="微软雅黑" panose="020B0503020204020204" pitchFamily="34" charset="-122"/>
                <a:cs typeface="+mn-ea"/>
              </a:rPr>
              <a:t>对其进行</a:t>
            </a:r>
            <a:r>
              <a:rPr lang="zh-CN" altLang="zh-CN" sz="2000" dirty="0">
                <a:solidFill>
                  <a:srgbClr val="595959"/>
                </a:solidFill>
                <a:latin typeface="微软雅黑" panose="020B0503020204020204" pitchFamily="34" charset="-122"/>
                <a:ea typeface="微软雅黑" panose="020B0503020204020204" pitchFamily="34" charset="-122"/>
                <a:cs typeface="+mn-ea"/>
              </a:rPr>
              <a:t>处理，再将响应数据</a:t>
            </a:r>
            <a:r>
              <a:rPr lang="zh-CN" altLang="zh-CN" sz="2000">
                <a:solidFill>
                  <a:srgbClr val="595959"/>
                </a:solidFill>
                <a:latin typeface="微软雅黑" panose="020B0503020204020204" pitchFamily="34" charset="-122"/>
                <a:ea typeface="微软雅黑" panose="020B0503020204020204" pitchFamily="34" charset="-122"/>
                <a:cs typeface="+mn-ea"/>
              </a:rPr>
              <a:t>作为参数</a:t>
            </a:r>
            <a:r>
              <a:rPr lang="zh-CN" altLang="en-US" sz="2000">
                <a:solidFill>
                  <a:srgbClr val="595959"/>
                </a:solidFill>
                <a:latin typeface="微软雅黑" panose="020B0503020204020204" pitchFamily="34" charset="-122"/>
                <a:ea typeface="微软雅黑" panose="020B0503020204020204" pitchFamily="34" charset="-122"/>
                <a:cs typeface="+mn-ea"/>
              </a:rPr>
              <a:t>来</a:t>
            </a:r>
            <a:r>
              <a:rPr lang="zh-CN" altLang="zh-CN" sz="2000">
                <a:solidFill>
                  <a:srgbClr val="595959"/>
                </a:solidFill>
                <a:latin typeface="微软雅黑" panose="020B0503020204020204" pitchFamily="34" charset="-122"/>
                <a:ea typeface="微软雅黑" panose="020B0503020204020204" pitchFamily="34" charset="-122"/>
                <a:cs typeface="+mn-ea"/>
              </a:rPr>
              <a:t>发送请求</a:t>
            </a:r>
            <a:r>
              <a:rPr lang="zh-CN" altLang="zh-CN" sz="2000" dirty="0">
                <a:solidFill>
                  <a:srgbClr val="595959"/>
                </a:solidFill>
                <a:latin typeface="微软雅黑" panose="020B0503020204020204" pitchFamily="34" charset="-122"/>
                <a:ea typeface="微软雅黑" panose="020B0503020204020204" pitchFamily="34" charset="-122"/>
                <a:cs typeface="+mn-ea"/>
              </a:rPr>
              <a:t>。获取一个请求的响应数据就需要用到后置</a:t>
            </a:r>
            <a:r>
              <a:rPr lang="zh-CN" altLang="zh-CN" sz="2000">
                <a:solidFill>
                  <a:srgbClr val="595959"/>
                </a:solidFill>
                <a:latin typeface="微软雅黑" panose="020B0503020204020204" pitchFamily="34" charset="-122"/>
                <a:ea typeface="微软雅黑" panose="020B0503020204020204" pitchFamily="34" charset="-122"/>
                <a:cs typeface="+mn-ea"/>
              </a:rPr>
              <a:t>处理器。</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中常用的后置处理器有</a:t>
            </a:r>
            <a:r>
              <a:rPr lang="zh-CN" altLang="zh-CN" sz="2000" dirty="0">
                <a:solidFill>
                  <a:srgbClr val="1369B2"/>
                </a:solidFill>
                <a:latin typeface="微软雅黑" panose="020B0503020204020204" pitchFamily="34" charset="-122"/>
                <a:ea typeface="微软雅黑" panose="020B0503020204020204" pitchFamily="34" charset="-122"/>
              </a:rPr>
              <a:t>正则表达式提取器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rPr>
              <a:t>Xpath</a:t>
            </a:r>
            <a:r>
              <a:rPr lang="zh-CN" altLang="zh-CN" sz="2000" dirty="0">
                <a:solidFill>
                  <a:srgbClr val="1369B2"/>
                </a:solidFill>
                <a:latin typeface="微软雅黑" panose="020B0503020204020204" pitchFamily="34" charset="-122"/>
                <a:ea typeface="微软雅黑" panose="020B0503020204020204" pitchFamily="34" charset="-122"/>
              </a:rPr>
              <a:t>提取器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JSON</a:t>
            </a:r>
            <a:r>
              <a:rPr lang="zh-CN" altLang="zh-CN" sz="2000" dirty="0">
                <a:solidFill>
                  <a:srgbClr val="1369B2"/>
                </a:solidFill>
                <a:latin typeface="微软雅黑" panose="020B0503020204020204" pitchFamily="34" charset="-122"/>
                <a:ea typeface="微软雅黑" panose="020B0503020204020204" pitchFamily="34" charset="-122"/>
              </a:rPr>
              <a:t>提取器</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2644050"/>
            <a:ext cx="9324975" cy="2400657"/>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正则表达式表是一种文本模式</a:t>
            </a:r>
            <a:r>
              <a:rPr lang="zh-CN" altLang="zh-CN" sz="2000" dirty="0">
                <a:solidFill>
                  <a:srgbClr val="595959"/>
                </a:solidFill>
                <a:latin typeface="微软雅黑" panose="020B0503020204020204" pitchFamily="34" charset="-122"/>
                <a:ea typeface="微软雅黑" panose="020B0503020204020204" pitchFamily="34" charset="-122"/>
                <a:cs typeface="+mn-ea"/>
              </a:rPr>
              <a:t>，它可以使用</a:t>
            </a:r>
            <a:r>
              <a:rPr lang="zh-CN" altLang="zh-CN" sz="2000" dirty="0">
                <a:solidFill>
                  <a:srgbClr val="1369B2"/>
                </a:solidFill>
                <a:latin typeface="微软雅黑" panose="020B0503020204020204" pitchFamily="34" charset="-122"/>
                <a:ea typeface="微软雅黑" panose="020B0503020204020204" pitchFamily="34" charset="-122"/>
              </a:rPr>
              <a:t>普通字符</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rPr>
              <a:t>特殊字符</a:t>
            </a:r>
            <a:r>
              <a:rPr lang="zh-CN" altLang="zh-CN" sz="2000" dirty="0">
                <a:solidFill>
                  <a:srgbClr val="595959"/>
                </a:solidFill>
                <a:latin typeface="微软雅黑" panose="020B0503020204020204" pitchFamily="34" charset="-122"/>
                <a:ea typeface="微软雅黑" panose="020B0503020204020204" pitchFamily="34" charset="-122"/>
                <a:cs typeface="+mn-ea"/>
              </a:rPr>
              <a:t>（元字符）描述一个字符串规则，用于匹配一系列符合该规则的字符串。正则表达式通常用来</a:t>
            </a:r>
            <a:r>
              <a:rPr lang="zh-CN" altLang="zh-CN" sz="2000" dirty="0">
                <a:solidFill>
                  <a:srgbClr val="1369B2"/>
                </a:solidFill>
                <a:latin typeface="微软雅黑" panose="020B0503020204020204" pitchFamily="34" charset="-122"/>
                <a:ea typeface="微软雅黑" panose="020B0503020204020204" pitchFamily="34" charset="-122"/>
              </a:rPr>
              <a:t>检索</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替换符合特定规则的字符串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例如，</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a.</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的元字符</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表示任意字符</a:t>
            </a:r>
            <a:r>
              <a:rPr lang="zh-CN" altLang="zh-CN" sz="2000">
                <a:solidFill>
                  <a:srgbClr val="595959"/>
                </a:solidFill>
                <a:latin typeface="微软雅黑" panose="020B0503020204020204" pitchFamily="34" charset="-122"/>
                <a:ea typeface="微软雅黑" panose="020B0503020204020204" pitchFamily="34" charset="-122"/>
                <a:cs typeface="+mn-ea"/>
              </a:rPr>
              <a:t>，则</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a.</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可以匹配</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aa</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ab</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ac</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a1</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等</a:t>
            </a:r>
            <a:r>
              <a:rPr lang="zh-CN" altLang="zh-CN" sz="2000" dirty="0">
                <a:solidFill>
                  <a:srgbClr val="595959"/>
                </a:solidFill>
                <a:latin typeface="微软雅黑" panose="020B0503020204020204" pitchFamily="34" charset="-122"/>
                <a:ea typeface="微软雅黑" panose="020B0503020204020204" pitchFamily="34" charset="-122"/>
                <a:cs typeface="+mn-ea"/>
              </a:rPr>
              <a:t>任何满足包含两个字符且第</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个字符是</a:t>
            </a:r>
            <a:r>
              <a:rPr lang="en-US" altLang="zh-CN" sz="2000" dirty="0">
                <a:solidFill>
                  <a:srgbClr val="595959"/>
                </a:solidFill>
                <a:latin typeface="微软雅黑" panose="020B0503020204020204" pitchFamily="34" charset="-122"/>
                <a:ea typeface="微软雅黑" panose="020B0503020204020204" pitchFamily="34" charset="-122"/>
                <a:cs typeface="+mn-ea"/>
              </a:rPr>
              <a:t>a</a:t>
            </a:r>
            <a:r>
              <a:rPr lang="zh-CN" altLang="zh-CN" sz="2000" dirty="0">
                <a:solidFill>
                  <a:srgbClr val="595959"/>
                </a:solidFill>
                <a:latin typeface="微软雅黑" panose="020B0503020204020204" pitchFamily="34" charset="-122"/>
                <a:ea typeface="微软雅黑" panose="020B0503020204020204" pitchFamily="34" charset="-122"/>
                <a:cs typeface="+mn-ea"/>
              </a:rPr>
              <a:t>的字符串。</a:t>
            </a:r>
          </a:p>
        </p:txBody>
      </p:sp>
      <p:sp>
        <p:nvSpPr>
          <p:cNvPr id="3" name="矩形 2"/>
          <p:cNvSpPr/>
          <p:nvPr/>
        </p:nvSpPr>
        <p:spPr>
          <a:xfrm>
            <a:off x="1043491" y="2027881"/>
            <a:ext cx="2130711" cy="400110"/>
          </a:xfrm>
          <a:prstGeom prst="rect">
            <a:avLst/>
          </a:prstGeom>
        </p:spPr>
        <p:txBody>
          <a:bodyPr wrap="none">
            <a:spAutoFit/>
          </a:bodyPr>
          <a:lstStyle/>
          <a:p>
            <a:pPr algn="ctr"/>
            <a:r>
              <a:rPr lang="zh-CN" altLang="en-US" sz="2000" b="1" dirty="0">
                <a:solidFill>
                  <a:srgbClr val="595959"/>
                </a:solidFill>
                <a:latin typeface="微软雅黑" panose="020B0503020204020204" pitchFamily="34" charset="-122"/>
                <a:ea typeface="微软雅黑" panose="020B0503020204020204" pitchFamily="34" charset="-122"/>
                <a:cs typeface="+mn-ea"/>
              </a:rPr>
              <a:t>（</a:t>
            </a:r>
            <a:r>
              <a:rPr lang="en-US" altLang="zh-CN" sz="2000" b="1" dirty="0">
                <a:solidFill>
                  <a:srgbClr val="595959"/>
                </a:solidFill>
                <a:latin typeface="微软雅黑" panose="020B0503020204020204" pitchFamily="34" charset="-122"/>
                <a:ea typeface="微软雅黑" panose="020B0503020204020204" pitchFamily="34" charset="-122"/>
                <a:cs typeface="+mn-ea"/>
              </a:rPr>
              <a:t>1</a:t>
            </a:r>
            <a:r>
              <a:rPr lang="zh-CN" altLang="en-US" sz="2000" b="1" dirty="0">
                <a:solidFill>
                  <a:srgbClr val="595959"/>
                </a:solidFill>
                <a:latin typeface="微软雅黑" panose="020B0503020204020204" pitchFamily="34" charset="-122"/>
                <a:ea typeface="微软雅黑" panose="020B0503020204020204" pitchFamily="34" charset="-122"/>
                <a:cs typeface="+mn-ea"/>
              </a:rPr>
              <a:t>）正则表达式</a:t>
            </a:r>
          </a:p>
        </p:txBody>
      </p:sp>
      <p:sp>
        <p:nvSpPr>
          <p:cNvPr id="6" name="圆角矩形 5"/>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正则表达式提取器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211208"/>
            <a:ext cx="7879080" cy="400110"/>
          </a:xfrm>
          <a:prstGeom prst="rect">
            <a:avLst/>
          </a:prstGeom>
        </p:spPr>
        <p:txBody>
          <a:bodyPr wrap="none">
            <a:spAutoFit/>
          </a:bodyPr>
          <a:lstStyle/>
          <a:p>
            <a:r>
              <a:rPr lang="zh-CN" altLang="zh-CN" sz="2000">
                <a:solidFill>
                  <a:srgbClr val="595959"/>
                </a:solidFill>
                <a:latin typeface="微软雅黑" panose="020B0503020204020204" pitchFamily="34" charset="-122"/>
                <a:ea typeface="微软雅黑" panose="020B0503020204020204" pitchFamily="34" charset="-122"/>
                <a:cs typeface="+mn-ea"/>
              </a:rPr>
              <a:t>正则表达式的元字符有很多，</a:t>
            </a:r>
            <a:r>
              <a:rPr lang="zh-CN" altLang="en-US" sz="2000">
                <a:solidFill>
                  <a:srgbClr val="1369B2"/>
                </a:solidFill>
                <a:latin typeface="微软雅黑" panose="020B0503020204020204" pitchFamily="34" charset="-122"/>
                <a:ea typeface="微软雅黑" panose="020B0503020204020204" pitchFamily="34" charset="-122"/>
              </a:rPr>
              <a:t>常用</a:t>
            </a:r>
            <a:r>
              <a:rPr lang="zh-CN" altLang="en-US" sz="2000" dirty="0">
                <a:solidFill>
                  <a:srgbClr val="1369B2"/>
                </a:solidFill>
                <a:latin typeface="微软雅黑" panose="020B0503020204020204" pitchFamily="34" charset="-122"/>
                <a:ea typeface="微软雅黑" panose="020B0503020204020204" pitchFamily="34" charset="-122"/>
              </a:rPr>
              <a:t>的正则表达式元字符</a:t>
            </a:r>
            <a:r>
              <a:rPr lang="zh-CN" altLang="en-US" sz="2000">
                <a:solidFill>
                  <a:srgbClr val="595959"/>
                </a:solidFill>
                <a:latin typeface="微软雅黑" panose="020B0503020204020204" pitchFamily="34" charset="-122"/>
                <a:ea typeface="微软雅黑" panose="020B0503020204020204" pitchFamily="34" charset="-122"/>
                <a:cs typeface="+mn-ea"/>
              </a:rPr>
              <a:t>如下表所示。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9" name="表格 8"/>
          <p:cNvGraphicFramePr/>
          <p:nvPr>
            <p:custDataLst>
              <p:tags r:id="rId1"/>
            </p:custDataLst>
          </p:nvPr>
        </p:nvGraphicFramePr>
        <p:xfrm>
          <a:off x="1217617" y="2004519"/>
          <a:ext cx="9660180" cy="4095620"/>
        </p:xfrm>
        <a:graphic>
          <a:graphicData uri="http://schemas.openxmlformats.org/drawingml/2006/table">
            <a:tbl>
              <a:tblPr firstRow="1" bandRow="1">
                <a:tableStyleId>{5C22544A-7EE6-4342-B048-85BDC9FD1C3A}</a:tableStyleId>
              </a:tblPr>
              <a:tblGrid>
                <a:gridCol w="2879370">
                  <a:extLst>
                    <a:ext uri="{9D8B030D-6E8A-4147-A177-3AD203B41FA5}">
                      <a16:colId xmlns:a16="http://schemas.microsoft.com/office/drawing/2014/main" val="20000"/>
                    </a:ext>
                  </a:extLst>
                </a:gridCol>
                <a:gridCol w="6780810">
                  <a:extLst>
                    <a:ext uri="{9D8B030D-6E8A-4147-A177-3AD203B41FA5}">
                      <a16:colId xmlns:a16="http://schemas.microsoft.com/office/drawing/2014/main" val="20001"/>
                    </a:ext>
                  </a:extLst>
                </a:gridCol>
              </a:tblGrid>
              <a:tr h="474424">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元字符</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含义</a:t>
                      </a:r>
                    </a:p>
                  </a:txBody>
                  <a:tcPr anchor="ctr"/>
                </a:tc>
                <a:extLst>
                  <a:ext uri="{0D108BD9-81ED-4DB2-BD59-A6C34878D82A}">
                    <a16:rowId xmlns:a16="http://schemas.microsoft.com/office/drawing/2014/main" val="10000"/>
                  </a:ext>
                </a:extLst>
              </a:tr>
              <a:tr h="505994">
                <a:tc>
                  <a:txBody>
                    <a:bodyPr/>
                    <a:lstStyle/>
                    <a:p>
                      <a:pPr marL="0" algn="ctr" defTabSz="1219200" rtl="0" eaLnBrk="1" latinLnBrk="0" hangingPunct="1">
                        <a:lnSpc>
                          <a:spcPct val="115000"/>
                        </a:lnSpc>
                        <a:spcAft>
                          <a:spcPts val="0"/>
                        </a:spcAft>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a:solidFill>
                            <a:srgbClr val="595959"/>
                          </a:solidFill>
                          <a:latin typeface="微软雅黑" panose="020B0503020204020204" pitchFamily="34" charset="-122"/>
                          <a:ea typeface="微软雅黑" panose="020B0503020204020204" pitchFamily="34" charset="-122"/>
                          <a:cs typeface="+mn-ea"/>
                        </a:rPr>
                        <a:t>封装待</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返回的字符串</a:t>
                      </a:r>
                    </a:p>
                  </a:txBody>
                  <a:tcPr anchor="ctr"/>
                </a:tc>
                <a:extLst>
                  <a:ext uri="{0D108BD9-81ED-4DB2-BD59-A6C34878D82A}">
                    <a16:rowId xmlns:a16="http://schemas.microsoft.com/office/drawing/2014/main" val="10001"/>
                  </a:ext>
                </a:extLst>
              </a:tr>
              <a:tr h="431340">
                <a:tc>
                  <a:txBody>
                    <a:bodyPr/>
                    <a:lstStyle/>
                    <a:p>
                      <a:pPr marL="0" algn="ctr" defTabSz="1219200" rtl="0" eaLnBrk="1" latinLnBrk="0" hangingPunct="1">
                        <a:lnSpc>
                          <a:spcPct val="115000"/>
                        </a:lnSpc>
                        <a:spcAft>
                          <a:spcPts val="0"/>
                        </a:spcAft>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匹配除换行符以外的任意字符</a:t>
                      </a:r>
                    </a:p>
                  </a:txBody>
                  <a:tcPr anchor="ctr"/>
                </a:tc>
                <a:extLst>
                  <a:ext uri="{0D108BD9-81ED-4DB2-BD59-A6C34878D82A}">
                    <a16:rowId xmlns:a16="http://schemas.microsoft.com/office/drawing/2014/main" val="10002"/>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匹配</a:t>
                      </a:r>
                      <a:r>
                        <a:rPr lang="zh-CN" altLang="zh-CN" sz="2000" kern="1200">
                          <a:solidFill>
                            <a:srgbClr val="595959"/>
                          </a:solidFill>
                          <a:latin typeface="微软雅黑" panose="020B0503020204020204" pitchFamily="34" charset="-122"/>
                          <a:ea typeface="微软雅黑" panose="020B0503020204020204" pitchFamily="34" charset="-122"/>
                          <a:cs typeface="+mn-ea"/>
                        </a:rPr>
                        <a:t>前面的</a:t>
                      </a:r>
                      <a:r>
                        <a:rPr lang="zh-CN" altLang="en-US" sz="2000" kern="1200">
                          <a:solidFill>
                            <a:srgbClr val="595959"/>
                          </a:solidFill>
                          <a:latin typeface="微软雅黑" panose="020B0503020204020204" pitchFamily="34" charset="-122"/>
                          <a:ea typeface="微软雅黑" panose="020B0503020204020204" pitchFamily="34" charset="-122"/>
                          <a:cs typeface="+mn-ea"/>
                        </a:rPr>
                        <a:t>字符串</a:t>
                      </a:r>
                      <a:r>
                        <a:rPr lang="zh-CN" altLang="zh-CN" sz="2000" kern="1200">
                          <a:solidFill>
                            <a:srgbClr val="595959"/>
                          </a:solidFill>
                          <a:latin typeface="微软雅黑" panose="020B0503020204020204" pitchFamily="34" charset="-122"/>
                          <a:ea typeface="微软雅黑" panose="020B0503020204020204" pitchFamily="34" charset="-122"/>
                          <a:cs typeface="+mn-ea"/>
                        </a:rPr>
                        <a:t>一</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次或多次</a:t>
                      </a:r>
                    </a:p>
                  </a:txBody>
                  <a:tcPr anchor="ctr"/>
                </a:tc>
                <a:extLst>
                  <a:ext uri="{0D108BD9-81ED-4DB2-BD59-A6C34878D82A}">
                    <a16:rowId xmlns:a16="http://schemas.microsoft.com/office/drawing/2014/main" val="10003"/>
                  </a:ext>
                </a:extLst>
              </a:tr>
              <a:tr h="497792">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匹配</a:t>
                      </a:r>
                      <a:r>
                        <a:rPr lang="zh-CN" altLang="zh-CN" sz="2000" kern="1200">
                          <a:solidFill>
                            <a:srgbClr val="595959"/>
                          </a:solidFill>
                          <a:latin typeface="微软雅黑" panose="020B0503020204020204" pitchFamily="34" charset="-122"/>
                          <a:ea typeface="微软雅黑" panose="020B0503020204020204" pitchFamily="34" charset="-122"/>
                          <a:cs typeface="+mn-ea"/>
                        </a:rPr>
                        <a:t>前面的</a:t>
                      </a:r>
                      <a:r>
                        <a:rPr lang="zh-CN" altLang="en-US" sz="2000" kern="1200">
                          <a:solidFill>
                            <a:srgbClr val="595959"/>
                          </a:solidFill>
                          <a:latin typeface="微软雅黑" panose="020B0503020204020204" pitchFamily="34" charset="-122"/>
                          <a:ea typeface="微软雅黑" panose="020B0503020204020204" pitchFamily="34" charset="-122"/>
                          <a:cs typeface="+mn-ea"/>
                        </a:rPr>
                        <a:t>字符串</a:t>
                      </a:r>
                      <a:r>
                        <a:rPr lang="en-US" altLang="zh-CN" sz="2000" kern="1200">
                          <a:solidFill>
                            <a:srgbClr val="595959"/>
                          </a:solidFill>
                          <a:latin typeface="微软雅黑" panose="020B0503020204020204" pitchFamily="34" charset="-122"/>
                          <a:ea typeface="微软雅黑" panose="020B0503020204020204" pitchFamily="34" charset="-122"/>
                          <a:cs typeface="+mn-ea"/>
                        </a:rPr>
                        <a:t>0</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次、</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1</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次，在找到第一个匹配项后停止</a:t>
                      </a:r>
                    </a:p>
                  </a:txBody>
                  <a:tcPr anchor="ctr"/>
                </a:tc>
                <a:extLst>
                  <a:ext uri="{0D108BD9-81ED-4DB2-BD59-A6C34878D82A}">
                    <a16:rowId xmlns:a16="http://schemas.microsoft.com/office/drawing/2014/main" val="10004"/>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匹配前面出现的字符</a:t>
                      </a:r>
                      <a:r>
                        <a:rPr lang="en-US" altLang="zh-CN" sz="2000" kern="1200" dirty="0">
                          <a:solidFill>
                            <a:srgbClr val="595959"/>
                          </a:solidFill>
                          <a:latin typeface="微软雅黑" panose="020B0503020204020204" pitchFamily="34" charset="-122"/>
                          <a:ea typeface="微软雅黑" panose="020B0503020204020204" pitchFamily="34" charset="-122"/>
                          <a:cs typeface="+mn-ea"/>
                        </a:rPr>
                        <a:t>0</a:t>
                      </a:r>
                      <a:r>
                        <a:rPr lang="zh-CN" altLang="zh-CN" sz="2000" kern="1200" dirty="0">
                          <a:solidFill>
                            <a:srgbClr val="595959"/>
                          </a:solidFill>
                          <a:latin typeface="微软雅黑" panose="020B0503020204020204" pitchFamily="34" charset="-122"/>
                          <a:ea typeface="微软雅黑" panose="020B0503020204020204" pitchFamily="34" charset="-122"/>
                          <a:cs typeface="+mn-ea"/>
                        </a:rPr>
                        <a:t>次或多次</a:t>
                      </a:r>
                    </a:p>
                  </a:txBody>
                  <a:tcPr anchor="ctr"/>
                </a:tc>
                <a:extLst>
                  <a:ext uri="{0D108BD9-81ED-4DB2-BD59-A6C34878D82A}">
                    <a16:rowId xmlns:a16="http://schemas.microsoft.com/office/drawing/2014/main" val="10005"/>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匹配字符串的开始位置</a:t>
                      </a:r>
                    </a:p>
                  </a:txBody>
                  <a:tcPr anchor="ctr"/>
                </a:tc>
                <a:extLst>
                  <a:ext uri="{0D108BD9-81ED-4DB2-BD59-A6C34878D82A}">
                    <a16:rowId xmlns:a16="http://schemas.microsoft.com/office/drawing/2014/main" val="10006"/>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匹配字符串的结束位置</a:t>
                      </a:r>
                    </a:p>
                  </a:txBody>
                  <a:tcPr anchor="ctr"/>
                </a:tc>
                <a:extLst>
                  <a:ext uri="{0D108BD9-81ED-4DB2-BD59-A6C34878D82A}">
                    <a16:rowId xmlns:a16="http://schemas.microsoft.com/office/drawing/2014/main" val="10007"/>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rgbClr val="595959"/>
                          </a:solidFill>
                          <a:latin typeface="微软雅黑" panose="020B0503020204020204" pitchFamily="34" charset="-122"/>
                          <a:ea typeface="微软雅黑" panose="020B0503020204020204" pitchFamily="34" charset="-122"/>
                          <a:cs typeface="+mn-ea"/>
                        </a:rPr>
                        <a:t>|</a:t>
                      </a:r>
                      <a:endParaRPr lang="zh-CN" altLang="zh-CN" sz="2000" kern="1200" dirty="0">
                        <a:solidFill>
                          <a:srgbClr val="595959"/>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rgbClr val="595959"/>
                          </a:solidFill>
                          <a:latin typeface="微软雅黑" panose="020B0503020204020204" pitchFamily="34" charset="-122"/>
                          <a:ea typeface="微软雅黑" panose="020B0503020204020204" pitchFamily="34" charset="-122"/>
                          <a:cs typeface="+mn-ea"/>
                        </a:rPr>
                        <a:t>模式选择符，从中任选一个匹配</a:t>
                      </a:r>
                    </a:p>
                  </a:txBody>
                  <a:tcPr anchor="ct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32980" y="1435642"/>
            <a:ext cx="9324975" cy="553998"/>
          </a:xfrm>
          <a:prstGeom prst="rect">
            <a:avLst/>
          </a:prstGeom>
        </p:spPr>
        <p:txBody>
          <a:bodyPr wrap="square">
            <a:spAutoFit/>
          </a:bodyPr>
          <a:lstStyle/>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中的</a:t>
            </a:r>
            <a:r>
              <a:rPr lang="zh-CN" altLang="zh-CN" sz="2000" dirty="0">
                <a:solidFill>
                  <a:srgbClr val="1369B2"/>
                </a:solidFill>
                <a:latin typeface="微软雅黑" panose="020B0503020204020204" pitchFamily="34" charset="-122"/>
                <a:ea typeface="微软雅黑" panose="020B0503020204020204" pitchFamily="34" charset="-122"/>
              </a:rPr>
              <a:t>正则表达式匹配</a:t>
            </a:r>
            <a:r>
              <a:rPr lang="zh-CN" altLang="zh-CN" sz="2000">
                <a:solidFill>
                  <a:srgbClr val="1369B2"/>
                </a:solidFill>
                <a:latin typeface="微软雅黑" panose="020B0503020204020204" pitchFamily="34" charset="-122"/>
                <a:ea typeface="微软雅黑" panose="020B0503020204020204" pitchFamily="34" charset="-122"/>
              </a:rPr>
              <a:t>格式</a:t>
            </a:r>
            <a:r>
              <a:rPr lang="zh-CN" altLang="zh-CN" sz="2000">
                <a:solidFill>
                  <a:srgbClr val="595959"/>
                </a:solidFill>
                <a:latin typeface="微软雅黑" panose="020B0503020204020204" pitchFamily="34" charset="-122"/>
                <a:ea typeface="微软雅黑" panose="020B0503020204020204" pitchFamily="34" charset="-122"/>
                <a:cs typeface="+mn-ea"/>
              </a:rPr>
              <a:t>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1132980" y="2354199"/>
            <a:ext cx="9598109" cy="400110"/>
          </a:xfrm>
          <a:prstGeom prst="rect">
            <a:avLst/>
          </a:prstGeom>
          <a:solidFill>
            <a:srgbClr val="F2F2F2"/>
          </a:solidFill>
        </p:spPr>
        <p:txBody>
          <a:bodyPr wrap="square" rtlCol="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左边界(</a:t>
            </a:r>
            <a:r>
              <a:rPr lang="zh-CN" altLang="en-US" sz="2000">
                <a:solidFill>
                  <a:srgbClr val="595959"/>
                </a:solidFill>
                <a:latin typeface="微软雅黑" panose="020B0503020204020204" pitchFamily="34" charset="-122"/>
                <a:ea typeface="微软雅黑" panose="020B0503020204020204" pitchFamily="34" charset="-122"/>
                <a:cs typeface="+mn-ea"/>
              </a:rPr>
              <a:t>正则表达式</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右边界</a:t>
            </a:r>
          </a:p>
        </p:txBody>
      </p:sp>
      <p:sp>
        <p:nvSpPr>
          <p:cNvPr id="3" name="矩形 2"/>
          <p:cNvSpPr/>
          <p:nvPr/>
        </p:nvSpPr>
        <p:spPr>
          <a:xfrm>
            <a:off x="1132980" y="2983236"/>
            <a:ext cx="9827945"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在上述格式中，</a:t>
            </a:r>
            <a:r>
              <a:rPr lang="zh-CN" altLang="zh-CN" sz="2000" dirty="0">
                <a:solidFill>
                  <a:srgbClr val="1369B2"/>
                </a:solidFill>
                <a:latin typeface="微软雅黑" panose="020B0503020204020204" pitchFamily="34" charset="-122"/>
                <a:ea typeface="微软雅黑" panose="020B0503020204020204" pitchFamily="34" charset="-122"/>
              </a:rPr>
              <a:t>()中的内容是正则表达式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，它所匹配的结果就是要获取的字符串。例如，请求百度首页，返回数据</a:t>
            </a:r>
            <a:r>
              <a:rPr lang="zh-CN" altLang="zh-CN" sz="2000">
                <a:solidFill>
                  <a:srgbClr val="595959"/>
                </a:solidFill>
                <a:latin typeface="微软雅黑" panose="020B0503020204020204" pitchFamily="34" charset="-122"/>
                <a:ea typeface="微软雅黑" panose="020B0503020204020204" pitchFamily="34" charset="-122"/>
                <a:cs typeface="+mn-ea"/>
              </a:rPr>
              <a:t>片段如下。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5"/>
          <p:cNvSpPr txBox="1"/>
          <p:nvPr/>
        </p:nvSpPr>
        <p:spPr>
          <a:xfrm>
            <a:off x="1132980" y="4144162"/>
            <a:ext cx="9780443" cy="1477328"/>
          </a:xfrm>
          <a:prstGeom prst="rect">
            <a:avLst/>
          </a:prstGeom>
          <a:solidFill>
            <a:srgbClr val="F2F2F2"/>
          </a:solid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&lt;!</a:t>
            </a:r>
            <a:r>
              <a:rPr lang="en-US" altLang="zh-CN" sz="2000" dirty="0" err="1">
                <a:solidFill>
                  <a:srgbClr val="595959"/>
                </a:solidFill>
                <a:latin typeface="微软雅黑" panose="020B0503020204020204" pitchFamily="34" charset="-122"/>
                <a:ea typeface="微软雅黑" panose="020B0503020204020204" pitchFamily="34" charset="-122"/>
                <a:cs typeface="+mn-ea"/>
              </a:rPr>
              <a:t>doctype</a:t>
            </a:r>
            <a:r>
              <a:rPr lang="en-US" altLang="zh-CN" sz="2000" dirty="0">
                <a:solidFill>
                  <a:srgbClr val="595959"/>
                </a:solidFill>
                <a:latin typeface="微软雅黑" panose="020B0503020204020204" pitchFamily="34" charset="-122"/>
                <a:ea typeface="微软雅黑" panose="020B0503020204020204" pitchFamily="34" charset="-122"/>
                <a:cs typeface="+mn-ea"/>
              </a:rPr>
              <a:t> html&gt;&lt;html&gt;&lt;head&gt;&lt;meta http-</a:t>
            </a:r>
            <a:r>
              <a:rPr lang="en-US" altLang="zh-CN" sz="2000" dirty="0" err="1">
                <a:solidFill>
                  <a:srgbClr val="595959"/>
                </a:solidFill>
                <a:latin typeface="微软雅黑" panose="020B0503020204020204" pitchFamily="34" charset="-122"/>
                <a:ea typeface="微软雅黑" panose="020B0503020204020204" pitchFamily="34" charset="-122"/>
                <a:cs typeface="+mn-ea"/>
              </a:rPr>
              <a:t>equiv</a:t>
            </a:r>
            <a:r>
              <a:rPr lang="en-US" altLang="zh-CN" sz="2000" dirty="0">
                <a:solidFill>
                  <a:srgbClr val="595959"/>
                </a:solidFill>
                <a:latin typeface="微软雅黑" panose="020B0503020204020204" pitchFamily="34" charset="-122"/>
                <a:ea typeface="微软雅黑" panose="020B0503020204020204" pitchFamily="34" charset="-122"/>
                <a:cs typeface="+mn-ea"/>
              </a:rPr>
              <a:t>="Content-Type" content="text/</a:t>
            </a:r>
            <a:r>
              <a:rPr lang="en-US" altLang="zh-CN" sz="2000" dirty="0" err="1">
                <a:solidFill>
                  <a:srgbClr val="595959"/>
                </a:solidFill>
                <a:latin typeface="微软雅黑" panose="020B0503020204020204" pitchFamily="34" charset="-122"/>
                <a:ea typeface="微软雅黑" panose="020B0503020204020204" pitchFamily="34" charset="-122"/>
                <a:cs typeface="+mn-ea"/>
              </a:rPr>
              <a:t>html;charset</a:t>
            </a:r>
            <a:r>
              <a:rPr lang="en-US" altLang="zh-CN" sz="2000" dirty="0">
                <a:solidFill>
                  <a:srgbClr val="595959"/>
                </a:solidFill>
                <a:latin typeface="微软雅黑" panose="020B0503020204020204" pitchFamily="34" charset="-122"/>
                <a:ea typeface="微软雅黑" panose="020B0503020204020204" pitchFamily="34" charset="-122"/>
                <a:cs typeface="+mn-ea"/>
              </a:rPr>
              <a:t>=gb2312"&gt;&lt;title&gt;</a:t>
            </a:r>
            <a:r>
              <a:rPr lang="zh-CN" altLang="zh-CN" sz="2000" dirty="0">
                <a:solidFill>
                  <a:srgbClr val="595959"/>
                </a:solidFill>
                <a:latin typeface="微软雅黑" panose="020B0503020204020204" pitchFamily="34" charset="-122"/>
                <a:ea typeface="微软雅黑" panose="020B0503020204020204" pitchFamily="34" charset="-122"/>
                <a:cs typeface="+mn-ea"/>
              </a:rPr>
              <a:t>百度一下，你就知道</a:t>
            </a:r>
            <a:r>
              <a:rPr lang="en-US" altLang="zh-CN" sz="2000" dirty="0">
                <a:solidFill>
                  <a:srgbClr val="595959"/>
                </a:solidFill>
                <a:latin typeface="微软雅黑" panose="020B0503020204020204" pitchFamily="34" charset="-122"/>
                <a:ea typeface="微软雅黑" panose="020B0503020204020204" pitchFamily="34" charset="-122"/>
                <a:cs typeface="+mn-ea"/>
              </a:rPr>
              <a:t>      &lt;/title&gt;&lt;style&gt;html{</a:t>
            </a:r>
            <a:r>
              <a:rPr lang="en-US" altLang="zh-CN" sz="2000" dirty="0" err="1">
                <a:solidFill>
                  <a:srgbClr val="595959"/>
                </a:solidFill>
                <a:latin typeface="微软雅黑" panose="020B0503020204020204" pitchFamily="34" charset="-122"/>
                <a:ea typeface="微软雅黑" panose="020B0503020204020204" pitchFamily="34" charset="-122"/>
                <a:cs typeface="+mn-ea"/>
              </a:rPr>
              <a:t>overflow-y:auto</a:t>
            </a:r>
            <a:r>
              <a:rPr lang="en-US" altLang="zh-CN" sz="2000" dirty="0">
                <a:solidFill>
                  <a:srgbClr val="595959"/>
                </a:solidFill>
                <a:latin typeface="微软雅黑" panose="020B0503020204020204" pitchFamily="34" charset="-122"/>
                <a:ea typeface="微软雅黑" panose="020B0503020204020204" pitchFamily="34" charset="-122"/>
                <a:cs typeface="+mn-ea"/>
              </a:rPr>
              <a:t>}body{font:12px </a:t>
            </a:r>
            <a:r>
              <a:rPr lang="en-US" altLang="zh-CN" sz="2000" dirty="0" err="1">
                <a:solidFill>
                  <a:srgbClr val="595959"/>
                </a:solidFill>
                <a:latin typeface="微软雅黑" panose="020B0503020204020204" pitchFamily="34" charset="-122"/>
                <a:ea typeface="微软雅黑" panose="020B0503020204020204" pitchFamily="34" charset="-122"/>
                <a:cs typeface="+mn-ea"/>
              </a:rPr>
              <a:t>arial</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89" y="1243809"/>
            <a:ext cx="9704987" cy="1477328"/>
          </a:xfrm>
          <a:prstGeom prst="rect">
            <a:avLst/>
          </a:prstGeom>
        </p:spPr>
        <p:txBody>
          <a:bodyPr wrap="square">
            <a:spAutoFit/>
          </a:bodyPr>
          <a:lstStyle/>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如果要从</a:t>
            </a:r>
            <a:r>
              <a:rPr lang="zh-CN" altLang="zh-CN" sz="2000" dirty="0">
                <a:solidFill>
                  <a:srgbClr val="595959"/>
                </a:solidFill>
                <a:latin typeface="微软雅黑" panose="020B0503020204020204" pitchFamily="34" charset="-122"/>
                <a:ea typeface="微软雅黑" panose="020B0503020204020204" pitchFamily="34" charset="-122"/>
                <a:cs typeface="+mn-ea"/>
              </a:rPr>
              <a:t>返回数据片段中提取</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百度一下，你就知道</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mn-ea"/>
              </a:rPr>
              <a:t>则</a:t>
            </a:r>
            <a:r>
              <a:rPr lang="zh-CN" altLang="zh-CN" sz="200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设置正则表达式时，需要先</a:t>
            </a:r>
            <a:r>
              <a:rPr lang="zh-CN" altLang="zh-CN" sz="2000">
                <a:solidFill>
                  <a:srgbClr val="595959"/>
                </a:solidFill>
                <a:latin typeface="微软雅黑" panose="020B0503020204020204" pitchFamily="34" charset="-122"/>
                <a:ea typeface="微软雅黑" panose="020B0503020204020204" pitchFamily="34" charset="-122"/>
                <a:cs typeface="+mn-ea"/>
              </a:rPr>
              <a:t>找出左</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右边界</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左边界为</a:t>
            </a:r>
            <a:r>
              <a:rPr lang="en-US" altLang="zh-CN" sz="2000" dirty="0">
                <a:solidFill>
                  <a:srgbClr val="1369B2"/>
                </a:solidFill>
                <a:latin typeface="微软雅黑" panose="020B0503020204020204" pitchFamily="34" charset="-122"/>
                <a:ea typeface="微软雅黑" panose="020B0503020204020204" pitchFamily="34" charset="-122"/>
              </a:rPr>
              <a:t>&lt;title&gt;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右边界为</a:t>
            </a:r>
            <a:r>
              <a:rPr lang="en-US" altLang="zh-CN" sz="2000" dirty="0">
                <a:solidFill>
                  <a:srgbClr val="1369B2"/>
                </a:solidFill>
                <a:latin typeface="微软雅黑" panose="020B0503020204020204" pitchFamily="34" charset="-122"/>
                <a:ea typeface="微软雅黑" panose="020B0503020204020204" pitchFamily="34" charset="-122"/>
              </a:rPr>
              <a:t>&lt;/title&gt;</a:t>
            </a: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中设置正则表达式为</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，完整</a:t>
            </a:r>
            <a:r>
              <a:rPr lang="zh-CN" altLang="zh-CN" sz="2000">
                <a:solidFill>
                  <a:srgbClr val="595959"/>
                </a:solidFill>
                <a:latin typeface="微软雅黑" panose="020B0503020204020204" pitchFamily="34" charset="-122"/>
                <a:ea typeface="微软雅黑" panose="020B0503020204020204" pitchFamily="34" charset="-122"/>
                <a:cs typeface="+mn-ea"/>
              </a:rPr>
              <a:t>正则表达式如下。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5"/>
          <p:cNvSpPr txBox="1"/>
          <p:nvPr/>
        </p:nvSpPr>
        <p:spPr>
          <a:xfrm>
            <a:off x="1143689" y="3091138"/>
            <a:ext cx="9704987" cy="499624"/>
          </a:xfrm>
          <a:prstGeom prst="rect">
            <a:avLst/>
          </a:prstGeom>
          <a:solidFill>
            <a:srgbClr val="F2F2F2"/>
          </a:solid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&lt;title&gt;(.*)&lt;/title&gt;</a:t>
            </a:r>
          </a:p>
        </p:txBody>
      </p:sp>
      <p:sp>
        <p:nvSpPr>
          <p:cNvPr id="4" name="矩形 3"/>
          <p:cNvSpPr/>
          <p:nvPr/>
        </p:nvSpPr>
        <p:spPr>
          <a:xfrm>
            <a:off x="1143688" y="3865761"/>
            <a:ext cx="9704987"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通过上述表达式就可以匹配出字符串</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百度一下，你就</a:t>
            </a:r>
            <a:r>
              <a:rPr lang="zh-CN" altLang="zh-CN" sz="2000">
                <a:solidFill>
                  <a:srgbClr val="595959"/>
                </a:solidFill>
                <a:latin typeface="微软雅黑" panose="020B0503020204020204" pitchFamily="34" charset="-122"/>
                <a:ea typeface="微软雅黑" panose="020B0503020204020204" pitchFamily="34" charset="-122"/>
                <a:cs typeface="+mn-ea"/>
              </a:rPr>
              <a:t>知道</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上述</a:t>
            </a:r>
            <a:r>
              <a:rPr lang="zh-CN" altLang="zh-CN" sz="2000" dirty="0">
                <a:solidFill>
                  <a:srgbClr val="595959"/>
                </a:solidFill>
                <a:latin typeface="微软雅黑" panose="020B0503020204020204" pitchFamily="34" charset="-122"/>
                <a:ea typeface="微软雅黑" panose="020B0503020204020204" pitchFamily="34" charset="-122"/>
                <a:cs typeface="+mn-ea"/>
              </a:rPr>
              <a:t>正则表达式能够匹配出所有的</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百度一下，你就知道</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当它搜索到满足条件的字符时，不会停止，会继续往后匹配，直到数据结束</a:t>
            </a:r>
            <a:r>
              <a:rPr lang="zh-CN" altLang="zh-CN" sz="2000" dirty="0">
                <a:solidFill>
                  <a:srgbClr val="595959"/>
                </a:solidFill>
                <a:latin typeface="微软雅黑" panose="020B0503020204020204" pitchFamily="34" charset="-122"/>
                <a:ea typeface="微软雅黑" panose="020B0503020204020204" pitchFamily="34" charset="-122"/>
                <a:cs typeface="+mn-ea"/>
              </a:rPr>
              <a:t>，这种匹配</a:t>
            </a:r>
            <a:r>
              <a:rPr lang="zh-CN" altLang="zh-CN" sz="2000">
                <a:solidFill>
                  <a:srgbClr val="595959"/>
                </a:solidFill>
                <a:latin typeface="微软雅黑" panose="020B0503020204020204" pitchFamily="34" charset="-122"/>
                <a:ea typeface="微软雅黑" panose="020B0503020204020204" pitchFamily="34" charset="-122"/>
                <a:cs typeface="+mn-ea"/>
              </a:rPr>
              <a:t>模式称为</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贪婪</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模式</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89" y="1283019"/>
            <a:ext cx="9704987" cy="55399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rPr>
              <a:t>只想匹配一次</a:t>
            </a:r>
            <a:r>
              <a:rPr lang="zh-CN" altLang="zh-CN" sz="2000" dirty="0">
                <a:solidFill>
                  <a:srgbClr val="595959"/>
                </a:solidFill>
                <a:latin typeface="微软雅黑" panose="020B0503020204020204" pitchFamily="34" charset="-122"/>
                <a:ea typeface="微软雅黑" panose="020B0503020204020204" pitchFamily="34" charset="-122"/>
                <a:cs typeface="+mn-ea"/>
              </a:rPr>
              <a:t>，可以在</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后面添加“</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具体如下。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5"/>
          <p:cNvSpPr txBox="1"/>
          <p:nvPr/>
        </p:nvSpPr>
        <p:spPr>
          <a:xfrm>
            <a:off x="1201941" y="2042769"/>
            <a:ext cx="9704987" cy="499624"/>
          </a:xfrm>
          <a:prstGeom prst="rect">
            <a:avLst/>
          </a:prstGeom>
          <a:solidFill>
            <a:srgbClr val="F2F2F2"/>
          </a:solid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&lt;title&gt;(.*?)&lt;/title&gt;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052943" y="2940167"/>
            <a:ext cx="10002981"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添加了</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之后，正则表达式就只会匹配一次，一旦搜索到匹配的字符串就会结束搜索，</a:t>
            </a:r>
            <a:r>
              <a:rPr lang="zh-CN" altLang="zh-CN" sz="2000">
                <a:solidFill>
                  <a:srgbClr val="595959"/>
                </a:solidFill>
                <a:latin typeface="微软雅黑" panose="020B0503020204020204" pitchFamily="34" charset="-122"/>
                <a:ea typeface="微软雅黑" panose="020B0503020204020204" pitchFamily="34" charset="-122"/>
                <a:cs typeface="+mn-ea"/>
              </a:rPr>
              <a:t>这种匹配</a:t>
            </a:r>
            <a:r>
              <a:rPr lang="zh-CN" altLang="en-US" sz="2000">
                <a:solidFill>
                  <a:srgbClr val="595959"/>
                </a:solidFill>
                <a:latin typeface="微软雅黑" panose="020B0503020204020204" pitchFamily="34" charset="-122"/>
                <a:ea typeface="微软雅黑" panose="020B0503020204020204" pitchFamily="34" charset="-122"/>
                <a:cs typeface="+mn-ea"/>
              </a:rPr>
              <a:t>模式</a:t>
            </a:r>
            <a:r>
              <a:rPr lang="zh-CN" altLang="zh-CN" sz="2000">
                <a:solidFill>
                  <a:srgbClr val="595959"/>
                </a:solidFill>
                <a:latin typeface="微软雅黑" panose="020B0503020204020204" pitchFamily="34" charset="-122"/>
                <a:ea typeface="微软雅黑" panose="020B0503020204020204" pitchFamily="34" charset="-122"/>
                <a:cs typeface="+mn-ea"/>
              </a:rPr>
              <a:t>称为</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懒惰</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模式</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306306"/>
            <a:ext cx="5299849" cy="461665"/>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 </a:t>
            </a:r>
            <a:r>
              <a:rPr lang="zh-CN" altLang="en-US" sz="2000" dirty="0">
                <a:solidFill>
                  <a:srgbClr val="1369B2"/>
                </a:solidFill>
                <a:latin typeface="微软雅黑" panose="020B0503020204020204" pitchFamily="34" charset="-122"/>
                <a:ea typeface="微软雅黑" panose="020B0503020204020204" pitchFamily="34" charset="-122"/>
              </a:rPr>
              <a:t>正则表达式提取器的主要配置项</a:t>
            </a:r>
            <a:r>
              <a:rPr lang="zh-CN" altLang="en-US" sz="2000" dirty="0">
                <a:solidFill>
                  <a:srgbClr val="595959"/>
                </a:solidFill>
                <a:latin typeface="微软雅黑" panose="020B0503020204020204" pitchFamily="34" charset="-122"/>
                <a:ea typeface="微软雅黑" panose="020B0503020204020204" pitchFamily="34" charset="-122"/>
                <a:cs typeface="+mn-ea"/>
              </a:rPr>
              <a:t>有以下</a:t>
            </a:r>
            <a:r>
              <a:rPr lang="en-US" altLang="zh-CN" sz="2000" dirty="0">
                <a:solidFill>
                  <a:srgbClr val="595959"/>
                </a:solidFill>
                <a:latin typeface="微软雅黑" panose="020B0503020204020204" pitchFamily="34" charset="-122"/>
                <a:ea typeface="微软雅黑" panose="020B0503020204020204" pitchFamily="34" charset="-122"/>
                <a:cs typeface="+mn-ea"/>
              </a:rPr>
              <a:t>5</a:t>
            </a:r>
            <a:r>
              <a:rPr lang="zh-CN" altLang="en-US" sz="2000" dirty="0">
                <a:solidFill>
                  <a:srgbClr val="595959"/>
                </a:solidFill>
                <a:latin typeface="微软雅黑" panose="020B0503020204020204" pitchFamily="34" charset="-122"/>
                <a:ea typeface="微软雅黑" panose="020B0503020204020204" pitchFamily="34" charset="-122"/>
                <a:cs typeface="+mn-ea"/>
              </a:rPr>
              <a:t>个</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a:t>
            </a:r>
          </a:p>
        </p:txBody>
      </p:sp>
      <p:sp>
        <p:nvSpPr>
          <p:cNvPr id="3" name="矩形 2"/>
          <p:cNvSpPr/>
          <p:nvPr/>
        </p:nvSpPr>
        <p:spPr>
          <a:xfrm>
            <a:off x="1232983" y="2007122"/>
            <a:ext cx="9549811" cy="3416320"/>
          </a:xfrm>
          <a:prstGeom prst="rect">
            <a:avLst/>
          </a:prstGeom>
        </p:spPr>
        <p:txBody>
          <a:bodyPr wrap="square">
            <a:spAutoFit/>
          </a:bodyPr>
          <a:lstStyle/>
          <a:p>
            <a:pPr marL="342900" lvl="0" indent="-34290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引用</a:t>
            </a:r>
            <a:r>
              <a:rPr lang="zh-CN" altLang="zh-CN" sz="1800">
                <a:solidFill>
                  <a:srgbClr val="595959"/>
                </a:solidFill>
                <a:latin typeface="微软雅黑" panose="020B0503020204020204" pitchFamily="34" charset="-122"/>
                <a:ea typeface="微软雅黑" panose="020B0503020204020204" pitchFamily="34" charset="-122"/>
                <a:cs typeface="+mn-ea"/>
              </a:rPr>
              <a:t>名称：</a:t>
            </a:r>
            <a:r>
              <a:rPr lang="zh-CN" altLang="zh-CN" sz="1800">
                <a:solidFill>
                  <a:srgbClr val="1369B2"/>
                </a:solidFill>
                <a:latin typeface="微软雅黑" panose="020B0503020204020204" pitchFamily="34" charset="-122"/>
                <a:ea typeface="微软雅黑" panose="020B0503020204020204" pitchFamily="34" charset="-122"/>
              </a:rPr>
              <a:t>用于</a:t>
            </a:r>
            <a:r>
              <a:rPr lang="zh-CN" altLang="zh-CN" sz="1800" dirty="0">
                <a:solidFill>
                  <a:srgbClr val="1369B2"/>
                </a:solidFill>
                <a:latin typeface="微软雅黑" panose="020B0503020204020204" pitchFamily="34" charset="-122"/>
                <a:ea typeface="微软雅黑" panose="020B0503020204020204" pitchFamily="34" charset="-122"/>
              </a:rPr>
              <a:t>存储正则表达式提取出的值</a:t>
            </a:r>
            <a:r>
              <a:rPr lang="zh-CN" altLang="zh-CN" sz="1800" dirty="0">
                <a:solidFill>
                  <a:srgbClr val="595959"/>
                </a:solidFill>
                <a:latin typeface="微软雅黑" panose="020B0503020204020204" pitchFamily="34" charset="-122"/>
                <a:ea typeface="微软雅黑" panose="020B0503020204020204" pitchFamily="34" charset="-122"/>
                <a:cs typeface="+mn-ea"/>
              </a:rPr>
              <a:t>，以供其他请求引用，引用方式为</a:t>
            </a:r>
            <a:r>
              <a:rPr lang="en-US" altLang="zh-CN" sz="1800" dirty="0">
                <a:solidFill>
                  <a:srgbClr val="1369B2"/>
                </a:solidFill>
                <a:latin typeface="微软雅黑" panose="020B0503020204020204" pitchFamily="34" charset="-122"/>
                <a:ea typeface="微软雅黑" panose="020B0503020204020204" pitchFamily="34" charset="-122"/>
              </a:rPr>
              <a:t>${</a:t>
            </a:r>
            <a:r>
              <a:rPr lang="zh-CN" altLang="zh-CN" sz="1800" dirty="0">
                <a:solidFill>
                  <a:srgbClr val="1369B2"/>
                </a:solidFill>
                <a:latin typeface="微软雅黑" panose="020B0503020204020204" pitchFamily="34" charset="-122"/>
                <a:ea typeface="微软雅黑" panose="020B0503020204020204" pitchFamily="34" charset="-122"/>
              </a:rPr>
              <a:t>引用名称</a:t>
            </a:r>
            <a:r>
              <a:rPr lang="en-US" altLang="zh-CN" sz="1800" dirty="0">
                <a:solidFill>
                  <a:srgbClr val="1369B2"/>
                </a:solidFill>
                <a:latin typeface="微软雅黑" panose="020B0503020204020204" pitchFamily="34" charset="-122"/>
                <a:ea typeface="微软雅黑" panose="020B0503020204020204" pitchFamily="34" charset="-122"/>
              </a:rPr>
              <a:t>}</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正则表达式：</a:t>
            </a:r>
            <a:r>
              <a:rPr lang="zh-CN" altLang="zh-CN" sz="1800" dirty="0">
                <a:solidFill>
                  <a:srgbClr val="1369B2"/>
                </a:solidFill>
                <a:latin typeface="微软雅黑" panose="020B0503020204020204" pitchFamily="34" charset="-122"/>
                <a:ea typeface="微软雅黑" panose="020B0503020204020204" pitchFamily="34" charset="-122"/>
              </a:rPr>
              <a:t>为提取数据设置的正则表达式</a:t>
            </a:r>
            <a:r>
              <a:rPr lang="zh-CN" altLang="zh-CN" sz="1800" dirty="0">
                <a:solidFill>
                  <a:srgbClr val="595959"/>
                </a:solidFill>
                <a:latin typeface="微软雅黑" panose="020B0503020204020204" pitchFamily="34" charset="-122"/>
                <a:ea typeface="微软雅黑" panose="020B0503020204020204" pitchFamily="34" charset="-122"/>
                <a:cs typeface="+mn-ea"/>
              </a:rPr>
              <a:t>。</a:t>
            </a:r>
          </a:p>
          <a:p>
            <a:pPr marL="342900" lvl="0" indent="-34290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模板：用于</a:t>
            </a:r>
            <a:r>
              <a:rPr lang="zh-CN" altLang="zh-CN" sz="1800" dirty="0">
                <a:solidFill>
                  <a:srgbClr val="1369B2"/>
                </a:solidFill>
                <a:latin typeface="微软雅黑" panose="020B0503020204020204" pitchFamily="34" charset="-122"/>
                <a:ea typeface="微软雅黑" panose="020B0503020204020204" pitchFamily="34" charset="-122"/>
              </a:rPr>
              <a:t>设置使用提取到的第几个值</a:t>
            </a:r>
            <a:r>
              <a:rPr lang="zh-CN" altLang="zh-CN" sz="1800" dirty="0">
                <a:solidFill>
                  <a:srgbClr val="595959"/>
                </a:solidFill>
                <a:latin typeface="微软雅黑" panose="020B0503020204020204" pitchFamily="34" charset="-122"/>
                <a:ea typeface="微软雅黑" panose="020B0503020204020204" pitchFamily="34" charset="-122"/>
                <a:cs typeface="+mn-ea"/>
              </a:rPr>
              <a:t>。如果正则表达式有多个</a:t>
            </a:r>
            <a:r>
              <a:rPr lang="en-US"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595959"/>
                </a:solidFill>
                <a:latin typeface="微软雅黑" panose="020B0503020204020204" pitchFamily="34" charset="-122"/>
                <a:ea typeface="微软雅黑" panose="020B0503020204020204" pitchFamily="34" charset="-122"/>
                <a:cs typeface="+mn-ea"/>
              </a:rPr>
              <a:t>，就可以提取出多组值，这里可以指定要使用的级别，</a:t>
            </a:r>
            <a:r>
              <a:rPr lang="zh-CN" altLang="zh-CN" sz="1800" dirty="0">
                <a:solidFill>
                  <a:srgbClr val="1369B2"/>
                </a:solidFill>
                <a:latin typeface="微软雅黑" panose="020B0503020204020204" pitchFamily="34" charset="-122"/>
                <a:ea typeface="微软雅黑" panose="020B0503020204020204" pitchFamily="34" charset="-122"/>
              </a:rPr>
              <a:t>格式为</a:t>
            </a:r>
            <a:r>
              <a:rPr lang="en-US" altLang="zh-CN" sz="1800" dirty="0">
                <a:solidFill>
                  <a:srgbClr val="1369B2"/>
                </a:solidFill>
                <a:latin typeface="微软雅黑" panose="020B0503020204020204" pitchFamily="34" charset="-122"/>
                <a:ea typeface="微软雅黑" panose="020B0503020204020204" pitchFamily="34" charset="-122"/>
              </a:rPr>
              <a:t>$n</a:t>
            </a:r>
            <a:r>
              <a:rPr lang="en-US" altLang="zh-CN" sz="1800">
                <a:solidFill>
                  <a:srgbClr val="1369B2"/>
                </a:solidFill>
                <a:latin typeface="微软雅黑" panose="020B0503020204020204" pitchFamily="34" charset="-122"/>
                <a:ea typeface="微软雅黑" panose="020B0503020204020204" pitchFamily="34" charset="-122"/>
              </a:rPr>
              <a:t>$</a:t>
            </a:r>
            <a:r>
              <a:rPr lang="zh-CN" altLang="zh-CN" sz="180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595959"/>
                </a:solidFill>
                <a:latin typeface="微软雅黑" panose="020B0503020204020204" pitchFamily="34" charset="-122"/>
                <a:ea typeface="微软雅黑" panose="020B0503020204020204" pitchFamily="34" charset="-122"/>
                <a:cs typeface="+mn-ea"/>
              </a:rPr>
              <a:t>例</a:t>
            </a:r>
            <a:r>
              <a:rPr lang="zh-CN" altLang="zh-CN" sz="1800">
                <a:solidFill>
                  <a:srgbClr val="595959"/>
                </a:solidFill>
                <a:latin typeface="微软雅黑" panose="020B0503020204020204" pitchFamily="34" charset="-122"/>
                <a:ea typeface="微软雅黑" panose="020B0503020204020204" pitchFamily="34" charset="-122"/>
                <a:cs typeface="+mn-ea"/>
              </a:rPr>
              <a:t>如</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表示使用第</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组数据；</a:t>
            </a:r>
            <a:r>
              <a:rPr lang="en-US" altLang="zh-CN" sz="1800" dirty="0">
                <a:solidFill>
                  <a:srgbClr val="595959"/>
                </a:solidFill>
                <a:latin typeface="微软雅黑" panose="020B0503020204020204" pitchFamily="34" charset="-122"/>
                <a:ea typeface="微软雅黑" panose="020B0503020204020204" pitchFamily="34" charset="-122"/>
                <a:cs typeface="+mn-ea"/>
              </a:rPr>
              <a:t>$2$</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$3$</a:t>
            </a:r>
            <a:r>
              <a:rPr lang="zh-CN" altLang="zh-CN" sz="1800" dirty="0">
                <a:solidFill>
                  <a:srgbClr val="595959"/>
                </a:solidFill>
                <a:latin typeface="微软雅黑" panose="020B0503020204020204" pitchFamily="34" charset="-122"/>
                <a:ea typeface="微软雅黑" panose="020B0503020204020204" pitchFamily="34" charset="-122"/>
                <a:cs typeface="+mn-ea"/>
              </a:rPr>
              <a:t>表示使用第</a:t>
            </a:r>
            <a:r>
              <a:rPr lang="en-US" altLang="zh-CN" sz="1800" dirty="0">
                <a:solidFill>
                  <a:srgbClr val="595959"/>
                </a:solidFill>
                <a:latin typeface="微软雅黑" panose="020B0503020204020204" pitchFamily="34" charset="-122"/>
                <a:ea typeface="微软雅黑" panose="020B0503020204020204" pitchFamily="34" charset="-122"/>
                <a:cs typeface="+mn-ea"/>
              </a:rPr>
              <a:t>2</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3</a:t>
            </a:r>
            <a:r>
              <a:rPr lang="zh-CN" altLang="zh-CN" sz="1800" dirty="0">
                <a:solidFill>
                  <a:srgbClr val="595959"/>
                </a:solidFill>
                <a:latin typeface="微软雅黑" panose="020B0503020204020204" pitchFamily="34" charset="-122"/>
                <a:ea typeface="微软雅黑" panose="020B0503020204020204" pitchFamily="34" charset="-122"/>
                <a:cs typeface="+mn-ea"/>
              </a:rPr>
              <a:t>组数据。如果</a:t>
            </a:r>
            <a:r>
              <a:rPr lang="en-US" altLang="zh-CN" sz="1800" dirty="0">
                <a:solidFill>
                  <a:srgbClr val="595959"/>
                </a:solidFill>
                <a:latin typeface="微软雅黑" panose="020B0503020204020204" pitchFamily="34" charset="-122"/>
                <a:ea typeface="微软雅黑" panose="020B0503020204020204" pitchFamily="34" charset="-122"/>
                <a:cs typeface="+mn-ea"/>
              </a:rPr>
              <a:t>n</a:t>
            </a:r>
            <a:r>
              <a:rPr lang="zh-CN" altLang="zh-CN" sz="1800" dirty="0">
                <a:solidFill>
                  <a:srgbClr val="595959"/>
                </a:solidFill>
                <a:latin typeface="微软雅黑" panose="020B0503020204020204" pitchFamily="34" charset="-122"/>
                <a:ea typeface="微软雅黑" panose="020B0503020204020204" pitchFamily="34" charset="-122"/>
                <a:cs typeface="+mn-ea"/>
              </a:rPr>
              <a:t>的值为</a:t>
            </a:r>
            <a:r>
              <a:rPr lang="en-US" altLang="zh-CN" sz="1800" dirty="0">
                <a:solidFill>
                  <a:srgbClr val="595959"/>
                </a:solidFill>
                <a:latin typeface="微软雅黑" panose="020B0503020204020204" pitchFamily="34" charset="-122"/>
                <a:ea typeface="微软雅黑" panose="020B0503020204020204" pitchFamily="34" charset="-122"/>
                <a:cs typeface="+mn-ea"/>
              </a:rPr>
              <a:t>0</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$0$</a:t>
            </a:r>
            <a:r>
              <a:rPr lang="zh-CN" altLang="zh-CN" sz="1800">
                <a:solidFill>
                  <a:srgbClr val="595959"/>
                </a:solidFill>
                <a:latin typeface="微软雅黑" panose="020B0503020204020204" pitchFamily="34" charset="-122"/>
                <a:ea typeface="微软雅黑" panose="020B0503020204020204" pitchFamily="34" charset="-122"/>
                <a:cs typeface="+mn-ea"/>
              </a:rPr>
              <a:t>），表示</a:t>
            </a:r>
            <a:r>
              <a:rPr lang="zh-CN" altLang="en-US" sz="1800">
                <a:solidFill>
                  <a:srgbClr val="595959"/>
                </a:solidFill>
                <a:latin typeface="微软雅黑" panose="020B0503020204020204" pitchFamily="34" charset="-122"/>
                <a:ea typeface="微软雅黑" panose="020B0503020204020204" pitchFamily="34" charset="-122"/>
                <a:cs typeface="+mn-ea"/>
              </a:rPr>
              <a:t>使用</a:t>
            </a:r>
            <a:r>
              <a:rPr lang="zh-CN" altLang="zh-CN" sz="1800">
                <a:solidFill>
                  <a:srgbClr val="595959"/>
                </a:solidFill>
                <a:latin typeface="微软雅黑" panose="020B0503020204020204" pitchFamily="34" charset="-122"/>
                <a:ea typeface="微软雅黑" panose="020B0503020204020204" pitchFamily="34" charset="-122"/>
                <a:cs typeface="+mn-ea"/>
              </a:rPr>
              <a:t>全部</a:t>
            </a:r>
            <a:r>
              <a:rPr lang="zh-CN" altLang="zh-CN" sz="1800" dirty="0">
                <a:solidFill>
                  <a:srgbClr val="595959"/>
                </a:solidFill>
                <a:latin typeface="微软雅黑" panose="020B0503020204020204" pitchFamily="34" charset="-122"/>
                <a:ea typeface="微软雅黑" panose="020B0503020204020204" pitchFamily="34" charset="-122"/>
                <a:cs typeface="+mn-ea"/>
              </a:rPr>
              <a:t>数据。</a:t>
            </a:r>
          </a:p>
          <a:p>
            <a:pPr marL="342900" lvl="0" indent="-34290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匹配数字（</a:t>
            </a:r>
            <a:r>
              <a:rPr lang="en-US" altLang="zh-CN" sz="1800" dirty="0">
                <a:solidFill>
                  <a:srgbClr val="595959"/>
                </a:solidFill>
                <a:latin typeface="微软雅黑" panose="020B0503020204020204" pitchFamily="34" charset="-122"/>
                <a:ea typeface="微软雅黑" panose="020B0503020204020204" pitchFamily="34" charset="-122"/>
                <a:cs typeface="+mn-ea"/>
              </a:rPr>
              <a:t>0</a:t>
            </a:r>
            <a:r>
              <a:rPr lang="zh-CN" altLang="zh-CN" sz="1800" dirty="0">
                <a:solidFill>
                  <a:srgbClr val="595959"/>
                </a:solidFill>
                <a:latin typeface="微软雅黑" panose="020B0503020204020204" pitchFamily="34" charset="-122"/>
                <a:ea typeface="微软雅黑" panose="020B0503020204020204" pitchFamily="34" charset="-122"/>
                <a:cs typeface="+mn-ea"/>
              </a:rPr>
              <a:t>代表随机）：</a:t>
            </a:r>
            <a:r>
              <a:rPr lang="zh-CN" altLang="zh-CN" sz="1800" dirty="0">
                <a:solidFill>
                  <a:srgbClr val="1369B2"/>
                </a:solidFill>
                <a:latin typeface="微软雅黑" panose="020B0503020204020204" pitchFamily="34" charset="-122"/>
                <a:ea typeface="微软雅黑" panose="020B0503020204020204" pitchFamily="34" charset="-122"/>
              </a:rPr>
              <a:t>表示取一组数据中的第几个值</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rPr>
              <a:t>0</a:t>
            </a:r>
            <a:r>
              <a:rPr lang="zh-CN" altLang="zh-CN" sz="1800" dirty="0">
                <a:solidFill>
                  <a:srgbClr val="595959"/>
                </a:solidFill>
                <a:latin typeface="微软雅黑" panose="020B0503020204020204" pitchFamily="34" charset="-122"/>
                <a:ea typeface="微软雅黑" panose="020B0503020204020204" pitchFamily="34" charset="-122"/>
                <a:cs typeface="+mn-ea"/>
              </a:rPr>
              <a:t>表示随机取值，</a:t>
            </a:r>
            <a:r>
              <a:rPr lang="en-US" altLang="zh-CN" sz="1800" dirty="0">
                <a:solidFill>
                  <a:srgbClr val="595959"/>
                </a:solidFill>
                <a:latin typeface="微软雅黑" panose="020B0503020204020204" pitchFamily="34" charset="-122"/>
                <a:ea typeface="微软雅黑" panose="020B0503020204020204" pitchFamily="34" charset="-122"/>
                <a:cs typeface="+mn-ea"/>
              </a:rPr>
              <a:t>-1</a:t>
            </a:r>
            <a:r>
              <a:rPr lang="zh-CN" altLang="zh-CN" sz="1800" dirty="0">
                <a:solidFill>
                  <a:srgbClr val="595959"/>
                </a:solidFill>
                <a:latin typeface="微软雅黑" panose="020B0503020204020204" pitchFamily="34" charset="-122"/>
                <a:ea typeface="微软雅黑" panose="020B0503020204020204" pitchFamily="34" charset="-122"/>
                <a:cs typeface="+mn-ea"/>
              </a:rPr>
              <a:t>表示取全部值，其他正整数</a:t>
            </a:r>
            <a:r>
              <a:rPr lang="en-US" altLang="zh-CN" sz="1800" dirty="0">
                <a:solidFill>
                  <a:srgbClr val="595959"/>
                </a:solidFill>
                <a:latin typeface="微软雅黑" panose="020B0503020204020204" pitchFamily="34" charset="-122"/>
                <a:ea typeface="微软雅黑" panose="020B0503020204020204" pitchFamily="34" charset="-122"/>
                <a:cs typeface="+mn-ea"/>
              </a:rPr>
              <a:t>n</a:t>
            </a:r>
            <a:r>
              <a:rPr lang="zh-CN" altLang="zh-CN" sz="1800" dirty="0">
                <a:solidFill>
                  <a:srgbClr val="595959"/>
                </a:solidFill>
                <a:latin typeface="微软雅黑" panose="020B0503020204020204" pitchFamily="34" charset="-122"/>
                <a:ea typeface="微软雅黑" panose="020B0503020204020204" pitchFamily="34" charset="-122"/>
                <a:cs typeface="+mn-ea"/>
              </a:rPr>
              <a:t>表示取第</a:t>
            </a:r>
            <a:r>
              <a:rPr lang="en-US" altLang="zh-CN" sz="1800" dirty="0">
                <a:solidFill>
                  <a:srgbClr val="595959"/>
                </a:solidFill>
                <a:latin typeface="微软雅黑" panose="020B0503020204020204" pitchFamily="34" charset="-122"/>
                <a:ea typeface="微软雅黑" panose="020B0503020204020204" pitchFamily="34" charset="-122"/>
                <a:cs typeface="+mn-ea"/>
              </a:rPr>
              <a:t>n</a:t>
            </a:r>
            <a:r>
              <a:rPr lang="zh-CN" altLang="zh-CN" sz="1800" dirty="0">
                <a:solidFill>
                  <a:srgbClr val="595959"/>
                </a:solidFill>
                <a:latin typeface="微软雅黑" panose="020B0503020204020204" pitchFamily="34" charset="-122"/>
                <a:ea typeface="微软雅黑" panose="020B0503020204020204" pitchFamily="34" charset="-122"/>
                <a:cs typeface="+mn-ea"/>
              </a:rPr>
              <a:t>个值。</a:t>
            </a:r>
          </a:p>
          <a:p>
            <a:pPr marL="342900" lvl="0" indent="-342900">
              <a:lnSpc>
                <a:spcPct val="150000"/>
              </a:lnSpc>
              <a:buFont typeface="Wingdings" panose="05000000000000000000" pitchFamily="2" charset="2"/>
              <a:buChar char="l"/>
            </a:pPr>
            <a:r>
              <a:rPr lang="zh-CN" altLang="zh-CN" sz="1800" dirty="0">
                <a:solidFill>
                  <a:srgbClr val="595959"/>
                </a:solidFill>
                <a:latin typeface="微软雅黑" panose="020B0503020204020204" pitchFamily="34" charset="-122"/>
                <a:ea typeface="微软雅黑" panose="020B0503020204020204" pitchFamily="34" charset="-122"/>
                <a:cs typeface="+mn-ea"/>
              </a:rPr>
              <a:t>缺省值：</a:t>
            </a:r>
            <a:r>
              <a:rPr lang="zh-CN" altLang="zh-CN" sz="1800" dirty="0">
                <a:solidFill>
                  <a:srgbClr val="1369B2"/>
                </a:solidFill>
                <a:latin typeface="微软雅黑" panose="020B0503020204020204" pitchFamily="34" charset="-122"/>
                <a:ea typeface="微软雅黑" panose="020B0503020204020204" pitchFamily="34" charset="-122"/>
              </a:rPr>
              <a:t>默认值</a:t>
            </a:r>
            <a:r>
              <a:rPr lang="zh-CN" altLang="zh-CN" sz="1800" dirty="0">
                <a:solidFill>
                  <a:srgbClr val="595959"/>
                </a:solidFill>
                <a:latin typeface="微软雅黑" panose="020B0503020204020204" pitchFamily="34" charset="-122"/>
                <a:ea typeface="微软雅黑" panose="020B0503020204020204" pitchFamily="34" charset="-122"/>
                <a:cs typeface="+mn-ea"/>
              </a:rPr>
              <a:t>，如果引用名称没有取到值，就使用该默认值。</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56904" y="1093925"/>
            <a:ext cx="10004106" cy="961289"/>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en-US" sz="2000" dirty="0">
                <a:solidFill>
                  <a:srgbClr val="1369B2"/>
                </a:solidFill>
                <a:latin typeface="微软雅黑" panose="020B0503020204020204" pitchFamily="34" charset="-122"/>
                <a:ea typeface="微软雅黑" panose="020B0503020204020204" pitchFamily="34" charset="-122"/>
              </a:rPr>
              <a:t>正则表达式提取器</a:t>
            </a:r>
            <a:r>
              <a:rPr lang="zh-CN" altLang="zh-CN" sz="2000">
                <a:solidFill>
                  <a:srgbClr val="595959"/>
                </a:solidFill>
                <a:latin typeface="微软雅黑" panose="020B0503020204020204" pitchFamily="34" charset="-122"/>
                <a:ea typeface="微软雅黑" panose="020B0503020204020204" pitchFamily="34" charset="-122"/>
                <a:cs typeface="+mn-ea"/>
              </a:rPr>
              <a:t>的使用</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本</a:t>
            </a:r>
            <a:r>
              <a:rPr lang="zh-CN" altLang="zh-CN" sz="2000" dirty="0">
                <a:solidFill>
                  <a:srgbClr val="595959"/>
                </a:solidFill>
                <a:latin typeface="微软雅黑" panose="020B0503020204020204" pitchFamily="34" charset="-122"/>
                <a:ea typeface="微软雅黑" panose="020B0503020204020204" pitchFamily="34" charset="-122"/>
                <a:cs typeface="+mn-ea"/>
              </a:rPr>
              <a:t>案例要求使用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发送</a:t>
            </a:r>
            <a:r>
              <a:rPr lang="zh-CN" altLang="en-US" sz="2000" dirty="0">
                <a:solidFill>
                  <a:srgbClr val="595959"/>
                </a:solidFill>
                <a:latin typeface="微软雅黑" panose="020B0503020204020204" pitchFamily="34" charset="-122"/>
                <a:ea typeface="微软雅黑" panose="020B0503020204020204" pitchFamily="34" charset="-122"/>
                <a:cs typeface="+mn-ea"/>
              </a:rPr>
              <a:t>两</a:t>
            </a:r>
            <a:r>
              <a:rPr lang="zh-CN" altLang="zh-CN" sz="2000" dirty="0">
                <a:solidFill>
                  <a:srgbClr val="595959"/>
                </a:solidFill>
                <a:latin typeface="微软雅黑" panose="020B0503020204020204" pitchFamily="34" charset="-122"/>
                <a:ea typeface="微软雅黑" panose="020B0503020204020204" pitchFamily="34" charset="-122"/>
                <a:cs typeface="+mn-ea"/>
              </a:rPr>
              <a:t>个请求，</a:t>
            </a:r>
            <a:r>
              <a:rPr lang="zh-CN" altLang="en-US" sz="2000" dirty="0">
                <a:solidFill>
                  <a:srgbClr val="595959"/>
                </a:solidFill>
                <a:latin typeface="微软雅黑" panose="020B0503020204020204" pitchFamily="34" charset="-122"/>
                <a:ea typeface="微软雅黑" panose="020B0503020204020204" pitchFamily="34" charset="-122"/>
                <a:cs typeface="+mn-ea"/>
              </a:rPr>
              <a:t>具体要求</a:t>
            </a:r>
            <a:r>
              <a:rPr lang="zh-CN" altLang="en-US" sz="2000">
                <a:solidFill>
                  <a:srgbClr val="595959"/>
                </a:solidFill>
                <a:latin typeface="微软雅黑" panose="020B0503020204020204" pitchFamily="34" charset="-122"/>
                <a:ea typeface="微软雅黑" panose="020B0503020204020204" pitchFamily="34" charset="-122"/>
                <a:cs typeface="+mn-ea"/>
              </a:rPr>
              <a:t>如下。</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43690" y="2459185"/>
            <a:ext cx="10004106" cy="1477328"/>
          </a:xfrm>
          <a:prstGeom prst="rect">
            <a:avLst/>
          </a:prstGeom>
        </p:spPr>
        <p:txBody>
          <a:bodyPr wrap="square">
            <a:spAutoFit/>
          </a:bodyPr>
          <a:lstStyle/>
          <a:p>
            <a:pPr marL="342900" indent="-34290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请求一：请求地址为</a:t>
            </a:r>
            <a:r>
              <a:rPr lang="en-US" altLang="zh-CN" sz="2000">
                <a:solidFill>
                  <a:srgbClr val="1369B2"/>
                </a:solidFill>
                <a:latin typeface="微软雅黑" panose="020B0503020204020204" pitchFamily="34" charset="-122"/>
                <a:ea typeface="微软雅黑" panose="020B0503020204020204" pitchFamily="34" charset="-122"/>
              </a:rPr>
              <a:t>https://www.itcast.cn</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获取网页的</a:t>
            </a:r>
            <a:r>
              <a:rPr lang="en-US" altLang="zh-CN" sz="2000">
                <a:solidFill>
                  <a:srgbClr val="1369B2"/>
                </a:solidFill>
                <a:latin typeface="微软雅黑" panose="020B0503020204020204" pitchFamily="34" charset="-122"/>
                <a:ea typeface="微软雅黑" panose="020B0503020204020204" pitchFamily="34" charset="-122"/>
              </a:rPr>
              <a:t>&lt;title&gt;</a:t>
            </a:r>
            <a:r>
              <a:rPr lang="zh-CN" altLang="zh-CN" sz="2000">
                <a:solidFill>
                  <a:srgbClr val="1369B2"/>
                </a:solidFill>
                <a:latin typeface="微软雅黑" panose="020B0503020204020204" pitchFamily="34" charset="-122"/>
                <a:ea typeface="微软雅黑" panose="020B0503020204020204" pitchFamily="34" charset="-122"/>
              </a:rPr>
              <a:t>标签的值</a:t>
            </a:r>
            <a:r>
              <a:rPr lang="zh-CN" altLang="zh-CN" sz="200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请求二：请求地址为</a:t>
            </a:r>
            <a:r>
              <a:rPr lang="en-US" altLang="zh-CN" sz="2000">
                <a:solidFill>
                  <a:srgbClr val="1369B2"/>
                </a:solidFill>
                <a:latin typeface="微软雅黑" panose="020B0503020204020204" pitchFamily="34" charset="-122"/>
                <a:ea typeface="微软雅黑" panose="020B0503020204020204" pitchFamily="34" charset="-122"/>
              </a:rPr>
              <a:t>https://www.baidu.com/S</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把请求一的</a:t>
            </a:r>
            <a:r>
              <a:rPr lang="en-US" altLang="zh-CN" sz="2000">
                <a:solidFill>
                  <a:srgbClr val="1369B2"/>
                </a:solidFill>
                <a:latin typeface="微软雅黑" panose="020B0503020204020204" pitchFamily="34" charset="-122"/>
                <a:ea typeface="微软雅黑" panose="020B0503020204020204" pitchFamily="34" charset="-122"/>
              </a:rPr>
              <a:t>&lt;title&gt;</a:t>
            </a:r>
            <a:r>
              <a:rPr lang="zh-CN" altLang="zh-CN" sz="2000">
                <a:solidFill>
                  <a:srgbClr val="1369B2"/>
                </a:solidFill>
                <a:latin typeface="微软雅黑" panose="020B0503020204020204" pitchFamily="34" charset="-122"/>
                <a:ea typeface="微软雅黑" panose="020B0503020204020204" pitchFamily="34" charset="-122"/>
              </a:rPr>
              <a:t>标签的值</a:t>
            </a:r>
            <a:r>
              <a:rPr lang="zh-CN" altLang="zh-CN" sz="2000">
                <a:solidFill>
                  <a:srgbClr val="595959"/>
                </a:solidFill>
                <a:latin typeface="微软雅黑" panose="020B0503020204020204" pitchFamily="34" charset="-122"/>
                <a:ea typeface="微软雅黑" panose="020B0503020204020204" pitchFamily="34" charset="-122"/>
                <a:cs typeface="+mn-ea"/>
              </a:rPr>
              <a:t>作为</a:t>
            </a:r>
            <a:r>
              <a:rPr lang="zh-CN" altLang="zh-CN" sz="2000">
                <a:solidFill>
                  <a:srgbClr val="1369B2"/>
                </a:solidFill>
                <a:latin typeface="微软雅黑" panose="020B0503020204020204" pitchFamily="34" charset="-122"/>
                <a:ea typeface="微软雅黑" panose="020B0503020204020204" pitchFamily="34" charset="-122"/>
              </a:rPr>
              <a:t>请求参数</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52202" y="999627"/>
            <a:ext cx="10127561" cy="1015663"/>
          </a:xfrm>
          <a:prstGeom prst="rect">
            <a:avLst/>
          </a:prstGeom>
          <a:noFill/>
        </p:spPr>
        <p:txBody>
          <a:bodyPr wrap="square">
            <a:spAutoFit/>
          </a:bodyPr>
          <a:lstStyle/>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请求以和请求二</a:t>
            </a:r>
            <a:r>
              <a:rPr lang="zh-CN" altLang="zh-CN" sz="2000">
                <a:solidFill>
                  <a:srgbClr val="595959"/>
                </a:solidFill>
                <a:latin typeface="微软雅黑" panose="020B0503020204020204" pitchFamily="34" charset="-122"/>
                <a:ea typeface="微软雅黑" panose="020B0503020204020204" pitchFamily="34" charset="-122"/>
                <a:cs typeface="+mn-ea"/>
              </a:rPr>
              <a:t>请求具有</a:t>
            </a:r>
            <a:r>
              <a:rPr lang="zh-CN" altLang="zh-CN" sz="2000">
                <a:solidFill>
                  <a:srgbClr val="1369B2"/>
                </a:solidFill>
                <a:latin typeface="微软雅黑" panose="020B0503020204020204" pitchFamily="34" charset="-122"/>
                <a:ea typeface="微软雅黑" panose="020B0503020204020204" pitchFamily="34" charset="-122"/>
              </a:rPr>
              <a:t>关联关系</a:t>
            </a:r>
            <a:r>
              <a:rPr lang="zh-CN" altLang="zh-CN" sz="2000">
                <a:solidFill>
                  <a:srgbClr val="595959"/>
                </a:solidFill>
                <a:latin typeface="微软雅黑" panose="020B0503020204020204" pitchFamily="34" charset="-122"/>
                <a:ea typeface="微软雅黑" panose="020B0503020204020204" pitchFamily="34" charset="-122"/>
                <a:cs typeface="+mn-ea"/>
              </a:rPr>
              <a:t>，可以使用</a:t>
            </a:r>
            <a:r>
              <a:rPr lang="zh-CN" altLang="zh-CN" sz="2000">
                <a:solidFill>
                  <a:srgbClr val="1369B2"/>
                </a:solidFill>
                <a:latin typeface="微软雅黑" panose="020B0503020204020204" pitchFamily="34" charset="-122"/>
                <a:ea typeface="微软雅黑" panose="020B0503020204020204" pitchFamily="34" charset="-122"/>
              </a:rPr>
              <a:t>正则表达式提取器</a:t>
            </a:r>
            <a:r>
              <a:rPr lang="zh-CN" altLang="zh-CN" sz="2000">
                <a:solidFill>
                  <a:srgbClr val="595959"/>
                </a:solidFill>
                <a:latin typeface="微软雅黑" panose="020B0503020204020204" pitchFamily="34" charset="-122"/>
                <a:ea typeface="微软雅黑" panose="020B0503020204020204" pitchFamily="34" charset="-122"/>
                <a:cs typeface="+mn-ea"/>
              </a:rPr>
              <a:t>提取请求一中的数据，再将其作为请求二的参数</a:t>
            </a:r>
            <a:r>
              <a:rPr lang="zh-CN" altLang="en-US" sz="2000">
                <a:solidFill>
                  <a:srgbClr val="595959"/>
                </a:solidFill>
                <a:latin typeface="微软雅黑" panose="020B0503020204020204" pitchFamily="34" charset="-122"/>
                <a:ea typeface="微软雅黑" panose="020B0503020204020204" pitchFamily="34" charset="-122"/>
                <a:cs typeface="+mn-ea"/>
              </a:rPr>
              <a:t>。首先</a:t>
            </a:r>
            <a:r>
              <a:rPr lang="zh-CN" altLang="zh-CN" sz="2000" dirty="0">
                <a:solidFill>
                  <a:srgbClr val="595959"/>
                </a:solidFill>
                <a:latin typeface="微软雅黑" panose="020B0503020204020204" pitchFamily="34" charset="-122"/>
                <a:ea typeface="微软雅黑" panose="020B0503020204020204" pitchFamily="34" charset="-122"/>
                <a:cs typeface="+mn-ea"/>
              </a:rPr>
              <a:t>构建测试计划目录树</a:t>
            </a:r>
            <a:r>
              <a:rPr lang="zh-CN" altLang="en-US" sz="2000" dirty="0">
                <a:solidFill>
                  <a:srgbClr val="595959"/>
                </a:solidFill>
                <a:latin typeface="微软雅黑" panose="020B0503020204020204" pitchFamily="34" charset="-122"/>
                <a:ea typeface="微软雅黑" panose="020B0503020204020204" pitchFamily="34" charset="-122"/>
                <a:cs typeface="+mn-ea"/>
              </a:rPr>
              <a:t>，然后</a:t>
            </a:r>
            <a:r>
              <a:rPr lang="zh-CN" altLang="zh-CN" sz="2000" dirty="0">
                <a:solidFill>
                  <a:srgbClr val="595959"/>
                </a:solidFill>
                <a:latin typeface="微软雅黑" panose="020B0503020204020204" pitchFamily="34" charset="-122"/>
                <a:ea typeface="微软雅黑" panose="020B0503020204020204" pitchFamily="34" charset="-122"/>
                <a:cs typeface="+mn-ea"/>
              </a:rPr>
              <a:t>进行</a:t>
            </a:r>
            <a:r>
              <a:rPr lang="zh-CN" altLang="zh-CN" sz="2000">
                <a:solidFill>
                  <a:srgbClr val="595959"/>
                </a:solidFill>
                <a:latin typeface="微软雅黑" panose="020B0503020204020204" pitchFamily="34" charset="-122"/>
                <a:ea typeface="微软雅黑" panose="020B0503020204020204" pitchFamily="34" charset="-122"/>
                <a:cs typeface="+mn-ea"/>
              </a:rPr>
              <a:t>相应配置</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202" y="2334169"/>
            <a:ext cx="3533413" cy="3172860"/>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9857" y="2452922"/>
            <a:ext cx="6357705" cy="305410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143690" y="1111525"/>
            <a:ext cx="9753039" cy="1015663"/>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正则表达式中的</a:t>
            </a:r>
            <a:r>
              <a:rPr lang="zh-CN" altLang="zh-CN" sz="2000" dirty="0">
                <a:solidFill>
                  <a:srgbClr val="1369B2"/>
                </a:solidFill>
                <a:latin typeface="微软雅黑" panose="020B0503020204020204" pitchFamily="34" charset="-122"/>
                <a:ea typeface="微软雅黑" panose="020B0503020204020204" pitchFamily="34" charset="-122"/>
              </a:rPr>
              <a:t>引用名称</a:t>
            </a:r>
            <a:r>
              <a:rPr lang="en-US" altLang="zh-CN" sz="2000" dirty="0" err="1">
                <a:solidFill>
                  <a:srgbClr val="1369B2"/>
                </a:solidFill>
                <a:latin typeface="微软雅黑" panose="020B0503020204020204" pitchFamily="34" charset="-122"/>
                <a:ea typeface="微软雅黑" panose="020B0503020204020204" pitchFamily="34" charset="-122"/>
              </a:rPr>
              <a:t>r_title</a:t>
            </a: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HTTP</a:t>
            </a:r>
            <a:r>
              <a:rPr lang="zh-CN" altLang="zh-CN" sz="2000" dirty="0">
                <a:solidFill>
                  <a:srgbClr val="595959"/>
                </a:solidFill>
                <a:latin typeface="微软雅黑" panose="020B0503020204020204" pitchFamily="34" charset="-122"/>
                <a:ea typeface="微软雅黑" panose="020B0503020204020204" pitchFamily="34" charset="-122"/>
                <a:cs typeface="+mn-ea"/>
              </a:rPr>
              <a:t>请求</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百度的请求界面中被</a:t>
            </a:r>
            <a:r>
              <a:rPr lang="zh-CN" altLang="zh-CN" sz="2000">
                <a:solidFill>
                  <a:srgbClr val="595959"/>
                </a:solidFill>
                <a:latin typeface="微软雅黑" panose="020B0503020204020204" pitchFamily="34" charset="-122"/>
                <a:ea typeface="微软雅黑" panose="020B0503020204020204" pitchFamily="34" charset="-122"/>
                <a:cs typeface="+mn-ea"/>
              </a:rPr>
              <a:t>引用</a:t>
            </a:r>
            <a:r>
              <a:rPr lang="zh-CN" altLang="en-US" sz="2000">
                <a:solidFill>
                  <a:srgbClr val="595959"/>
                </a:solidFill>
                <a:latin typeface="微软雅黑" panose="020B0503020204020204" pitchFamily="34" charset="-122"/>
                <a:ea typeface="微软雅黑" panose="020B0503020204020204" pitchFamily="34" charset="-122"/>
                <a:cs typeface="+mn-ea"/>
              </a:rPr>
              <a:t>，配置界面和测试结果如下图所示。</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3690" y="2719449"/>
            <a:ext cx="4592501" cy="2696202"/>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2036" y="2719449"/>
            <a:ext cx="5150494" cy="269620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43491" y="1822992"/>
            <a:ext cx="10571759" cy="1938992"/>
          </a:xfrm>
          <a:prstGeom prst="rect">
            <a:avLst/>
          </a:prstGeom>
        </p:spPr>
        <p:txBody>
          <a:bodyPr wrap="square">
            <a:spAutoFit/>
          </a:body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XPath</a:t>
            </a:r>
            <a:r>
              <a:rPr lang="zh-CN" altLang="zh-CN" sz="2000" dirty="0">
                <a:solidFill>
                  <a:srgbClr val="1369B2"/>
                </a:solidFill>
                <a:latin typeface="微软雅黑" panose="020B0503020204020204" pitchFamily="34" charset="-122"/>
                <a:ea typeface="微软雅黑" panose="020B0503020204020204" pitchFamily="34" charset="-122"/>
              </a:rPr>
              <a:t>提取器用于提取</a:t>
            </a:r>
            <a:r>
              <a:rPr lang="en-US" altLang="zh-CN" sz="2000" dirty="0">
                <a:solidFill>
                  <a:srgbClr val="1369B2"/>
                </a:solidFill>
                <a:latin typeface="微软雅黑" panose="020B0503020204020204" pitchFamily="34" charset="-122"/>
                <a:ea typeface="微软雅黑" panose="020B0503020204020204" pitchFamily="34" charset="-122"/>
              </a:rPr>
              <a:t>HTML</a:t>
            </a:r>
            <a:r>
              <a:rPr lang="zh-CN" altLang="zh-CN" sz="2000" dirty="0">
                <a:solidFill>
                  <a:srgbClr val="1369B2"/>
                </a:solidFill>
                <a:latin typeface="微软雅黑" panose="020B0503020204020204" pitchFamily="34" charset="-122"/>
                <a:ea typeface="微软雅黑" panose="020B0503020204020204" pitchFamily="34" charset="-122"/>
              </a:rPr>
              <a:t>格式的响应数据</a:t>
            </a:r>
            <a:r>
              <a:rPr lang="zh-CN" altLang="zh-CN" sz="2000">
                <a:solidFill>
                  <a:srgbClr val="595959"/>
                </a:solidFill>
                <a:latin typeface="微软雅黑" panose="020B0503020204020204" pitchFamily="34" charset="-122"/>
                <a:ea typeface="微软雅黑" panose="020B0503020204020204" pitchFamily="34" charset="-122"/>
                <a:cs typeface="+mn-ea"/>
              </a:rPr>
              <a:t>，它通过</a:t>
            </a:r>
            <a:r>
              <a:rPr lang="en-US" altLang="zh-CN" sz="2000" dirty="0">
                <a:solidFill>
                  <a:srgbClr val="595959"/>
                </a:solidFill>
                <a:latin typeface="微软雅黑" panose="020B0503020204020204" pitchFamily="34" charset="-122"/>
                <a:ea typeface="微软雅黑" panose="020B0503020204020204" pitchFamily="34" charset="-122"/>
                <a:cs typeface="+mn-ea"/>
              </a:rPr>
              <a:t>HTML</a:t>
            </a:r>
            <a:r>
              <a:rPr lang="zh-CN" altLang="zh-CN" sz="2000" dirty="0">
                <a:solidFill>
                  <a:srgbClr val="595959"/>
                </a:solidFill>
                <a:latin typeface="微软雅黑" panose="020B0503020204020204" pitchFamily="34" charset="-122"/>
                <a:ea typeface="微软雅黑" panose="020B0503020204020204" pitchFamily="34" charset="-122"/>
                <a:cs typeface="+mn-ea"/>
              </a:rPr>
              <a:t>文档中的标签来提取数据。如果在测试计划中需要使用</a:t>
            </a:r>
            <a:r>
              <a:rPr lang="en-US" altLang="zh-CN" sz="2000" dirty="0">
                <a:solidFill>
                  <a:srgbClr val="595959"/>
                </a:solidFill>
                <a:latin typeface="微软雅黑" panose="020B0503020204020204" pitchFamily="34" charset="-122"/>
                <a:ea typeface="微软雅黑" panose="020B0503020204020204" pitchFamily="34" charset="-122"/>
                <a:cs typeface="+mn-ea"/>
              </a:rPr>
              <a:t>XPath</a:t>
            </a:r>
            <a:r>
              <a:rPr lang="zh-CN" altLang="zh-CN" sz="2000" dirty="0">
                <a:solidFill>
                  <a:srgbClr val="595959"/>
                </a:solidFill>
                <a:latin typeface="微软雅黑" panose="020B0503020204020204" pitchFamily="34" charset="-122"/>
                <a:ea typeface="微软雅黑" panose="020B0503020204020204" pitchFamily="34" charset="-122"/>
                <a:cs typeface="+mn-ea"/>
              </a:rPr>
              <a:t>提取器，则可以选中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“后置处理器”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XPath</a:t>
            </a:r>
            <a:r>
              <a:rPr lang="zh-CN" altLang="zh-CN" sz="2000" dirty="0">
                <a:solidFill>
                  <a:srgbClr val="1369B2"/>
                </a:solidFill>
                <a:latin typeface="微软雅黑" panose="020B0503020204020204" pitchFamily="34" charset="-122"/>
                <a:ea typeface="微软雅黑" panose="020B0503020204020204" pitchFamily="34" charset="-122"/>
              </a:rPr>
              <a:t>提取器”</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a:t>
            </a:r>
            <a:r>
              <a:rPr lang="en-US" altLang="zh-CN" sz="2000" dirty="0" err="1">
                <a:solidFill>
                  <a:srgbClr val="595959"/>
                </a:solidFill>
                <a:latin typeface="微软雅黑" panose="020B0503020204020204" pitchFamily="34" charset="-122"/>
                <a:ea typeface="微软雅黑" panose="020B0503020204020204" pitchFamily="34" charset="-122"/>
                <a:cs typeface="+mn-ea"/>
              </a:rPr>
              <a:t>Xpath</a:t>
            </a:r>
            <a:r>
              <a:rPr lang="zh-CN" altLang="zh-CN" sz="2000" dirty="0">
                <a:solidFill>
                  <a:srgbClr val="595959"/>
                </a:solidFill>
                <a:latin typeface="微软雅黑" panose="020B0503020204020204" pitchFamily="34" charset="-122"/>
                <a:ea typeface="微软雅黑" panose="020B0503020204020204" pitchFamily="34" charset="-122"/>
                <a:cs typeface="+mn-ea"/>
              </a:rPr>
              <a:t>提取</a:t>
            </a:r>
            <a:r>
              <a:rPr lang="zh-CN" altLang="zh-CN" sz="2000">
                <a:solidFill>
                  <a:srgbClr val="595959"/>
                </a:solidFill>
                <a:latin typeface="微软雅黑" panose="020B0503020204020204" pitchFamily="34" charset="-122"/>
                <a:ea typeface="微软雅黑" panose="020B0503020204020204" pitchFamily="34" charset="-122"/>
                <a:cs typeface="+mn-ea"/>
              </a:rPr>
              <a:t>器界面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7732" y="3761984"/>
            <a:ext cx="6959173" cy="2876322"/>
          </a:xfrm>
          <a:prstGeom prst="rect">
            <a:avLst/>
          </a:prstGeom>
        </p:spPr>
      </p:pic>
      <p:sp>
        <p:nvSpPr>
          <p:cNvPr id="6" name="圆角矩形 5"/>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2.XPath</a:t>
            </a:r>
            <a:r>
              <a:rPr lang="zh-CN" altLang="en-US" sz="2000">
                <a:latin typeface="微软雅黑" panose="020B0503020204020204" pitchFamily="34" charset="-122"/>
                <a:ea typeface="微软雅黑" panose="020B0503020204020204" pitchFamily="34" charset="-122"/>
              </a:rPr>
              <a:t>提取器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9" name="矩形 18"/>
          <p:cNvSpPr/>
          <p:nvPr/>
        </p:nvSpPr>
        <p:spPr>
          <a:xfrm>
            <a:off x="1040583" y="1249493"/>
            <a:ext cx="4153055" cy="400110"/>
          </a:xfrm>
          <a:prstGeom prst="rect">
            <a:avLst/>
          </a:prstGeom>
        </p:spPr>
        <p:txBody>
          <a:bodyPr wrap="square">
            <a:spAutoFit/>
          </a:bodyPr>
          <a:lstStyle/>
          <a:p>
            <a:pPr algn="ctr"/>
            <a:r>
              <a:rPr lang="en-US" altLang="zh-CN" sz="2000" dirty="0">
                <a:solidFill>
                  <a:srgbClr val="1369B2"/>
                </a:solidFill>
                <a:latin typeface="微软雅黑" panose="020B0503020204020204" pitchFamily="34" charset="-122"/>
                <a:ea typeface="微软雅黑" panose="020B0503020204020204" pitchFamily="34" charset="-122"/>
              </a:rPr>
              <a:t>XPath</a:t>
            </a:r>
            <a:r>
              <a:rPr lang="zh-CN" altLang="zh-CN" sz="2000" dirty="0">
                <a:solidFill>
                  <a:srgbClr val="1369B2"/>
                </a:solidFill>
                <a:latin typeface="微软雅黑" panose="020B0503020204020204" pitchFamily="34" charset="-122"/>
                <a:ea typeface="微软雅黑" panose="020B0503020204020204" pitchFamily="34" charset="-122"/>
              </a:rPr>
              <a:t>提取器的常用配置项</a:t>
            </a:r>
            <a:r>
              <a:rPr lang="zh-CN" altLang="en-US" sz="2000" dirty="0">
                <a:solidFill>
                  <a:srgbClr val="595959"/>
                </a:solidFill>
                <a:latin typeface="微软雅黑" panose="020B0503020204020204" pitchFamily="34" charset="-122"/>
                <a:ea typeface="微软雅黑" panose="020B0503020204020204" pitchFamily="34" charset="-122"/>
                <a:cs typeface="+mn-ea"/>
              </a:rPr>
              <a:t>如下。</a:t>
            </a:r>
          </a:p>
        </p:txBody>
      </p:sp>
      <p:sp>
        <p:nvSpPr>
          <p:cNvPr id="2" name="矩形 1"/>
          <p:cNvSpPr/>
          <p:nvPr/>
        </p:nvSpPr>
        <p:spPr>
          <a:xfrm>
            <a:off x="1143690" y="1852884"/>
            <a:ext cx="9742212" cy="3323987"/>
          </a:xfrm>
          <a:prstGeom prst="rect">
            <a:avLst/>
          </a:prstGeom>
        </p:spPr>
        <p:txBody>
          <a:bodyPr wrap="square">
            <a:spAutoFit/>
          </a:bodyPr>
          <a:lstStyle/>
          <a:p>
            <a:pPr marL="34290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Use Tidy(tolerant parser)</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rPr>
              <a:t>需要处理的页面是</a:t>
            </a:r>
            <a:r>
              <a:rPr lang="en-US" altLang="zh-CN" sz="2000">
                <a:solidFill>
                  <a:srgbClr val="1369B2"/>
                </a:solidFill>
                <a:latin typeface="微软雅黑" panose="020B0503020204020204" pitchFamily="34" charset="-122"/>
                <a:ea typeface="微软雅黑" panose="020B0503020204020204" pitchFamily="34" charset="-122"/>
              </a:rPr>
              <a:t>HTML</a:t>
            </a:r>
            <a:r>
              <a:rPr lang="zh-CN" altLang="zh-CN" sz="2000">
                <a:solidFill>
                  <a:srgbClr val="1369B2"/>
                </a:solidFill>
                <a:latin typeface="微软雅黑" panose="020B0503020204020204" pitchFamily="34" charset="-122"/>
                <a:ea typeface="微软雅黑" panose="020B0503020204020204" pitchFamily="34" charset="-122"/>
              </a:rPr>
              <a:t>格式</a:t>
            </a:r>
            <a:r>
              <a:rPr lang="zh-CN" altLang="en-US"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a:solidFill>
                  <a:srgbClr val="595959"/>
                </a:solidFill>
                <a:latin typeface="微软雅黑" panose="020B0503020204020204" pitchFamily="34" charset="-122"/>
                <a:ea typeface="微软雅黑" panose="020B0503020204020204" pitchFamily="34" charset="-122"/>
                <a:cs typeface="+mn-ea"/>
              </a:rPr>
              <a:t>，则</a:t>
            </a:r>
            <a:r>
              <a:rPr lang="zh-CN" altLang="zh-CN" sz="2000">
                <a:solidFill>
                  <a:srgbClr val="1369B2"/>
                </a:solidFill>
                <a:latin typeface="微软雅黑" panose="020B0503020204020204" pitchFamily="34" charset="-122"/>
                <a:ea typeface="微软雅黑" panose="020B0503020204020204" pitchFamily="34" charset="-122"/>
              </a:rPr>
              <a:t>必须</a:t>
            </a:r>
            <a:r>
              <a:rPr lang="zh-CN" altLang="en-US" sz="2000">
                <a:solidFill>
                  <a:srgbClr val="1369B2"/>
                </a:solidFill>
                <a:latin typeface="微软雅黑" panose="020B0503020204020204" pitchFamily="34" charset="-122"/>
                <a:ea typeface="微软雅黑" panose="020B0503020204020204" pitchFamily="34" charset="-122"/>
              </a:rPr>
              <a:t>勾选</a:t>
            </a:r>
            <a:r>
              <a:rPr lang="zh-CN" altLang="zh-CN" sz="2000">
                <a:solidFill>
                  <a:srgbClr val="1369B2"/>
                </a:solidFill>
                <a:latin typeface="微软雅黑" panose="020B0503020204020204" pitchFamily="34" charset="-122"/>
                <a:ea typeface="微软雅黑" panose="020B0503020204020204" pitchFamily="34" charset="-122"/>
              </a:rPr>
              <a:t>该</a:t>
            </a:r>
            <a:r>
              <a:rPr lang="zh-CN" altLang="en-US" sz="2000">
                <a:solidFill>
                  <a:srgbClr val="1369B2"/>
                </a:solidFill>
                <a:latin typeface="微软雅黑" panose="020B0503020204020204" pitchFamily="34" charset="-122"/>
                <a:ea typeface="微软雅黑" panose="020B0503020204020204" pitchFamily="34" charset="-122"/>
              </a:rPr>
              <a:t>复选框</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rPr>
              <a:t>需要处理的页面是</a:t>
            </a:r>
            <a:r>
              <a:rPr lang="en-US" altLang="zh-CN" sz="2000" dirty="0">
                <a:solidFill>
                  <a:srgbClr val="1369B2"/>
                </a:solidFill>
                <a:latin typeface="微软雅黑" panose="020B0503020204020204" pitchFamily="34" charset="-122"/>
                <a:ea typeface="微软雅黑" panose="020B0503020204020204" pitchFamily="34" charset="-122"/>
              </a:rPr>
              <a:t>XML</a:t>
            </a:r>
            <a:r>
              <a:rPr lang="zh-CN" altLang="zh-CN" sz="2000" dirty="0">
                <a:solidFill>
                  <a:srgbClr val="1369B2"/>
                </a:solidFill>
                <a:latin typeface="微软雅黑" panose="020B0503020204020204" pitchFamily="34" charset="-122"/>
                <a:ea typeface="微软雅黑" panose="020B0503020204020204" pitchFamily="34" charset="-122"/>
              </a:rPr>
              <a:t>或</a:t>
            </a:r>
            <a:r>
              <a:rPr lang="en-US" altLang="zh-CN" sz="2000">
                <a:solidFill>
                  <a:srgbClr val="1369B2"/>
                </a:solidFill>
                <a:latin typeface="微软雅黑" panose="020B0503020204020204" pitchFamily="34" charset="-122"/>
                <a:ea typeface="微软雅黑" panose="020B0503020204020204" pitchFamily="34" charset="-122"/>
              </a:rPr>
              <a:t>XHTML</a:t>
            </a:r>
            <a:r>
              <a:rPr lang="zh-CN" altLang="zh-CN" sz="2000">
                <a:solidFill>
                  <a:srgbClr val="1369B2"/>
                </a:solidFill>
                <a:latin typeface="微软雅黑" panose="020B0503020204020204" pitchFamily="34" charset="-122"/>
                <a:ea typeface="微软雅黑" panose="020B0503020204020204" pitchFamily="34" charset="-122"/>
              </a:rPr>
              <a:t>格式</a:t>
            </a:r>
            <a:r>
              <a:rPr lang="zh-CN" altLang="en-US"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则</a:t>
            </a:r>
            <a:r>
              <a:rPr lang="zh-CN" altLang="zh-CN" sz="2000">
                <a:solidFill>
                  <a:srgbClr val="1369B2"/>
                </a:solidFill>
                <a:latin typeface="微软雅黑" panose="020B0503020204020204" pitchFamily="34" charset="-122"/>
                <a:ea typeface="微软雅黑" panose="020B0503020204020204" pitchFamily="34" charset="-122"/>
              </a:rPr>
              <a:t>取消该</a:t>
            </a:r>
            <a:r>
              <a:rPr lang="zh-CN" altLang="en-US" sz="2000">
                <a:solidFill>
                  <a:srgbClr val="1369B2"/>
                </a:solidFill>
                <a:latin typeface="微软雅黑" panose="020B0503020204020204" pitchFamily="34" charset="-122"/>
                <a:ea typeface="微软雅黑" panose="020B0503020204020204" pitchFamily="34" charset="-122"/>
              </a:rPr>
              <a:t>复选框</a:t>
            </a:r>
            <a:r>
              <a:rPr lang="zh-CN" altLang="zh-CN" sz="2000">
                <a:solidFill>
                  <a:srgbClr val="1369B2"/>
                </a:solidFill>
                <a:latin typeface="微软雅黑" panose="020B0503020204020204" pitchFamily="34" charset="-122"/>
                <a:ea typeface="微软雅黑" panose="020B0503020204020204" pitchFamily="34" charset="-122"/>
              </a:rPr>
              <a:t>的</a:t>
            </a:r>
            <a:r>
              <a:rPr lang="zh-CN" altLang="en-US" sz="2000">
                <a:solidFill>
                  <a:srgbClr val="1369B2"/>
                </a:solidFill>
                <a:latin typeface="微软雅黑" panose="020B0503020204020204" pitchFamily="34" charset="-122"/>
                <a:ea typeface="微软雅黑" panose="020B0503020204020204" pitchFamily="34" charset="-122"/>
              </a:rPr>
              <a:t>勾选</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引用名称：</a:t>
            </a:r>
            <a:r>
              <a:rPr lang="zh-CN" altLang="zh-CN" sz="2000" dirty="0">
                <a:solidFill>
                  <a:srgbClr val="1369B2"/>
                </a:solidFill>
                <a:latin typeface="微软雅黑" panose="020B0503020204020204" pitchFamily="34" charset="-122"/>
                <a:ea typeface="微软雅黑" panose="020B0503020204020204" pitchFamily="34" charset="-122"/>
              </a:rPr>
              <a:t>存储提取出的值</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en-US" altLang="zh-CN" sz="2000" dirty="0">
                <a:solidFill>
                  <a:srgbClr val="595959"/>
                </a:solidFill>
                <a:latin typeface="微软雅黑" panose="020B0503020204020204" pitchFamily="34" charset="-122"/>
                <a:ea typeface="微软雅黑" panose="020B0503020204020204" pitchFamily="34" charset="-122"/>
                <a:cs typeface="+mn-ea"/>
              </a:rPr>
              <a:t>XPath query</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XPath</a:t>
            </a:r>
            <a:r>
              <a:rPr lang="zh-CN" altLang="zh-CN" sz="2000" dirty="0">
                <a:solidFill>
                  <a:srgbClr val="1369B2"/>
                </a:solidFill>
                <a:latin typeface="微软雅黑" panose="020B0503020204020204" pitchFamily="34" charset="-122"/>
                <a:ea typeface="微软雅黑" panose="020B0503020204020204" pitchFamily="34" charset="-122"/>
              </a:rPr>
              <a:t>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，即要提取哪些节点元素。</a:t>
            </a:r>
          </a:p>
          <a:p>
            <a:pPr marL="342900" indent="-342900">
              <a:lnSpc>
                <a:spcPct val="150000"/>
              </a:lnSpc>
              <a:buFont typeface="Wingdings" panose="05000000000000000000" pitchFamily="2" charset="2"/>
              <a:buChar char="l"/>
            </a:pPr>
            <a:r>
              <a:rPr lang="zh-CN" altLang="zh-CN" sz="2000">
                <a:solidFill>
                  <a:srgbClr val="595959"/>
                </a:solidFill>
                <a:latin typeface="微软雅黑" panose="020B0503020204020204" pitchFamily="34" charset="-122"/>
                <a:ea typeface="微软雅黑" panose="020B0503020204020204" pitchFamily="34" charset="-122"/>
                <a:cs typeface="+mn-ea"/>
              </a:rPr>
              <a:t>匹配数字</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0</a:t>
            </a:r>
            <a:r>
              <a:rPr lang="zh-CN" altLang="en-US" sz="2000">
                <a:solidFill>
                  <a:srgbClr val="595959"/>
                </a:solidFill>
                <a:latin typeface="微软雅黑" panose="020B0503020204020204" pitchFamily="34" charset="-122"/>
                <a:ea typeface="微软雅黑" panose="020B0503020204020204" pitchFamily="34" charset="-122"/>
                <a:cs typeface="+mn-ea"/>
              </a:rPr>
              <a:t>代表随机）</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选择提取结果</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0</a:t>
            </a:r>
            <a:r>
              <a:rPr lang="zh-CN" altLang="zh-CN" sz="2000" dirty="0">
                <a:solidFill>
                  <a:srgbClr val="595959"/>
                </a:solidFill>
                <a:latin typeface="微软雅黑" panose="020B0503020204020204" pitchFamily="34" charset="-122"/>
                <a:ea typeface="微软雅黑" panose="020B0503020204020204" pitchFamily="34" charset="-122"/>
                <a:cs typeface="+mn-ea"/>
              </a:rPr>
              <a:t>表示随机取值，</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表示取全部值，其他正整数</a:t>
            </a:r>
            <a:r>
              <a:rPr lang="en-US" altLang="zh-CN" sz="2000" dirty="0">
                <a:solidFill>
                  <a:srgbClr val="595959"/>
                </a:solidFill>
                <a:latin typeface="微软雅黑" panose="020B0503020204020204" pitchFamily="34" charset="-122"/>
                <a:ea typeface="微软雅黑" panose="020B0503020204020204" pitchFamily="34" charset="-122"/>
                <a:cs typeface="+mn-ea"/>
              </a:rPr>
              <a:t>n</a:t>
            </a:r>
            <a:r>
              <a:rPr lang="zh-CN" altLang="zh-CN" sz="2000" dirty="0">
                <a:solidFill>
                  <a:srgbClr val="595959"/>
                </a:solidFill>
                <a:latin typeface="微软雅黑" panose="020B0503020204020204" pitchFamily="34" charset="-122"/>
                <a:ea typeface="微软雅黑" panose="020B0503020204020204" pitchFamily="34" charset="-122"/>
                <a:cs typeface="+mn-ea"/>
              </a:rPr>
              <a:t>表示取第</a:t>
            </a:r>
            <a:r>
              <a:rPr lang="en-US" altLang="zh-CN" sz="2000" dirty="0">
                <a:solidFill>
                  <a:srgbClr val="595959"/>
                </a:solidFill>
                <a:latin typeface="微软雅黑" panose="020B0503020204020204" pitchFamily="34" charset="-122"/>
                <a:ea typeface="微软雅黑" panose="020B0503020204020204" pitchFamily="34" charset="-122"/>
                <a:cs typeface="+mn-ea"/>
              </a:rPr>
              <a:t>n</a:t>
            </a:r>
            <a:r>
              <a:rPr lang="zh-CN" altLang="zh-CN" sz="2000" dirty="0">
                <a:solidFill>
                  <a:srgbClr val="595959"/>
                </a:solidFill>
                <a:latin typeface="微软雅黑" panose="020B0503020204020204" pitchFamily="34" charset="-122"/>
                <a:ea typeface="微软雅黑" panose="020B0503020204020204" pitchFamily="34" charset="-122"/>
                <a:cs typeface="+mn-ea"/>
              </a:rPr>
              <a:t>个值。</a:t>
            </a:r>
          </a:p>
          <a:p>
            <a:pPr marL="34290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缺省值：</a:t>
            </a:r>
            <a:r>
              <a:rPr lang="zh-CN" altLang="zh-CN" sz="2000" dirty="0">
                <a:solidFill>
                  <a:srgbClr val="1369B2"/>
                </a:solidFill>
                <a:latin typeface="微软雅黑" panose="020B0503020204020204" pitchFamily="34" charset="-122"/>
                <a:ea typeface="微软雅黑" panose="020B0503020204020204" pitchFamily="34" charset="-122"/>
              </a:rPr>
              <a:t>默认值</a:t>
            </a:r>
            <a:r>
              <a:rPr lang="zh-CN" altLang="zh-CN" sz="2000" dirty="0">
                <a:solidFill>
                  <a:srgbClr val="595959"/>
                </a:solidFill>
                <a:latin typeface="微软雅黑" panose="020B0503020204020204" pitchFamily="34" charset="-122"/>
                <a:ea typeface="微软雅黑" panose="020B0503020204020204" pitchFamily="34" charset="-122"/>
                <a:cs typeface="+mn-ea"/>
              </a:rPr>
              <a:t>，如果引用名称没有取到值，则使用该默认值。</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879" y="1437339"/>
            <a:ext cx="1016001" cy="1016001"/>
          </a:xfrm>
          <a:prstGeom prst="rect">
            <a:avLst/>
          </a:prstGeom>
        </p:spPr>
      </p:pic>
      <p:sp>
        <p:nvSpPr>
          <p:cNvPr id="6" name="矩形 5"/>
          <p:cNvSpPr/>
          <p:nvPr/>
        </p:nvSpPr>
        <p:spPr>
          <a:xfrm>
            <a:off x="2150623" y="1647316"/>
            <a:ext cx="2040378"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7" name="文本框 25"/>
          <p:cNvSpPr txBox="1"/>
          <p:nvPr/>
        </p:nvSpPr>
        <p:spPr>
          <a:xfrm>
            <a:off x="2150623" y="1797930"/>
            <a:ext cx="2040377" cy="461665"/>
          </a:xfrm>
          <a:prstGeom prst="rect">
            <a:avLst/>
          </a:prstGeom>
          <a:noFill/>
        </p:spPr>
        <p:txBody>
          <a:bodyPr wrap="square" rtlCol="0">
            <a:spAutoFit/>
          </a:bodyPr>
          <a:lstStyle/>
          <a:p>
            <a:pPr algn="dist"/>
            <a:r>
              <a:rPr lang="en-US" altLang="zh-CN" dirty="0">
                <a:solidFill>
                  <a:schemeClr val="bg1"/>
                </a:solidFill>
                <a:latin typeface="微软雅黑" panose="020B0503020204020204" pitchFamily="34" charset="-122"/>
                <a:ea typeface="微软雅黑" panose="020B0503020204020204" pitchFamily="34" charset="-122"/>
              </a:rPr>
              <a:t>XPath</a:t>
            </a:r>
            <a:r>
              <a:rPr lang="zh-CN" altLang="en-US" dirty="0">
                <a:solidFill>
                  <a:schemeClr val="bg1"/>
                </a:solidFill>
                <a:latin typeface="微软雅黑" panose="020B0503020204020204" pitchFamily="34" charset="-122"/>
                <a:ea typeface="微软雅黑" panose="020B0503020204020204" pitchFamily="34" charset="-122"/>
              </a:rPr>
              <a:t>语法</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4287216" y="1662705"/>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474945" y="1662705"/>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3" name="矩形 2"/>
          <p:cNvSpPr/>
          <p:nvPr/>
        </p:nvSpPr>
        <p:spPr>
          <a:xfrm>
            <a:off x="1049094" y="3188000"/>
            <a:ext cx="10124385" cy="1477328"/>
          </a:xfrm>
          <a:prstGeom prst="rect">
            <a:avLst/>
          </a:prstGeom>
        </p:spPr>
        <p:txBody>
          <a:bodyPr wrap="square">
            <a:spAutoFit/>
          </a:bodyPr>
          <a:lstStyle/>
          <a:p>
            <a:pPr>
              <a:lnSpc>
                <a:spcPct val="150000"/>
              </a:lnSpc>
            </a:pPr>
            <a:r>
              <a:rPr lang="en-US" altLang="zh-CN" sz="2000">
                <a:solidFill>
                  <a:srgbClr val="1369B2"/>
                </a:solidFill>
                <a:latin typeface="微软雅黑" panose="020B0503020204020204" pitchFamily="34" charset="-122"/>
                <a:ea typeface="微软雅黑" panose="020B0503020204020204" pitchFamily="34" charset="-122"/>
              </a:rPr>
              <a:t>XPath</a:t>
            </a:r>
            <a:r>
              <a:rPr lang="zh-CN" altLang="en-US" sz="2000">
                <a:solidFill>
                  <a:srgbClr val="1369B2"/>
                </a:solidFill>
                <a:latin typeface="微软雅黑" panose="020B0503020204020204" pitchFamily="34" charset="-122"/>
                <a:ea typeface="微软雅黑" panose="020B0503020204020204" pitchFamily="34" charset="-122"/>
              </a:rPr>
              <a:t>语言</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XML Path Language</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XML</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路径语言）</a:t>
            </a:r>
            <a:r>
              <a:rPr lang="zh-CN" altLang="zh-CN" sz="2000" dirty="0">
                <a:solidFill>
                  <a:srgbClr val="1369B2"/>
                </a:solidFill>
                <a:latin typeface="微软雅黑" panose="020B0503020204020204" pitchFamily="34" charset="-122"/>
                <a:ea typeface="微软雅黑" panose="020B0503020204020204" pitchFamily="34" charset="-122"/>
              </a:rPr>
              <a:t>是一种用来确定</a:t>
            </a:r>
            <a:r>
              <a:rPr lang="en-US" altLang="zh-CN" sz="2000" dirty="0">
                <a:solidFill>
                  <a:srgbClr val="1369B2"/>
                </a:solidFill>
                <a:latin typeface="微软雅黑" panose="020B0503020204020204" pitchFamily="34" charset="-122"/>
                <a:ea typeface="微软雅黑" panose="020B0503020204020204" pitchFamily="34" charset="-122"/>
              </a:rPr>
              <a:t>XML</a:t>
            </a:r>
            <a:r>
              <a:rPr lang="zh-CN" altLang="zh-CN" sz="2000" dirty="0">
                <a:solidFill>
                  <a:srgbClr val="1369B2"/>
                </a:solidFill>
                <a:latin typeface="微软雅黑" panose="020B0503020204020204" pitchFamily="34" charset="-122"/>
                <a:ea typeface="微软雅黑" panose="020B0503020204020204" pitchFamily="34" charset="-122"/>
              </a:rPr>
              <a:t>文档中某部分位置的语言</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XPath</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提供了一套语法规则，可以帮助用户快速选取</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XML/HTML</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文档中的目标节点。</a:t>
            </a:r>
          </a:p>
        </p:txBody>
      </p:sp>
      <p:sp>
        <p:nvSpPr>
          <p:cNvPr id="11" name="矩形 10"/>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258784" y="1985801"/>
            <a:ext cx="10200904" cy="1015663"/>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选取节点是最基础的操作</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，节点所在的路径既可以是</a:t>
            </a:r>
            <a:r>
              <a:rPr lang="zh-CN" altLang="zh-CN" sz="2000" dirty="0">
                <a:solidFill>
                  <a:srgbClr val="1369B2"/>
                </a:solidFill>
                <a:latin typeface="微软雅黑" panose="020B0503020204020204" pitchFamily="34" charset="-122"/>
                <a:ea typeface="微软雅黑" panose="020B0503020204020204" pitchFamily="34" charset="-122"/>
              </a:rPr>
              <a:t>从根节点开始</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也可以</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是</a:t>
            </a:r>
            <a:r>
              <a:rPr lang="zh-CN" altLang="zh-CN" sz="2000">
                <a:solidFill>
                  <a:srgbClr val="1369B2"/>
                </a:solidFill>
                <a:latin typeface="微软雅黑" panose="020B0503020204020204" pitchFamily="34" charset="-122"/>
                <a:ea typeface="微软雅黑" panose="020B0503020204020204" pitchFamily="34" charset="-122"/>
              </a:rPr>
              <a:t>从</a:t>
            </a:r>
            <a:r>
              <a:rPr lang="zh-CN" altLang="zh-CN" sz="2000" dirty="0">
                <a:solidFill>
                  <a:srgbClr val="1369B2"/>
                </a:solidFill>
                <a:latin typeface="微软雅黑" panose="020B0503020204020204" pitchFamily="34" charset="-122"/>
                <a:ea typeface="微软雅黑" panose="020B0503020204020204" pitchFamily="34" charset="-122"/>
              </a:rPr>
              <a:t>任意位置开始</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选取</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节点的</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方法如下表所示。</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982980" y="1585691"/>
            <a:ext cx="1882247" cy="400110"/>
          </a:xfrm>
          <a:prstGeom prst="rect">
            <a:avLst/>
          </a:prstGeom>
        </p:spPr>
        <p:txBody>
          <a:bodyPr wrap="none">
            <a:spAutoFit/>
          </a:bodyPr>
          <a:lstStyle/>
          <a:p>
            <a:pPr algn="ctr"/>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mn-ea"/>
              </a:rPr>
              <a:t>1</a:t>
            </a:r>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mn-ea"/>
              </a:rPr>
              <a:t>）选取</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rPr>
              <a:t>节点</a:t>
            </a:r>
          </a:p>
        </p:txBody>
      </p:sp>
      <p:sp>
        <p:nvSpPr>
          <p:cNvPr id="7" name="矩形 6"/>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graphicFrame>
        <p:nvGraphicFramePr>
          <p:cNvPr id="8" name="表格 7"/>
          <p:cNvGraphicFramePr/>
          <p:nvPr>
            <p:custDataLst>
              <p:tags r:id="rId1"/>
            </p:custDataLst>
          </p:nvPr>
        </p:nvGraphicFramePr>
        <p:xfrm>
          <a:off x="1502761" y="3202698"/>
          <a:ext cx="9029969" cy="3221192"/>
        </p:xfrm>
        <a:graphic>
          <a:graphicData uri="http://schemas.openxmlformats.org/drawingml/2006/table">
            <a:tbl>
              <a:tblPr firstRow="1" bandRow="1">
                <a:tableStyleId>{5C22544A-7EE6-4342-B048-85BDC9FD1C3A}</a:tableStyleId>
              </a:tblPr>
              <a:tblGrid>
                <a:gridCol w="4425073">
                  <a:extLst>
                    <a:ext uri="{9D8B030D-6E8A-4147-A177-3AD203B41FA5}">
                      <a16:colId xmlns:a16="http://schemas.microsoft.com/office/drawing/2014/main" val="20000"/>
                    </a:ext>
                  </a:extLst>
                </a:gridCol>
                <a:gridCol w="4604896">
                  <a:extLst>
                    <a:ext uri="{9D8B030D-6E8A-4147-A177-3AD203B41FA5}">
                      <a16:colId xmlns:a16="http://schemas.microsoft.com/office/drawing/2014/main" val="20001"/>
                    </a:ext>
                  </a:extLst>
                </a:gridCol>
              </a:tblGrid>
              <a:tr h="474424">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表达式</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05994">
                <a:tc>
                  <a:txBody>
                    <a:bodyPr/>
                    <a:lstStyle/>
                    <a:p>
                      <a:pPr marL="0" algn="ctr" defTabSz="1219200" rtl="0" eaLnBrk="1" latinLnBrk="0" hangingPunct="1">
                        <a:lnSpc>
                          <a:spcPct val="115000"/>
                        </a:lnSpc>
                        <a:spcAft>
                          <a:spcPts val="0"/>
                        </a:spcAft>
                      </a:pPr>
                      <a:r>
                        <a:rPr lang="zh-CN" altLang="en-US"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节点名称</a:t>
                      </a:r>
                      <a:endPar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选取此节点的所有子节点</a:t>
                      </a:r>
                    </a:p>
                  </a:txBody>
                  <a:tcPr anchor="ctr"/>
                </a:tc>
                <a:extLst>
                  <a:ext uri="{0D108BD9-81ED-4DB2-BD59-A6C34878D82A}">
                    <a16:rowId xmlns:a16="http://schemas.microsoft.com/office/drawing/2014/main" val="10001"/>
                  </a:ext>
                </a:extLst>
              </a:tr>
              <a:tr h="431340">
                <a:tc>
                  <a:txBody>
                    <a:bodyPr/>
                    <a:lstStyle/>
                    <a:p>
                      <a:pPr marL="0" algn="ctr" defTabSz="1219200" rtl="0" eaLnBrk="1" latinLnBrk="0" hangingPunct="1">
                        <a:lnSpc>
                          <a:spcPct val="115000"/>
                        </a:lnSpc>
                        <a:spcAft>
                          <a:spcPts val="0"/>
                        </a:spcAft>
                      </a:pPr>
                      <a:r>
                        <a:rPr lang="en-US"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从根节点选取直接子节点，相当于绝对路径</a:t>
                      </a:r>
                    </a:p>
                  </a:txBody>
                  <a:tcPr anchor="ctr"/>
                </a:tc>
                <a:extLst>
                  <a:ext uri="{0D108BD9-81ED-4DB2-BD59-A6C34878D82A}">
                    <a16:rowId xmlns:a16="http://schemas.microsoft.com/office/drawing/2014/main" val="10002"/>
                  </a:ext>
                </a:extLst>
              </a:tr>
              <a:tr h="437214">
                <a:tc>
                  <a:txBody>
                    <a:bodyPr/>
                    <a:lstStyle/>
                    <a:p>
                      <a:pPr marL="0" algn="ctr" defTabSz="1219200" rtl="0" eaLnBrk="1" latinLnBrk="0" hangingPunct="1">
                        <a:lnSpc>
                          <a:spcPct val="115000"/>
                        </a:lnSpc>
                        <a:spcAft>
                          <a:spcPts val="0"/>
                        </a:spcAft>
                      </a:pPr>
                      <a:r>
                        <a:rPr lang="en-US"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从当前</a:t>
                      </a:r>
                      <a:r>
                        <a:rPr lang="zh-CN"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节点选取</a:t>
                      </a:r>
                      <a:r>
                        <a:rPr lang="zh-CN" altLang="en-US"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子孙</a:t>
                      </a:r>
                      <a:r>
                        <a:rPr lang="zh-CN" altLang="zh-CN" sz="1800" kern="1200">
                          <a:solidFill>
                            <a:schemeClr val="tx1">
                              <a:lumMod val="65000"/>
                              <a:lumOff val="35000"/>
                            </a:schemeClr>
                          </a:solidFill>
                          <a:latin typeface="微软雅黑" panose="020B0503020204020204" pitchFamily="34" charset="-122"/>
                          <a:ea typeface="微软雅黑" panose="020B0503020204020204" pitchFamily="34" charset="-122"/>
                          <a:cs typeface="+mn-ea"/>
                        </a:rPr>
                        <a:t>节点</a:t>
                      </a:r>
                      <a:r>
                        <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，相当于相对路径</a:t>
                      </a:r>
                    </a:p>
                  </a:txBody>
                  <a:tcPr anchor="ctr"/>
                </a:tc>
                <a:extLst>
                  <a:ext uri="{0D108BD9-81ED-4DB2-BD59-A6C34878D82A}">
                    <a16:rowId xmlns:a16="http://schemas.microsoft.com/office/drawing/2014/main" val="10003"/>
                  </a:ext>
                </a:extLst>
              </a:tr>
              <a:tr h="497792">
                <a:tc>
                  <a:txBody>
                    <a:bodyPr/>
                    <a:lstStyle/>
                    <a:p>
                      <a:pPr marL="0" algn="ctr" defTabSz="1219200" rtl="0" eaLnBrk="1" latinLnBrk="0" hangingPunct="1">
                        <a:lnSpc>
                          <a:spcPct val="115000"/>
                        </a:lnSpc>
                        <a:spcAft>
                          <a:spcPts val="0"/>
                        </a:spcAft>
                      </a:pPr>
                      <a:r>
                        <a:rPr lang="en-US"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选取当前节点</a:t>
                      </a:r>
                    </a:p>
                  </a:txBody>
                  <a:tcPr anchor="ctr"/>
                </a:tc>
                <a:extLst>
                  <a:ext uri="{0D108BD9-81ED-4DB2-BD59-A6C34878D82A}">
                    <a16:rowId xmlns:a16="http://schemas.microsoft.com/office/drawing/2014/main" val="10004"/>
                  </a:ext>
                </a:extLst>
              </a:tr>
              <a:tr h="437214">
                <a:tc>
                  <a:txBody>
                    <a:bodyPr/>
                    <a:lstStyle/>
                    <a:p>
                      <a:pPr marL="0" algn="ctr" defTabSz="1219200" rtl="0" eaLnBrk="1" latinLnBrk="0" hangingPunct="1">
                        <a:lnSpc>
                          <a:spcPct val="115000"/>
                        </a:lnSpc>
                        <a:spcAft>
                          <a:spcPts val="0"/>
                        </a:spcAft>
                      </a:pPr>
                      <a:r>
                        <a:rPr lang="en-US"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选取当前节点的父节点</a:t>
                      </a:r>
                    </a:p>
                  </a:txBody>
                  <a:tcPr anchor="ctr"/>
                </a:tc>
                <a:extLst>
                  <a:ext uri="{0D108BD9-81ED-4DB2-BD59-A6C34878D82A}">
                    <a16:rowId xmlns:a16="http://schemas.microsoft.com/office/drawing/2014/main" val="10005"/>
                  </a:ext>
                </a:extLst>
              </a:tr>
              <a:tr h="437214">
                <a:tc>
                  <a:txBody>
                    <a:bodyPr/>
                    <a:lstStyle/>
                    <a:p>
                      <a:pPr marL="0" algn="ctr" defTabSz="1219200" rtl="0" eaLnBrk="1" latinLnBrk="0" hangingPunct="1">
                        <a:lnSpc>
                          <a:spcPct val="115000"/>
                        </a:lnSpc>
                        <a:spcAft>
                          <a:spcPts val="0"/>
                        </a:spcAft>
                      </a:pPr>
                      <a:r>
                        <a:rPr lang="en-US"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18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选取属性节点</a:t>
                      </a:r>
                    </a:p>
                  </a:txBody>
                  <a:tcPr anchor="ct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1" y="2096896"/>
            <a:ext cx="9901754" cy="1477328"/>
          </a:xfrm>
          <a:prstGeom prst="rect">
            <a:avLst/>
          </a:prstGeom>
        </p:spPr>
        <p:txBody>
          <a:bodyPr wrap="square">
            <a:spAutoFit/>
          </a:bodyPr>
          <a:lstStyle/>
          <a:p>
            <a:pPr>
              <a:lnSpc>
                <a:spcPct val="150000"/>
              </a:lnSpc>
            </a:pPr>
            <a:r>
              <a:rPr lang="zh-CN" altLang="zh-CN" sz="2000">
                <a:solidFill>
                  <a:srgbClr val="1369B2"/>
                </a:solidFill>
                <a:latin typeface="微软雅黑" panose="020B0503020204020204" pitchFamily="34" charset="-122"/>
                <a:ea typeface="微软雅黑" panose="020B0503020204020204" pitchFamily="34" charset="-122"/>
              </a:rPr>
              <a:t>谓语是</a:t>
            </a:r>
            <a:r>
              <a:rPr lang="zh-CN" altLang="en-US" sz="2000">
                <a:solidFill>
                  <a:srgbClr val="1369B2"/>
                </a:solidFill>
                <a:latin typeface="微软雅黑" panose="020B0503020204020204" pitchFamily="34" charset="-122"/>
                <a:ea typeface="微软雅黑" panose="020B0503020204020204" pitchFamily="34" charset="-122"/>
              </a:rPr>
              <a:t>选取</a:t>
            </a:r>
            <a:r>
              <a:rPr lang="zh-CN" altLang="zh-CN" sz="2000">
                <a:solidFill>
                  <a:srgbClr val="1369B2"/>
                </a:solidFill>
                <a:latin typeface="微软雅黑" panose="020B0503020204020204" pitchFamily="34" charset="-122"/>
                <a:ea typeface="微软雅黑" panose="020B0503020204020204" pitchFamily="34" charset="-122"/>
              </a:rPr>
              <a:t>节点时</a:t>
            </a:r>
            <a:r>
              <a:rPr lang="zh-CN" altLang="zh-CN" sz="2000" dirty="0">
                <a:solidFill>
                  <a:srgbClr val="1369B2"/>
                </a:solidFill>
                <a:latin typeface="微软雅黑" panose="020B0503020204020204" pitchFamily="34" charset="-122"/>
                <a:ea typeface="微软雅黑" panose="020B0503020204020204" pitchFamily="34" charset="-122"/>
              </a:rPr>
              <a:t>的附加条件</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，主要</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用于</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对</a:t>
            </a:r>
            <a:r>
              <a:rPr lang="zh-CN" altLang="zh-CN" sz="2000" dirty="0">
                <a:solidFill>
                  <a:srgbClr val="1369B2"/>
                </a:solidFill>
                <a:latin typeface="微软雅黑" panose="020B0503020204020204" pitchFamily="34" charset="-122"/>
                <a:ea typeface="微软雅黑" panose="020B0503020204020204" pitchFamily="34" charset="-122"/>
              </a:rPr>
              <a:t>节点集</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进行筛选，选取出某个特定的节点，</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或者包含</a:t>
            </a:r>
            <a:r>
              <a:rPr lang="zh-CN" altLang="zh-CN" sz="2000">
                <a:solidFill>
                  <a:srgbClr val="1369B2"/>
                </a:solidFill>
                <a:latin typeface="微软雅黑" panose="020B0503020204020204" pitchFamily="34" charset="-122"/>
                <a:ea typeface="微软雅黑" panose="020B0503020204020204" pitchFamily="34" charset="-122"/>
              </a:rPr>
              <a:t>指定</a:t>
            </a:r>
            <a:r>
              <a:rPr lang="zh-CN" altLang="zh-CN" sz="2000" dirty="0">
                <a:solidFill>
                  <a:srgbClr val="1369B2"/>
                </a:solidFill>
                <a:latin typeface="微软雅黑" panose="020B0503020204020204" pitchFamily="34" charset="-122"/>
                <a:ea typeface="微软雅黑" panose="020B0503020204020204" pitchFamily="34" charset="-122"/>
              </a:rPr>
              <a:t>属性</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rPr>
              <a:t>基本值</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的节点。谓语会嵌入到</a:t>
            </a:r>
            <a:r>
              <a:rPr lang="zh-CN" altLang="zh-CN" sz="2000" dirty="0">
                <a:solidFill>
                  <a:srgbClr val="1369B2"/>
                </a:solidFill>
                <a:latin typeface="微软雅黑" panose="020B0503020204020204" pitchFamily="34" charset="-122"/>
                <a:ea typeface="微软雅黑" panose="020B0503020204020204" pitchFamily="34" charset="-122"/>
              </a:rPr>
              <a:t>中括号</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中，并位于要补充说明的节点后面。带谓语的路径表达式的基本格式如下</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11" name="文本框 5"/>
          <p:cNvSpPr txBox="1"/>
          <p:nvPr/>
        </p:nvSpPr>
        <p:spPr>
          <a:xfrm>
            <a:off x="1220878" y="3790948"/>
            <a:ext cx="9704987" cy="400110"/>
          </a:xfrm>
          <a:prstGeom prst="rect">
            <a:avLst/>
          </a:prstGeom>
          <a:solidFill>
            <a:srgbClr val="F2F2F2"/>
          </a:solidFill>
        </p:spPr>
        <p:txBody>
          <a:bodyPr wrap="square" rtlCol="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     </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节点</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谓语</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2" name="矩形 1"/>
          <p:cNvSpPr/>
          <p:nvPr/>
        </p:nvSpPr>
        <p:spPr>
          <a:xfrm>
            <a:off x="1101298" y="4439156"/>
            <a:ext cx="9944146" cy="1938992"/>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中括号中的谓语可以是</a:t>
            </a:r>
            <a:r>
              <a:rPr lang="zh-CN" altLang="zh-CN" sz="2000" dirty="0">
                <a:solidFill>
                  <a:srgbClr val="1369B2"/>
                </a:solidFill>
                <a:latin typeface="微软雅黑" panose="020B0503020204020204" pitchFamily="34" charset="-122"/>
                <a:ea typeface="微软雅黑" panose="020B0503020204020204" pitchFamily="34" charset="-122"/>
              </a:rPr>
              <a:t>整数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属性</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函数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，也可以是</a:t>
            </a:r>
            <a:r>
              <a:rPr lang="zh-CN" altLang="zh-CN" sz="2000" dirty="0">
                <a:solidFill>
                  <a:srgbClr val="1369B2"/>
                </a:solidFill>
                <a:latin typeface="微软雅黑" panose="020B0503020204020204" pitchFamily="34" charset="-122"/>
                <a:ea typeface="微软雅黑" panose="020B0503020204020204" pitchFamily="34" charset="-122"/>
              </a:rPr>
              <a:t>整数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属性</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函数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与</a:t>
            </a:r>
            <a:r>
              <a:rPr lang="zh-CN" altLang="zh-CN" sz="2000" dirty="0">
                <a:solidFill>
                  <a:srgbClr val="1369B2"/>
                </a:solidFill>
                <a:latin typeface="微软雅黑" panose="020B0503020204020204" pitchFamily="34" charset="-122"/>
                <a:ea typeface="微软雅黑" panose="020B0503020204020204" pitchFamily="34" charset="-122"/>
              </a:rPr>
              <a:t>运算符</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组合的</a:t>
            </a:r>
            <a:r>
              <a:rPr lang="zh-CN" altLang="zh-CN" sz="2000" dirty="0">
                <a:solidFill>
                  <a:srgbClr val="1369B2"/>
                </a:solidFill>
                <a:latin typeface="微软雅黑" panose="020B0503020204020204" pitchFamily="34" charset="-122"/>
                <a:ea typeface="微软雅黑" panose="020B0503020204020204" pitchFamily="34" charset="-122"/>
              </a:rPr>
              <a:t>表达式</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。若为</a:t>
            </a:r>
            <a:r>
              <a:rPr lang="zh-CN" altLang="zh-CN" sz="2000" dirty="0">
                <a:solidFill>
                  <a:srgbClr val="1369B2"/>
                </a:solidFill>
                <a:latin typeface="微软雅黑" panose="020B0503020204020204" pitchFamily="34" charset="-122"/>
                <a:ea typeface="微软雅黑" panose="020B0503020204020204" pitchFamily="34" charset="-122"/>
              </a:rPr>
              <a:t>整数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（从1开始），则这个数值将作为</a:t>
            </a:r>
            <a:r>
              <a:rPr lang="zh-CN" altLang="zh-CN" sz="2000" dirty="0">
                <a:solidFill>
                  <a:srgbClr val="1369B2"/>
                </a:solidFill>
                <a:latin typeface="微软雅黑" panose="020B0503020204020204" pitchFamily="34" charset="-122"/>
                <a:ea typeface="微软雅黑" panose="020B0503020204020204" pitchFamily="34" charset="-122"/>
              </a:rPr>
              <a:t>位置</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，用于从</a:t>
            </a:r>
            <a:r>
              <a:rPr lang="zh-CN" altLang="zh-CN" sz="2000" dirty="0">
                <a:solidFill>
                  <a:srgbClr val="1369B2"/>
                </a:solidFill>
                <a:latin typeface="微软雅黑" panose="020B0503020204020204" pitchFamily="34" charset="-122"/>
                <a:ea typeface="微软雅黑" panose="020B0503020204020204" pitchFamily="34" charset="-122"/>
              </a:rPr>
              <a:t>节点集</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中选取</a:t>
            </a:r>
            <a:r>
              <a:rPr lang="zh-CN" altLang="zh-CN" sz="2000" dirty="0">
                <a:solidFill>
                  <a:srgbClr val="1369B2"/>
                </a:solidFill>
                <a:latin typeface="微软雅黑" panose="020B0503020204020204" pitchFamily="34" charset="-122"/>
                <a:ea typeface="微软雅黑" panose="020B0503020204020204" pitchFamily="34" charset="-122"/>
              </a:rPr>
              <a:t>与该位置对应的节点</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；若为</a:t>
            </a:r>
            <a:r>
              <a:rPr lang="zh-CN" altLang="zh-CN" sz="2000" dirty="0">
                <a:solidFill>
                  <a:srgbClr val="1369B2"/>
                </a:solidFill>
                <a:latin typeface="微软雅黑" panose="020B0503020204020204" pitchFamily="34" charset="-122"/>
                <a:ea typeface="微软雅黑" panose="020B0503020204020204" pitchFamily="34" charset="-122"/>
              </a:rPr>
              <a:t>属性</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，则会从</a:t>
            </a:r>
            <a:r>
              <a:rPr lang="zh-CN" altLang="zh-CN" sz="2000" dirty="0">
                <a:solidFill>
                  <a:srgbClr val="1369B2"/>
                </a:solidFill>
                <a:latin typeface="微软雅黑" panose="020B0503020204020204" pitchFamily="34" charset="-122"/>
                <a:ea typeface="微软雅黑" panose="020B0503020204020204" pitchFamily="34" charset="-122"/>
              </a:rPr>
              <a:t>节点集</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中选取</a:t>
            </a:r>
            <a:r>
              <a:rPr lang="zh-CN" altLang="zh-CN" sz="2000" dirty="0">
                <a:solidFill>
                  <a:srgbClr val="1369B2"/>
                </a:solidFill>
                <a:latin typeface="微软雅黑" panose="020B0503020204020204" pitchFamily="34" charset="-122"/>
                <a:ea typeface="微软雅黑" panose="020B0503020204020204" pitchFamily="34" charset="-122"/>
              </a:rPr>
              <a:t>包含该属性的节点</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；若为</a:t>
            </a:r>
            <a:r>
              <a:rPr lang="zh-CN" altLang="zh-CN" sz="2000" dirty="0">
                <a:solidFill>
                  <a:srgbClr val="1369B2"/>
                </a:solidFill>
                <a:latin typeface="微软雅黑" panose="020B0503020204020204" pitchFamily="34" charset="-122"/>
                <a:ea typeface="微软雅黑" panose="020B0503020204020204" pitchFamily="34" charset="-122"/>
              </a:rPr>
              <a:t>函数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，则会将该</a:t>
            </a:r>
            <a:r>
              <a:rPr lang="zh-CN" altLang="zh-CN" sz="2000" dirty="0">
                <a:solidFill>
                  <a:srgbClr val="1369B2"/>
                </a:solidFill>
                <a:latin typeface="微软雅黑" panose="020B0503020204020204" pitchFamily="34" charset="-122"/>
                <a:ea typeface="微软雅黑" panose="020B0503020204020204" pitchFamily="34" charset="-122"/>
              </a:rPr>
              <a:t>函数的返回值</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作为条件，从</a:t>
            </a:r>
            <a:r>
              <a:rPr lang="zh-CN" altLang="zh-CN" sz="2000" dirty="0">
                <a:solidFill>
                  <a:srgbClr val="1369B2"/>
                </a:solidFill>
                <a:latin typeface="微软雅黑" panose="020B0503020204020204" pitchFamily="34" charset="-122"/>
                <a:ea typeface="微软雅黑" panose="020B0503020204020204" pitchFamily="34" charset="-122"/>
              </a:rPr>
              <a:t>节点集</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中选取</a:t>
            </a:r>
            <a:r>
              <a:rPr lang="zh-CN" altLang="zh-CN" sz="2000" dirty="0">
                <a:solidFill>
                  <a:srgbClr val="1369B2"/>
                </a:solidFill>
                <a:latin typeface="微软雅黑" panose="020B0503020204020204" pitchFamily="34" charset="-122"/>
                <a:ea typeface="微软雅黑" panose="020B0503020204020204" pitchFamily="34" charset="-122"/>
              </a:rPr>
              <a:t>满足条件的节点</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4" name="矩形 3"/>
          <p:cNvSpPr/>
          <p:nvPr/>
        </p:nvSpPr>
        <p:spPr>
          <a:xfrm>
            <a:off x="982980" y="1492332"/>
            <a:ext cx="1369286" cy="400110"/>
          </a:xfrm>
          <a:prstGeom prst="rect">
            <a:avLst/>
          </a:prstGeom>
        </p:spPr>
        <p:txBody>
          <a:bodyPr wrap="none">
            <a:spAutoFit/>
          </a:bodyPr>
          <a:lstStyle/>
          <a:p>
            <a:pPr algn="ctr"/>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en-US" altLang="zh-CN" sz="2000" b="1">
                <a:solidFill>
                  <a:schemeClr val="tx1">
                    <a:lumMod val="65000"/>
                    <a:lumOff val="35000"/>
                  </a:schemeClr>
                </a:solidFill>
                <a:latin typeface="微软雅黑" panose="020B0503020204020204" pitchFamily="34" charset="-122"/>
                <a:ea typeface="微软雅黑" panose="020B0503020204020204" pitchFamily="34" charset="-122"/>
                <a:cs typeface="+mn-ea"/>
              </a:rPr>
              <a:t>2</a:t>
            </a:r>
            <a:r>
              <a:rPr lang="zh-CN" altLang="en-US" sz="2000" b="1">
                <a:solidFill>
                  <a:schemeClr val="tx1">
                    <a:lumMod val="65000"/>
                    <a:lumOff val="35000"/>
                  </a:schemeClr>
                </a:solidFill>
                <a:latin typeface="微软雅黑" panose="020B0503020204020204" pitchFamily="34" charset="-122"/>
                <a:ea typeface="微软雅黑" panose="020B0503020204020204" pitchFamily="34" charset="-122"/>
                <a:cs typeface="+mn-ea"/>
              </a:rPr>
              <a:t>）谓语</a:t>
            </a:r>
            <a:endPar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9" name="矩形 8"/>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后置处理器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3211173" y="838200"/>
            <a:ext cx="4121749" cy="553998"/>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常用的</a:t>
            </a:r>
            <a:r>
              <a:rPr lang="en-US" altLang="zh-CN" sz="2000" dirty="0">
                <a:solidFill>
                  <a:srgbClr val="1369B2"/>
                </a:solidFill>
                <a:latin typeface="微软雅黑" panose="020B0503020204020204" pitchFamily="34" charset="-122"/>
                <a:ea typeface="微软雅黑" panose="020B0503020204020204" pitchFamily="34" charset="-122"/>
              </a:rPr>
              <a:t>XPath</a:t>
            </a:r>
            <a:r>
              <a:rPr lang="zh-CN" altLang="zh-CN" sz="2000" dirty="0">
                <a:solidFill>
                  <a:srgbClr val="1369B2"/>
                </a:solidFill>
                <a:latin typeface="微软雅黑" panose="020B0503020204020204" pitchFamily="34" charset="-122"/>
                <a:ea typeface="微软雅黑" panose="020B0503020204020204" pitchFamily="34" charset="-122"/>
              </a:rPr>
              <a:t>函数</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如下表所示。</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p:txBody>
      </p:sp>
      <p:sp>
        <p:nvSpPr>
          <p:cNvPr id="6" name="矩形 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graphicFrame>
        <p:nvGraphicFramePr>
          <p:cNvPr id="7" name="表格 6"/>
          <p:cNvGraphicFramePr/>
          <p:nvPr>
            <p:custDataLst>
              <p:tags r:id="rId1"/>
            </p:custDataLst>
          </p:nvPr>
        </p:nvGraphicFramePr>
        <p:xfrm>
          <a:off x="1602813" y="1631210"/>
          <a:ext cx="9364936" cy="4860922"/>
        </p:xfrm>
        <a:graphic>
          <a:graphicData uri="http://schemas.openxmlformats.org/drawingml/2006/table">
            <a:tbl>
              <a:tblPr firstRow="1" bandRow="1">
                <a:tableStyleId>{5C22544A-7EE6-4342-B048-85BDC9FD1C3A}</a:tableStyleId>
              </a:tblPr>
              <a:tblGrid>
                <a:gridCol w="4425073">
                  <a:extLst>
                    <a:ext uri="{9D8B030D-6E8A-4147-A177-3AD203B41FA5}">
                      <a16:colId xmlns:a16="http://schemas.microsoft.com/office/drawing/2014/main" val="20000"/>
                    </a:ext>
                  </a:extLst>
                </a:gridCol>
                <a:gridCol w="4939863">
                  <a:extLst>
                    <a:ext uri="{9D8B030D-6E8A-4147-A177-3AD203B41FA5}">
                      <a16:colId xmlns:a16="http://schemas.microsoft.com/office/drawing/2014/main" val="20001"/>
                    </a:ext>
                  </a:extLst>
                </a:gridCol>
              </a:tblGrid>
              <a:tr h="474424">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函数</a:t>
                      </a:r>
                    </a:p>
                  </a:txBody>
                  <a:tcPr anchor="ctr"/>
                </a:tc>
                <a:tc>
                  <a:txBody>
                    <a:bodyPr/>
                    <a:lstStyle/>
                    <a:p>
                      <a:pPr algn="ctr">
                        <a:lnSpc>
                          <a:spcPct val="90000"/>
                        </a:lnSpc>
                        <a:buNone/>
                      </a:pPr>
                      <a:r>
                        <a:rPr lang="zh-CN" altLang="en-US" sz="1800" dirty="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505994">
                <a:tc>
                  <a:txBody>
                    <a:bodyPr/>
                    <a:lstStyle/>
                    <a:p>
                      <a:pPr marL="0" algn="ctr" defTabSz="1219200" rtl="0" eaLnBrk="1" latinLnBrk="0" hangingPunct="1">
                        <a:lnSpc>
                          <a:spcPct val="115000"/>
                        </a:lnSpc>
                        <a:spcAft>
                          <a:spcPts val="0"/>
                        </a:spcAft>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position()</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返回当前被处理的节点的位置</a:t>
                      </a:r>
                    </a:p>
                  </a:txBody>
                  <a:tcPr anchor="ctr"/>
                </a:tc>
                <a:extLst>
                  <a:ext uri="{0D108BD9-81ED-4DB2-BD59-A6C34878D82A}">
                    <a16:rowId xmlns:a16="http://schemas.microsoft.com/office/drawing/2014/main" val="10001"/>
                  </a:ext>
                </a:extLst>
              </a:tr>
              <a:tr h="431340">
                <a:tc>
                  <a:txBody>
                    <a:bodyPr/>
                    <a:lstStyle/>
                    <a:p>
                      <a:pPr marL="0" algn="ctr" defTabSz="1219200" rtl="0" eaLnBrk="1" latinLnBrk="0" hangingPunct="1">
                        <a:lnSpc>
                          <a:spcPct val="115000"/>
                        </a:lnSpc>
                        <a:spcAft>
                          <a:spcPts val="0"/>
                        </a:spcAft>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last()</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返回当前节点集中的最后一个节点</a:t>
                      </a:r>
                    </a:p>
                  </a:txBody>
                  <a:tcPr anchor="ctr"/>
                </a:tc>
                <a:extLst>
                  <a:ext uri="{0D108BD9-81ED-4DB2-BD59-A6C34878D82A}">
                    <a16:rowId xmlns:a16="http://schemas.microsoft.com/office/drawing/2014/main" val="10002"/>
                  </a:ext>
                </a:extLst>
              </a:tr>
              <a:tr h="437214">
                <a:tc>
                  <a:txBody>
                    <a:bodyPr/>
                    <a:lstStyle/>
                    <a:p>
                      <a:pPr marL="0" algn="ctr" defTabSz="1219200" rtl="0" eaLnBrk="1" latinLnBrk="0" hangingPunct="1">
                        <a:lnSpc>
                          <a:spcPct val="115000"/>
                        </a:lnSpc>
                        <a:spcAft>
                          <a:spcPts val="0"/>
                        </a:spcAft>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count()</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返回节点的总数目</a:t>
                      </a:r>
                    </a:p>
                  </a:txBody>
                  <a:tcPr anchor="ctr"/>
                </a:tc>
                <a:extLst>
                  <a:ext uri="{0D108BD9-81ED-4DB2-BD59-A6C34878D82A}">
                    <a16:rowId xmlns:a16="http://schemas.microsoft.com/office/drawing/2014/main" val="10003"/>
                  </a:ext>
                </a:extLst>
              </a:tr>
              <a:tr h="497792">
                <a:tc>
                  <a:txBody>
                    <a:bodyPr/>
                    <a:lstStyle/>
                    <a:p>
                      <a:pPr marL="0" algn="ctr" defTabSz="1219200" rtl="0" eaLnBrk="1" latinLnBrk="0" hangingPunct="1">
                        <a:lnSpc>
                          <a:spcPct val="115000"/>
                        </a:lnSpc>
                        <a:spcAft>
                          <a:spcPts val="0"/>
                        </a:spcAft>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max((</a:t>
                      </a:r>
                      <a:r>
                        <a:rPr lang="en-US" altLang="zh-CN" sz="2000" kern="12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arg,arg</a:t>
                      </a: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a:t>
                      </a:r>
                      <a:r>
                        <a:rPr lang="zh-CN" altLang="zh-CN" sz="2000" kern="1200">
                          <a:solidFill>
                            <a:schemeClr val="tx1">
                              <a:lumMod val="65000"/>
                              <a:lumOff val="35000"/>
                            </a:schemeClr>
                          </a:solidFill>
                          <a:latin typeface="微软雅黑" panose="020B0503020204020204" pitchFamily="34" charset="-122"/>
                          <a:ea typeface="微软雅黑" panose="020B0503020204020204" pitchFamily="34" charset="-122"/>
                          <a:cs typeface="+mn-ea"/>
                        </a:rPr>
                        <a:t>大于其</a:t>
                      </a:r>
                      <a:r>
                        <a:rPr lang="zh-CN" altLang="en-US" sz="2000" kern="1200">
                          <a:solidFill>
                            <a:schemeClr val="tx1">
                              <a:lumMod val="65000"/>
                              <a:lumOff val="35000"/>
                            </a:schemeClr>
                          </a:solidFill>
                          <a:latin typeface="微软雅黑" panose="020B0503020204020204" pitchFamily="34" charset="-122"/>
                          <a:ea typeface="微软雅黑" panose="020B0503020204020204" pitchFamily="34" charset="-122"/>
                          <a:cs typeface="+mn-ea"/>
                        </a:rPr>
                        <a:t>他</a:t>
                      </a:r>
                      <a:r>
                        <a:rPr lang="zh-CN" altLang="zh-CN" sz="2000" kern="1200">
                          <a:solidFill>
                            <a:schemeClr val="tx1">
                              <a:lumMod val="65000"/>
                              <a:lumOff val="35000"/>
                            </a:schemeClr>
                          </a:solidFill>
                          <a:latin typeface="微软雅黑" panose="020B0503020204020204" pitchFamily="34" charset="-122"/>
                          <a:ea typeface="微软雅黑" panose="020B0503020204020204" pitchFamily="34" charset="-122"/>
                          <a:cs typeface="+mn-ea"/>
                        </a:rPr>
                        <a:t>参数</a:t>
                      </a: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的参数</a:t>
                      </a:r>
                    </a:p>
                  </a:txBody>
                  <a:tcPr anchor="ctr"/>
                </a:tc>
                <a:extLst>
                  <a:ext uri="{0D108BD9-81ED-4DB2-BD59-A6C34878D82A}">
                    <a16:rowId xmlns:a16="http://schemas.microsoft.com/office/drawing/2014/main" val="10004"/>
                  </a:ext>
                </a:extLst>
              </a:tr>
              <a:tr h="437214">
                <a:tc>
                  <a:txBody>
                    <a:bodyPr/>
                    <a:lstStyle/>
                    <a:p>
                      <a:pPr marL="0" algn="ctr" defTabSz="1219200" rtl="0" eaLnBrk="1" latinLnBrk="0" hangingPunct="1">
                        <a:lnSpc>
                          <a:spcPct val="115000"/>
                        </a:lnSpc>
                        <a:spcAft>
                          <a:spcPts val="0"/>
                        </a:spcAft>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min((</a:t>
                      </a:r>
                      <a:r>
                        <a:rPr lang="en-US" altLang="zh-CN" sz="2000" kern="12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arg,arg</a:t>
                      </a: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a:t>
                      </a:r>
                      <a:r>
                        <a:rPr lang="zh-CN" altLang="zh-CN" sz="2000" kern="1200">
                          <a:solidFill>
                            <a:schemeClr val="tx1">
                              <a:lumMod val="65000"/>
                              <a:lumOff val="35000"/>
                            </a:schemeClr>
                          </a:solidFill>
                          <a:latin typeface="微软雅黑" panose="020B0503020204020204" pitchFamily="34" charset="-122"/>
                          <a:ea typeface="微软雅黑" panose="020B0503020204020204" pitchFamily="34" charset="-122"/>
                          <a:cs typeface="+mn-ea"/>
                        </a:rPr>
                        <a:t>小于其</a:t>
                      </a:r>
                      <a:r>
                        <a:rPr lang="zh-CN" altLang="en-US" sz="2000" kern="1200">
                          <a:solidFill>
                            <a:schemeClr val="tx1">
                              <a:lumMod val="65000"/>
                              <a:lumOff val="35000"/>
                            </a:schemeClr>
                          </a:solidFill>
                          <a:latin typeface="微软雅黑" panose="020B0503020204020204" pitchFamily="34" charset="-122"/>
                          <a:ea typeface="微软雅黑" panose="020B0503020204020204" pitchFamily="34" charset="-122"/>
                          <a:cs typeface="+mn-ea"/>
                        </a:rPr>
                        <a:t>他</a:t>
                      </a:r>
                      <a:r>
                        <a:rPr lang="zh-CN" altLang="zh-CN" sz="2000" kern="1200">
                          <a:solidFill>
                            <a:schemeClr val="tx1">
                              <a:lumMod val="65000"/>
                              <a:lumOff val="35000"/>
                            </a:schemeClr>
                          </a:solidFill>
                          <a:latin typeface="微软雅黑" panose="020B0503020204020204" pitchFamily="34" charset="-122"/>
                          <a:ea typeface="微软雅黑" panose="020B0503020204020204" pitchFamily="34" charset="-122"/>
                          <a:cs typeface="+mn-ea"/>
                        </a:rPr>
                        <a:t>参数</a:t>
                      </a: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的参数</a:t>
                      </a:r>
                    </a:p>
                  </a:txBody>
                  <a:tcPr anchor="ctr"/>
                </a:tc>
                <a:extLst>
                  <a:ext uri="{0D108BD9-81ED-4DB2-BD59-A6C34878D82A}">
                    <a16:rowId xmlns:a16="http://schemas.microsoft.com/office/drawing/2014/main" val="10005"/>
                  </a:ext>
                </a:extLst>
              </a:tr>
              <a:tr h="437214">
                <a:tc>
                  <a:txBody>
                    <a:bodyPr/>
                    <a:lstStyle/>
                    <a:p>
                      <a:pPr marL="0" algn="ctr" defTabSz="1219200" rtl="0" eaLnBrk="1" latinLnBrk="0" hangingPunct="1">
                        <a:lnSpc>
                          <a:spcPct val="115000"/>
                        </a:lnSpc>
                        <a:spcAft>
                          <a:spcPts val="0"/>
                        </a:spcAft>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name()</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algn="l" defTabSz="1219200" rtl="0" eaLnBrk="1" latinLnBrk="0" hangingPunct="1">
                        <a:lnSpc>
                          <a:spcPct val="115000"/>
                        </a:lnSpc>
                        <a:spcAft>
                          <a:spcPts val="0"/>
                        </a:spcAft>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返回当前节点的名称</a:t>
                      </a:r>
                    </a:p>
                  </a:txBody>
                  <a:tcPr anchor="ctr"/>
                </a:tc>
                <a:extLst>
                  <a:ext uri="{0D108BD9-81ED-4DB2-BD59-A6C34878D82A}">
                    <a16:rowId xmlns:a16="http://schemas.microsoft.com/office/drawing/2014/main" val="10006"/>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current-date()</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返回当前的日期（带有时区）</a:t>
                      </a:r>
                    </a:p>
                  </a:txBody>
                  <a:tcPr anchor="ctr"/>
                </a:tc>
                <a:extLst>
                  <a:ext uri="{0D108BD9-81ED-4DB2-BD59-A6C34878D82A}">
                    <a16:rowId xmlns:a16="http://schemas.microsoft.com/office/drawing/2014/main" val="10007"/>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current-time()</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返回当前的时间（带有时区）</a:t>
                      </a:r>
                    </a:p>
                  </a:txBody>
                  <a:tcPr anchor="ctr"/>
                </a:tc>
                <a:extLst>
                  <a:ext uri="{0D108BD9-81ED-4DB2-BD59-A6C34878D82A}">
                    <a16:rowId xmlns:a16="http://schemas.microsoft.com/office/drawing/2014/main" val="10008"/>
                  </a:ext>
                </a:extLst>
              </a:tr>
              <a:tr h="437214">
                <a:tc>
                  <a:txBody>
                    <a:bodyPr/>
                    <a:lstStyle/>
                    <a:p>
                      <a:pPr marL="0" marR="0" indent="0" algn="ctr" defTabSz="1219200" rtl="0" eaLnBrk="1" fontAlgn="auto" latinLnBrk="0" hangingPunct="1">
                        <a:lnSpc>
                          <a:spcPct val="115000"/>
                        </a:lnSpc>
                        <a:spcBef>
                          <a:spcPts val="0"/>
                        </a:spcBef>
                        <a:spcAft>
                          <a:spcPts val="0"/>
                        </a:spcAft>
                        <a:buClrTx/>
                        <a:buSzTx/>
                        <a:buFontTx/>
                        <a:buNone/>
                        <a:defRPr/>
                      </a:pP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contains(string1,string2)</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tc>
                  <a:txBody>
                    <a:bodyPr/>
                    <a:lstStyle/>
                    <a:p>
                      <a:pPr marL="0" marR="0" indent="0" algn="l" defTabSz="1219200" rtl="0" eaLnBrk="1" fontAlgn="auto" latinLnBrk="0" hangingPunct="1">
                        <a:lnSpc>
                          <a:spcPct val="115000"/>
                        </a:lnSpc>
                        <a:spcBef>
                          <a:spcPts val="0"/>
                        </a:spcBef>
                        <a:spcAft>
                          <a:spcPts val="0"/>
                        </a:spcAft>
                        <a:buClrTx/>
                        <a:buSzTx/>
                        <a:buFontTx/>
                        <a:buNone/>
                        <a:defRPr/>
                      </a:pP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若</a:t>
                      </a: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string1</a:t>
                      </a: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包含</a:t>
                      </a: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string2</a:t>
                      </a: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，则返回</a:t>
                      </a: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true</a:t>
                      </a:r>
                      <a:r>
                        <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，否则返回</a:t>
                      </a:r>
                      <a:r>
                        <a:rPr lang="en-US"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rPr>
                        <a:t>false</a:t>
                      </a:r>
                      <a:endParaRPr lang="zh-CN" altLang="zh-CN"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11" name="组合 10"/>
          <p:cNvGrpSpPr/>
          <p:nvPr/>
        </p:nvGrpSpPr>
        <p:grpSpPr>
          <a:xfrm>
            <a:off x="2618507" y="1568016"/>
            <a:ext cx="6963152" cy="1440000"/>
            <a:chOff x="2655457" y="2246012"/>
            <a:chExt cx="6963152" cy="1440000"/>
          </a:xfrm>
        </p:grpSpPr>
        <p:sp>
          <p:nvSpPr>
            <p:cNvPr id="12" name="Rectangle 58"/>
            <p:cNvSpPr>
              <a:spLocks noChangeArrowheads="1"/>
            </p:cNvSpPr>
            <p:nvPr/>
          </p:nvSpPr>
          <p:spPr bwMode="auto">
            <a:xfrm rot="2700000">
              <a:off x="3737952"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Rectangle 58"/>
            <p:cNvSpPr>
              <a:spLocks noChangeArrowheads="1"/>
            </p:cNvSpPr>
            <p:nvPr/>
          </p:nvSpPr>
          <p:spPr bwMode="auto">
            <a:xfrm rot="2700000">
              <a:off x="5376000" y="2246012"/>
              <a:ext cx="1440000" cy="1440000"/>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Rectangle 58"/>
            <p:cNvSpPr>
              <a:spLocks noChangeArrowheads="1"/>
            </p:cNvSpPr>
            <p:nvPr/>
          </p:nvSpPr>
          <p:spPr bwMode="auto">
            <a:xfrm rot="2700000">
              <a:off x="7084003" y="2246012"/>
              <a:ext cx="1440000" cy="1440000"/>
            </a:xfrm>
            <a:prstGeom prst="rect">
              <a:avLst/>
            </a:pr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Freeform 28"/>
            <p:cNvSpPr>
              <a:spLocks noEditPoints="1"/>
            </p:cNvSpPr>
            <p:nvPr/>
          </p:nvSpPr>
          <p:spPr bwMode="auto">
            <a:xfrm>
              <a:off x="5723670" y="2607118"/>
              <a:ext cx="721832" cy="688172"/>
            </a:xfrm>
            <a:custGeom>
              <a:avLst/>
              <a:gdLst>
                <a:gd name="T0" fmla="*/ 188 w 490"/>
                <a:gd name="T1" fmla="*/ 199 h 467"/>
                <a:gd name="T2" fmla="*/ 162 w 490"/>
                <a:gd name="T3" fmla="*/ 123 h 467"/>
                <a:gd name="T4" fmla="*/ 162 w 490"/>
                <a:gd name="T5" fmla="*/ 117 h 467"/>
                <a:gd name="T6" fmla="*/ 329 w 490"/>
                <a:gd name="T7" fmla="*/ 117 h 467"/>
                <a:gd name="T8" fmla="*/ 329 w 490"/>
                <a:gd name="T9" fmla="*/ 123 h 467"/>
                <a:gd name="T10" fmla="*/ 303 w 490"/>
                <a:gd name="T11" fmla="*/ 199 h 467"/>
                <a:gd name="T12" fmla="*/ 391 w 490"/>
                <a:gd name="T13" fmla="*/ 244 h 467"/>
                <a:gd name="T14" fmla="*/ 445 w 490"/>
                <a:gd name="T15" fmla="*/ 172 h 467"/>
                <a:gd name="T16" fmla="*/ 445 w 490"/>
                <a:gd name="T17" fmla="*/ 172 h 467"/>
                <a:gd name="T18" fmla="*/ 407 w 490"/>
                <a:gd name="T19" fmla="*/ 94 h 467"/>
                <a:gd name="T20" fmla="*/ 375 w 490"/>
                <a:gd name="T21" fmla="*/ 93 h 467"/>
                <a:gd name="T22" fmla="*/ 337 w 490"/>
                <a:gd name="T23" fmla="*/ 172 h 467"/>
                <a:gd name="T24" fmla="*/ 337 w 490"/>
                <a:gd name="T25" fmla="*/ 172 h 467"/>
                <a:gd name="T26" fmla="*/ 391 w 490"/>
                <a:gd name="T27" fmla="*/ 244 h 467"/>
                <a:gd name="T28" fmla="*/ 344 w 490"/>
                <a:gd name="T29" fmla="*/ 173 h 467"/>
                <a:gd name="T30" fmla="*/ 349 w 490"/>
                <a:gd name="T31" fmla="*/ 148 h 467"/>
                <a:gd name="T32" fmla="*/ 430 w 490"/>
                <a:gd name="T33" fmla="*/ 134 h 467"/>
                <a:gd name="T34" fmla="*/ 434 w 490"/>
                <a:gd name="T35" fmla="*/ 160 h 467"/>
                <a:gd name="T36" fmla="*/ 422 w 490"/>
                <a:gd name="T37" fmla="*/ 217 h 467"/>
                <a:gd name="T38" fmla="*/ 360 w 490"/>
                <a:gd name="T39" fmla="*/ 217 h 467"/>
                <a:gd name="T40" fmla="*/ 137 w 490"/>
                <a:gd name="T41" fmla="*/ 221 h 467"/>
                <a:gd name="T42" fmla="*/ 154 w 490"/>
                <a:gd name="T43" fmla="*/ 172 h 467"/>
                <a:gd name="T44" fmla="*/ 154 w 490"/>
                <a:gd name="T45" fmla="*/ 168 h 467"/>
                <a:gd name="T46" fmla="*/ 99 w 490"/>
                <a:gd name="T47" fmla="*/ 92 h 467"/>
                <a:gd name="T48" fmla="*/ 46 w 490"/>
                <a:gd name="T49" fmla="*/ 168 h 467"/>
                <a:gd name="T50" fmla="*/ 46 w 490"/>
                <a:gd name="T51" fmla="*/ 172 h 467"/>
                <a:gd name="T52" fmla="*/ 62 w 490"/>
                <a:gd name="T53" fmla="*/ 221 h 467"/>
                <a:gd name="T54" fmla="*/ 68 w 490"/>
                <a:gd name="T55" fmla="*/ 217 h 467"/>
                <a:gd name="T56" fmla="*/ 56 w 490"/>
                <a:gd name="T57" fmla="*/ 160 h 467"/>
                <a:gd name="T58" fmla="*/ 61 w 490"/>
                <a:gd name="T59" fmla="*/ 134 h 467"/>
                <a:gd name="T60" fmla="*/ 142 w 490"/>
                <a:gd name="T61" fmla="*/ 148 h 467"/>
                <a:gd name="T62" fmla="*/ 146 w 490"/>
                <a:gd name="T63" fmla="*/ 173 h 467"/>
                <a:gd name="T64" fmla="*/ 100 w 490"/>
                <a:gd name="T65" fmla="*/ 237 h 467"/>
                <a:gd name="T66" fmla="*/ 262 w 490"/>
                <a:gd name="T67" fmla="*/ 291 h 467"/>
                <a:gd name="T68" fmla="*/ 252 w 490"/>
                <a:gd name="T69" fmla="*/ 313 h 467"/>
                <a:gd name="T70" fmla="*/ 314 w 490"/>
                <a:gd name="T71" fmla="*/ 264 h 467"/>
                <a:gd name="T72" fmla="*/ 402 w 490"/>
                <a:gd name="T73" fmla="*/ 437 h 467"/>
                <a:gd name="T74" fmla="*/ 119 w 490"/>
                <a:gd name="T75" fmla="*/ 467 h 467"/>
                <a:gd name="T76" fmla="*/ 88 w 490"/>
                <a:gd name="T77" fmla="*/ 334 h 467"/>
                <a:gd name="T78" fmla="*/ 231 w 490"/>
                <a:gd name="T79" fmla="*/ 413 h 467"/>
                <a:gd name="T80" fmla="*/ 238 w 490"/>
                <a:gd name="T81" fmla="*/ 308 h 467"/>
                <a:gd name="T82" fmla="*/ 229 w 490"/>
                <a:gd name="T83" fmla="*/ 288 h 467"/>
                <a:gd name="T84" fmla="*/ 259 w 490"/>
                <a:gd name="T85" fmla="*/ 286 h 467"/>
                <a:gd name="T86" fmla="*/ 262 w 490"/>
                <a:gd name="T87" fmla="*/ 291 h 467"/>
                <a:gd name="T88" fmla="*/ 490 w 490"/>
                <a:gd name="T89" fmla="*/ 305 h 467"/>
                <a:gd name="T90" fmla="*/ 412 w 490"/>
                <a:gd name="T91" fmla="*/ 312 h 467"/>
                <a:gd name="T92" fmla="*/ 416 w 490"/>
                <a:gd name="T93" fmla="*/ 388 h 467"/>
                <a:gd name="T94" fmla="*/ 490 w 490"/>
                <a:gd name="T95" fmla="*/ 371 h 467"/>
                <a:gd name="T96" fmla="*/ 16 w 490"/>
                <a:gd name="T97" fmla="*/ 388 h 467"/>
                <a:gd name="T98" fmla="*/ 74 w 490"/>
                <a:gd name="T99" fmla="*/ 334 h 467"/>
                <a:gd name="T100" fmla="*/ 139 w 490"/>
                <a:gd name="T101" fmla="*/ 260 h 467"/>
                <a:gd name="T102" fmla="*/ 0 w 490"/>
                <a:gd name="T103" fmla="*/ 371 h 467"/>
                <a:gd name="T104" fmla="*/ 245 w 490"/>
                <a:gd name="T105" fmla="*/ 223 h 467"/>
                <a:gd name="T106" fmla="*/ 317 w 490"/>
                <a:gd name="T107" fmla="*/ 124 h 467"/>
                <a:gd name="T108" fmla="*/ 310 w 490"/>
                <a:gd name="T109" fmla="*/ 85 h 467"/>
                <a:gd name="T110" fmla="*/ 274 w 490"/>
                <a:gd name="T111" fmla="*/ 61 h 467"/>
                <a:gd name="T112" fmla="*/ 216 w 490"/>
                <a:gd name="T113" fmla="*/ 61 h 467"/>
                <a:gd name="T114" fmla="*/ 185 w 490"/>
                <a:gd name="T115" fmla="*/ 64 h 467"/>
                <a:gd name="T116" fmla="*/ 178 w 490"/>
                <a:gd name="T117" fmla="*/ 105 h 467"/>
                <a:gd name="T118" fmla="*/ 197 w 490"/>
                <a:gd name="T119" fmla="*/ 192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0" h="467">
                  <a:moveTo>
                    <a:pt x="245" y="235"/>
                  </a:moveTo>
                  <a:cubicBezTo>
                    <a:pt x="224" y="235"/>
                    <a:pt x="203" y="220"/>
                    <a:pt x="188" y="199"/>
                  </a:cubicBezTo>
                  <a:cubicBezTo>
                    <a:pt x="172" y="178"/>
                    <a:pt x="162" y="150"/>
                    <a:pt x="162" y="123"/>
                  </a:cubicBezTo>
                  <a:cubicBezTo>
                    <a:pt x="162" y="123"/>
                    <a:pt x="162" y="123"/>
                    <a:pt x="162" y="123"/>
                  </a:cubicBezTo>
                  <a:cubicBezTo>
                    <a:pt x="162" y="122"/>
                    <a:pt x="162" y="122"/>
                    <a:pt x="162" y="122"/>
                  </a:cubicBezTo>
                  <a:cubicBezTo>
                    <a:pt x="162" y="121"/>
                    <a:pt x="162" y="119"/>
                    <a:pt x="162" y="117"/>
                  </a:cubicBezTo>
                  <a:cubicBezTo>
                    <a:pt x="162" y="52"/>
                    <a:pt x="151" y="0"/>
                    <a:pt x="245" y="0"/>
                  </a:cubicBezTo>
                  <a:cubicBezTo>
                    <a:pt x="340" y="0"/>
                    <a:pt x="329" y="52"/>
                    <a:pt x="329" y="117"/>
                  </a:cubicBezTo>
                  <a:cubicBezTo>
                    <a:pt x="329" y="119"/>
                    <a:pt x="329" y="121"/>
                    <a:pt x="329" y="122"/>
                  </a:cubicBezTo>
                  <a:cubicBezTo>
                    <a:pt x="329" y="123"/>
                    <a:pt x="329" y="123"/>
                    <a:pt x="329" y="123"/>
                  </a:cubicBezTo>
                  <a:cubicBezTo>
                    <a:pt x="329" y="123"/>
                    <a:pt x="329" y="123"/>
                    <a:pt x="329" y="123"/>
                  </a:cubicBezTo>
                  <a:cubicBezTo>
                    <a:pt x="329" y="150"/>
                    <a:pt x="318" y="178"/>
                    <a:pt x="303" y="199"/>
                  </a:cubicBezTo>
                  <a:cubicBezTo>
                    <a:pt x="287" y="220"/>
                    <a:pt x="266" y="235"/>
                    <a:pt x="245" y="235"/>
                  </a:cubicBezTo>
                  <a:close/>
                  <a:moveTo>
                    <a:pt x="391" y="244"/>
                  </a:moveTo>
                  <a:cubicBezTo>
                    <a:pt x="404" y="244"/>
                    <a:pt x="418" y="235"/>
                    <a:pt x="428" y="221"/>
                  </a:cubicBezTo>
                  <a:cubicBezTo>
                    <a:pt x="438" y="208"/>
                    <a:pt x="445" y="190"/>
                    <a:pt x="445" y="172"/>
                  </a:cubicBezTo>
                  <a:cubicBezTo>
                    <a:pt x="445" y="172"/>
                    <a:pt x="445" y="172"/>
                    <a:pt x="445" y="172"/>
                  </a:cubicBezTo>
                  <a:cubicBezTo>
                    <a:pt x="445" y="172"/>
                    <a:pt x="445" y="172"/>
                    <a:pt x="445" y="172"/>
                  </a:cubicBezTo>
                  <a:cubicBezTo>
                    <a:pt x="445" y="170"/>
                    <a:pt x="445" y="169"/>
                    <a:pt x="445" y="168"/>
                  </a:cubicBezTo>
                  <a:cubicBezTo>
                    <a:pt x="445" y="131"/>
                    <a:pt x="451" y="99"/>
                    <a:pt x="407" y="94"/>
                  </a:cubicBezTo>
                  <a:cubicBezTo>
                    <a:pt x="402" y="93"/>
                    <a:pt x="397" y="92"/>
                    <a:pt x="391" y="92"/>
                  </a:cubicBezTo>
                  <a:cubicBezTo>
                    <a:pt x="385" y="92"/>
                    <a:pt x="380" y="93"/>
                    <a:pt x="375" y="93"/>
                  </a:cubicBezTo>
                  <a:cubicBezTo>
                    <a:pt x="331" y="99"/>
                    <a:pt x="337" y="130"/>
                    <a:pt x="337" y="168"/>
                  </a:cubicBezTo>
                  <a:cubicBezTo>
                    <a:pt x="337" y="169"/>
                    <a:pt x="337" y="170"/>
                    <a:pt x="337" y="172"/>
                  </a:cubicBezTo>
                  <a:cubicBezTo>
                    <a:pt x="337" y="172"/>
                    <a:pt x="337" y="172"/>
                    <a:pt x="337" y="172"/>
                  </a:cubicBezTo>
                  <a:cubicBezTo>
                    <a:pt x="337" y="172"/>
                    <a:pt x="337" y="172"/>
                    <a:pt x="337" y="172"/>
                  </a:cubicBezTo>
                  <a:cubicBezTo>
                    <a:pt x="337" y="190"/>
                    <a:pt x="344" y="208"/>
                    <a:pt x="354" y="221"/>
                  </a:cubicBezTo>
                  <a:cubicBezTo>
                    <a:pt x="364" y="235"/>
                    <a:pt x="377" y="244"/>
                    <a:pt x="391" y="244"/>
                  </a:cubicBezTo>
                  <a:close/>
                  <a:moveTo>
                    <a:pt x="360" y="217"/>
                  </a:moveTo>
                  <a:cubicBezTo>
                    <a:pt x="351" y="204"/>
                    <a:pt x="345" y="188"/>
                    <a:pt x="344" y="173"/>
                  </a:cubicBezTo>
                  <a:cubicBezTo>
                    <a:pt x="348" y="160"/>
                    <a:pt x="348" y="160"/>
                    <a:pt x="348" y="160"/>
                  </a:cubicBezTo>
                  <a:cubicBezTo>
                    <a:pt x="349" y="156"/>
                    <a:pt x="349" y="152"/>
                    <a:pt x="349" y="148"/>
                  </a:cubicBezTo>
                  <a:cubicBezTo>
                    <a:pt x="349" y="142"/>
                    <a:pt x="349" y="138"/>
                    <a:pt x="352" y="134"/>
                  </a:cubicBezTo>
                  <a:cubicBezTo>
                    <a:pt x="354" y="127"/>
                    <a:pt x="429" y="127"/>
                    <a:pt x="430" y="134"/>
                  </a:cubicBezTo>
                  <a:cubicBezTo>
                    <a:pt x="433" y="138"/>
                    <a:pt x="433" y="142"/>
                    <a:pt x="433" y="148"/>
                  </a:cubicBezTo>
                  <a:cubicBezTo>
                    <a:pt x="433" y="152"/>
                    <a:pt x="433" y="156"/>
                    <a:pt x="434" y="160"/>
                  </a:cubicBezTo>
                  <a:cubicBezTo>
                    <a:pt x="437" y="173"/>
                    <a:pt x="437" y="173"/>
                    <a:pt x="437" y="173"/>
                  </a:cubicBezTo>
                  <a:cubicBezTo>
                    <a:pt x="437" y="188"/>
                    <a:pt x="431" y="204"/>
                    <a:pt x="422" y="217"/>
                  </a:cubicBezTo>
                  <a:cubicBezTo>
                    <a:pt x="413" y="229"/>
                    <a:pt x="402" y="237"/>
                    <a:pt x="391" y="237"/>
                  </a:cubicBezTo>
                  <a:cubicBezTo>
                    <a:pt x="380" y="237"/>
                    <a:pt x="368" y="229"/>
                    <a:pt x="360" y="217"/>
                  </a:cubicBezTo>
                  <a:close/>
                  <a:moveTo>
                    <a:pt x="100" y="244"/>
                  </a:moveTo>
                  <a:cubicBezTo>
                    <a:pt x="113" y="244"/>
                    <a:pt x="127" y="235"/>
                    <a:pt x="137" y="221"/>
                  </a:cubicBezTo>
                  <a:cubicBezTo>
                    <a:pt x="147" y="208"/>
                    <a:pt x="154" y="190"/>
                    <a:pt x="154" y="172"/>
                  </a:cubicBezTo>
                  <a:cubicBezTo>
                    <a:pt x="154" y="172"/>
                    <a:pt x="154" y="172"/>
                    <a:pt x="154" y="172"/>
                  </a:cubicBezTo>
                  <a:cubicBezTo>
                    <a:pt x="154" y="172"/>
                    <a:pt x="154" y="172"/>
                    <a:pt x="154" y="172"/>
                  </a:cubicBezTo>
                  <a:cubicBezTo>
                    <a:pt x="154" y="170"/>
                    <a:pt x="154" y="169"/>
                    <a:pt x="154" y="168"/>
                  </a:cubicBezTo>
                  <a:cubicBezTo>
                    <a:pt x="154" y="130"/>
                    <a:pt x="160" y="99"/>
                    <a:pt x="114" y="93"/>
                  </a:cubicBezTo>
                  <a:cubicBezTo>
                    <a:pt x="110" y="92"/>
                    <a:pt x="105" y="92"/>
                    <a:pt x="99" y="92"/>
                  </a:cubicBezTo>
                  <a:cubicBezTo>
                    <a:pt x="93" y="92"/>
                    <a:pt x="87" y="93"/>
                    <a:pt x="82" y="94"/>
                  </a:cubicBezTo>
                  <a:cubicBezTo>
                    <a:pt x="40" y="100"/>
                    <a:pt x="46" y="131"/>
                    <a:pt x="46" y="168"/>
                  </a:cubicBezTo>
                  <a:cubicBezTo>
                    <a:pt x="46" y="169"/>
                    <a:pt x="46" y="170"/>
                    <a:pt x="46" y="172"/>
                  </a:cubicBezTo>
                  <a:cubicBezTo>
                    <a:pt x="46" y="172"/>
                    <a:pt x="46" y="172"/>
                    <a:pt x="46" y="172"/>
                  </a:cubicBezTo>
                  <a:cubicBezTo>
                    <a:pt x="46" y="172"/>
                    <a:pt x="46" y="172"/>
                    <a:pt x="46" y="172"/>
                  </a:cubicBezTo>
                  <a:cubicBezTo>
                    <a:pt x="46" y="190"/>
                    <a:pt x="52" y="208"/>
                    <a:pt x="62" y="221"/>
                  </a:cubicBezTo>
                  <a:cubicBezTo>
                    <a:pt x="72" y="235"/>
                    <a:pt x="86" y="244"/>
                    <a:pt x="100" y="244"/>
                  </a:cubicBezTo>
                  <a:close/>
                  <a:moveTo>
                    <a:pt x="68" y="217"/>
                  </a:moveTo>
                  <a:cubicBezTo>
                    <a:pt x="59" y="204"/>
                    <a:pt x="53" y="188"/>
                    <a:pt x="53" y="173"/>
                  </a:cubicBezTo>
                  <a:cubicBezTo>
                    <a:pt x="56" y="160"/>
                    <a:pt x="56" y="160"/>
                    <a:pt x="56" y="160"/>
                  </a:cubicBezTo>
                  <a:cubicBezTo>
                    <a:pt x="57" y="156"/>
                    <a:pt x="57" y="152"/>
                    <a:pt x="58" y="148"/>
                  </a:cubicBezTo>
                  <a:cubicBezTo>
                    <a:pt x="58" y="142"/>
                    <a:pt x="58" y="138"/>
                    <a:pt x="61" y="134"/>
                  </a:cubicBezTo>
                  <a:cubicBezTo>
                    <a:pt x="63" y="127"/>
                    <a:pt x="138" y="127"/>
                    <a:pt x="139" y="134"/>
                  </a:cubicBezTo>
                  <a:cubicBezTo>
                    <a:pt x="141" y="138"/>
                    <a:pt x="142" y="142"/>
                    <a:pt x="142" y="148"/>
                  </a:cubicBezTo>
                  <a:cubicBezTo>
                    <a:pt x="142" y="152"/>
                    <a:pt x="142" y="156"/>
                    <a:pt x="143" y="160"/>
                  </a:cubicBezTo>
                  <a:cubicBezTo>
                    <a:pt x="146" y="173"/>
                    <a:pt x="146" y="173"/>
                    <a:pt x="146" y="173"/>
                  </a:cubicBezTo>
                  <a:cubicBezTo>
                    <a:pt x="146" y="188"/>
                    <a:pt x="140" y="204"/>
                    <a:pt x="131" y="217"/>
                  </a:cubicBezTo>
                  <a:cubicBezTo>
                    <a:pt x="122" y="229"/>
                    <a:pt x="111" y="237"/>
                    <a:pt x="100" y="237"/>
                  </a:cubicBezTo>
                  <a:cubicBezTo>
                    <a:pt x="89" y="237"/>
                    <a:pt x="77" y="229"/>
                    <a:pt x="68" y="217"/>
                  </a:cubicBezTo>
                  <a:close/>
                  <a:moveTo>
                    <a:pt x="262" y="291"/>
                  </a:moveTo>
                  <a:cubicBezTo>
                    <a:pt x="253" y="308"/>
                    <a:pt x="253" y="308"/>
                    <a:pt x="253" y="308"/>
                  </a:cubicBezTo>
                  <a:cubicBezTo>
                    <a:pt x="252" y="310"/>
                    <a:pt x="251" y="311"/>
                    <a:pt x="252" y="313"/>
                  </a:cubicBezTo>
                  <a:cubicBezTo>
                    <a:pt x="260" y="412"/>
                    <a:pt x="260" y="412"/>
                    <a:pt x="260" y="412"/>
                  </a:cubicBezTo>
                  <a:cubicBezTo>
                    <a:pt x="285" y="360"/>
                    <a:pt x="299" y="326"/>
                    <a:pt x="314" y="264"/>
                  </a:cubicBezTo>
                  <a:cubicBezTo>
                    <a:pt x="364" y="275"/>
                    <a:pt x="402" y="298"/>
                    <a:pt x="402" y="334"/>
                  </a:cubicBezTo>
                  <a:cubicBezTo>
                    <a:pt x="402" y="437"/>
                    <a:pt x="402" y="437"/>
                    <a:pt x="402" y="437"/>
                  </a:cubicBezTo>
                  <a:cubicBezTo>
                    <a:pt x="402" y="454"/>
                    <a:pt x="388" y="467"/>
                    <a:pt x="371" y="467"/>
                  </a:cubicBezTo>
                  <a:cubicBezTo>
                    <a:pt x="287" y="467"/>
                    <a:pt x="203" y="467"/>
                    <a:pt x="119" y="467"/>
                  </a:cubicBezTo>
                  <a:cubicBezTo>
                    <a:pt x="102" y="467"/>
                    <a:pt x="88" y="454"/>
                    <a:pt x="88" y="437"/>
                  </a:cubicBezTo>
                  <a:cubicBezTo>
                    <a:pt x="88" y="402"/>
                    <a:pt x="88" y="368"/>
                    <a:pt x="88" y="334"/>
                  </a:cubicBezTo>
                  <a:cubicBezTo>
                    <a:pt x="88" y="298"/>
                    <a:pt x="126" y="275"/>
                    <a:pt x="176" y="264"/>
                  </a:cubicBezTo>
                  <a:cubicBezTo>
                    <a:pt x="191" y="327"/>
                    <a:pt x="206" y="360"/>
                    <a:pt x="231" y="413"/>
                  </a:cubicBezTo>
                  <a:cubicBezTo>
                    <a:pt x="239" y="313"/>
                    <a:pt x="239" y="313"/>
                    <a:pt x="239" y="313"/>
                  </a:cubicBezTo>
                  <a:cubicBezTo>
                    <a:pt x="239" y="311"/>
                    <a:pt x="239" y="310"/>
                    <a:pt x="238" y="308"/>
                  </a:cubicBezTo>
                  <a:cubicBezTo>
                    <a:pt x="229" y="291"/>
                    <a:pt x="229" y="291"/>
                    <a:pt x="229" y="291"/>
                  </a:cubicBezTo>
                  <a:cubicBezTo>
                    <a:pt x="228" y="290"/>
                    <a:pt x="228" y="289"/>
                    <a:pt x="229" y="288"/>
                  </a:cubicBezTo>
                  <a:cubicBezTo>
                    <a:pt x="229" y="287"/>
                    <a:pt x="230" y="286"/>
                    <a:pt x="231" y="286"/>
                  </a:cubicBezTo>
                  <a:cubicBezTo>
                    <a:pt x="241" y="286"/>
                    <a:pt x="250" y="286"/>
                    <a:pt x="259" y="286"/>
                  </a:cubicBezTo>
                  <a:cubicBezTo>
                    <a:pt x="261" y="286"/>
                    <a:pt x="262" y="287"/>
                    <a:pt x="262" y="288"/>
                  </a:cubicBezTo>
                  <a:cubicBezTo>
                    <a:pt x="263" y="289"/>
                    <a:pt x="263" y="290"/>
                    <a:pt x="262" y="291"/>
                  </a:cubicBezTo>
                  <a:close/>
                  <a:moveTo>
                    <a:pt x="490" y="371"/>
                  </a:moveTo>
                  <a:cubicBezTo>
                    <a:pt x="490" y="305"/>
                    <a:pt x="490" y="305"/>
                    <a:pt x="490" y="305"/>
                  </a:cubicBezTo>
                  <a:cubicBezTo>
                    <a:pt x="490" y="263"/>
                    <a:pt x="410" y="248"/>
                    <a:pt x="351" y="260"/>
                  </a:cubicBezTo>
                  <a:cubicBezTo>
                    <a:pt x="376" y="269"/>
                    <a:pt x="402" y="286"/>
                    <a:pt x="412" y="312"/>
                  </a:cubicBezTo>
                  <a:cubicBezTo>
                    <a:pt x="415" y="319"/>
                    <a:pt x="416" y="326"/>
                    <a:pt x="416" y="334"/>
                  </a:cubicBezTo>
                  <a:cubicBezTo>
                    <a:pt x="416" y="388"/>
                    <a:pt x="416" y="388"/>
                    <a:pt x="416" y="388"/>
                  </a:cubicBezTo>
                  <a:cubicBezTo>
                    <a:pt x="435" y="388"/>
                    <a:pt x="454" y="388"/>
                    <a:pt x="474" y="388"/>
                  </a:cubicBezTo>
                  <a:cubicBezTo>
                    <a:pt x="483" y="388"/>
                    <a:pt x="490" y="380"/>
                    <a:pt x="490" y="371"/>
                  </a:cubicBezTo>
                  <a:close/>
                  <a:moveTo>
                    <a:pt x="0" y="371"/>
                  </a:moveTo>
                  <a:cubicBezTo>
                    <a:pt x="0" y="380"/>
                    <a:pt x="7" y="388"/>
                    <a:pt x="16" y="388"/>
                  </a:cubicBezTo>
                  <a:cubicBezTo>
                    <a:pt x="36" y="388"/>
                    <a:pt x="55" y="388"/>
                    <a:pt x="74" y="388"/>
                  </a:cubicBezTo>
                  <a:cubicBezTo>
                    <a:pt x="74" y="334"/>
                    <a:pt x="74" y="334"/>
                    <a:pt x="74" y="334"/>
                  </a:cubicBezTo>
                  <a:cubicBezTo>
                    <a:pt x="74" y="326"/>
                    <a:pt x="75" y="319"/>
                    <a:pt x="78" y="312"/>
                  </a:cubicBezTo>
                  <a:cubicBezTo>
                    <a:pt x="88" y="286"/>
                    <a:pt x="114" y="269"/>
                    <a:pt x="139" y="260"/>
                  </a:cubicBezTo>
                  <a:cubicBezTo>
                    <a:pt x="80" y="248"/>
                    <a:pt x="0" y="263"/>
                    <a:pt x="0" y="305"/>
                  </a:cubicBezTo>
                  <a:cubicBezTo>
                    <a:pt x="0" y="327"/>
                    <a:pt x="0" y="349"/>
                    <a:pt x="0" y="371"/>
                  </a:cubicBezTo>
                  <a:close/>
                  <a:moveTo>
                    <a:pt x="197" y="192"/>
                  </a:moveTo>
                  <a:cubicBezTo>
                    <a:pt x="211" y="210"/>
                    <a:pt x="228" y="223"/>
                    <a:pt x="245" y="223"/>
                  </a:cubicBezTo>
                  <a:cubicBezTo>
                    <a:pt x="262" y="223"/>
                    <a:pt x="280" y="210"/>
                    <a:pt x="293" y="192"/>
                  </a:cubicBezTo>
                  <a:cubicBezTo>
                    <a:pt x="307" y="173"/>
                    <a:pt x="317" y="148"/>
                    <a:pt x="317" y="124"/>
                  </a:cubicBezTo>
                  <a:cubicBezTo>
                    <a:pt x="312" y="105"/>
                    <a:pt x="312" y="105"/>
                    <a:pt x="312" y="105"/>
                  </a:cubicBezTo>
                  <a:cubicBezTo>
                    <a:pt x="310" y="98"/>
                    <a:pt x="310" y="91"/>
                    <a:pt x="310" y="85"/>
                  </a:cubicBezTo>
                  <a:cubicBezTo>
                    <a:pt x="310" y="77"/>
                    <a:pt x="310" y="70"/>
                    <a:pt x="305" y="64"/>
                  </a:cubicBezTo>
                  <a:cubicBezTo>
                    <a:pt x="298" y="54"/>
                    <a:pt x="287" y="57"/>
                    <a:pt x="274" y="61"/>
                  </a:cubicBezTo>
                  <a:cubicBezTo>
                    <a:pt x="265" y="64"/>
                    <a:pt x="256" y="66"/>
                    <a:pt x="245" y="66"/>
                  </a:cubicBezTo>
                  <a:cubicBezTo>
                    <a:pt x="235" y="66"/>
                    <a:pt x="225" y="64"/>
                    <a:pt x="216" y="61"/>
                  </a:cubicBezTo>
                  <a:cubicBezTo>
                    <a:pt x="216" y="61"/>
                    <a:pt x="216" y="61"/>
                    <a:pt x="216" y="61"/>
                  </a:cubicBezTo>
                  <a:cubicBezTo>
                    <a:pt x="203" y="57"/>
                    <a:pt x="192" y="54"/>
                    <a:pt x="185" y="64"/>
                  </a:cubicBezTo>
                  <a:cubicBezTo>
                    <a:pt x="181" y="70"/>
                    <a:pt x="180" y="77"/>
                    <a:pt x="180" y="85"/>
                  </a:cubicBezTo>
                  <a:cubicBezTo>
                    <a:pt x="180" y="91"/>
                    <a:pt x="180" y="98"/>
                    <a:pt x="178" y="105"/>
                  </a:cubicBezTo>
                  <a:cubicBezTo>
                    <a:pt x="174" y="124"/>
                    <a:pt x="174" y="124"/>
                    <a:pt x="174" y="124"/>
                  </a:cubicBezTo>
                  <a:cubicBezTo>
                    <a:pt x="174" y="148"/>
                    <a:pt x="183" y="173"/>
                    <a:pt x="197" y="192"/>
                  </a:cubicBezTo>
                  <a:close/>
                </a:path>
              </a:pathLst>
            </a:custGeom>
            <a:solidFill>
              <a:srgbClr val="0070C0"/>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Freeform 29"/>
            <p:cNvSpPr>
              <a:spLocks noEditPoints="1"/>
            </p:cNvSpPr>
            <p:nvPr/>
          </p:nvSpPr>
          <p:spPr bwMode="auto">
            <a:xfrm>
              <a:off x="4193165" y="2651859"/>
              <a:ext cx="506744" cy="598693"/>
            </a:xfrm>
            <a:custGeom>
              <a:avLst/>
              <a:gdLst>
                <a:gd name="T0" fmla="*/ 344 w 420"/>
                <a:gd name="T1" fmla="*/ 0 h 496"/>
                <a:gd name="T2" fmla="*/ 332 w 420"/>
                <a:gd name="T3" fmla="*/ 79 h 496"/>
                <a:gd name="T4" fmla="*/ 347 w 420"/>
                <a:gd name="T5" fmla="*/ 92 h 496"/>
                <a:gd name="T6" fmla="*/ 360 w 420"/>
                <a:gd name="T7" fmla="*/ 13 h 496"/>
                <a:gd name="T8" fmla="*/ 193 w 420"/>
                <a:gd name="T9" fmla="*/ 362 h 496"/>
                <a:gd name="T10" fmla="*/ 145 w 420"/>
                <a:gd name="T11" fmla="*/ 410 h 496"/>
                <a:gd name="T12" fmla="*/ 193 w 420"/>
                <a:gd name="T13" fmla="*/ 362 h 496"/>
                <a:gd name="T14" fmla="*/ 229 w 420"/>
                <a:gd name="T15" fmla="*/ 362 h 496"/>
                <a:gd name="T16" fmla="*/ 276 w 420"/>
                <a:gd name="T17" fmla="*/ 410 h 496"/>
                <a:gd name="T18" fmla="*/ 110 w 420"/>
                <a:gd name="T19" fmla="*/ 362 h 496"/>
                <a:gd name="T20" fmla="*/ 62 w 420"/>
                <a:gd name="T21" fmla="*/ 410 h 496"/>
                <a:gd name="T22" fmla="*/ 110 w 420"/>
                <a:gd name="T23" fmla="*/ 362 h 496"/>
                <a:gd name="T24" fmla="*/ 312 w 420"/>
                <a:gd name="T25" fmla="*/ 291 h 496"/>
                <a:gd name="T26" fmla="*/ 360 w 420"/>
                <a:gd name="T27" fmla="*/ 338 h 496"/>
                <a:gd name="T28" fmla="*/ 193 w 420"/>
                <a:gd name="T29" fmla="*/ 291 h 496"/>
                <a:gd name="T30" fmla="*/ 145 w 420"/>
                <a:gd name="T31" fmla="*/ 338 h 496"/>
                <a:gd name="T32" fmla="*/ 193 w 420"/>
                <a:gd name="T33" fmla="*/ 291 h 496"/>
                <a:gd name="T34" fmla="*/ 229 w 420"/>
                <a:gd name="T35" fmla="*/ 291 h 496"/>
                <a:gd name="T36" fmla="*/ 276 w 420"/>
                <a:gd name="T37" fmla="*/ 338 h 496"/>
                <a:gd name="T38" fmla="*/ 110 w 420"/>
                <a:gd name="T39" fmla="*/ 291 h 496"/>
                <a:gd name="T40" fmla="*/ 62 w 420"/>
                <a:gd name="T41" fmla="*/ 338 h 496"/>
                <a:gd name="T42" fmla="*/ 110 w 420"/>
                <a:gd name="T43" fmla="*/ 291 h 496"/>
                <a:gd name="T44" fmla="*/ 312 w 420"/>
                <a:gd name="T45" fmla="*/ 219 h 496"/>
                <a:gd name="T46" fmla="*/ 360 w 420"/>
                <a:gd name="T47" fmla="*/ 267 h 496"/>
                <a:gd name="T48" fmla="*/ 193 w 420"/>
                <a:gd name="T49" fmla="*/ 219 h 496"/>
                <a:gd name="T50" fmla="*/ 145 w 420"/>
                <a:gd name="T51" fmla="*/ 267 h 496"/>
                <a:gd name="T52" fmla="*/ 193 w 420"/>
                <a:gd name="T53" fmla="*/ 219 h 496"/>
                <a:gd name="T54" fmla="*/ 229 w 420"/>
                <a:gd name="T55" fmla="*/ 219 h 496"/>
                <a:gd name="T56" fmla="*/ 276 w 420"/>
                <a:gd name="T57" fmla="*/ 267 h 496"/>
                <a:gd name="T58" fmla="*/ 77 w 420"/>
                <a:gd name="T59" fmla="*/ 0 h 496"/>
                <a:gd name="T60" fmla="*/ 62 w 420"/>
                <a:gd name="T61" fmla="*/ 13 h 496"/>
                <a:gd name="T62" fmla="*/ 75 w 420"/>
                <a:gd name="T63" fmla="*/ 92 h 496"/>
                <a:gd name="T64" fmla="*/ 90 w 420"/>
                <a:gd name="T65" fmla="*/ 79 h 496"/>
                <a:gd name="T66" fmla="*/ 77 w 420"/>
                <a:gd name="T67" fmla="*/ 0 h 496"/>
                <a:gd name="T68" fmla="*/ 392 w 420"/>
                <a:gd name="T69" fmla="*/ 441 h 496"/>
                <a:gd name="T70" fmla="*/ 34 w 420"/>
                <a:gd name="T71" fmla="*/ 446 h 496"/>
                <a:gd name="T72" fmla="*/ 28 w 420"/>
                <a:gd name="T73" fmla="*/ 185 h 496"/>
                <a:gd name="T74" fmla="*/ 386 w 420"/>
                <a:gd name="T75" fmla="*/ 180 h 496"/>
                <a:gd name="T76" fmla="*/ 392 w 420"/>
                <a:gd name="T77" fmla="*/ 460 h 496"/>
                <a:gd name="T78" fmla="*/ 28 w 420"/>
                <a:gd name="T79" fmla="*/ 463 h 496"/>
                <a:gd name="T80" fmla="*/ 392 w 420"/>
                <a:gd name="T81" fmla="*/ 460 h 496"/>
                <a:gd name="T82" fmla="*/ 392 w 420"/>
                <a:gd name="T83" fmla="*/ 481 h 496"/>
                <a:gd name="T84" fmla="*/ 28 w 420"/>
                <a:gd name="T85" fmla="*/ 478 h 496"/>
                <a:gd name="T86" fmla="*/ 386 w 420"/>
                <a:gd name="T87" fmla="*/ 41 h 496"/>
                <a:gd name="T88" fmla="*/ 420 w 420"/>
                <a:gd name="T89" fmla="*/ 463 h 496"/>
                <a:gd name="T90" fmla="*/ 34 w 420"/>
                <a:gd name="T91" fmla="*/ 496 h 496"/>
                <a:gd name="T92" fmla="*/ 0 w 420"/>
                <a:gd name="T93" fmla="*/ 75 h 496"/>
                <a:gd name="T94" fmla="*/ 51 w 420"/>
                <a:gd name="T95" fmla="*/ 41 h 496"/>
                <a:gd name="T96" fmla="*/ 69 w 420"/>
                <a:gd name="T97" fmla="*/ 106 h 496"/>
                <a:gd name="T98" fmla="*/ 101 w 420"/>
                <a:gd name="T99" fmla="*/ 88 h 496"/>
                <a:gd name="T100" fmla="*/ 321 w 420"/>
                <a:gd name="T101" fmla="*/ 41 h 496"/>
                <a:gd name="T102" fmla="*/ 339 w 420"/>
                <a:gd name="T103" fmla="*/ 106 h 496"/>
                <a:gd name="T104" fmla="*/ 370 w 420"/>
                <a:gd name="T105" fmla="*/ 88 h 496"/>
                <a:gd name="T106" fmla="*/ 386 w 420"/>
                <a:gd name="T107" fmla="*/ 41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0" h="496">
                  <a:moveTo>
                    <a:pt x="347" y="0"/>
                  </a:moveTo>
                  <a:cubicBezTo>
                    <a:pt x="346" y="0"/>
                    <a:pt x="345" y="0"/>
                    <a:pt x="344" y="0"/>
                  </a:cubicBezTo>
                  <a:cubicBezTo>
                    <a:pt x="337" y="0"/>
                    <a:pt x="332" y="6"/>
                    <a:pt x="332" y="13"/>
                  </a:cubicBezTo>
                  <a:cubicBezTo>
                    <a:pt x="332" y="79"/>
                    <a:pt x="332" y="79"/>
                    <a:pt x="332" y="79"/>
                  </a:cubicBezTo>
                  <a:cubicBezTo>
                    <a:pt x="332" y="87"/>
                    <a:pt x="337" y="92"/>
                    <a:pt x="344" y="92"/>
                  </a:cubicBezTo>
                  <a:cubicBezTo>
                    <a:pt x="345" y="92"/>
                    <a:pt x="346" y="92"/>
                    <a:pt x="347" y="92"/>
                  </a:cubicBezTo>
                  <a:cubicBezTo>
                    <a:pt x="354" y="92"/>
                    <a:pt x="360" y="87"/>
                    <a:pt x="360" y="79"/>
                  </a:cubicBezTo>
                  <a:cubicBezTo>
                    <a:pt x="360" y="13"/>
                    <a:pt x="360" y="13"/>
                    <a:pt x="360" y="13"/>
                  </a:cubicBezTo>
                  <a:cubicBezTo>
                    <a:pt x="360" y="6"/>
                    <a:pt x="354" y="0"/>
                    <a:pt x="347" y="0"/>
                  </a:cubicBezTo>
                  <a:close/>
                  <a:moveTo>
                    <a:pt x="193" y="362"/>
                  </a:moveTo>
                  <a:cubicBezTo>
                    <a:pt x="177" y="362"/>
                    <a:pt x="161" y="362"/>
                    <a:pt x="145" y="362"/>
                  </a:cubicBezTo>
                  <a:cubicBezTo>
                    <a:pt x="145" y="378"/>
                    <a:pt x="145" y="394"/>
                    <a:pt x="145" y="410"/>
                  </a:cubicBezTo>
                  <a:cubicBezTo>
                    <a:pt x="161" y="410"/>
                    <a:pt x="177" y="410"/>
                    <a:pt x="193" y="410"/>
                  </a:cubicBezTo>
                  <a:cubicBezTo>
                    <a:pt x="193" y="394"/>
                    <a:pt x="193" y="378"/>
                    <a:pt x="193" y="362"/>
                  </a:cubicBezTo>
                  <a:close/>
                  <a:moveTo>
                    <a:pt x="276" y="362"/>
                  </a:moveTo>
                  <a:cubicBezTo>
                    <a:pt x="260" y="362"/>
                    <a:pt x="245" y="362"/>
                    <a:pt x="229" y="362"/>
                  </a:cubicBezTo>
                  <a:cubicBezTo>
                    <a:pt x="229" y="378"/>
                    <a:pt x="229" y="394"/>
                    <a:pt x="229" y="410"/>
                  </a:cubicBezTo>
                  <a:cubicBezTo>
                    <a:pt x="245" y="410"/>
                    <a:pt x="260" y="410"/>
                    <a:pt x="276" y="410"/>
                  </a:cubicBezTo>
                  <a:cubicBezTo>
                    <a:pt x="276" y="394"/>
                    <a:pt x="276" y="378"/>
                    <a:pt x="276" y="362"/>
                  </a:cubicBezTo>
                  <a:close/>
                  <a:moveTo>
                    <a:pt x="110" y="362"/>
                  </a:moveTo>
                  <a:cubicBezTo>
                    <a:pt x="62" y="362"/>
                    <a:pt x="62" y="362"/>
                    <a:pt x="62" y="362"/>
                  </a:cubicBezTo>
                  <a:cubicBezTo>
                    <a:pt x="62" y="410"/>
                    <a:pt x="62" y="410"/>
                    <a:pt x="62" y="410"/>
                  </a:cubicBezTo>
                  <a:cubicBezTo>
                    <a:pt x="110" y="410"/>
                    <a:pt x="110" y="410"/>
                    <a:pt x="110" y="410"/>
                  </a:cubicBezTo>
                  <a:cubicBezTo>
                    <a:pt x="110" y="362"/>
                    <a:pt x="110" y="362"/>
                    <a:pt x="110" y="362"/>
                  </a:cubicBezTo>
                  <a:close/>
                  <a:moveTo>
                    <a:pt x="360" y="291"/>
                  </a:moveTo>
                  <a:cubicBezTo>
                    <a:pt x="312" y="291"/>
                    <a:pt x="312" y="291"/>
                    <a:pt x="312" y="291"/>
                  </a:cubicBezTo>
                  <a:cubicBezTo>
                    <a:pt x="312" y="338"/>
                    <a:pt x="312" y="338"/>
                    <a:pt x="312" y="338"/>
                  </a:cubicBezTo>
                  <a:cubicBezTo>
                    <a:pt x="360" y="338"/>
                    <a:pt x="360" y="338"/>
                    <a:pt x="360" y="338"/>
                  </a:cubicBezTo>
                  <a:cubicBezTo>
                    <a:pt x="360" y="291"/>
                    <a:pt x="360" y="291"/>
                    <a:pt x="360" y="291"/>
                  </a:cubicBezTo>
                  <a:close/>
                  <a:moveTo>
                    <a:pt x="193" y="291"/>
                  </a:moveTo>
                  <a:cubicBezTo>
                    <a:pt x="177" y="291"/>
                    <a:pt x="161" y="291"/>
                    <a:pt x="145" y="291"/>
                  </a:cubicBezTo>
                  <a:cubicBezTo>
                    <a:pt x="145" y="306"/>
                    <a:pt x="145" y="322"/>
                    <a:pt x="145" y="338"/>
                  </a:cubicBezTo>
                  <a:cubicBezTo>
                    <a:pt x="161" y="338"/>
                    <a:pt x="177" y="338"/>
                    <a:pt x="193" y="338"/>
                  </a:cubicBezTo>
                  <a:cubicBezTo>
                    <a:pt x="193" y="322"/>
                    <a:pt x="193" y="306"/>
                    <a:pt x="193" y="291"/>
                  </a:cubicBezTo>
                  <a:close/>
                  <a:moveTo>
                    <a:pt x="276" y="291"/>
                  </a:moveTo>
                  <a:cubicBezTo>
                    <a:pt x="260" y="291"/>
                    <a:pt x="245" y="291"/>
                    <a:pt x="229" y="291"/>
                  </a:cubicBezTo>
                  <a:cubicBezTo>
                    <a:pt x="229" y="306"/>
                    <a:pt x="229" y="322"/>
                    <a:pt x="229" y="338"/>
                  </a:cubicBezTo>
                  <a:cubicBezTo>
                    <a:pt x="245" y="338"/>
                    <a:pt x="260" y="338"/>
                    <a:pt x="276" y="338"/>
                  </a:cubicBezTo>
                  <a:cubicBezTo>
                    <a:pt x="276" y="322"/>
                    <a:pt x="276" y="306"/>
                    <a:pt x="276" y="291"/>
                  </a:cubicBezTo>
                  <a:close/>
                  <a:moveTo>
                    <a:pt x="110" y="291"/>
                  </a:moveTo>
                  <a:cubicBezTo>
                    <a:pt x="62" y="291"/>
                    <a:pt x="62" y="291"/>
                    <a:pt x="62" y="291"/>
                  </a:cubicBezTo>
                  <a:cubicBezTo>
                    <a:pt x="62" y="338"/>
                    <a:pt x="62" y="338"/>
                    <a:pt x="62" y="338"/>
                  </a:cubicBezTo>
                  <a:cubicBezTo>
                    <a:pt x="110" y="338"/>
                    <a:pt x="110" y="338"/>
                    <a:pt x="110" y="338"/>
                  </a:cubicBezTo>
                  <a:cubicBezTo>
                    <a:pt x="110" y="291"/>
                    <a:pt x="110" y="291"/>
                    <a:pt x="110" y="291"/>
                  </a:cubicBezTo>
                  <a:close/>
                  <a:moveTo>
                    <a:pt x="360" y="219"/>
                  </a:moveTo>
                  <a:cubicBezTo>
                    <a:pt x="312" y="219"/>
                    <a:pt x="312" y="219"/>
                    <a:pt x="312" y="219"/>
                  </a:cubicBezTo>
                  <a:cubicBezTo>
                    <a:pt x="312" y="267"/>
                    <a:pt x="312" y="267"/>
                    <a:pt x="312" y="267"/>
                  </a:cubicBezTo>
                  <a:cubicBezTo>
                    <a:pt x="360" y="267"/>
                    <a:pt x="360" y="267"/>
                    <a:pt x="360" y="267"/>
                  </a:cubicBezTo>
                  <a:cubicBezTo>
                    <a:pt x="360" y="219"/>
                    <a:pt x="360" y="219"/>
                    <a:pt x="360" y="219"/>
                  </a:cubicBezTo>
                  <a:close/>
                  <a:moveTo>
                    <a:pt x="193" y="219"/>
                  </a:moveTo>
                  <a:cubicBezTo>
                    <a:pt x="177" y="219"/>
                    <a:pt x="161" y="219"/>
                    <a:pt x="145" y="219"/>
                  </a:cubicBezTo>
                  <a:cubicBezTo>
                    <a:pt x="145" y="235"/>
                    <a:pt x="145" y="251"/>
                    <a:pt x="145" y="267"/>
                  </a:cubicBezTo>
                  <a:cubicBezTo>
                    <a:pt x="161" y="267"/>
                    <a:pt x="177" y="267"/>
                    <a:pt x="193" y="267"/>
                  </a:cubicBezTo>
                  <a:cubicBezTo>
                    <a:pt x="193" y="251"/>
                    <a:pt x="193" y="235"/>
                    <a:pt x="193" y="219"/>
                  </a:cubicBezTo>
                  <a:close/>
                  <a:moveTo>
                    <a:pt x="276" y="219"/>
                  </a:moveTo>
                  <a:cubicBezTo>
                    <a:pt x="260" y="219"/>
                    <a:pt x="245" y="219"/>
                    <a:pt x="229" y="219"/>
                  </a:cubicBezTo>
                  <a:cubicBezTo>
                    <a:pt x="229" y="235"/>
                    <a:pt x="229" y="251"/>
                    <a:pt x="229" y="267"/>
                  </a:cubicBezTo>
                  <a:cubicBezTo>
                    <a:pt x="245" y="267"/>
                    <a:pt x="260" y="267"/>
                    <a:pt x="276" y="267"/>
                  </a:cubicBezTo>
                  <a:cubicBezTo>
                    <a:pt x="276" y="251"/>
                    <a:pt x="276" y="235"/>
                    <a:pt x="276" y="219"/>
                  </a:cubicBezTo>
                  <a:close/>
                  <a:moveTo>
                    <a:pt x="77" y="0"/>
                  </a:moveTo>
                  <a:cubicBezTo>
                    <a:pt x="76" y="0"/>
                    <a:pt x="76" y="0"/>
                    <a:pt x="75" y="0"/>
                  </a:cubicBezTo>
                  <a:cubicBezTo>
                    <a:pt x="68" y="0"/>
                    <a:pt x="62" y="6"/>
                    <a:pt x="62" y="13"/>
                  </a:cubicBezTo>
                  <a:cubicBezTo>
                    <a:pt x="62" y="79"/>
                    <a:pt x="62" y="79"/>
                    <a:pt x="62" y="79"/>
                  </a:cubicBezTo>
                  <a:cubicBezTo>
                    <a:pt x="62" y="87"/>
                    <a:pt x="68" y="92"/>
                    <a:pt x="75" y="92"/>
                  </a:cubicBezTo>
                  <a:cubicBezTo>
                    <a:pt x="76" y="92"/>
                    <a:pt x="76" y="92"/>
                    <a:pt x="77" y="92"/>
                  </a:cubicBezTo>
                  <a:cubicBezTo>
                    <a:pt x="84" y="92"/>
                    <a:pt x="90" y="87"/>
                    <a:pt x="90" y="79"/>
                  </a:cubicBezTo>
                  <a:cubicBezTo>
                    <a:pt x="90" y="13"/>
                    <a:pt x="90" y="13"/>
                    <a:pt x="90" y="13"/>
                  </a:cubicBezTo>
                  <a:cubicBezTo>
                    <a:pt x="90" y="6"/>
                    <a:pt x="84" y="0"/>
                    <a:pt x="77" y="0"/>
                  </a:cubicBezTo>
                  <a:close/>
                  <a:moveTo>
                    <a:pt x="392" y="185"/>
                  </a:moveTo>
                  <a:cubicBezTo>
                    <a:pt x="392" y="441"/>
                    <a:pt x="392" y="441"/>
                    <a:pt x="392" y="441"/>
                  </a:cubicBezTo>
                  <a:cubicBezTo>
                    <a:pt x="392" y="443"/>
                    <a:pt x="389" y="446"/>
                    <a:pt x="386" y="446"/>
                  </a:cubicBezTo>
                  <a:cubicBezTo>
                    <a:pt x="34" y="446"/>
                    <a:pt x="34" y="446"/>
                    <a:pt x="34" y="446"/>
                  </a:cubicBezTo>
                  <a:cubicBezTo>
                    <a:pt x="31" y="446"/>
                    <a:pt x="28" y="443"/>
                    <a:pt x="28" y="441"/>
                  </a:cubicBezTo>
                  <a:cubicBezTo>
                    <a:pt x="28" y="185"/>
                    <a:pt x="28" y="185"/>
                    <a:pt x="28" y="185"/>
                  </a:cubicBezTo>
                  <a:cubicBezTo>
                    <a:pt x="28" y="182"/>
                    <a:pt x="31" y="180"/>
                    <a:pt x="34" y="180"/>
                  </a:cubicBezTo>
                  <a:cubicBezTo>
                    <a:pt x="386" y="180"/>
                    <a:pt x="386" y="180"/>
                    <a:pt x="386" y="180"/>
                  </a:cubicBezTo>
                  <a:cubicBezTo>
                    <a:pt x="389" y="180"/>
                    <a:pt x="392" y="182"/>
                    <a:pt x="392" y="185"/>
                  </a:cubicBezTo>
                  <a:close/>
                  <a:moveTo>
                    <a:pt x="392" y="460"/>
                  </a:moveTo>
                  <a:cubicBezTo>
                    <a:pt x="392" y="463"/>
                    <a:pt x="392" y="463"/>
                    <a:pt x="392" y="463"/>
                  </a:cubicBezTo>
                  <a:cubicBezTo>
                    <a:pt x="28" y="463"/>
                    <a:pt x="28" y="463"/>
                    <a:pt x="28" y="463"/>
                  </a:cubicBezTo>
                  <a:cubicBezTo>
                    <a:pt x="28" y="460"/>
                    <a:pt x="28" y="460"/>
                    <a:pt x="28" y="460"/>
                  </a:cubicBezTo>
                  <a:cubicBezTo>
                    <a:pt x="392" y="460"/>
                    <a:pt x="392" y="460"/>
                    <a:pt x="392" y="460"/>
                  </a:cubicBezTo>
                  <a:close/>
                  <a:moveTo>
                    <a:pt x="392" y="478"/>
                  </a:moveTo>
                  <a:cubicBezTo>
                    <a:pt x="392" y="481"/>
                    <a:pt x="392" y="481"/>
                    <a:pt x="392" y="481"/>
                  </a:cubicBezTo>
                  <a:cubicBezTo>
                    <a:pt x="28" y="481"/>
                    <a:pt x="28" y="481"/>
                    <a:pt x="28" y="481"/>
                  </a:cubicBezTo>
                  <a:cubicBezTo>
                    <a:pt x="28" y="478"/>
                    <a:pt x="28" y="478"/>
                    <a:pt x="28" y="478"/>
                  </a:cubicBezTo>
                  <a:cubicBezTo>
                    <a:pt x="392" y="478"/>
                    <a:pt x="392" y="478"/>
                    <a:pt x="392" y="478"/>
                  </a:cubicBezTo>
                  <a:close/>
                  <a:moveTo>
                    <a:pt x="386" y="41"/>
                  </a:moveTo>
                  <a:cubicBezTo>
                    <a:pt x="405" y="41"/>
                    <a:pt x="420" y="56"/>
                    <a:pt x="420" y="75"/>
                  </a:cubicBezTo>
                  <a:cubicBezTo>
                    <a:pt x="420" y="463"/>
                    <a:pt x="420" y="463"/>
                    <a:pt x="420" y="463"/>
                  </a:cubicBezTo>
                  <a:cubicBezTo>
                    <a:pt x="420" y="481"/>
                    <a:pt x="405" y="496"/>
                    <a:pt x="386" y="496"/>
                  </a:cubicBezTo>
                  <a:cubicBezTo>
                    <a:pt x="269" y="496"/>
                    <a:pt x="151" y="496"/>
                    <a:pt x="34" y="496"/>
                  </a:cubicBezTo>
                  <a:cubicBezTo>
                    <a:pt x="15" y="496"/>
                    <a:pt x="0" y="481"/>
                    <a:pt x="0" y="463"/>
                  </a:cubicBezTo>
                  <a:cubicBezTo>
                    <a:pt x="0" y="75"/>
                    <a:pt x="0" y="75"/>
                    <a:pt x="0" y="75"/>
                  </a:cubicBezTo>
                  <a:cubicBezTo>
                    <a:pt x="0" y="56"/>
                    <a:pt x="15" y="41"/>
                    <a:pt x="34" y="41"/>
                  </a:cubicBezTo>
                  <a:cubicBezTo>
                    <a:pt x="51" y="41"/>
                    <a:pt x="51" y="41"/>
                    <a:pt x="51" y="41"/>
                  </a:cubicBezTo>
                  <a:cubicBezTo>
                    <a:pt x="51" y="57"/>
                    <a:pt x="51" y="72"/>
                    <a:pt x="51" y="88"/>
                  </a:cubicBezTo>
                  <a:cubicBezTo>
                    <a:pt x="51" y="98"/>
                    <a:pt x="59" y="106"/>
                    <a:pt x="69" y="106"/>
                  </a:cubicBezTo>
                  <a:cubicBezTo>
                    <a:pt x="74" y="106"/>
                    <a:pt x="78" y="106"/>
                    <a:pt x="83" y="106"/>
                  </a:cubicBezTo>
                  <a:cubicBezTo>
                    <a:pt x="93" y="106"/>
                    <a:pt x="101" y="98"/>
                    <a:pt x="101" y="88"/>
                  </a:cubicBezTo>
                  <a:cubicBezTo>
                    <a:pt x="101" y="72"/>
                    <a:pt x="101" y="57"/>
                    <a:pt x="101" y="41"/>
                  </a:cubicBezTo>
                  <a:cubicBezTo>
                    <a:pt x="321" y="41"/>
                    <a:pt x="321" y="41"/>
                    <a:pt x="321" y="41"/>
                  </a:cubicBezTo>
                  <a:cubicBezTo>
                    <a:pt x="321" y="57"/>
                    <a:pt x="321" y="72"/>
                    <a:pt x="321" y="88"/>
                  </a:cubicBezTo>
                  <a:cubicBezTo>
                    <a:pt x="321" y="98"/>
                    <a:pt x="329" y="106"/>
                    <a:pt x="339" y="106"/>
                  </a:cubicBezTo>
                  <a:cubicBezTo>
                    <a:pt x="343" y="106"/>
                    <a:pt x="348" y="106"/>
                    <a:pt x="352" y="106"/>
                  </a:cubicBezTo>
                  <a:cubicBezTo>
                    <a:pt x="362" y="106"/>
                    <a:pt x="370" y="98"/>
                    <a:pt x="370" y="88"/>
                  </a:cubicBezTo>
                  <a:cubicBezTo>
                    <a:pt x="370" y="72"/>
                    <a:pt x="370" y="57"/>
                    <a:pt x="370" y="41"/>
                  </a:cubicBezTo>
                  <a:lnTo>
                    <a:pt x="386" y="41"/>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Freeform 30"/>
            <p:cNvSpPr>
              <a:spLocks noEditPoints="1"/>
            </p:cNvSpPr>
            <p:nvPr/>
          </p:nvSpPr>
          <p:spPr bwMode="auto">
            <a:xfrm>
              <a:off x="7516809" y="2606482"/>
              <a:ext cx="551558" cy="689448"/>
            </a:xfrm>
            <a:custGeom>
              <a:avLst/>
              <a:gdLst>
                <a:gd name="T0" fmla="*/ 100 w 408"/>
                <a:gd name="T1" fmla="*/ 18 h 510"/>
                <a:gd name="T2" fmla="*/ 290 w 408"/>
                <a:gd name="T3" fmla="*/ 368 h 510"/>
                <a:gd name="T4" fmla="*/ 345 w 408"/>
                <a:gd name="T5" fmla="*/ 332 h 510"/>
                <a:gd name="T6" fmla="*/ 259 w 408"/>
                <a:gd name="T7" fmla="*/ 464 h 510"/>
                <a:gd name="T8" fmla="*/ 267 w 408"/>
                <a:gd name="T9" fmla="*/ 397 h 510"/>
                <a:gd name="T10" fmla="*/ 241 w 408"/>
                <a:gd name="T11" fmla="*/ 345 h 510"/>
                <a:gd name="T12" fmla="*/ 216 w 408"/>
                <a:gd name="T13" fmla="*/ 319 h 510"/>
                <a:gd name="T14" fmla="*/ 320 w 408"/>
                <a:gd name="T15" fmla="*/ 474 h 510"/>
                <a:gd name="T16" fmla="*/ 159 w 408"/>
                <a:gd name="T17" fmla="*/ 386 h 510"/>
                <a:gd name="T18" fmla="*/ 196 w 408"/>
                <a:gd name="T19" fmla="*/ 298 h 510"/>
                <a:gd name="T20" fmla="*/ 229 w 408"/>
                <a:gd name="T21" fmla="*/ 381 h 510"/>
                <a:gd name="T22" fmla="*/ 338 w 408"/>
                <a:gd name="T23" fmla="*/ 391 h 510"/>
                <a:gd name="T24" fmla="*/ 278 w 408"/>
                <a:gd name="T25" fmla="*/ 440 h 510"/>
                <a:gd name="T26" fmla="*/ 289 w 408"/>
                <a:gd name="T27" fmla="*/ 332 h 510"/>
                <a:gd name="T28" fmla="*/ 126 w 408"/>
                <a:gd name="T29" fmla="*/ 86 h 510"/>
                <a:gd name="T30" fmla="*/ 138 w 408"/>
                <a:gd name="T31" fmla="*/ 19 h 510"/>
                <a:gd name="T32" fmla="*/ 217 w 408"/>
                <a:gd name="T33" fmla="*/ 61 h 510"/>
                <a:gd name="T34" fmla="*/ 127 w 408"/>
                <a:gd name="T35" fmla="*/ 22 h 510"/>
                <a:gd name="T36" fmla="*/ 244 w 408"/>
                <a:gd name="T37" fmla="*/ 59 h 510"/>
                <a:gd name="T38" fmla="*/ 134 w 408"/>
                <a:gd name="T39" fmla="*/ 343 h 510"/>
                <a:gd name="T40" fmla="*/ 87 w 408"/>
                <a:gd name="T41" fmla="*/ 290 h 510"/>
                <a:gd name="T42" fmla="*/ 86 w 408"/>
                <a:gd name="T43" fmla="*/ 290 h 510"/>
                <a:gd name="T44" fmla="*/ 85 w 408"/>
                <a:gd name="T45" fmla="*/ 290 h 510"/>
                <a:gd name="T46" fmla="*/ 84 w 408"/>
                <a:gd name="T47" fmla="*/ 289 h 510"/>
                <a:gd name="T48" fmla="*/ 83 w 408"/>
                <a:gd name="T49" fmla="*/ 289 h 510"/>
                <a:gd name="T50" fmla="*/ 83 w 408"/>
                <a:gd name="T51" fmla="*/ 289 h 510"/>
                <a:gd name="T52" fmla="*/ 82 w 408"/>
                <a:gd name="T53" fmla="*/ 289 h 510"/>
                <a:gd name="T54" fmla="*/ 81 w 408"/>
                <a:gd name="T55" fmla="*/ 288 h 510"/>
                <a:gd name="T56" fmla="*/ 81 w 408"/>
                <a:gd name="T57" fmla="*/ 288 h 510"/>
                <a:gd name="T58" fmla="*/ 80 w 408"/>
                <a:gd name="T59" fmla="*/ 287 h 510"/>
                <a:gd name="T60" fmla="*/ 80 w 408"/>
                <a:gd name="T61" fmla="*/ 287 h 510"/>
                <a:gd name="T62" fmla="*/ 79 w 408"/>
                <a:gd name="T63" fmla="*/ 286 h 510"/>
                <a:gd name="T64" fmla="*/ 79 w 408"/>
                <a:gd name="T65" fmla="*/ 285 h 510"/>
                <a:gd name="T66" fmla="*/ 78 w 408"/>
                <a:gd name="T67" fmla="*/ 284 h 510"/>
                <a:gd name="T68" fmla="*/ 78 w 408"/>
                <a:gd name="T69" fmla="*/ 284 h 510"/>
                <a:gd name="T70" fmla="*/ 78 w 408"/>
                <a:gd name="T71" fmla="*/ 283 h 510"/>
                <a:gd name="T72" fmla="*/ 78 w 408"/>
                <a:gd name="T73" fmla="*/ 282 h 510"/>
                <a:gd name="T74" fmla="*/ 77 w 408"/>
                <a:gd name="T75" fmla="*/ 281 h 510"/>
                <a:gd name="T76" fmla="*/ 77 w 408"/>
                <a:gd name="T77" fmla="*/ 281 h 510"/>
                <a:gd name="T78" fmla="*/ 77 w 408"/>
                <a:gd name="T79" fmla="*/ 280 h 510"/>
                <a:gd name="T80" fmla="*/ 77 w 408"/>
                <a:gd name="T81" fmla="*/ 279 h 510"/>
                <a:gd name="T82" fmla="*/ 78 w 408"/>
                <a:gd name="T83" fmla="*/ 278 h 510"/>
                <a:gd name="T84" fmla="*/ 78 w 408"/>
                <a:gd name="T85" fmla="*/ 278 h 510"/>
                <a:gd name="T86" fmla="*/ 78 w 408"/>
                <a:gd name="T87" fmla="*/ 277 h 510"/>
                <a:gd name="T88" fmla="*/ 79 w 408"/>
                <a:gd name="T89" fmla="*/ 276 h 510"/>
                <a:gd name="T90" fmla="*/ 79 w 408"/>
                <a:gd name="T91" fmla="*/ 275 h 510"/>
                <a:gd name="T92" fmla="*/ 80 w 408"/>
                <a:gd name="T93" fmla="*/ 274 h 510"/>
                <a:gd name="T94" fmla="*/ 80 w 408"/>
                <a:gd name="T95" fmla="*/ 274 h 510"/>
                <a:gd name="T96" fmla="*/ 81 w 408"/>
                <a:gd name="T97" fmla="*/ 273 h 510"/>
                <a:gd name="T98" fmla="*/ 82 w 408"/>
                <a:gd name="T99" fmla="*/ 272 h 510"/>
                <a:gd name="T100" fmla="*/ 83 w 408"/>
                <a:gd name="T101" fmla="*/ 272 h 510"/>
                <a:gd name="T102" fmla="*/ 84 w 408"/>
                <a:gd name="T103" fmla="*/ 272 h 510"/>
                <a:gd name="T104" fmla="*/ 86 w 408"/>
                <a:gd name="T105" fmla="*/ 271 h 510"/>
                <a:gd name="T106" fmla="*/ 77 w 408"/>
                <a:gd name="T107" fmla="*/ 280 h 510"/>
                <a:gd name="T108" fmla="*/ 87 w 408"/>
                <a:gd name="T109" fmla="*/ 237 h 510"/>
                <a:gd name="T110" fmla="*/ 267 w 408"/>
                <a:gd name="T111" fmla="*/ 175 h 510"/>
                <a:gd name="T112" fmla="*/ 258 w 408"/>
                <a:gd name="T113" fmla="*/ 115 h 510"/>
                <a:gd name="T114" fmla="*/ 87 w 408"/>
                <a:gd name="T115" fmla="*/ 115 h 510"/>
                <a:gd name="T116" fmla="*/ 212 w 408"/>
                <a:gd name="T117" fmla="*/ 28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8" h="510">
                  <a:moveTo>
                    <a:pt x="23" y="460"/>
                  </a:moveTo>
                  <a:cubicBezTo>
                    <a:pt x="147" y="460"/>
                    <a:pt x="147" y="460"/>
                    <a:pt x="147" y="460"/>
                  </a:cubicBezTo>
                  <a:cubicBezTo>
                    <a:pt x="140" y="447"/>
                    <a:pt x="135" y="434"/>
                    <a:pt x="132" y="419"/>
                  </a:cubicBezTo>
                  <a:cubicBezTo>
                    <a:pt x="43" y="419"/>
                    <a:pt x="43" y="419"/>
                    <a:pt x="43" y="419"/>
                  </a:cubicBezTo>
                  <a:cubicBezTo>
                    <a:pt x="43" y="59"/>
                    <a:pt x="43" y="59"/>
                    <a:pt x="43" y="59"/>
                  </a:cubicBezTo>
                  <a:cubicBezTo>
                    <a:pt x="100" y="59"/>
                    <a:pt x="100" y="59"/>
                    <a:pt x="100" y="59"/>
                  </a:cubicBezTo>
                  <a:cubicBezTo>
                    <a:pt x="100" y="18"/>
                    <a:pt x="100" y="18"/>
                    <a:pt x="100" y="18"/>
                  </a:cubicBezTo>
                  <a:cubicBezTo>
                    <a:pt x="23" y="18"/>
                    <a:pt x="23" y="18"/>
                    <a:pt x="23" y="18"/>
                  </a:cubicBezTo>
                  <a:cubicBezTo>
                    <a:pt x="11" y="18"/>
                    <a:pt x="0" y="28"/>
                    <a:pt x="0" y="41"/>
                  </a:cubicBezTo>
                  <a:cubicBezTo>
                    <a:pt x="0" y="437"/>
                    <a:pt x="0" y="437"/>
                    <a:pt x="0" y="437"/>
                  </a:cubicBezTo>
                  <a:cubicBezTo>
                    <a:pt x="0" y="450"/>
                    <a:pt x="11" y="460"/>
                    <a:pt x="23" y="460"/>
                  </a:cubicBezTo>
                  <a:close/>
                  <a:moveTo>
                    <a:pt x="286" y="370"/>
                  </a:moveTo>
                  <a:cubicBezTo>
                    <a:pt x="286" y="370"/>
                    <a:pt x="287" y="369"/>
                    <a:pt x="287" y="369"/>
                  </a:cubicBezTo>
                  <a:cubicBezTo>
                    <a:pt x="288" y="368"/>
                    <a:pt x="289" y="368"/>
                    <a:pt x="290" y="368"/>
                  </a:cubicBezTo>
                  <a:cubicBezTo>
                    <a:pt x="291" y="369"/>
                    <a:pt x="291" y="369"/>
                    <a:pt x="291" y="370"/>
                  </a:cubicBezTo>
                  <a:cubicBezTo>
                    <a:pt x="292" y="370"/>
                    <a:pt x="292" y="370"/>
                    <a:pt x="292" y="370"/>
                  </a:cubicBezTo>
                  <a:cubicBezTo>
                    <a:pt x="337" y="325"/>
                    <a:pt x="337" y="325"/>
                    <a:pt x="337" y="325"/>
                  </a:cubicBezTo>
                  <a:cubicBezTo>
                    <a:pt x="338" y="324"/>
                    <a:pt x="340" y="323"/>
                    <a:pt x="341" y="323"/>
                  </a:cubicBezTo>
                  <a:cubicBezTo>
                    <a:pt x="342" y="323"/>
                    <a:pt x="344" y="324"/>
                    <a:pt x="345" y="325"/>
                  </a:cubicBezTo>
                  <a:cubicBezTo>
                    <a:pt x="346" y="326"/>
                    <a:pt x="346" y="327"/>
                    <a:pt x="346" y="329"/>
                  </a:cubicBezTo>
                  <a:cubicBezTo>
                    <a:pt x="346" y="330"/>
                    <a:pt x="346" y="331"/>
                    <a:pt x="345" y="332"/>
                  </a:cubicBezTo>
                  <a:cubicBezTo>
                    <a:pt x="293" y="384"/>
                    <a:pt x="293" y="384"/>
                    <a:pt x="293" y="384"/>
                  </a:cubicBezTo>
                  <a:cubicBezTo>
                    <a:pt x="300" y="389"/>
                    <a:pt x="300" y="389"/>
                    <a:pt x="300" y="389"/>
                  </a:cubicBezTo>
                  <a:cubicBezTo>
                    <a:pt x="302" y="391"/>
                    <a:pt x="303" y="392"/>
                    <a:pt x="303" y="394"/>
                  </a:cubicBezTo>
                  <a:cubicBezTo>
                    <a:pt x="304" y="398"/>
                    <a:pt x="301" y="402"/>
                    <a:pt x="297" y="403"/>
                  </a:cubicBezTo>
                  <a:cubicBezTo>
                    <a:pt x="295" y="403"/>
                    <a:pt x="293" y="403"/>
                    <a:pt x="291" y="401"/>
                  </a:cubicBezTo>
                  <a:cubicBezTo>
                    <a:pt x="283" y="396"/>
                    <a:pt x="283" y="396"/>
                    <a:pt x="283" y="396"/>
                  </a:cubicBezTo>
                  <a:cubicBezTo>
                    <a:pt x="259" y="464"/>
                    <a:pt x="259" y="464"/>
                    <a:pt x="259" y="464"/>
                  </a:cubicBezTo>
                  <a:cubicBezTo>
                    <a:pt x="259" y="465"/>
                    <a:pt x="258" y="465"/>
                    <a:pt x="258" y="466"/>
                  </a:cubicBezTo>
                  <a:cubicBezTo>
                    <a:pt x="256" y="466"/>
                    <a:pt x="254" y="466"/>
                    <a:pt x="253" y="464"/>
                  </a:cubicBezTo>
                  <a:cubicBezTo>
                    <a:pt x="253" y="463"/>
                    <a:pt x="253" y="463"/>
                    <a:pt x="253" y="462"/>
                  </a:cubicBezTo>
                  <a:cubicBezTo>
                    <a:pt x="274" y="402"/>
                    <a:pt x="274" y="402"/>
                    <a:pt x="274" y="402"/>
                  </a:cubicBezTo>
                  <a:cubicBezTo>
                    <a:pt x="274" y="402"/>
                    <a:pt x="273" y="403"/>
                    <a:pt x="272" y="403"/>
                  </a:cubicBezTo>
                  <a:cubicBezTo>
                    <a:pt x="271" y="403"/>
                    <a:pt x="270" y="402"/>
                    <a:pt x="269" y="401"/>
                  </a:cubicBezTo>
                  <a:cubicBezTo>
                    <a:pt x="268" y="400"/>
                    <a:pt x="267" y="399"/>
                    <a:pt x="267" y="397"/>
                  </a:cubicBezTo>
                  <a:cubicBezTo>
                    <a:pt x="267" y="396"/>
                    <a:pt x="268" y="394"/>
                    <a:pt x="269" y="393"/>
                  </a:cubicBezTo>
                  <a:cubicBezTo>
                    <a:pt x="274" y="388"/>
                    <a:pt x="274" y="388"/>
                    <a:pt x="274" y="388"/>
                  </a:cubicBezTo>
                  <a:cubicBezTo>
                    <a:pt x="232" y="357"/>
                    <a:pt x="232" y="357"/>
                    <a:pt x="232" y="357"/>
                  </a:cubicBezTo>
                  <a:cubicBezTo>
                    <a:pt x="231" y="356"/>
                    <a:pt x="230" y="354"/>
                    <a:pt x="229" y="352"/>
                  </a:cubicBezTo>
                  <a:cubicBezTo>
                    <a:pt x="229" y="350"/>
                    <a:pt x="230" y="348"/>
                    <a:pt x="231" y="347"/>
                  </a:cubicBezTo>
                  <a:cubicBezTo>
                    <a:pt x="232" y="345"/>
                    <a:pt x="234" y="344"/>
                    <a:pt x="236" y="344"/>
                  </a:cubicBezTo>
                  <a:cubicBezTo>
                    <a:pt x="238" y="344"/>
                    <a:pt x="240" y="344"/>
                    <a:pt x="241" y="345"/>
                  </a:cubicBezTo>
                  <a:cubicBezTo>
                    <a:pt x="283" y="377"/>
                    <a:pt x="283" y="377"/>
                    <a:pt x="283" y="377"/>
                  </a:cubicBezTo>
                  <a:cubicBezTo>
                    <a:pt x="286" y="370"/>
                    <a:pt x="286" y="370"/>
                    <a:pt x="286" y="370"/>
                  </a:cubicBezTo>
                  <a:close/>
                  <a:moveTo>
                    <a:pt x="350" y="319"/>
                  </a:moveTo>
                  <a:cubicBezTo>
                    <a:pt x="342" y="310"/>
                    <a:pt x="331" y="303"/>
                    <a:pt x="320" y="299"/>
                  </a:cubicBezTo>
                  <a:cubicBezTo>
                    <a:pt x="309" y="294"/>
                    <a:pt x="296" y="291"/>
                    <a:pt x="283" y="291"/>
                  </a:cubicBezTo>
                  <a:cubicBezTo>
                    <a:pt x="271" y="291"/>
                    <a:pt x="258" y="294"/>
                    <a:pt x="247" y="299"/>
                  </a:cubicBezTo>
                  <a:cubicBezTo>
                    <a:pt x="236" y="303"/>
                    <a:pt x="225" y="310"/>
                    <a:pt x="216" y="319"/>
                  </a:cubicBezTo>
                  <a:cubicBezTo>
                    <a:pt x="208" y="328"/>
                    <a:pt x="201" y="338"/>
                    <a:pt x="196" y="350"/>
                  </a:cubicBezTo>
                  <a:cubicBezTo>
                    <a:pt x="191" y="361"/>
                    <a:pt x="189" y="373"/>
                    <a:pt x="189" y="386"/>
                  </a:cubicBezTo>
                  <a:cubicBezTo>
                    <a:pt x="189" y="399"/>
                    <a:pt x="191" y="411"/>
                    <a:pt x="196" y="422"/>
                  </a:cubicBezTo>
                  <a:cubicBezTo>
                    <a:pt x="201" y="434"/>
                    <a:pt x="208" y="444"/>
                    <a:pt x="216" y="453"/>
                  </a:cubicBezTo>
                  <a:cubicBezTo>
                    <a:pt x="225" y="462"/>
                    <a:pt x="236" y="469"/>
                    <a:pt x="247" y="474"/>
                  </a:cubicBezTo>
                  <a:cubicBezTo>
                    <a:pt x="258" y="478"/>
                    <a:pt x="271" y="481"/>
                    <a:pt x="283" y="481"/>
                  </a:cubicBezTo>
                  <a:cubicBezTo>
                    <a:pt x="296" y="481"/>
                    <a:pt x="309" y="478"/>
                    <a:pt x="320" y="474"/>
                  </a:cubicBezTo>
                  <a:cubicBezTo>
                    <a:pt x="331" y="469"/>
                    <a:pt x="342" y="462"/>
                    <a:pt x="350" y="453"/>
                  </a:cubicBezTo>
                  <a:cubicBezTo>
                    <a:pt x="359" y="444"/>
                    <a:pt x="366" y="434"/>
                    <a:pt x="371" y="422"/>
                  </a:cubicBezTo>
                  <a:cubicBezTo>
                    <a:pt x="376" y="411"/>
                    <a:pt x="378" y="399"/>
                    <a:pt x="378" y="386"/>
                  </a:cubicBezTo>
                  <a:cubicBezTo>
                    <a:pt x="378" y="373"/>
                    <a:pt x="376" y="361"/>
                    <a:pt x="371" y="350"/>
                  </a:cubicBezTo>
                  <a:cubicBezTo>
                    <a:pt x="366" y="338"/>
                    <a:pt x="359" y="328"/>
                    <a:pt x="350" y="319"/>
                  </a:cubicBezTo>
                  <a:close/>
                  <a:moveTo>
                    <a:pt x="196" y="298"/>
                  </a:moveTo>
                  <a:cubicBezTo>
                    <a:pt x="173" y="321"/>
                    <a:pt x="159" y="352"/>
                    <a:pt x="159" y="386"/>
                  </a:cubicBezTo>
                  <a:cubicBezTo>
                    <a:pt x="159" y="420"/>
                    <a:pt x="173" y="451"/>
                    <a:pt x="196" y="474"/>
                  </a:cubicBezTo>
                  <a:cubicBezTo>
                    <a:pt x="218" y="496"/>
                    <a:pt x="249" y="510"/>
                    <a:pt x="283" y="510"/>
                  </a:cubicBezTo>
                  <a:cubicBezTo>
                    <a:pt x="318" y="510"/>
                    <a:pt x="349" y="496"/>
                    <a:pt x="371" y="474"/>
                  </a:cubicBezTo>
                  <a:cubicBezTo>
                    <a:pt x="394" y="451"/>
                    <a:pt x="408" y="420"/>
                    <a:pt x="408" y="386"/>
                  </a:cubicBezTo>
                  <a:cubicBezTo>
                    <a:pt x="408" y="352"/>
                    <a:pt x="394" y="321"/>
                    <a:pt x="371" y="298"/>
                  </a:cubicBezTo>
                  <a:cubicBezTo>
                    <a:pt x="349" y="276"/>
                    <a:pt x="318" y="262"/>
                    <a:pt x="283" y="262"/>
                  </a:cubicBezTo>
                  <a:cubicBezTo>
                    <a:pt x="249" y="262"/>
                    <a:pt x="218" y="276"/>
                    <a:pt x="196" y="298"/>
                  </a:cubicBezTo>
                  <a:close/>
                  <a:moveTo>
                    <a:pt x="229" y="381"/>
                  </a:moveTo>
                  <a:cubicBezTo>
                    <a:pt x="202" y="381"/>
                    <a:pt x="202" y="381"/>
                    <a:pt x="202" y="381"/>
                  </a:cubicBezTo>
                  <a:cubicBezTo>
                    <a:pt x="199" y="381"/>
                    <a:pt x="197" y="383"/>
                    <a:pt x="197" y="386"/>
                  </a:cubicBezTo>
                  <a:cubicBezTo>
                    <a:pt x="197" y="389"/>
                    <a:pt x="199" y="391"/>
                    <a:pt x="202" y="391"/>
                  </a:cubicBezTo>
                  <a:cubicBezTo>
                    <a:pt x="229" y="391"/>
                    <a:pt x="229" y="391"/>
                    <a:pt x="229" y="391"/>
                  </a:cubicBezTo>
                  <a:cubicBezTo>
                    <a:pt x="232" y="391"/>
                    <a:pt x="235" y="389"/>
                    <a:pt x="235" y="386"/>
                  </a:cubicBezTo>
                  <a:cubicBezTo>
                    <a:pt x="235" y="383"/>
                    <a:pt x="232" y="381"/>
                    <a:pt x="229" y="381"/>
                  </a:cubicBezTo>
                  <a:close/>
                  <a:moveTo>
                    <a:pt x="338" y="391"/>
                  </a:moveTo>
                  <a:cubicBezTo>
                    <a:pt x="365" y="391"/>
                    <a:pt x="365" y="391"/>
                    <a:pt x="365" y="391"/>
                  </a:cubicBezTo>
                  <a:cubicBezTo>
                    <a:pt x="368" y="391"/>
                    <a:pt x="370" y="389"/>
                    <a:pt x="370" y="386"/>
                  </a:cubicBezTo>
                  <a:cubicBezTo>
                    <a:pt x="370" y="383"/>
                    <a:pt x="368" y="381"/>
                    <a:pt x="365" y="381"/>
                  </a:cubicBezTo>
                  <a:cubicBezTo>
                    <a:pt x="338" y="381"/>
                    <a:pt x="338" y="381"/>
                    <a:pt x="338" y="381"/>
                  </a:cubicBezTo>
                  <a:cubicBezTo>
                    <a:pt x="335" y="381"/>
                    <a:pt x="332" y="383"/>
                    <a:pt x="332" y="386"/>
                  </a:cubicBezTo>
                  <a:cubicBezTo>
                    <a:pt x="332" y="389"/>
                    <a:pt x="335" y="391"/>
                    <a:pt x="338" y="391"/>
                  </a:cubicBezTo>
                  <a:close/>
                  <a:moveTo>
                    <a:pt x="278" y="440"/>
                  </a:moveTo>
                  <a:cubicBezTo>
                    <a:pt x="278" y="467"/>
                    <a:pt x="278" y="467"/>
                    <a:pt x="278" y="467"/>
                  </a:cubicBezTo>
                  <a:cubicBezTo>
                    <a:pt x="278" y="470"/>
                    <a:pt x="280" y="473"/>
                    <a:pt x="283" y="473"/>
                  </a:cubicBezTo>
                  <a:cubicBezTo>
                    <a:pt x="286" y="473"/>
                    <a:pt x="289" y="470"/>
                    <a:pt x="289" y="467"/>
                  </a:cubicBezTo>
                  <a:cubicBezTo>
                    <a:pt x="289" y="440"/>
                    <a:pt x="289" y="440"/>
                    <a:pt x="289" y="440"/>
                  </a:cubicBezTo>
                  <a:cubicBezTo>
                    <a:pt x="289" y="437"/>
                    <a:pt x="286" y="435"/>
                    <a:pt x="283" y="435"/>
                  </a:cubicBezTo>
                  <a:cubicBezTo>
                    <a:pt x="280" y="435"/>
                    <a:pt x="278" y="437"/>
                    <a:pt x="278" y="440"/>
                  </a:cubicBezTo>
                  <a:close/>
                  <a:moveTo>
                    <a:pt x="289" y="332"/>
                  </a:moveTo>
                  <a:cubicBezTo>
                    <a:pt x="289" y="305"/>
                    <a:pt x="289" y="305"/>
                    <a:pt x="289" y="305"/>
                  </a:cubicBezTo>
                  <a:cubicBezTo>
                    <a:pt x="289" y="302"/>
                    <a:pt x="286" y="299"/>
                    <a:pt x="283" y="299"/>
                  </a:cubicBezTo>
                  <a:cubicBezTo>
                    <a:pt x="280" y="299"/>
                    <a:pt x="278" y="302"/>
                    <a:pt x="278" y="305"/>
                  </a:cubicBezTo>
                  <a:cubicBezTo>
                    <a:pt x="278" y="332"/>
                    <a:pt x="278" y="332"/>
                    <a:pt x="278" y="332"/>
                  </a:cubicBezTo>
                  <a:cubicBezTo>
                    <a:pt x="278" y="335"/>
                    <a:pt x="280" y="337"/>
                    <a:pt x="283" y="337"/>
                  </a:cubicBezTo>
                  <a:cubicBezTo>
                    <a:pt x="286" y="337"/>
                    <a:pt x="289" y="335"/>
                    <a:pt x="289" y="332"/>
                  </a:cubicBezTo>
                  <a:close/>
                  <a:moveTo>
                    <a:pt x="218" y="0"/>
                  </a:moveTo>
                  <a:cubicBezTo>
                    <a:pt x="224" y="0"/>
                    <a:pt x="228" y="2"/>
                    <a:pt x="232" y="4"/>
                  </a:cubicBezTo>
                  <a:cubicBezTo>
                    <a:pt x="235" y="7"/>
                    <a:pt x="237" y="11"/>
                    <a:pt x="237" y="14"/>
                  </a:cubicBezTo>
                  <a:cubicBezTo>
                    <a:pt x="237" y="72"/>
                    <a:pt x="237" y="72"/>
                    <a:pt x="237" y="72"/>
                  </a:cubicBezTo>
                  <a:cubicBezTo>
                    <a:pt x="237" y="75"/>
                    <a:pt x="235" y="79"/>
                    <a:pt x="232" y="82"/>
                  </a:cubicBezTo>
                  <a:cubicBezTo>
                    <a:pt x="228" y="84"/>
                    <a:pt x="224" y="86"/>
                    <a:pt x="218" y="86"/>
                  </a:cubicBezTo>
                  <a:cubicBezTo>
                    <a:pt x="126" y="86"/>
                    <a:pt x="126" y="86"/>
                    <a:pt x="126" y="86"/>
                  </a:cubicBezTo>
                  <a:cubicBezTo>
                    <a:pt x="121" y="86"/>
                    <a:pt x="116" y="84"/>
                    <a:pt x="113" y="82"/>
                  </a:cubicBezTo>
                  <a:cubicBezTo>
                    <a:pt x="110" y="79"/>
                    <a:pt x="108" y="75"/>
                    <a:pt x="108" y="72"/>
                  </a:cubicBezTo>
                  <a:cubicBezTo>
                    <a:pt x="108" y="14"/>
                    <a:pt x="108" y="14"/>
                    <a:pt x="108" y="14"/>
                  </a:cubicBezTo>
                  <a:cubicBezTo>
                    <a:pt x="108" y="11"/>
                    <a:pt x="110" y="7"/>
                    <a:pt x="113" y="4"/>
                  </a:cubicBezTo>
                  <a:cubicBezTo>
                    <a:pt x="116" y="2"/>
                    <a:pt x="121" y="0"/>
                    <a:pt x="126" y="0"/>
                  </a:cubicBezTo>
                  <a:cubicBezTo>
                    <a:pt x="218" y="0"/>
                    <a:pt x="218" y="0"/>
                    <a:pt x="218" y="0"/>
                  </a:cubicBezTo>
                  <a:close/>
                  <a:moveTo>
                    <a:pt x="138" y="19"/>
                  </a:moveTo>
                  <a:cubicBezTo>
                    <a:pt x="206" y="19"/>
                    <a:pt x="206" y="19"/>
                    <a:pt x="206" y="19"/>
                  </a:cubicBezTo>
                  <a:cubicBezTo>
                    <a:pt x="210" y="19"/>
                    <a:pt x="214" y="20"/>
                    <a:pt x="217" y="22"/>
                  </a:cubicBezTo>
                  <a:cubicBezTo>
                    <a:pt x="217" y="22"/>
                    <a:pt x="217" y="22"/>
                    <a:pt x="217" y="22"/>
                  </a:cubicBezTo>
                  <a:cubicBezTo>
                    <a:pt x="220" y="25"/>
                    <a:pt x="222" y="29"/>
                    <a:pt x="222" y="33"/>
                  </a:cubicBezTo>
                  <a:cubicBezTo>
                    <a:pt x="222" y="51"/>
                    <a:pt x="222" y="51"/>
                    <a:pt x="222" y="51"/>
                  </a:cubicBezTo>
                  <a:cubicBezTo>
                    <a:pt x="222" y="55"/>
                    <a:pt x="220" y="58"/>
                    <a:pt x="217" y="61"/>
                  </a:cubicBezTo>
                  <a:cubicBezTo>
                    <a:pt x="217" y="61"/>
                    <a:pt x="217" y="61"/>
                    <a:pt x="217" y="61"/>
                  </a:cubicBezTo>
                  <a:cubicBezTo>
                    <a:pt x="214" y="63"/>
                    <a:pt x="210" y="65"/>
                    <a:pt x="206" y="65"/>
                  </a:cubicBezTo>
                  <a:cubicBezTo>
                    <a:pt x="138" y="65"/>
                    <a:pt x="138" y="65"/>
                    <a:pt x="138" y="65"/>
                  </a:cubicBezTo>
                  <a:cubicBezTo>
                    <a:pt x="134" y="65"/>
                    <a:pt x="130" y="63"/>
                    <a:pt x="127" y="61"/>
                  </a:cubicBezTo>
                  <a:cubicBezTo>
                    <a:pt x="127" y="61"/>
                    <a:pt x="127" y="61"/>
                    <a:pt x="127" y="61"/>
                  </a:cubicBezTo>
                  <a:cubicBezTo>
                    <a:pt x="124" y="58"/>
                    <a:pt x="122" y="55"/>
                    <a:pt x="122" y="51"/>
                  </a:cubicBezTo>
                  <a:cubicBezTo>
                    <a:pt x="122" y="33"/>
                    <a:pt x="122" y="33"/>
                    <a:pt x="122" y="33"/>
                  </a:cubicBezTo>
                  <a:cubicBezTo>
                    <a:pt x="122" y="29"/>
                    <a:pt x="124" y="25"/>
                    <a:pt x="127" y="22"/>
                  </a:cubicBezTo>
                  <a:cubicBezTo>
                    <a:pt x="127" y="22"/>
                    <a:pt x="127" y="22"/>
                    <a:pt x="127" y="22"/>
                  </a:cubicBezTo>
                  <a:cubicBezTo>
                    <a:pt x="130" y="20"/>
                    <a:pt x="134" y="19"/>
                    <a:pt x="138" y="19"/>
                  </a:cubicBezTo>
                  <a:close/>
                  <a:moveTo>
                    <a:pt x="344" y="243"/>
                  </a:moveTo>
                  <a:cubicBezTo>
                    <a:pt x="344" y="41"/>
                    <a:pt x="344" y="41"/>
                    <a:pt x="344" y="41"/>
                  </a:cubicBezTo>
                  <a:cubicBezTo>
                    <a:pt x="344" y="28"/>
                    <a:pt x="334" y="18"/>
                    <a:pt x="321" y="18"/>
                  </a:cubicBezTo>
                  <a:cubicBezTo>
                    <a:pt x="244" y="18"/>
                    <a:pt x="244" y="18"/>
                    <a:pt x="244" y="18"/>
                  </a:cubicBezTo>
                  <a:cubicBezTo>
                    <a:pt x="244" y="59"/>
                    <a:pt x="244" y="59"/>
                    <a:pt x="244" y="59"/>
                  </a:cubicBezTo>
                  <a:cubicBezTo>
                    <a:pt x="302" y="59"/>
                    <a:pt x="302" y="59"/>
                    <a:pt x="302" y="59"/>
                  </a:cubicBezTo>
                  <a:cubicBezTo>
                    <a:pt x="302" y="92"/>
                    <a:pt x="302" y="92"/>
                    <a:pt x="302" y="92"/>
                  </a:cubicBezTo>
                  <a:cubicBezTo>
                    <a:pt x="302" y="232"/>
                    <a:pt x="302" y="232"/>
                    <a:pt x="302" y="232"/>
                  </a:cubicBezTo>
                  <a:cubicBezTo>
                    <a:pt x="317" y="234"/>
                    <a:pt x="331" y="238"/>
                    <a:pt x="344" y="243"/>
                  </a:cubicBezTo>
                  <a:close/>
                  <a:moveTo>
                    <a:pt x="87" y="324"/>
                  </a:moveTo>
                  <a:cubicBezTo>
                    <a:pt x="141" y="324"/>
                    <a:pt x="141" y="324"/>
                    <a:pt x="141" y="324"/>
                  </a:cubicBezTo>
                  <a:cubicBezTo>
                    <a:pt x="139" y="330"/>
                    <a:pt x="136" y="336"/>
                    <a:pt x="134" y="343"/>
                  </a:cubicBezTo>
                  <a:cubicBezTo>
                    <a:pt x="87" y="343"/>
                    <a:pt x="87" y="343"/>
                    <a:pt x="87" y="343"/>
                  </a:cubicBezTo>
                  <a:cubicBezTo>
                    <a:pt x="82" y="343"/>
                    <a:pt x="77" y="339"/>
                    <a:pt x="77" y="333"/>
                  </a:cubicBezTo>
                  <a:cubicBezTo>
                    <a:pt x="77" y="333"/>
                    <a:pt x="77" y="333"/>
                    <a:pt x="77" y="333"/>
                  </a:cubicBezTo>
                  <a:cubicBezTo>
                    <a:pt x="77" y="328"/>
                    <a:pt x="82" y="324"/>
                    <a:pt x="87" y="324"/>
                  </a:cubicBezTo>
                  <a:close/>
                  <a:moveTo>
                    <a:pt x="162" y="290"/>
                  </a:moveTo>
                  <a:cubicBezTo>
                    <a:pt x="87" y="290"/>
                    <a:pt x="87" y="290"/>
                    <a:pt x="87" y="290"/>
                  </a:cubicBezTo>
                  <a:cubicBezTo>
                    <a:pt x="87" y="290"/>
                    <a:pt x="87" y="290"/>
                    <a:pt x="87"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6" y="290"/>
                    <a:pt x="86" y="290"/>
                    <a:pt x="86"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5" y="290"/>
                    <a:pt x="85" y="290"/>
                    <a:pt x="85" y="290"/>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4" y="289"/>
                    <a:pt x="84" y="289"/>
                    <a:pt x="84"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3" y="289"/>
                    <a:pt x="83" y="289"/>
                    <a:pt x="83"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9"/>
                    <a:pt x="82" y="289"/>
                    <a:pt x="82" y="289"/>
                  </a:cubicBezTo>
                  <a:cubicBezTo>
                    <a:pt x="82" y="288"/>
                    <a:pt x="82" y="288"/>
                    <a:pt x="82" y="288"/>
                  </a:cubicBezTo>
                  <a:cubicBezTo>
                    <a:pt x="82" y="288"/>
                    <a:pt x="82" y="288"/>
                    <a:pt x="82" y="288"/>
                  </a:cubicBezTo>
                  <a:cubicBezTo>
                    <a:pt x="82" y="288"/>
                    <a:pt x="82" y="288"/>
                    <a:pt x="82" y="288"/>
                  </a:cubicBezTo>
                  <a:cubicBezTo>
                    <a:pt x="82" y="288"/>
                    <a:pt x="82" y="288"/>
                    <a:pt x="82"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8"/>
                    <a:pt x="81" y="288"/>
                    <a:pt x="81" y="288"/>
                  </a:cubicBezTo>
                  <a:cubicBezTo>
                    <a:pt x="81" y="287"/>
                    <a:pt x="81" y="287"/>
                    <a:pt x="81" y="287"/>
                  </a:cubicBezTo>
                  <a:cubicBezTo>
                    <a:pt x="81" y="287"/>
                    <a:pt x="81" y="287"/>
                    <a:pt x="81"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7"/>
                    <a:pt x="80" y="287"/>
                    <a:pt x="80" y="287"/>
                  </a:cubicBezTo>
                  <a:cubicBezTo>
                    <a:pt x="80" y="286"/>
                    <a:pt x="80" y="286"/>
                    <a:pt x="80" y="286"/>
                  </a:cubicBezTo>
                  <a:cubicBezTo>
                    <a:pt x="80" y="286"/>
                    <a:pt x="80" y="286"/>
                    <a:pt x="80"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6"/>
                    <a:pt x="79" y="286"/>
                    <a:pt x="79" y="286"/>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9" y="285"/>
                    <a:pt x="79" y="285"/>
                    <a:pt x="79" y="285"/>
                  </a:cubicBezTo>
                  <a:cubicBezTo>
                    <a:pt x="78" y="285"/>
                    <a:pt x="78" y="285"/>
                    <a:pt x="78" y="285"/>
                  </a:cubicBezTo>
                  <a:cubicBezTo>
                    <a:pt x="78" y="285"/>
                    <a:pt x="78" y="285"/>
                    <a:pt x="78" y="285"/>
                  </a:cubicBezTo>
                  <a:cubicBezTo>
                    <a:pt x="78" y="285"/>
                    <a:pt x="78" y="285"/>
                    <a:pt x="78" y="285"/>
                  </a:cubicBezTo>
                  <a:cubicBezTo>
                    <a:pt x="78" y="285"/>
                    <a:pt x="78" y="285"/>
                    <a:pt x="78" y="285"/>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4"/>
                    <a:pt x="78" y="284"/>
                    <a:pt x="78" y="284"/>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3"/>
                    <a:pt x="78" y="283"/>
                    <a:pt x="78" y="283"/>
                  </a:cubicBezTo>
                  <a:cubicBezTo>
                    <a:pt x="78" y="282"/>
                    <a:pt x="78" y="282"/>
                    <a:pt x="78" y="282"/>
                  </a:cubicBezTo>
                  <a:cubicBezTo>
                    <a:pt x="78" y="282"/>
                    <a:pt x="78" y="282"/>
                    <a:pt x="78" y="282"/>
                  </a:cubicBezTo>
                  <a:cubicBezTo>
                    <a:pt x="78" y="282"/>
                    <a:pt x="78" y="282"/>
                    <a:pt x="78" y="282"/>
                  </a:cubicBezTo>
                  <a:cubicBezTo>
                    <a:pt x="78" y="282"/>
                    <a:pt x="78" y="282"/>
                    <a:pt x="78" y="282"/>
                  </a:cubicBezTo>
                  <a:cubicBezTo>
                    <a:pt x="77" y="282"/>
                    <a:pt x="77" y="282"/>
                    <a:pt x="77" y="282"/>
                  </a:cubicBezTo>
                  <a:cubicBezTo>
                    <a:pt x="77" y="282"/>
                    <a:pt x="77" y="282"/>
                    <a:pt x="77" y="282"/>
                  </a:cubicBezTo>
                  <a:cubicBezTo>
                    <a:pt x="77" y="282"/>
                    <a:pt x="77" y="282"/>
                    <a:pt x="77" y="282"/>
                  </a:cubicBezTo>
                  <a:cubicBezTo>
                    <a:pt x="77" y="282"/>
                    <a:pt x="77" y="282"/>
                    <a:pt x="77" y="282"/>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1"/>
                    <a:pt x="77" y="281"/>
                    <a:pt x="77" y="281"/>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80"/>
                    <a:pt x="77" y="280"/>
                    <a:pt x="77" y="280"/>
                  </a:cubicBezTo>
                  <a:cubicBezTo>
                    <a:pt x="77" y="279"/>
                    <a:pt x="77" y="279"/>
                    <a:pt x="77" y="279"/>
                  </a:cubicBezTo>
                  <a:cubicBezTo>
                    <a:pt x="77" y="279"/>
                    <a:pt x="77" y="279"/>
                    <a:pt x="77" y="279"/>
                  </a:cubicBezTo>
                  <a:cubicBezTo>
                    <a:pt x="77" y="279"/>
                    <a:pt x="77" y="279"/>
                    <a:pt x="77" y="279"/>
                  </a:cubicBezTo>
                  <a:cubicBezTo>
                    <a:pt x="77" y="279"/>
                    <a:pt x="77" y="279"/>
                    <a:pt x="77" y="279"/>
                  </a:cubicBezTo>
                  <a:cubicBezTo>
                    <a:pt x="78" y="279"/>
                    <a:pt x="78" y="279"/>
                    <a:pt x="78" y="279"/>
                  </a:cubicBezTo>
                  <a:cubicBezTo>
                    <a:pt x="78" y="279"/>
                    <a:pt x="78" y="279"/>
                    <a:pt x="78" y="279"/>
                  </a:cubicBezTo>
                  <a:cubicBezTo>
                    <a:pt x="78" y="279"/>
                    <a:pt x="78" y="279"/>
                    <a:pt x="78" y="279"/>
                  </a:cubicBezTo>
                  <a:cubicBezTo>
                    <a:pt x="78" y="279"/>
                    <a:pt x="78" y="279"/>
                    <a:pt x="78" y="279"/>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8"/>
                    <a:pt x="78" y="278"/>
                    <a:pt x="78" y="278"/>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7"/>
                    <a:pt x="78" y="277"/>
                    <a:pt x="78" y="277"/>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8" y="276"/>
                    <a:pt x="78" y="276"/>
                    <a:pt x="78" y="276"/>
                  </a:cubicBezTo>
                  <a:cubicBezTo>
                    <a:pt x="79" y="276"/>
                    <a:pt x="79" y="276"/>
                    <a:pt x="79" y="276"/>
                  </a:cubicBezTo>
                  <a:cubicBezTo>
                    <a:pt x="79" y="276"/>
                    <a:pt x="79" y="276"/>
                    <a:pt x="79" y="276"/>
                  </a:cubicBezTo>
                  <a:cubicBezTo>
                    <a:pt x="79" y="276"/>
                    <a:pt x="79" y="276"/>
                    <a:pt x="79" y="276"/>
                  </a:cubicBezTo>
                  <a:cubicBezTo>
                    <a:pt x="79" y="276"/>
                    <a:pt x="79" y="276"/>
                    <a:pt x="79" y="276"/>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79" y="275"/>
                    <a:pt x="79" y="275"/>
                    <a:pt x="79" y="275"/>
                  </a:cubicBezTo>
                  <a:cubicBezTo>
                    <a:pt x="80" y="275"/>
                    <a:pt x="80" y="275"/>
                    <a:pt x="80" y="275"/>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0" y="274"/>
                    <a:pt x="80" y="274"/>
                    <a:pt x="80" y="274"/>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1" y="273"/>
                    <a:pt x="81" y="273"/>
                    <a:pt x="81" y="273"/>
                  </a:cubicBezTo>
                  <a:cubicBezTo>
                    <a:pt x="82" y="273"/>
                    <a:pt x="82" y="273"/>
                    <a:pt x="82" y="273"/>
                  </a:cubicBezTo>
                  <a:cubicBezTo>
                    <a:pt x="82" y="273"/>
                    <a:pt x="82" y="273"/>
                    <a:pt x="82" y="273"/>
                  </a:cubicBezTo>
                  <a:cubicBezTo>
                    <a:pt x="82" y="273"/>
                    <a:pt x="82" y="273"/>
                    <a:pt x="82" y="273"/>
                  </a:cubicBezTo>
                  <a:cubicBezTo>
                    <a:pt x="82" y="272"/>
                    <a:pt x="82" y="272"/>
                    <a:pt x="82" y="272"/>
                  </a:cubicBezTo>
                  <a:cubicBezTo>
                    <a:pt x="82" y="272"/>
                    <a:pt x="82" y="272"/>
                    <a:pt x="82" y="272"/>
                  </a:cubicBezTo>
                  <a:cubicBezTo>
                    <a:pt x="82" y="272"/>
                    <a:pt x="82" y="272"/>
                    <a:pt x="82" y="272"/>
                  </a:cubicBezTo>
                  <a:cubicBezTo>
                    <a:pt x="82" y="272"/>
                    <a:pt x="82" y="272"/>
                    <a:pt x="82"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3" y="272"/>
                    <a:pt x="83" y="272"/>
                    <a:pt x="83"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4" y="272"/>
                    <a:pt x="84" y="272"/>
                    <a:pt x="84" y="272"/>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7" y="271"/>
                    <a:pt x="87" y="271"/>
                    <a:pt x="87" y="271"/>
                  </a:cubicBezTo>
                  <a:cubicBezTo>
                    <a:pt x="179" y="271"/>
                    <a:pt x="179" y="271"/>
                    <a:pt x="179" y="271"/>
                  </a:cubicBezTo>
                  <a:cubicBezTo>
                    <a:pt x="173" y="277"/>
                    <a:pt x="167" y="283"/>
                    <a:pt x="162" y="290"/>
                  </a:cubicBezTo>
                  <a:close/>
                  <a:moveTo>
                    <a:pt x="77" y="280"/>
                  </a:moveTo>
                  <a:cubicBezTo>
                    <a:pt x="77" y="280"/>
                    <a:pt x="77" y="280"/>
                    <a:pt x="77" y="280"/>
                  </a:cubicBezTo>
                  <a:close/>
                  <a:moveTo>
                    <a:pt x="87" y="218"/>
                  </a:moveTo>
                  <a:cubicBezTo>
                    <a:pt x="258" y="218"/>
                    <a:pt x="258" y="218"/>
                    <a:pt x="258" y="218"/>
                  </a:cubicBezTo>
                  <a:cubicBezTo>
                    <a:pt x="263" y="218"/>
                    <a:pt x="267" y="222"/>
                    <a:pt x="267" y="228"/>
                  </a:cubicBezTo>
                  <a:cubicBezTo>
                    <a:pt x="267" y="228"/>
                    <a:pt x="267" y="228"/>
                    <a:pt x="267" y="228"/>
                  </a:cubicBezTo>
                  <a:cubicBezTo>
                    <a:pt x="267" y="229"/>
                    <a:pt x="267" y="231"/>
                    <a:pt x="266" y="232"/>
                  </a:cubicBezTo>
                  <a:cubicBezTo>
                    <a:pt x="257" y="233"/>
                    <a:pt x="249" y="235"/>
                    <a:pt x="241" y="237"/>
                  </a:cubicBezTo>
                  <a:cubicBezTo>
                    <a:pt x="87" y="237"/>
                    <a:pt x="87" y="237"/>
                    <a:pt x="87" y="237"/>
                  </a:cubicBezTo>
                  <a:cubicBezTo>
                    <a:pt x="82" y="237"/>
                    <a:pt x="77" y="233"/>
                    <a:pt x="77" y="228"/>
                  </a:cubicBezTo>
                  <a:cubicBezTo>
                    <a:pt x="77" y="228"/>
                    <a:pt x="77" y="228"/>
                    <a:pt x="77" y="228"/>
                  </a:cubicBezTo>
                  <a:cubicBezTo>
                    <a:pt x="77" y="222"/>
                    <a:pt x="82" y="218"/>
                    <a:pt x="87" y="218"/>
                  </a:cubicBezTo>
                  <a:close/>
                  <a:moveTo>
                    <a:pt x="87" y="165"/>
                  </a:moveTo>
                  <a:cubicBezTo>
                    <a:pt x="258" y="165"/>
                    <a:pt x="258" y="165"/>
                    <a:pt x="258" y="165"/>
                  </a:cubicBezTo>
                  <a:cubicBezTo>
                    <a:pt x="263" y="165"/>
                    <a:pt x="267" y="170"/>
                    <a:pt x="267" y="175"/>
                  </a:cubicBezTo>
                  <a:cubicBezTo>
                    <a:pt x="267" y="175"/>
                    <a:pt x="267" y="175"/>
                    <a:pt x="267" y="175"/>
                  </a:cubicBezTo>
                  <a:cubicBezTo>
                    <a:pt x="267" y="180"/>
                    <a:pt x="263" y="184"/>
                    <a:pt x="258" y="184"/>
                  </a:cubicBezTo>
                  <a:cubicBezTo>
                    <a:pt x="87" y="184"/>
                    <a:pt x="87" y="184"/>
                    <a:pt x="87" y="184"/>
                  </a:cubicBezTo>
                  <a:cubicBezTo>
                    <a:pt x="82" y="184"/>
                    <a:pt x="77" y="180"/>
                    <a:pt x="77" y="175"/>
                  </a:cubicBezTo>
                  <a:cubicBezTo>
                    <a:pt x="77" y="175"/>
                    <a:pt x="77" y="175"/>
                    <a:pt x="77" y="175"/>
                  </a:cubicBezTo>
                  <a:cubicBezTo>
                    <a:pt x="77" y="170"/>
                    <a:pt x="82" y="165"/>
                    <a:pt x="87" y="165"/>
                  </a:cubicBezTo>
                  <a:close/>
                  <a:moveTo>
                    <a:pt x="87" y="115"/>
                  </a:moveTo>
                  <a:cubicBezTo>
                    <a:pt x="258" y="115"/>
                    <a:pt x="258" y="115"/>
                    <a:pt x="258" y="115"/>
                  </a:cubicBezTo>
                  <a:cubicBezTo>
                    <a:pt x="263" y="115"/>
                    <a:pt x="267" y="120"/>
                    <a:pt x="267" y="125"/>
                  </a:cubicBezTo>
                  <a:cubicBezTo>
                    <a:pt x="267" y="125"/>
                    <a:pt x="267" y="125"/>
                    <a:pt x="267" y="125"/>
                  </a:cubicBezTo>
                  <a:cubicBezTo>
                    <a:pt x="267" y="130"/>
                    <a:pt x="263" y="134"/>
                    <a:pt x="258" y="134"/>
                  </a:cubicBezTo>
                  <a:cubicBezTo>
                    <a:pt x="87" y="134"/>
                    <a:pt x="87" y="134"/>
                    <a:pt x="87" y="134"/>
                  </a:cubicBezTo>
                  <a:cubicBezTo>
                    <a:pt x="82" y="134"/>
                    <a:pt x="77" y="130"/>
                    <a:pt x="77" y="125"/>
                  </a:cubicBezTo>
                  <a:cubicBezTo>
                    <a:pt x="77" y="125"/>
                    <a:pt x="77" y="125"/>
                    <a:pt x="77" y="125"/>
                  </a:cubicBezTo>
                  <a:cubicBezTo>
                    <a:pt x="77" y="120"/>
                    <a:pt x="82" y="115"/>
                    <a:pt x="87" y="115"/>
                  </a:cubicBezTo>
                  <a:close/>
                  <a:moveTo>
                    <a:pt x="130" y="59"/>
                  </a:moveTo>
                  <a:cubicBezTo>
                    <a:pt x="130" y="33"/>
                    <a:pt x="130" y="33"/>
                    <a:pt x="130" y="33"/>
                  </a:cubicBezTo>
                  <a:cubicBezTo>
                    <a:pt x="130" y="31"/>
                    <a:pt x="131" y="29"/>
                    <a:pt x="132" y="28"/>
                  </a:cubicBezTo>
                  <a:cubicBezTo>
                    <a:pt x="132" y="28"/>
                    <a:pt x="132" y="28"/>
                    <a:pt x="132" y="28"/>
                  </a:cubicBezTo>
                  <a:cubicBezTo>
                    <a:pt x="134" y="27"/>
                    <a:pt x="136" y="26"/>
                    <a:pt x="138" y="26"/>
                  </a:cubicBezTo>
                  <a:cubicBezTo>
                    <a:pt x="206" y="26"/>
                    <a:pt x="206" y="26"/>
                    <a:pt x="206" y="26"/>
                  </a:cubicBezTo>
                  <a:cubicBezTo>
                    <a:pt x="208" y="26"/>
                    <a:pt x="211" y="27"/>
                    <a:pt x="212" y="28"/>
                  </a:cubicBezTo>
                  <a:cubicBezTo>
                    <a:pt x="212" y="28"/>
                    <a:pt x="212" y="28"/>
                    <a:pt x="212" y="28"/>
                  </a:cubicBezTo>
                  <a:cubicBezTo>
                    <a:pt x="214" y="29"/>
                    <a:pt x="215" y="31"/>
                    <a:pt x="215" y="33"/>
                  </a:cubicBezTo>
                  <a:cubicBezTo>
                    <a:pt x="215" y="59"/>
                    <a:pt x="215" y="59"/>
                    <a:pt x="215" y="59"/>
                  </a:cubicBezTo>
                  <a:lnTo>
                    <a:pt x="130" y="59"/>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Rectangle 58"/>
            <p:cNvSpPr>
              <a:spLocks noChangeArrowheads="1"/>
            </p:cNvSpPr>
            <p:nvPr/>
          </p:nvSpPr>
          <p:spPr bwMode="auto">
            <a:xfrm rot="2700000">
              <a:off x="2655457"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Rectangle 58"/>
            <p:cNvSpPr>
              <a:spLocks noChangeArrowheads="1"/>
            </p:cNvSpPr>
            <p:nvPr/>
          </p:nvSpPr>
          <p:spPr bwMode="auto">
            <a:xfrm rot="2700000">
              <a:off x="8987566" y="2650490"/>
              <a:ext cx="631043" cy="631043"/>
            </a:xfrm>
            <a:prstGeom prst="rect">
              <a:avLst/>
            </a:pr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en-US" sz="1600" kern="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22" name="TextBox 76"/>
          <p:cNvSpPr txBox="1"/>
          <p:nvPr/>
        </p:nvSpPr>
        <p:spPr>
          <a:xfrm>
            <a:off x="2070049" y="3581872"/>
            <a:ext cx="2036467" cy="461665"/>
          </a:xfrm>
          <a:prstGeom prst="rect">
            <a:avLst/>
          </a:prstGeom>
          <a:noFill/>
          <a:effectLst/>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分类</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1</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TextBox 76"/>
          <p:cNvSpPr txBox="1"/>
          <p:nvPr/>
        </p:nvSpPr>
        <p:spPr>
          <a:xfrm>
            <a:off x="6741705" y="3551095"/>
            <a:ext cx="1957435" cy="461665"/>
          </a:xfrm>
          <a:prstGeom prst="rect">
            <a:avLst/>
          </a:prstGeom>
          <a:noFill/>
          <a:effectLst/>
        </p:spPr>
        <p:txBody>
          <a:bodyPr wrap="square" rtlCol="0">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分类</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2</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2070050" y="4100938"/>
            <a:ext cx="3540176"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控制测试计划节点发送请求的逻辑顺序控制器，包括</a:t>
            </a:r>
            <a:r>
              <a:rPr lang="zh-CN" altLang="zh-CN" sz="2000" dirty="0">
                <a:solidFill>
                  <a:srgbClr val="1369B2"/>
                </a:solidFill>
                <a:latin typeface="微软雅黑" panose="020B0503020204020204" pitchFamily="34" charset="-122"/>
                <a:ea typeface="微软雅黑" panose="020B0503020204020204" pitchFamily="34" charset="-122"/>
              </a:rPr>
              <a:t>如果（</a:t>
            </a:r>
            <a:r>
              <a:rPr lang="en-US" altLang="zh-CN" sz="2000" dirty="0">
                <a:solidFill>
                  <a:srgbClr val="1369B2"/>
                </a:solidFill>
                <a:latin typeface="微软雅黑" panose="020B0503020204020204" pitchFamily="34" charset="-122"/>
                <a:ea typeface="微软雅黑" panose="020B0503020204020204" pitchFamily="34" charset="-122"/>
              </a:rPr>
              <a:t>If</a:t>
            </a:r>
            <a:r>
              <a:rPr lang="zh-CN" altLang="zh-CN" sz="2000" dirty="0">
                <a:solidFill>
                  <a:srgbClr val="1369B2"/>
                </a:solidFill>
                <a:latin typeface="微软雅黑" panose="020B0503020204020204" pitchFamily="34" charset="-122"/>
                <a:ea typeface="微软雅黑" panose="020B0503020204020204" pitchFamily="34" charset="-122"/>
              </a:rPr>
              <a:t>）控制器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循环控制器</a:t>
            </a:r>
            <a:r>
              <a:rPr lang="zh-CN" altLang="en-US" sz="2000">
                <a:solidFill>
                  <a:srgbClr val="595959"/>
                </a:solidFill>
                <a:latin typeface="微软雅黑" panose="020B0503020204020204" pitchFamily="34" charset="-122"/>
                <a:ea typeface="微软雅黑" panose="020B0503020204020204" pitchFamily="34" charset="-122"/>
                <a:cs typeface="+mn-ea"/>
              </a:rPr>
              <a:t>等。</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6599201" y="4100938"/>
            <a:ext cx="4619749" cy="193899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用来对测试计划中的脚本进行分组，方便</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统计执行结果以及进行脚本的运行时控制等，包括</a:t>
            </a:r>
            <a:r>
              <a:rPr lang="zh-CN" altLang="zh-CN" sz="2000" dirty="0">
                <a:solidFill>
                  <a:srgbClr val="1369B2"/>
                </a:solidFill>
                <a:latin typeface="微软雅黑" panose="020B0503020204020204" pitchFamily="34" charset="-122"/>
                <a:ea typeface="微软雅黑" panose="020B0503020204020204" pitchFamily="34" charset="-122"/>
              </a:rPr>
              <a:t>事务控制器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吞吐量控制器</a:t>
            </a:r>
            <a:r>
              <a:rPr lang="zh-CN" altLang="en-US" sz="2000">
                <a:solidFill>
                  <a:srgbClr val="595959"/>
                </a:solidFill>
                <a:latin typeface="微软雅黑" panose="020B0503020204020204" pitchFamily="34" charset="-122"/>
                <a:ea typeface="微软雅黑" panose="020B0503020204020204" pitchFamily="34" charset="-122"/>
                <a:cs typeface="+mn-ea"/>
              </a:rPr>
              <a:t>等</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960363" y="1822992"/>
            <a:ext cx="10499325" cy="1938992"/>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如果（</a:t>
            </a:r>
            <a:r>
              <a:rPr lang="en-US" altLang="zh-CN" sz="2000" dirty="0">
                <a:solidFill>
                  <a:srgbClr val="1369B2"/>
                </a:solidFill>
                <a:latin typeface="微软雅黑" panose="020B0503020204020204" pitchFamily="34" charset="-122"/>
                <a:ea typeface="微软雅黑" panose="020B0503020204020204" pitchFamily="34" charset="-122"/>
              </a:rPr>
              <a:t>If</a:t>
            </a:r>
            <a:r>
              <a:rPr lang="zh-CN" altLang="zh-CN" sz="2000" dirty="0">
                <a:solidFill>
                  <a:srgbClr val="1369B2"/>
                </a:solidFill>
                <a:latin typeface="微软雅黑" panose="020B0503020204020204" pitchFamily="34" charset="-122"/>
                <a:ea typeface="微软雅黑" panose="020B0503020204020204" pitchFamily="34" charset="-122"/>
              </a:rPr>
              <a:t>）控制器用于控制测试请求</a:t>
            </a:r>
            <a:r>
              <a:rPr lang="zh-CN" altLang="zh-CN" sz="2000">
                <a:solidFill>
                  <a:srgbClr val="1369B2"/>
                </a:solidFill>
                <a:latin typeface="微软雅黑" panose="020B0503020204020204" pitchFamily="34" charset="-122"/>
                <a:ea typeface="微软雅黑" panose="020B0503020204020204" pitchFamily="34" charset="-122"/>
              </a:rPr>
              <a:t>是否执行</a:t>
            </a:r>
            <a:r>
              <a:rPr lang="zh-CN" altLang="en-US" sz="2000">
                <a:solidFill>
                  <a:srgbClr val="595959"/>
                </a:solidFill>
                <a:latin typeface="微软雅黑" panose="020B0503020204020204" pitchFamily="34" charset="-122"/>
                <a:ea typeface="微软雅黑" panose="020B0503020204020204" pitchFamily="34" charset="-122"/>
                <a:cs typeface="+mn-ea"/>
              </a:rPr>
              <a:t>（如果</a:t>
            </a:r>
            <a:r>
              <a:rPr lang="zh-CN" altLang="zh-CN" sz="2000">
                <a:solidFill>
                  <a:srgbClr val="595959"/>
                </a:solidFill>
                <a:latin typeface="微软雅黑" panose="020B0503020204020204" pitchFamily="34" charset="-122"/>
                <a:ea typeface="微软雅黑" panose="020B0503020204020204" pitchFamily="34" charset="-122"/>
                <a:cs typeface="+mn-ea"/>
              </a:rPr>
              <a:t>条件成立时执行，条件不成立时不执行</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如果在线程组中需要使用如果（</a:t>
            </a:r>
            <a:r>
              <a:rPr lang="en-US" altLang="zh-CN" sz="2000" dirty="0">
                <a:solidFill>
                  <a:srgbClr val="595959"/>
                </a:solidFill>
                <a:latin typeface="微软雅黑" panose="020B0503020204020204" pitchFamily="34" charset="-122"/>
                <a:ea typeface="微软雅黑" panose="020B0503020204020204" pitchFamily="34" charset="-122"/>
                <a:cs typeface="+mn-ea"/>
              </a:rPr>
              <a:t>If</a:t>
            </a:r>
            <a:r>
              <a:rPr lang="zh-CN" altLang="zh-CN" sz="2000" dirty="0">
                <a:solidFill>
                  <a:srgbClr val="595959"/>
                </a:solidFill>
                <a:latin typeface="微软雅黑" panose="020B0503020204020204" pitchFamily="34" charset="-122"/>
                <a:ea typeface="微软雅黑" panose="020B0503020204020204" pitchFamily="34" charset="-122"/>
                <a:cs typeface="+mn-ea"/>
              </a:rPr>
              <a:t>）控制器，则首先在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主界面的测试计划中添加一个线程组，然后选中线程</a:t>
            </a:r>
            <a:r>
              <a:rPr lang="zh-CN" altLang="zh-CN" sz="2000">
                <a:solidFill>
                  <a:srgbClr val="595959"/>
                </a:solidFill>
                <a:latin typeface="微软雅黑" panose="020B0503020204020204" pitchFamily="34" charset="-122"/>
                <a:ea typeface="微软雅黑" panose="020B0503020204020204" pitchFamily="34" charset="-122"/>
                <a:cs typeface="+mn-ea"/>
              </a:rPr>
              <a:t>组并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“逻辑控制器”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“如果（</a:t>
            </a:r>
            <a:r>
              <a:rPr lang="en-US" altLang="zh-CN" sz="2000" dirty="0">
                <a:solidFill>
                  <a:srgbClr val="1369B2"/>
                </a:solidFill>
                <a:latin typeface="微软雅黑" panose="020B0503020204020204" pitchFamily="34" charset="-122"/>
                <a:ea typeface="微软雅黑" panose="020B0503020204020204" pitchFamily="34" charset="-122"/>
              </a:rPr>
              <a:t>If</a:t>
            </a:r>
            <a:r>
              <a:rPr lang="zh-CN" altLang="zh-CN" sz="2000" dirty="0">
                <a:solidFill>
                  <a:srgbClr val="1369B2"/>
                </a:solidFill>
                <a:latin typeface="微软雅黑" panose="020B0503020204020204" pitchFamily="34" charset="-122"/>
                <a:ea typeface="微软雅黑" panose="020B0503020204020204" pitchFamily="34" charset="-122"/>
              </a:rPr>
              <a:t>）控制器”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，会添加一个如果（</a:t>
            </a:r>
            <a:r>
              <a:rPr lang="en-US" altLang="zh-CN" sz="2000" dirty="0">
                <a:solidFill>
                  <a:srgbClr val="595959"/>
                </a:solidFill>
                <a:latin typeface="微软雅黑" panose="020B0503020204020204" pitchFamily="34" charset="-122"/>
                <a:ea typeface="微软雅黑" panose="020B0503020204020204" pitchFamily="34" charset="-122"/>
                <a:cs typeface="+mn-ea"/>
              </a:rPr>
              <a:t>If</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控制器界面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4525" y="3954568"/>
            <a:ext cx="7073770" cy="2469983"/>
          </a:xfrm>
          <a:prstGeom prst="rect">
            <a:avLst/>
          </a:prstGeom>
        </p:spPr>
      </p:pic>
      <p:sp>
        <p:nvSpPr>
          <p:cNvPr id="6" name="圆角矩形 5"/>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如果（</a:t>
            </a:r>
            <a:r>
              <a:rPr lang="en-US" altLang="zh-CN" sz="2000">
                <a:latin typeface="微软雅黑" panose="020B0503020204020204" pitchFamily="34" charset="-122"/>
                <a:ea typeface="微软雅黑" panose="020B0503020204020204" pitchFamily="34" charset="-122"/>
              </a:rPr>
              <a:t>If</a:t>
            </a:r>
            <a:r>
              <a:rPr lang="zh-CN" altLang="en-US" sz="2000">
                <a:latin typeface="微软雅黑" panose="020B0503020204020204" pitchFamily="34" charset="-122"/>
                <a:ea typeface="微软雅黑" panose="020B0503020204020204" pitchFamily="34" charset="-122"/>
              </a:rPr>
              <a:t>）控制器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257988" y="1152046"/>
            <a:ext cx="9895785"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勾选</a:t>
            </a:r>
            <a:r>
              <a:rPr lang="en-US" altLang="zh-CN" sz="2000" dirty="0">
                <a:solidFill>
                  <a:srgbClr val="1369B2"/>
                </a:solidFill>
                <a:latin typeface="微软雅黑" panose="020B0503020204020204" pitchFamily="34" charset="-122"/>
                <a:ea typeface="微软雅黑" panose="020B0503020204020204" pitchFamily="34" charset="-122"/>
              </a:rPr>
              <a:t>“Interpret Condition as Variable </a:t>
            </a:r>
            <a:r>
              <a:rPr lang="en-US" altLang="zh-CN" sz="2000">
                <a:solidFill>
                  <a:srgbClr val="1369B2"/>
                </a:solidFill>
                <a:latin typeface="微软雅黑" panose="020B0503020204020204" pitchFamily="34" charset="-122"/>
                <a:ea typeface="微软雅黑" panose="020B0503020204020204" pitchFamily="34" charset="-122"/>
              </a:rPr>
              <a:t>Expression?”</a:t>
            </a:r>
            <a:r>
              <a:rPr lang="zh-CN" altLang="zh-CN" sz="2000">
                <a:solidFill>
                  <a:srgbClr val="595959"/>
                </a:solidFill>
                <a:latin typeface="微软雅黑" panose="020B0503020204020204" pitchFamily="34" charset="-122"/>
                <a:ea typeface="微软雅黑" panose="020B0503020204020204" pitchFamily="34" charset="-122"/>
                <a:cs typeface="+mn-ea"/>
              </a:rPr>
              <a:t>复选框，表示</a:t>
            </a:r>
            <a:r>
              <a:rPr lang="zh-CN" altLang="zh-CN" sz="2000" dirty="0">
                <a:solidFill>
                  <a:srgbClr val="1369B2"/>
                </a:solidFill>
                <a:latin typeface="微软雅黑" panose="020B0503020204020204" pitchFamily="34" charset="-122"/>
                <a:ea typeface="微软雅黑" panose="020B0503020204020204" pitchFamily="34" charset="-122"/>
              </a:rPr>
              <a:t>将条件解释为变量表达式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勾选该复选框</a:t>
            </a:r>
            <a:r>
              <a:rPr lang="zh-CN" altLang="zh-CN" sz="2000" dirty="0">
                <a:solidFill>
                  <a:srgbClr val="595959"/>
                </a:solidFill>
                <a:latin typeface="微软雅黑" panose="020B0503020204020204" pitchFamily="34" charset="-122"/>
                <a:ea typeface="微软雅黑" panose="020B0503020204020204" pitchFamily="34" charset="-122"/>
                <a:cs typeface="+mn-ea"/>
              </a:rPr>
              <a:t>之后，如果（</a:t>
            </a:r>
            <a:r>
              <a:rPr lang="en-US" altLang="zh-CN" sz="2000" dirty="0">
                <a:solidFill>
                  <a:srgbClr val="595959"/>
                </a:solidFill>
                <a:latin typeface="微软雅黑" panose="020B0503020204020204" pitchFamily="34" charset="-122"/>
                <a:ea typeface="微软雅黑" panose="020B0503020204020204" pitchFamily="34" charset="-122"/>
                <a:cs typeface="+mn-ea"/>
              </a:rPr>
              <a:t>If</a:t>
            </a:r>
            <a:r>
              <a:rPr lang="zh-CN" altLang="zh-CN" sz="2000" dirty="0">
                <a:solidFill>
                  <a:srgbClr val="595959"/>
                </a:solidFill>
                <a:latin typeface="微软雅黑" panose="020B0503020204020204" pitchFamily="34" charset="-122"/>
                <a:ea typeface="微软雅黑" panose="020B0503020204020204" pitchFamily="34" charset="-122"/>
                <a:cs typeface="+mn-ea"/>
              </a:rPr>
              <a:t>）控制器界面会</a:t>
            </a:r>
            <a:r>
              <a:rPr lang="zh-CN" altLang="zh-CN" sz="2000">
                <a:solidFill>
                  <a:srgbClr val="595959"/>
                </a:solidFill>
                <a:latin typeface="微软雅黑" panose="020B0503020204020204" pitchFamily="34" charset="-122"/>
                <a:ea typeface="微软雅黑" panose="020B0503020204020204" pitchFamily="34" charset="-122"/>
                <a:cs typeface="+mn-ea"/>
              </a:rPr>
              <a:t>发生变化</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2172" y="2272069"/>
            <a:ext cx="8087415" cy="2901267"/>
          </a:xfrm>
          <a:prstGeom prst="rect">
            <a:avLst/>
          </a:prstGeom>
        </p:spPr>
      </p:pic>
      <p:sp>
        <p:nvSpPr>
          <p:cNvPr id="3" name="矩形 2"/>
          <p:cNvSpPr/>
          <p:nvPr/>
        </p:nvSpPr>
        <p:spPr>
          <a:xfrm>
            <a:off x="1143690" y="5173336"/>
            <a:ext cx="9734107" cy="1477328"/>
          </a:xfrm>
          <a:prstGeom prst="rect">
            <a:avLst/>
          </a:prstGeom>
        </p:spPr>
        <p:txBody>
          <a:bodyPr wrap="square">
            <a:spAutoFit/>
          </a:bodyPr>
          <a:lstStyle/>
          <a:p>
            <a:pPr marL="121285" marR="138430" indent="229235" algn="just">
              <a:lnSpc>
                <a:spcPct val="150000"/>
              </a:lnSpc>
              <a:spcBef>
                <a:spcPts val="670"/>
              </a:spcBef>
              <a:spcAft>
                <a:spcPts val="0"/>
              </a:spcAft>
            </a:pPr>
            <a:r>
              <a:rPr lang="en-US" altLang="zh-CN" sz="2000">
                <a:solidFill>
                  <a:srgbClr val="595959"/>
                </a:solidFill>
                <a:latin typeface="微软雅黑" panose="020B0503020204020204" pitchFamily="34" charset="-122"/>
                <a:ea typeface="微软雅黑" panose="020B0503020204020204" pitchFamily="34" charset="-122"/>
                <a:cs typeface="+mn-ea"/>
              </a:rPr>
              <a:t>输入框中的条件表达式不会再按照JavaScript 语法进行解析，</a:t>
            </a:r>
            <a:r>
              <a:rPr lang="en-US" altLang="zh-CN" sz="2000">
                <a:solidFill>
                  <a:srgbClr val="1369B2"/>
                </a:solidFill>
                <a:latin typeface="微软雅黑" panose="020B0503020204020204" pitchFamily="34" charset="-122"/>
                <a:ea typeface="微软雅黑" panose="020B0503020204020204" pitchFamily="34" charset="-122"/>
              </a:rPr>
              <a:t>而是被视为 JMeter 的变量表达式</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输入框中不能直接填写条件表达式，而是输入使用</a:t>
            </a:r>
            <a:r>
              <a:rPr lang="en-US" altLang="zh-CN" sz="2000">
                <a:solidFill>
                  <a:srgbClr val="1369B2"/>
                </a:solidFill>
                <a:latin typeface="微软雅黑" panose="020B0503020204020204" pitchFamily="34" charset="-122"/>
                <a:ea typeface="微软雅黑" panose="020B0503020204020204" pitchFamily="34" charset="-122"/>
              </a:rPr>
              <a:t>__jexl3()</a:t>
            </a:r>
            <a:r>
              <a:rPr lang="zh-CN" altLang="zh-CN" sz="2000">
                <a:solidFill>
                  <a:srgbClr val="595959"/>
                </a:solidFill>
                <a:latin typeface="微软雅黑" panose="020B0503020204020204" pitchFamily="34" charset="-122"/>
                <a:ea typeface="微软雅黑" panose="020B0503020204020204" pitchFamily="34" charset="-122"/>
                <a:cs typeface="+mn-ea"/>
              </a:rPr>
              <a:t>或者 </a:t>
            </a:r>
            <a:r>
              <a:rPr lang="en-US" altLang="zh-CN" sz="2000">
                <a:solidFill>
                  <a:srgbClr val="1369B2"/>
                </a:solidFill>
                <a:latin typeface="微软雅黑" panose="020B0503020204020204" pitchFamily="34" charset="-122"/>
                <a:ea typeface="微软雅黑" panose="020B0503020204020204" pitchFamily="34" charset="-122"/>
              </a:rPr>
              <a:t>groovy()</a:t>
            </a:r>
            <a:r>
              <a:rPr lang="zh-CN" altLang="zh-CN" sz="2000">
                <a:solidFill>
                  <a:srgbClr val="1369B2"/>
                </a:solidFill>
                <a:latin typeface="微软雅黑" panose="020B0503020204020204" pitchFamily="34" charset="-122"/>
                <a:ea typeface="微软雅黑" panose="020B0503020204020204" pitchFamily="34" charset="-122"/>
              </a:rPr>
              <a:t>函数</a:t>
            </a:r>
            <a:r>
              <a:rPr lang="zh-CN" altLang="zh-CN" sz="2000">
                <a:solidFill>
                  <a:srgbClr val="595959"/>
                </a:solidFill>
                <a:latin typeface="微软雅黑" panose="020B0503020204020204" pitchFamily="34" charset="-122"/>
                <a:ea typeface="微软雅黑" panose="020B0503020204020204" pitchFamily="34" charset="-122"/>
                <a:cs typeface="+mn-ea"/>
              </a:rPr>
              <a:t>生成的函数表达式。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143688" y="1030061"/>
            <a:ext cx="10127561" cy="2862322"/>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en-US" sz="2000" dirty="0">
                <a:solidFill>
                  <a:srgbClr val="1369B2"/>
                </a:solidFill>
                <a:latin typeface="微软雅黑" panose="020B0503020204020204" pitchFamily="34" charset="-122"/>
                <a:ea typeface="微软雅黑" panose="020B0503020204020204" pitchFamily="34" charset="-122"/>
              </a:rPr>
              <a:t>如果（</a:t>
            </a:r>
            <a:r>
              <a:rPr lang="en-US" altLang="zh-CN" sz="2000" dirty="0">
                <a:solidFill>
                  <a:srgbClr val="1369B2"/>
                </a:solidFill>
                <a:latin typeface="微软雅黑" panose="020B0503020204020204" pitchFamily="34" charset="-122"/>
                <a:ea typeface="微软雅黑" panose="020B0503020204020204" pitchFamily="34" charset="-122"/>
              </a:rPr>
              <a:t>If</a:t>
            </a:r>
            <a:r>
              <a:rPr lang="zh-CN" altLang="en-US" sz="2000" dirty="0">
                <a:solidFill>
                  <a:srgbClr val="1369B2"/>
                </a:solidFill>
                <a:latin typeface="微软雅黑" panose="020B0503020204020204" pitchFamily="34" charset="-122"/>
                <a:ea typeface="微软雅黑" panose="020B0503020204020204" pitchFamily="34" charset="-122"/>
              </a:rPr>
              <a:t>）控制器</a:t>
            </a:r>
            <a:r>
              <a:rPr lang="zh-CN" altLang="zh-CN" sz="2000">
                <a:solidFill>
                  <a:srgbClr val="595959"/>
                </a:solidFill>
                <a:latin typeface="微软雅黑" panose="020B0503020204020204" pitchFamily="34" charset="-122"/>
                <a:ea typeface="微软雅黑" panose="020B0503020204020204" pitchFamily="34" charset="-122"/>
                <a:cs typeface="+mn-ea"/>
              </a:rPr>
              <a:t>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本</a:t>
            </a:r>
            <a:r>
              <a:rPr lang="zh-CN" altLang="zh-CN" sz="2000" dirty="0">
                <a:solidFill>
                  <a:srgbClr val="595959"/>
                </a:solidFill>
                <a:latin typeface="微软雅黑" panose="020B0503020204020204" pitchFamily="34" charset="-122"/>
                <a:ea typeface="微软雅黑" panose="020B0503020204020204" pitchFamily="34" charset="-122"/>
                <a:cs typeface="+mn-ea"/>
              </a:rPr>
              <a:t>案例</a:t>
            </a:r>
            <a:r>
              <a:rPr lang="zh-CN" altLang="zh-CN" sz="2000">
                <a:solidFill>
                  <a:srgbClr val="595959"/>
                </a:solidFill>
                <a:latin typeface="微软雅黑" panose="020B0503020204020204" pitchFamily="34" charset="-122"/>
                <a:ea typeface="微软雅黑" panose="020B0503020204020204" pitchFamily="34" charset="-122"/>
                <a:cs typeface="+mn-ea"/>
              </a:rPr>
              <a:t>要求使用</a:t>
            </a:r>
            <a:r>
              <a:rPr lang="zh-CN" altLang="zh-CN" sz="2000">
                <a:solidFill>
                  <a:srgbClr val="1369B2"/>
                </a:solidFill>
                <a:latin typeface="微软雅黑" panose="020B0503020204020204" pitchFamily="34" charset="-122"/>
                <a:ea typeface="微软雅黑" panose="020B0503020204020204" pitchFamily="34" charset="-122"/>
              </a:rPr>
              <a:t>用户</a:t>
            </a:r>
            <a:r>
              <a:rPr lang="zh-CN" altLang="zh-CN" sz="2000" dirty="0">
                <a:solidFill>
                  <a:srgbClr val="1369B2"/>
                </a:solidFill>
                <a:latin typeface="微软雅黑" panose="020B0503020204020204" pitchFamily="34" charset="-122"/>
                <a:ea typeface="微软雅黑" panose="020B0503020204020204" pitchFamily="34" charset="-122"/>
              </a:rPr>
              <a:t>定义</a:t>
            </a:r>
            <a:r>
              <a:rPr lang="zh-CN" altLang="zh-CN" sz="2000">
                <a:solidFill>
                  <a:srgbClr val="1369B2"/>
                </a:solidFill>
                <a:latin typeface="微软雅黑" panose="020B0503020204020204" pitchFamily="34" charset="-122"/>
                <a:ea typeface="微软雅黑" panose="020B0503020204020204" pitchFamily="34" charset="-122"/>
              </a:rPr>
              <a:t>的变量</a:t>
            </a:r>
            <a:r>
              <a:rPr lang="zh-CN" altLang="zh-CN" sz="2000">
                <a:solidFill>
                  <a:srgbClr val="595959"/>
                </a:solidFill>
                <a:latin typeface="微软雅黑" panose="020B0503020204020204" pitchFamily="34" charset="-122"/>
                <a:ea typeface="微软雅黑" panose="020B0503020204020204" pitchFamily="34" charset="-122"/>
                <a:cs typeface="+mn-ea"/>
              </a:rPr>
              <a:t>定义</a:t>
            </a:r>
            <a:r>
              <a:rPr lang="zh-CN" altLang="zh-CN" sz="2000" dirty="0">
                <a:solidFill>
                  <a:srgbClr val="595959"/>
                </a:solidFill>
                <a:latin typeface="微软雅黑" panose="020B0503020204020204" pitchFamily="34" charset="-122"/>
                <a:ea typeface="微软雅黑" panose="020B0503020204020204" pitchFamily="34" charset="-122"/>
                <a:cs typeface="+mn-ea"/>
              </a:rPr>
              <a:t>一个</a:t>
            </a:r>
            <a:r>
              <a:rPr lang="zh-CN" altLang="zh-CN" sz="2000" dirty="0">
                <a:solidFill>
                  <a:srgbClr val="1369B2"/>
                </a:solidFill>
                <a:latin typeface="微软雅黑" panose="020B0503020204020204" pitchFamily="34" charset="-122"/>
                <a:ea typeface="微软雅黑" panose="020B0503020204020204" pitchFamily="34" charset="-122"/>
              </a:rPr>
              <a:t>变量</a:t>
            </a:r>
            <a:r>
              <a:rPr lang="en-US" altLang="zh-CN" sz="2000" dirty="0">
                <a:solidFill>
                  <a:srgbClr val="1369B2"/>
                </a:solidFill>
                <a:latin typeface="微软雅黑" panose="020B0503020204020204" pitchFamily="34" charset="-122"/>
                <a:ea typeface="微软雅黑" panose="020B0503020204020204" pitchFamily="34" charset="-122"/>
              </a:rPr>
              <a:t>name</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name</a:t>
            </a:r>
            <a:r>
              <a:rPr lang="zh-CN" altLang="zh-CN" sz="2000" dirty="0">
                <a:solidFill>
                  <a:srgbClr val="595959"/>
                </a:solidFill>
                <a:latin typeface="微软雅黑" panose="020B0503020204020204" pitchFamily="34" charset="-122"/>
                <a:ea typeface="微软雅黑" panose="020B0503020204020204" pitchFamily="34" charset="-122"/>
                <a:cs typeface="+mn-ea"/>
              </a:rPr>
              <a:t>有两个可选值：</a:t>
            </a:r>
            <a:r>
              <a:rPr lang="en-US" altLang="zh-CN" sz="2000" dirty="0" err="1">
                <a:solidFill>
                  <a:srgbClr val="1369B2"/>
                </a:solidFill>
                <a:latin typeface="微软雅黑" panose="020B0503020204020204" pitchFamily="34" charset="-122"/>
                <a:ea typeface="微软雅黑" panose="020B0503020204020204" pitchFamily="34" charset="-122"/>
              </a:rPr>
              <a:t>baidu</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err="1">
                <a:solidFill>
                  <a:srgbClr val="1369B2"/>
                </a:solidFill>
                <a:latin typeface="微软雅黑" panose="020B0503020204020204" pitchFamily="34" charset="-122"/>
                <a:ea typeface="微软雅黑" panose="020B0503020204020204" pitchFamily="34" charset="-122"/>
              </a:rPr>
              <a:t>itcast</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en-US" altLang="zh-CN" sz="2000" dirty="0">
                <a:solidFill>
                  <a:srgbClr val="595959"/>
                </a:solidFill>
                <a:latin typeface="微软雅黑" panose="020B0503020204020204" pitchFamily="34" charset="-122"/>
                <a:ea typeface="微软雅黑" panose="020B0503020204020204" pitchFamily="34" charset="-122"/>
                <a:cs typeface="+mn-ea"/>
              </a:rPr>
              <a:t>name</a:t>
            </a:r>
            <a:r>
              <a:rPr lang="zh-CN" altLang="zh-CN" sz="2000" dirty="0">
                <a:solidFill>
                  <a:srgbClr val="595959"/>
                </a:solidFill>
                <a:latin typeface="微软雅黑" panose="020B0503020204020204" pitchFamily="34" charset="-122"/>
                <a:ea typeface="微软雅黑" panose="020B0503020204020204" pitchFamily="34" charset="-122"/>
                <a:cs typeface="+mn-ea"/>
              </a:rPr>
              <a:t>的值为</a:t>
            </a:r>
            <a:r>
              <a:rPr lang="en-US" altLang="zh-CN" sz="2000" dirty="0" err="1">
                <a:solidFill>
                  <a:srgbClr val="595959"/>
                </a:solidFill>
                <a:latin typeface="微软雅黑" panose="020B0503020204020204" pitchFamily="34" charset="-122"/>
                <a:ea typeface="微软雅黑" panose="020B0503020204020204" pitchFamily="34" charset="-122"/>
                <a:cs typeface="+mn-ea"/>
              </a:rPr>
              <a:t>baidu</a:t>
            </a:r>
            <a:r>
              <a:rPr lang="zh-CN" altLang="zh-CN" sz="2000" dirty="0">
                <a:solidFill>
                  <a:srgbClr val="595959"/>
                </a:solidFill>
                <a:latin typeface="微软雅黑" panose="020B0503020204020204" pitchFamily="34" charset="-122"/>
                <a:ea typeface="微软雅黑" panose="020B0503020204020204" pitchFamily="34" charset="-122"/>
                <a:cs typeface="+mn-ea"/>
              </a:rPr>
              <a:t>，则请求</a:t>
            </a:r>
            <a:r>
              <a:rPr lang="en-US" altLang="zh-CN" sz="2000" dirty="0">
                <a:solidFill>
                  <a:srgbClr val="595959"/>
                </a:solidFill>
                <a:latin typeface="微软雅黑" panose="020B0503020204020204" pitchFamily="34" charset="-122"/>
                <a:ea typeface="微软雅黑" panose="020B0503020204020204" pitchFamily="34" charset="-122"/>
                <a:cs typeface="+mn-ea"/>
              </a:rPr>
              <a:t>https://www.baidu.com</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en-US" altLang="zh-CN" sz="2000" dirty="0">
                <a:solidFill>
                  <a:srgbClr val="595959"/>
                </a:solidFill>
                <a:latin typeface="微软雅黑" panose="020B0503020204020204" pitchFamily="34" charset="-122"/>
                <a:ea typeface="微软雅黑" panose="020B0503020204020204" pitchFamily="34" charset="-122"/>
                <a:cs typeface="+mn-ea"/>
              </a:rPr>
              <a:t>name</a:t>
            </a:r>
            <a:r>
              <a:rPr lang="zh-CN" altLang="zh-CN" sz="2000" dirty="0">
                <a:solidFill>
                  <a:srgbClr val="595959"/>
                </a:solidFill>
                <a:latin typeface="微软雅黑" panose="020B0503020204020204" pitchFamily="34" charset="-122"/>
                <a:ea typeface="微软雅黑" panose="020B0503020204020204" pitchFamily="34" charset="-122"/>
                <a:cs typeface="+mn-ea"/>
              </a:rPr>
              <a:t>的值为</a:t>
            </a:r>
            <a:r>
              <a:rPr lang="en-US" altLang="zh-CN" sz="2000" dirty="0" err="1">
                <a:solidFill>
                  <a:srgbClr val="595959"/>
                </a:solidFill>
                <a:latin typeface="微软雅黑" panose="020B0503020204020204" pitchFamily="34" charset="-122"/>
                <a:ea typeface="微软雅黑" panose="020B0503020204020204" pitchFamily="34" charset="-122"/>
                <a:cs typeface="+mn-ea"/>
              </a:rPr>
              <a:t>itcast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则请求</a:t>
            </a:r>
            <a:r>
              <a:rPr lang="en-US" altLang="zh-CN" sz="2000" dirty="0">
                <a:solidFill>
                  <a:srgbClr val="595959"/>
                </a:solidFill>
                <a:latin typeface="微软雅黑" panose="020B0503020204020204" pitchFamily="34" charset="-122"/>
                <a:ea typeface="微软雅黑" panose="020B0503020204020204" pitchFamily="34" charset="-122"/>
                <a:cs typeface="+mn-ea"/>
              </a:rPr>
              <a:t>https://</a:t>
            </a:r>
            <a:r>
              <a:rPr lang="en-US" altLang="zh-CN" sz="2000">
                <a:solidFill>
                  <a:srgbClr val="595959"/>
                </a:solidFill>
                <a:latin typeface="微软雅黑" panose="020B0503020204020204" pitchFamily="34" charset="-122"/>
                <a:ea typeface="微软雅黑" panose="020B0503020204020204" pitchFamily="34" charset="-122"/>
                <a:cs typeface="+mn-ea"/>
              </a:rPr>
              <a:t>www.itcast.cn</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分析上述要求，根据 </a:t>
            </a:r>
            <a:r>
              <a:rPr lang="en-US" altLang="zh-CN" sz="2000">
                <a:solidFill>
                  <a:srgbClr val="595959"/>
                </a:solidFill>
                <a:latin typeface="微软雅黑" panose="020B0503020204020204" pitchFamily="34" charset="-122"/>
                <a:ea typeface="微软雅黑" panose="020B0503020204020204" pitchFamily="34" charset="-122"/>
                <a:cs typeface="+mn-ea"/>
              </a:rPr>
              <a:t>name </a:t>
            </a:r>
            <a:r>
              <a:rPr lang="zh-CN" altLang="zh-CN" sz="2000">
                <a:solidFill>
                  <a:srgbClr val="595959"/>
                </a:solidFill>
                <a:latin typeface="微软雅黑" panose="020B0503020204020204" pitchFamily="34" charset="-122"/>
                <a:ea typeface="微软雅黑" panose="020B0503020204020204" pitchFamily="34" charset="-122"/>
                <a:cs typeface="+mn-ea"/>
              </a:rPr>
              <a:t>的值判断发送哪个请求，需要使用</a:t>
            </a:r>
            <a:r>
              <a:rPr lang="zh-CN" altLang="zh-CN" sz="2000">
                <a:solidFill>
                  <a:srgbClr val="1369B2"/>
                </a:solidFill>
                <a:latin typeface="微软雅黑" panose="020B0503020204020204" pitchFamily="34" charset="-122"/>
                <a:ea typeface="微软雅黑" panose="020B0503020204020204" pitchFamily="34" charset="-122"/>
              </a:rPr>
              <a:t>如果（</a:t>
            </a:r>
            <a:r>
              <a:rPr lang="en-US" altLang="zh-CN" sz="2000">
                <a:solidFill>
                  <a:srgbClr val="1369B2"/>
                </a:solidFill>
                <a:latin typeface="微软雅黑" panose="020B0503020204020204" pitchFamily="34" charset="-122"/>
                <a:ea typeface="微软雅黑" panose="020B0503020204020204" pitchFamily="34" charset="-122"/>
              </a:rPr>
              <a:t>If</a:t>
            </a:r>
            <a:r>
              <a:rPr lang="zh-CN" altLang="zh-CN" sz="2000">
                <a:solidFill>
                  <a:srgbClr val="1369B2"/>
                </a:solidFill>
                <a:latin typeface="微软雅黑" panose="020B0503020204020204" pitchFamily="34" charset="-122"/>
                <a:ea typeface="微软雅黑" panose="020B0503020204020204" pitchFamily="34" charset="-122"/>
              </a:rPr>
              <a:t>） 控制器</a:t>
            </a:r>
            <a:r>
              <a:rPr lang="zh-CN" altLang="zh-CN" sz="2000">
                <a:solidFill>
                  <a:srgbClr val="595959"/>
                </a:solidFill>
                <a:latin typeface="微软雅黑" panose="020B0503020204020204" pitchFamily="34" charset="-122"/>
                <a:ea typeface="微软雅黑" panose="020B0503020204020204" pitchFamily="34" charset="-122"/>
                <a:cs typeface="+mn-ea"/>
              </a:rPr>
              <a:t>实现。确定了核心元件之后，构建测试计划目录树</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5379" y="3892382"/>
            <a:ext cx="3192683" cy="275779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306286" y="919045"/>
            <a:ext cx="9919566" cy="1477328"/>
          </a:xfrm>
          <a:prstGeom prst="rect">
            <a:avLst/>
          </a:prstGeom>
          <a:noFill/>
        </p:spPr>
        <p:txBody>
          <a:bodyPr wrap="square">
            <a:spAutoFit/>
          </a:bodyPr>
          <a:lstStyle/>
          <a:p>
            <a:pPr>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下面</a:t>
            </a:r>
            <a:r>
              <a:rPr lang="zh-CN" altLang="zh-CN" sz="2000">
                <a:solidFill>
                  <a:srgbClr val="595959"/>
                </a:solidFill>
                <a:latin typeface="微软雅黑" panose="020B0503020204020204" pitchFamily="34" charset="-122"/>
                <a:ea typeface="微软雅黑" panose="020B0503020204020204" pitchFamily="34" charset="-122"/>
                <a:cs typeface="+mn-ea"/>
              </a:rPr>
              <a:t>分别</a:t>
            </a:r>
            <a:r>
              <a:rPr lang="zh-CN" altLang="zh-CN" sz="2000" dirty="0">
                <a:solidFill>
                  <a:srgbClr val="595959"/>
                </a:solidFill>
                <a:latin typeface="微软雅黑" panose="020B0503020204020204" pitchFamily="34" charset="-122"/>
                <a:ea typeface="微软雅黑" panose="020B0503020204020204" pitchFamily="34" charset="-122"/>
                <a:cs typeface="+mn-ea"/>
              </a:rPr>
              <a:t>以不同方式配置</a:t>
            </a:r>
            <a:r>
              <a:rPr lang="zh-CN" altLang="zh-CN" sz="2000" dirty="0">
                <a:solidFill>
                  <a:srgbClr val="1369B2"/>
                </a:solidFill>
                <a:latin typeface="微软雅黑" panose="020B0503020204020204" pitchFamily="34" charset="-122"/>
                <a:ea typeface="微软雅黑" panose="020B0503020204020204" pitchFamily="34" charset="-122"/>
              </a:rPr>
              <a:t>如果（</a:t>
            </a:r>
            <a:r>
              <a:rPr lang="en-US" altLang="zh-CN" sz="2000" dirty="0">
                <a:solidFill>
                  <a:srgbClr val="1369B2"/>
                </a:solidFill>
                <a:latin typeface="微软雅黑" panose="020B0503020204020204" pitchFamily="34" charset="-122"/>
                <a:ea typeface="微软雅黑" panose="020B0503020204020204" pitchFamily="34" charset="-122"/>
              </a:rPr>
              <a:t>If</a:t>
            </a:r>
            <a:r>
              <a:rPr lang="zh-CN" altLang="zh-CN" sz="2000" dirty="0">
                <a:solidFill>
                  <a:srgbClr val="1369B2"/>
                </a:solidFill>
                <a:latin typeface="微软雅黑" panose="020B0503020204020204" pitchFamily="34" charset="-122"/>
                <a:ea typeface="微软雅黑" panose="020B0503020204020204" pitchFamily="34" charset="-122"/>
              </a:rPr>
              <a:t>）控制器</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百度</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rPr>
              <a:t>如果（</a:t>
            </a:r>
            <a:r>
              <a:rPr lang="en-US" altLang="zh-CN" sz="2000" dirty="0">
                <a:solidFill>
                  <a:srgbClr val="1369B2"/>
                </a:solidFill>
                <a:latin typeface="微软雅黑" panose="020B0503020204020204" pitchFamily="34" charset="-122"/>
                <a:ea typeface="微软雅黑" panose="020B0503020204020204" pitchFamily="34" charset="-122"/>
              </a:rPr>
              <a:t>If</a:t>
            </a:r>
            <a:r>
              <a:rPr lang="zh-CN" altLang="zh-CN" sz="2000" dirty="0">
                <a:solidFill>
                  <a:srgbClr val="1369B2"/>
                </a:solidFill>
                <a:latin typeface="微软雅黑" panose="020B0503020204020204" pitchFamily="34" charset="-122"/>
                <a:ea typeface="微软雅黑" panose="020B0503020204020204" pitchFamily="34" charset="-122"/>
              </a:rPr>
              <a:t>）控制器</a:t>
            </a:r>
            <a:r>
              <a:rPr lang="en-US"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itcast</a:t>
            </a:r>
            <a:r>
              <a:rPr lang="zh-CN" altLang="zh-CN" sz="2000" dirty="0">
                <a:solidFill>
                  <a:srgbClr val="595959"/>
                </a:solidFill>
                <a:latin typeface="微软雅黑" panose="020B0503020204020204" pitchFamily="34" charset="-122"/>
                <a:ea typeface="微软雅黑" panose="020B0503020204020204" pitchFamily="34" charset="-122"/>
                <a:cs typeface="+mn-ea"/>
              </a:rPr>
              <a:t>两个元件</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首先配置如果（</a:t>
            </a:r>
            <a:r>
              <a:rPr lang="en-US" altLang="zh-CN" sz="2000" dirty="0">
                <a:solidFill>
                  <a:srgbClr val="595959"/>
                </a:solidFill>
                <a:latin typeface="微软雅黑" panose="020B0503020204020204" pitchFamily="34" charset="-122"/>
                <a:ea typeface="微软雅黑" panose="020B0503020204020204" pitchFamily="34" charset="-122"/>
                <a:cs typeface="+mn-ea"/>
              </a:rPr>
              <a:t>If</a:t>
            </a:r>
            <a:r>
              <a:rPr lang="zh-CN" altLang="zh-CN" sz="2000" dirty="0">
                <a:solidFill>
                  <a:srgbClr val="595959"/>
                </a:solidFill>
                <a:latin typeface="微软雅黑" panose="020B0503020204020204" pitchFamily="34" charset="-122"/>
                <a:ea typeface="微软雅黑" panose="020B0503020204020204" pitchFamily="34" charset="-122"/>
                <a:cs typeface="+mn-ea"/>
              </a:rPr>
              <a:t>）控制器</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百度，</a:t>
            </a:r>
            <a:r>
              <a:rPr lang="zh-CN" altLang="zh-CN" sz="2000" dirty="0">
                <a:solidFill>
                  <a:srgbClr val="1369B2"/>
                </a:solidFill>
                <a:latin typeface="微软雅黑" panose="020B0503020204020204" pitchFamily="34" charset="-122"/>
                <a:ea typeface="微软雅黑" panose="020B0503020204020204" pitchFamily="34" charset="-122"/>
              </a:rPr>
              <a:t>不勾选</a:t>
            </a:r>
            <a:r>
              <a:rPr lang="en-US" altLang="zh-CN" sz="2000" dirty="0">
                <a:solidFill>
                  <a:srgbClr val="1369B2"/>
                </a:solidFill>
                <a:latin typeface="微软雅黑" panose="020B0503020204020204" pitchFamily="34" charset="-122"/>
                <a:ea typeface="微软雅黑" panose="020B0503020204020204" pitchFamily="34" charset="-122"/>
              </a:rPr>
              <a:t>“Interpret Condition as Variable </a:t>
            </a:r>
            <a:r>
              <a:rPr lang="en-US" altLang="zh-CN" sz="2000">
                <a:solidFill>
                  <a:srgbClr val="1369B2"/>
                </a:solidFill>
                <a:latin typeface="微软雅黑" panose="020B0503020204020204" pitchFamily="34" charset="-122"/>
                <a:ea typeface="微软雅黑" panose="020B0503020204020204" pitchFamily="34" charset="-122"/>
              </a:rPr>
              <a:t>Expression?”</a:t>
            </a:r>
            <a:r>
              <a:rPr lang="zh-CN" altLang="zh-CN" sz="2000">
                <a:solidFill>
                  <a:srgbClr val="1369B2"/>
                </a:solidFill>
                <a:latin typeface="微软雅黑" panose="020B0503020204020204" pitchFamily="34" charset="-122"/>
                <a:ea typeface="微软雅黑" panose="020B0503020204020204" pitchFamily="34" charset="-122"/>
              </a:rPr>
              <a:t>复选框</a:t>
            </a:r>
            <a:r>
              <a:rPr lang="zh-CN" altLang="zh-CN" sz="2000" dirty="0">
                <a:solidFill>
                  <a:srgbClr val="595959"/>
                </a:solidFill>
                <a:latin typeface="微软雅黑" panose="020B0503020204020204" pitchFamily="34" charset="-122"/>
                <a:ea typeface="微软雅黑" panose="020B0503020204020204" pitchFamily="34" charset="-122"/>
                <a:cs typeface="+mn-ea"/>
              </a:rPr>
              <a:t>，直接在输入框中输入</a:t>
            </a:r>
            <a:r>
              <a:rPr lang="zh-CN" altLang="zh-CN" sz="2000">
                <a:solidFill>
                  <a:srgbClr val="595959"/>
                </a:solidFill>
                <a:latin typeface="微软雅黑" panose="020B0503020204020204" pitchFamily="34" charset="-122"/>
                <a:ea typeface="微软雅黑" panose="020B0503020204020204" pitchFamily="34" charset="-122"/>
                <a:cs typeface="+mn-ea"/>
              </a:rPr>
              <a:t>条件表达式</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9403" y="2542337"/>
            <a:ext cx="6438268" cy="362236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7"/>
          <p:cNvSpPr txBox="1"/>
          <p:nvPr/>
        </p:nvSpPr>
        <p:spPr>
          <a:xfrm>
            <a:off x="1072839" y="824561"/>
            <a:ext cx="10173494" cy="2400657"/>
          </a:xfrm>
          <a:prstGeom prst="rect">
            <a:avLst/>
          </a:prstGeom>
          <a:noFill/>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然后配置如果（</a:t>
            </a:r>
            <a:r>
              <a:rPr lang="en-US" altLang="zh-CN" sz="2000" dirty="0">
                <a:solidFill>
                  <a:srgbClr val="595959"/>
                </a:solidFill>
                <a:latin typeface="微软雅黑" panose="020B0503020204020204" pitchFamily="34" charset="-122"/>
                <a:ea typeface="微软雅黑" panose="020B0503020204020204" pitchFamily="34" charset="-122"/>
                <a:cs typeface="+mn-ea"/>
              </a:rPr>
              <a:t>If</a:t>
            </a:r>
            <a:r>
              <a:rPr lang="zh-CN" altLang="zh-CN" sz="2000" dirty="0">
                <a:solidFill>
                  <a:srgbClr val="595959"/>
                </a:solidFill>
                <a:latin typeface="微软雅黑" panose="020B0503020204020204" pitchFamily="34" charset="-122"/>
                <a:ea typeface="微软雅黑" panose="020B0503020204020204" pitchFamily="34" charset="-122"/>
                <a:cs typeface="+mn-ea"/>
              </a:rPr>
              <a:t>）控制器</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itcast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勾选</a:t>
            </a:r>
            <a:r>
              <a:rPr lang="en-US" altLang="zh-CN" sz="2000" dirty="0">
                <a:solidFill>
                  <a:srgbClr val="1369B2"/>
                </a:solidFill>
                <a:latin typeface="微软雅黑" panose="020B0503020204020204" pitchFamily="34" charset="-122"/>
                <a:ea typeface="微软雅黑" panose="020B0503020204020204" pitchFamily="34" charset="-122"/>
              </a:rPr>
              <a:t>“Interpret Condition as Variable </a:t>
            </a:r>
            <a:r>
              <a:rPr lang="en-US" altLang="zh-CN" sz="2000">
                <a:solidFill>
                  <a:srgbClr val="1369B2"/>
                </a:solidFill>
                <a:latin typeface="微软雅黑" panose="020B0503020204020204" pitchFamily="34" charset="-122"/>
                <a:ea typeface="微软雅黑" panose="020B0503020204020204" pitchFamily="34" charset="-122"/>
              </a:rPr>
              <a:t>Expression?”</a:t>
            </a:r>
            <a:r>
              <a:rPr lang="zh-CN" altLang="zh-CN" sz="2000">
                <a:solidFill>
                  <a:srgbClr val="1369B2"/>
                </a:solidFill>
                <a:latin typeface="微软雅黑" panose="020B0503020204020204" pitchFamily="34" charset="-122"/>
                <a:ea typeface="微软雅黑" panose="020B0503020204020204" pitchFamily="34" charset="-122"/>
              </a:rPr>
              <a:t> 复选框</a:t>
            </a:r>
            <a:r>
              <a:rPr lang="zh-CN" altLang="zh-CN" sz="2000" dirty="0">
                <a:solidFill>
                  <a:srgbClr val="595959"/>
                </a:solidFill>
                <a:latin typeface="微软雅黑" panose="020B0503020204020204" pitchFamily="34" charset="-122"/>
                <a:ea typeface="微软雅黑" panose="020B0503020204020204" pitchFamily="34" charset="-122"/>
                <a:cs typeface="+mn-ea"/>
              </a:rPr>
              <a:t>，需要通过</a:t>
            </a:r>
            <a:r>
              <a:rPr lang="zh-CN" altLang="zh-CN" sz="2000" dirty="0">
                <a:solidFill>
                  <a:srgbClr val="1369B2"/>
                </a:solidFill>
                <a:latin typeface="微软雅黑" panose="020B0503020204020204" pitchFamily="34" charset="-122"/>
                <a:ea typeface="微软雅黑" panose="020B0503020204020204" pitchFamily="34" charset="-122"/>
              </a:rPr>
              <a:t>函数生成变量表达式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工具栏单击</a:t>
            </a:r>
            <a:r>
              <a:rPr lang="zh-CN" altLang="zh-CN" sz="2000">
                <a:solidFill>
                  <a:srgbClr val="1369B2"/>
                </a:solidFill>
                <a:latin typeface="微软雅黑" panose="020B0503020204020204" pitchFamily="34" charset="-122"/>
                <a:ea typeface="微软雅黑" panose="020B0503020204020204" pitchFamily="34" charset="-122"/>
              </a:rPr>
              <a:t>“函数助手”</a:t>
            </a:r>
            <a:r>
              <a:rPr lang="zh-CN" altLang="zh-CN" sz="2000">
                <a:solidFill>
                  <a:srgbClr val="595959"/>
                </a:solidFill>
                <a:latin typeface="微软雅黑" panose="020B0503020204020204" pitchFamily="34" charset="-122"/>
                <a:ea typeface="微软雅黑" panose="020B0503020204020204" pitchFamily="34" charset="-122"/>
                <a:cs typeface="+mn-ea"/>
              </a:rPr>
              <a:t>按钮</a:t>
            </a:r>
            <a:r>
              <a:rPr lang="zh-CN" altLang="en-US" sz="2000">
                <a:solidFill>
                  <a:srgbClr val="595959"/>
                </a:solidFill>
                <a:latin typeface="微软雅黑" panose="020B0503020204020204" pitchFamily="34" charset="-122"/>
                <a:ea typeface="微软雅黑" panose="020B0503020204020204" pitchFamily="34" charset="-122"/>
                <a:cs typeface="+mn-ea"/>
              </a:rPr>
              <a:t>（  ），并</a:t>
            </a:r>
            <a:r>
              <a:rPr lang="zh-CN" altLang="zh-CN" sz="2000">
                <a:solidFill>
                  <a:srgbClr val="595959"/>
                </a:solidFill>
                <a:latin typeface="微软雅黑" panose="020B0503020204020204" pitchFamily="34" charset="-122"/>
                <a:ea typeface="微软雅黑" panose="020B0503020204020204" pitchFamily="34" charset="-122"/>
                <a:cs typeface="+mn-ea"/>
              </a:rPr>
              <a:t>单击</a:t>
            </a:r>
            <a:r>
              <a:rPr lang="zh-CN" altLang="zh-CN" sz="2000" dirty="0">
                <a:solidFill>
                  <a:srgbClr val="595959"/>
                </a:solidFill>
                <a:latin typeface="微软雅黑" panose="020B0503020204020204" pitchFamily="34" charset="-122"/>
                <a:ea typeface="微软雅黑" panose="020B0503020204020204" pitchFamily="34" charset="-122"/>
                <a:cs typeface="+mn-ea"/>
              </a:rPr>
              <a:t>顶部的下</a:t>
            </a:r>
            <a:r>
              <a:rPr lang="zh-CN" altLang="zh-CN" sz="2000">
                <a:solidFill>
                  <a:srgbClr val="595959"/>
                </a:solidFill>
                <a:latin typeface="微软雅黑" panose="020B0503020204020204" pitchFamily="34" charset="-122"/>
                <a:ea typeface="微软雅黑" panose="020B0503020204020204" pitchFamily="34" charset="-122"/>
                <a:cs typeface="+mn-ea"/>
              </a:rPr>
              <a:t>拉列表</a:t>
            </a:r>
            <a:r>
              <a:rPr lang="zh-CN" altLang="en-US" sz="2000">
                <a:solidFill>
                  <a:srgbClr val="595959"/>
                </a:solidFill>
                <a:latin typeface="微软雅黑" panose="020B0503020204020204" pitchFamily="34" charset="-122"/>
                <a:ea typeface="微软雅黑" panose="020B0503020204020204" pitchFamily="34" charset="-122"/>
                <a:cs typeface="+mn-ea"/>
              </a:rPr>
              <a:t>框右侧的下拉按钮，</a:t>
            </a:r>
            <a:r>
              <a:rPr lang="zh-CN" altLang="zh-CN" sz="2000">
                <a:solidFill>
                  <a:srgbClr val="1369B2"/>
                </a:solidFill>
                <a:latin typeface="微软雅黑" panose="020B0503020204020204" pitchFamily="34" charset="-122"/>
                <a:ea typeface="微软雅黑" panose="020B0503020204020204" pitchFamily="34" charset="-122"/>
              </a:rPr>
              <a:t>选择</a:t>
            </a:r>
            <a:r>
              <a:rPr lang="zh-CN" altLang="en-US" sz="2000">
                <a:solidFill>
                  <a:srgbClr val="1369B2"/>
                </a:solidFill>
                <a:latin typeface="微软雅黑" panose="020B0503020204020204" pitchFamily="34" charset="-122"/>
                <a:ea typeface="微软雅黑" panose="020B0503020204020204" pitchFamily="34" charset="-122"/>
              </a:rPr>
              <a:t>“</a:t>
            </a:r>
            <a:r>
              <a:rPr lang="en-US" altLang="zh-CN" sz="2000">
                <a:solidFill>
                  <a:srgbClr val="1369B2"/>
                </a:solidFill>
                <a:latin typeface="微软雅黑" panose="020B0503020204020204" pitchFamily="34" charset="-122"/>
                <a:ea typeface="微软雅黑" panose="020B0503020204020204" pitchFamily="34" charset="-122"/>
              </a:rPr>
              <a:t>jexl3</a:t>
            </a:r>
            <a:r>
              <a:rPr lang="zh-CN" altLang="en-US"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jexl3</a:t>
            </a:r>
            <a:r>
              <a:rPr lang="zh-CN" altLang="zh-CN" sz="2000" dirty="0">
                <a:solidFill>
                  <a:srgbClr val="595959"/>
                </a:solidFill>
                <a:latin typeface="微软雅黑" panose="020B0503020204020204" pitchFamily="34" charset="-122"/>
                <a:ea typeface="微软雅黑" panose="020B0503020204020204" pitchFamily="34" charset="-122"/>
                <a:cs typeface="+mn-ea"/>
              </a:rPr>
              <a:t>的函数参数列表中输入条件表达式</a:t>
            </a:r>
            <a:r>
              <a:rPr lang="en-US" altLang="zh-CN" sz="2000" dirty="0">
                <a:solidFill>
                  <a:srgbClr val="1369B2"/>
                </a:solidFill>
                <a:latin typeface="微软雅黑" panose="020B0503020204020204" pitchFamily="34" charset="-122"/>
                <a:ea typeface="微软雅黑" panose="020B0503020204020204" pitchFamily="34" charset="-122"/>
              </a:rPr>
              <a:t>“${name}”==“</a:t>
            </a:r>
            <a:r>
              <a:rPr lang="en-US" altLang="zh-CN" sz="2000" dirty="0" err="1">
                <a:solidFill>
                  <a:srgbClr val="1369B2"/>
                </a:solidFill>
                <a:latin typeface="微软雅黑" panose="020B0503020204020204" pitchFamily="34" charset="-122"/>
                <a:ea typeface="微软雅黑" panose="020B0503020204020204" pitchFamily="34" charset="-122"/>
              </a:rPr>
              <a:t>itcast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之后，单击</a:t>
            </a:r>
            <a:r>
              <a:rPr lang="zh-CN" altLang="zh-CN" sz="2000" dirty="0">
                <a:solidFill>
                  <a:srgbClr val="1369B2"/>
                </a:solidFill>
                <a:latin typeface="微软雅黑" panose="020B0503020204020204" pitchFamily="34" charset="-122"/>
                <a:ea typeface="微软雅黑" panose="020B0503020204020204" pitchFamily="34" charset="-122"/>
              </a:rPr>
              <a:t>“生成”</a:t>
            </a:r>
            <a:r>
              <a:rPr lang="zh-CN" altLang="zh-CN" sz="2000" dirty="0">
                <a:solidFill>
                  <a:srgbClr val="595959"/>
                </a:solidFill>
                <a:latin typeface="微软雅黑" panose="020B0503020204020204" pitchFamily="34" charset="-122"/>
                <a:ea typeface="微软雅黑" panose="020B0503020204020204" pitchFamily="34" charset="-122"/>
                <a:cs typeface="+mn-ea"/>
              </a:rPr>
              <a:t>按钮</a:t>
            </a:r>
            <a:r>
              <a:rPr lang="zh-CN" altLang="zh-CN" sz="2000">
                <a:solidFill>
                  <a:srgbClr val="595959"/>
                </a:solidFill>
                <a:latin typeface="微软雅黑" panose="020B0503020204020204" pitchFamily="34" charset="-122"/>
                <a:ea typeface="微软雅黑" panose="020B0503020204020204" pitchFamily="34" charset="-122"/>
                <a:cs typeface="+mn-ea"/>
              </a:rPr>
              <a:t>生成函数表达式</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9969" y="3143889"/>
            <a:ext cx="4799617" cy="3350797"/>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085" y="3143889"/>
            <a:ext cx="4887248" cy="3411364"/>
          </a:xfrm>
          <a:prstGeom prst="rect">
            <a:avLst/>
          </a:prstGeom>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50573" y="1486242"/>
            <a:ext cx="205758" cy="20575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43491" y="1822992"/>
            <a:ext cx="10156124" cy="1477328"/>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循环控制器可以通过设置循环次数，实现循环发送请求</a:t>
            </a:r>
            <a:r>
              <a:rPr lang="zh-CN" altLang="zh-CN" sz="2000" dirty="0">
                <a:solidFill>
                  <a:srgbClr val="595959"/>
                </a:solidFill>
                <a:latin typeface="微软雅黑" panose="020B0503020204020204" pitchFamily="34" charset="-122"/>
                <a:ea typeface="微软雅黑" panose="020B0503020204020204" pitchFamily="34" charset="-122"/>
                <a:cs typeface="+mn-ea"/>
              </a:rPr>
              <a:t>。如果在线程组中需要使用循环控制器，则首先选中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主界面的线程</a:t>
            </a:r>
            <a:r>
              <a:rPr lang="zh-CN" altLang="zh-CN" sz="2000">
                <a:solidFill>
                  <a:srgbClr val="595959"/>
                </a:solidFill>
                <a:latin typeface="微软雅黑" panose="020B0503020204020204" pitchFamily="34" charset="-122"/>
                <a:ea typeface="微软雅黑" panose="020B0503020204020204" pitchFamily="34" charset="-122"/>
                <a:cs typeface="+mn-ea"/>
              </a:rPr>
              <a:t>组并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“逻辑控制器”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“循环控制器”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，会添加一个循环</a:t>
            </a:r>
            <a:r>
              <a:rPr lang="zh-CN" altLang="zh-CN" sz="2000">
                <a:solidFill>
                  <a:srgbClr val="595959"/>
                </a:solidFill>
                <a:latin typeface="微软雅黑" panose="020B0503020204020204" pitchFamily="34" charset="-122"/>
                <a:ea typeface="微软雅黑" panose="020B0503020204020204" pitchFamily="34" charset="-122"/>
                <a:cs typeface="+mn-ea"/>
              </a:rPr>
              <a:t>控制器界面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2480" y="3839127"/>
            <a:ext cx="4261352" cy="1956031"/>
          </a:xfrm>
          <a:prstGeom prst="rect">
            <a:avLst/>
          </a:prstGeom>
        </p:spPr>
      </p:pic>
      <p:sp>
        <p:nvSpPr>
          <p:cNvPr id="6" name="圆角矩形 5"/>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循环控制器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289957" y="986094"/>
            <a:ext cx="9220200" cy="55399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假设有一个</a:t>
            </a:r>
            <a:r>
              <a:rPr lang="zh-CN" altLang="zh-CN" sz="2000" dirty="0">
                <a:solidFill>
                  <a:srgbClr val="1369B2"/>
                </a:solidFill>
                <a:latin typeface="微软雅黑" panose="020B0503020204020204" pitchFamily="34" charset="-122"/>
                <a:ea typeface="微软雅黑" panose="020B0503020204020204" pitchFamily="34" charset="-122"/>
              </a:rPr>
              <a:t>测试计划</a:t>
            </a:r>
            <a:r>
              <a:rPr lang="zh-CN" altLang="zh-CN" sz="2000" dirty="0">
                <a:solidFill>
                  <a:srgbClr val="595959"/>
                </a:solidFill>
                <a:latin typeface="微软雅黑" panose="020B0503020204020204" pitchFamily="34" charset="-122"/>
                <a:ea typeface="微软雅黑" panose="020B0503020204020204" pitchFamily="34" charset="-122"/>
                <a:cs typeface="+mn-ea"/>
              </a:rPr>
              <a:t>，其</a:t>
            </a:r>
            <a:r>
              <a:rPr lang="zh-CN" altLang="zh-CN" sz="2000" dirty="0">
                <a:solidFill>
                  <a:srgbClr val="1369B2"/>
                </a:solidFill>
                <a:latin typeface="微软雅黑" panose="020B0503020204020204" pitchFamily="34" charset="-122"/>
                <a:ea typeface="微软雅黑" panose="020B0503020204020204" pitchFamily="34" charset="-122"/>
              </a:rPr>
              <a:t>目录</a:t>
            </a:r>
            <a:r>
              <a:rPr lang="zh-CN" altLang="zh-CN" sz="2000">
                <a:solidFill>
                  <a:srgbClr val="1369B2"/>
                </a:solidFill>
                <a:latin typeface="微软雅黑" panose="020B0503020204020204" pitchFamily="34" charset="-122"/>
                <a:ea typeface="微软雅黑" panose="020B0503020204020204" pitchFamily="34" charset="-122"/>
              </a:rPr>
              <a:t>树结构</a:t>
            </a:r>
            <a:r>
              <a:rPr lang="zh-CN" altLang="en-US" sz="2000">
                <a:solidFill>
                  <a:srgbClr val="595959"/>
                </a:solidFill>
                <a:latin typeface="微软雅黑" panose="020B0503020204020204" pitchFamily="34" charset="-122"/>
                <a:ea typeface="微软雅黑" panose="020B0503020204020204" pitchFamily="34" charset="-122"/>
                <a:cs typeface="+mn-ea"/>
              </a:rPr>
              <a:t>如右图所示。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a:xfrm>
            <a:off x="8299493" y="1111837"/>
            <a:ext cx="2914897" cy="3032151"/>
          </a:xfrm>
          <a:prstGeom prst="rect">
            <a:avLst/>
          </a:prstGeom>
          <a:noFill/>
          <a:ln>
            <a:noFill/>
          </a:ln>
        </p:spPr>
      </p:pic>
      <p:sp>
        <p:nvSpPr>
          <p:cNvPr id="3" name="矩形 2"/>
          <p:cNvSpPr/>
          <p:nvPr/>
        </p:nvSpPr>
        <p:spPr>
          <a:xfrm>
            <a:off x="1289957" y="1903041"/>
            <a:ext cx="6595259" cy="193899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rPr>
              <a:t>线程组循环次数</a:t>
            </a:r>
            <a:r>
              <a:rPr lang="zh-CN" altLang="zh-CN" sz="2000" dirty="0">
                <a:solidFill>
                  <a:srgbClr val="595959"/>
                </a:solidFill>
                <a:latin typeface="微软雅黑" panose="020B0503020204020204" pitchFamily="34" charset="-122"/>
                <a:ea typeface="微软雅黑" panose="020B0503020204020204" pitchFamily="34" charset="-122"/>
                <a:cs typeface="+mn-ea"/>
              </a:rPr>
              <a:t>设置为</a:t>
            </a:r>
            <a:r>
              <a:rPr lang="en-US" altLang="zh-CN" sz="2000" dirty="0">
                <a:solidFill>
                  <a:srgbClr val="1369B2"/>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循环控制器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rPr>
              <a:t>循环次数</a:t>
            </a:r>
            <a:r>
              <a:rPr lang="zh-CN" altLang="zh-CN" sz="2000" dirty="0">
                <a:solidFill>
                  <a:srgbClr val="595959"/>
                </a:solidFill>
                <a:latin typeface="微软雅黑" panose="020B0503020204020204" pitchFamily="34" charset="-122"/>
                <a:ea typeface="微软雅黑" panose="020B0503020204020204" pitchFamily="34" charset="-122"/>
                <a:cs typeface="+mn-ea"/>
              </a:rPr>
              <a:t>设置为</a:t>
            </a:r>
            <a:r>
              <a:rPr lang="en-US" altLang="zh-CN" sz="2000" dirty="0">
                <a:solidFill>
                  <a:srgbClr val="1369B2"/>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cs typeface="+mn-ea"/>
              </a:rPr>
              <a:t>，则</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a:t>
            </a:r>
            <a:r>
              <a:rPr lang="en-US" altLang="zh-CN" sz="2000" dirty="0">
                <a:solidFill>
                  <a:srgbClr val="1369B2"/>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的循环次数为</a:t>
            </a:r>
            <a:r>
              <a:rPr lang="en-US" altLang="zh-CN" sz="2000">
                <a:solidFill>
                  <a:srgbClr val="1369B2"/>
                </a:solidFill>
                <a:latin typeface="微软雅黑" panose="020B0503020204020204" pitchFamily="34" charset="-122"/>
                <a:ea typeface="微软雅黑" panose="020B0503020204020204" pitchFamily="34" charset="-122"/>
              </a:rPr>
              <a:t>12</a:t>
            </a:r>
            <a:r>
              <a:rPr lang="zh-CN" altLang="zh-CN" sz="2000">
                <a:solidFill>
                  <a:srgbClr val="1369B2"/>
                </a:solidFill>
                <a:latin typeface="微软雅黑" panose="020B0503020204020204" pitchFamily="34" charset="-122"/>
                <a:ea typeface="微软雅黑" panose="020B0503020204020204" pitchFamily="34" charset="-122"/>
              </a:rPr>
              <a:t>（</a:t>
            </a:r>
            <a:r>
              <a:rPr lang="zh-CN" altLang="en-US" sz="2000">
                <a:solidFill>
                  <a:srgbClr val="1369B2"/>
                </a:solidFill>
                <a:latin typeface="微软雅黑" panose="020B0503020204020204" pitchFamily="34" charset="-122"/>
                <a:ea typeface="微软雅黑" panose="020B0503020204020204" pitchFamily="34" charset="-122"/>
              </a:rPr>
              <a:t>即</a:t>
            </a:r>
            <a:r>
              <a:rPr lang="en-US" altLang="zh-CN" sz="2000">
                <a:solidFill>
                  <a:srgbClr val="1369B2"/>
                </a:solidFill>
                <a:latin typeface="微软雅黑" panose="020B0503020204020204" pitchFamily="34" charset="-122"/>
                <a:ea typeface="微软雅黑" panose="020B0503020204020204" pitchFamily="34" charset="-122"/>
              </a:rPr>
              <a:t>3</a:t>
            </a:r>
            <a:r>
              <a:rPr lang="en-US" altLang="zh-CN" sz="2000">
                <a:solidFill>
                  <a:srgbClr val="1369B2"/>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a:solidFill>
                  <a:srgbClr val="1369B2"/>
                </a:solidFill>
                <a:latin typeface="微软雅黑" panose="020B0503020204020204" pitchFamily="34" charset="-122"/>
                <a:ea typeface="微软雅黑" panose="020B0503020204020204" pitchFamily="34" charset="-122"/>
              </a:rPr>
              <a:t>4</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a:t>
            </a:r>
            <a:r>
              <a:rPr lang="en-US" altLang="zh-CN" sz="2000" dirty="0">
                <a:solidFill>
                  <a:srgbClr val="1369B2"/>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的循环次数为</a:t>
            </a:r>
            <a:r>
              <a:rPr lang="en-US" altLang="zh-CN" sz="2000" dirty="0">
                <a:solidFill>
                  <a:srgbClr val="1369B2"/>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。线程组可以控制</a:t>
            </a:r>
            <a:r>
              <a:rPr lang="en-US" altLang="zh-CN" sz="2000" dirty="0">
                <a:solidFill>
                  <a:srgbClr val="595959"/>
                </a:solidFill>
                <a:latin typeface="微软雅黑" panose="020B0503020204020204" pitchFamily="34" charset="-122"/>
                <a:ea typeface="微软雅黑" panose="020B0503020204020204" pitchFamily="34" charset="-122"/>
                <a:cs typeface="+mn-ea"/>
              </a:rPr>
              <a:t>HTTP</a:t>
            </a:r>
            <a:r>
              <a:rPr lang="zh-CN" altLang="zh-CN" sz="2000" dirty="0">
                <a:solidFill>
                  <a:srgbClr val="595959"/>
                </a:solidFill>
                <a:latin typeface="微软雅黑" panose="020B0503020204020204" pitchFamily="34" charset="-122"/>
                <a:ea typeface="微软雅黑" panose="020B0503020204020204" pitchFamily="34" charset="-122"/>
                <a:cs typeface="+mn-ea"/>
              </a:rPr>
              <a:t>请求</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595959"/>
                </a:solidFill>
                <a:latin typeface="微软雅黑" panose="020B0503020204020204" pitchFamily="34" charset="-122"/>
                <a:ea typeface="微软雅黑" panose="020B0503020204020204" pitchFamily="34" charset="-122"/>
                <a:cs typeface="+mn-ea"/>
              </a:rPr>
              <a:t>HTTP</a:t>
            </a:r>
            <a:r>
              <a:rPr lang="zh-CN" altLang="zh-CN" sz="2000" dirty="0">
                <a:solidFill>
                  <a:srgbClr val="595959"/>
                </a:solidFill>
                <a:latin typeface="微软雅黑" panose="020B0503020204020204" pitchFamily="34" charset="-122"/>
                <a:ea typeface="微软雅黑" panose="020B0503020204020204" pitchFamily="34" charset="-122"/>
                <a:cs typeface="+mn-ea"/>
              </a:rPr>
              <a:t>请求</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，而循环控制器只能控制</a:t>
            </a:r>
            <a:r>
              <a:rPr lang="en-US" altLang="zh-CN" sz="2000" dirty="0">
                <a:solidFill>
                  <a:srgbClr val="595959"/>
                </a:solidFill>
                <a:latin typeface="微软雅黑" panose="020B0503020204020204" pitchFamily="34" charset="-122"/>
                <a:ea typeface="微软雅黑" panose="020B0503020204020204" pitchFamily="34" charset="-122"/>
                <a:cs typeface="+mn-ea"/>
              </a:rPr>
              <a:t>HTTP</a:t>
            </a:r>
            <a:r>
              <a:rPr lang="zh-CN" altLang="zh-CN" sz="2000" dirty="0">
                <a:solidFill>
                  <a:srgbClr val="595959"/>
                </a:solidFill>
                <a:latin typeface="微软雅黑" panose="020B0503020204020204" pitchFamily="34" charset="-122"/>
                <a:ea typeface="微软雅黑" panose="020B0503020204020204" pitchFamily="34" charset="-122"/>
                <a:cs typeface="+mn-ea"/>
              </a:rPr>
              <a:t>请求</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909973"/>
            <a:ext cx="9971614" cy="1477328"/>
          </a:xfrm>
          <a:prstGeom prst="rect">
            <a:avLst/>
          </a:prstGeom>
        </p:spPr>
        <p:txBody>
          <a:bodyPr wrap="square">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rPr>
              <a:t>ForEach</a:t>
            </a:r>
            <a:r>
              <a:rPr lang="zh-CN" altLang="zh-CN" sz="2000" dirty="0">
                <a:solidFill>
                  <a:srgbClr val="1369B2"/>
                </a:solidFill>
                <a:latin typeface="微软雅黑" panose="020B0503020204020204" pitchFamily="34" charset="-122"/>
                <a:ea typeface="微软雅黑" panose="020B0503020204020204" pitchFamily="34" charset="-122"/>
              </a:rPr>
              <a:t>控制器可以遍历读取一组数据，控制其下层的取样器执行的次数</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ForEach</a:t>
            </a:r>
            <a:r>
              <a:rPr lang="zh-CN" altLang="zh-CN" sz="2000" dirty="0">
                <a:solidFill>
                  <a:srgbClr val="595959"/>
                </a:solidFill>
                <a:latin typeface="微软雅黑" panose="020B0503020204020204" pitchFamily="34" charset="-122"/>
                <a:ea typeface="微软雅黑" panose="020B0503020204020204" pitchFamily="34" charset="-122"/>
                <a:cs typeface="+mn-ea"/>
              </a:rPr>
              <a:t>控制器通过与</a:t>
            </a:r>
            <a:r>
              <a:rPr lang="zh-CN" altLang="zh-CN" sz="2000" dirty="0">
                <a:solidFill>
                  <a:srgbClr val="1369B2"/>
                </a:solidFill>
                <a:latin typeface="微软雅黑" panose="020B0503020204020204" pitchFamily="34" charset="-122"/>
                <a:ea typeface="微软雅黑" panose="020B0503020204020204" pitchFamily="34" charset="-122"/>
              </a:rPr>
              <a:t>用户定义的变量</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正则表达式提取器</a:t>
            </a:r>
            <a:r>
              <a:rPr lang="zh-CN" altLang="zh-CN" sz="2000" dirty="0">
                <a:solidFill>
                  <a:srgbClr val="595959"/>
                </a:solidFill>
                <a:latin typeface="微软雅黑" panose="020B0503020204020204" pitchFamily="34" charset="-122"/>
                <a:ea typeface="微软雅黑" panose="020B0503020204020204" pitchFamily="34" charset="-122"/>
                <a:cs typeface="+mn-ea"/>
              </a:rPr>
              <a:t>结合</a:t>
            </a: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zh-CN" altLang="en-US" sz="2000">
                <a:solidFill>
                  <a:srgbClr val="595959"/>
                </a:solidFill>
                <a:latin typeface="微软雅黑" panose="020B0503020204020204" pitchFamily="34" charset="-122"/>
                <a:ea typeface="微软雅黑" panose="020B0503020204020204" pitchFamily="34" charset="-122"/>
                <a:cs typeface="+mn-ea"/>
              </a:rPr>
              <a:t>可以</a:t>
            </a:r>
            <a:r>
              <a:rPr lang="zh-CN" altLang="zh-CN" sz="2000">
                <a:solidFill>
                  <a:srgbClr val="595959"/>
                </a:solidFill>
                <a:latin typeface="微软雅黑" panose="020B0503020204020204" pitchFamily="34" charset="-122"/>
                <a:ea typeface="微软雅黑" panose="020B0503020204020204" pitchFamily="34" charset="-122"/>
                <a:cs typeface="+mn-ea"/>
              </a:rPr>
              <a:t>从</a:t>
            </a:r>
            <a:r>
              <a:rPr lang="zh-CN" altLang="zh-CN" sz="2000" dirty="0">
                <a:solidFill>
                  <a:srgbClr val="595959"/>
                </a:solidFill>
                <a:latin typeface="微软雅黑" panose="020B0503020204020204" pitchFamily="34" charset="-122"/>
                <a:ea typeface="微软雅黑" panose="020B0503020204020204" pitchFamily="34" charset="-122"/>
                <a:cs typeface="+mn-ea"/>
              </a:rPr>
              <a:t>用户定义的变量或者从正则表达式提取器的返回结果中读取一系列数据。</a:t>
            </a:r>
          </a:p>
        </p:txBody>
      </p:sp>
      <p:sp>
        <p:nvSpPr>
          <p:cNvPr id="5" name="圆角矩形 4"/>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3.ForEach</a:t>
            </a:r>
            <a:r>
              <a:rPr lang="zh-CN" altLang="en-US" sz="2000">
                <a:latin typeface="微软雅黑" panose="020B0503020204020204" pitchFamily="34" charset="-122"/>
                <a:ea typeface="微软雅黑" panose="020B0503020204020204" pitchFamily="34" charset="-122"/>
              </a:rPr>
              <a:t>控制器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36813" y="992479"/>
            <a:ext cx="10363499"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如果在线程组中需要使用</a:t>
            </a:r>
            <a:r>
              <a:rPr lang="en-US" altLang="zh-CN" sz="2000" dirty="0" err="1">
                <a:solidFill>
                  <a:srgbClr val="1369B2"/>
                </a:solidFill>
                <a:latin typeface="微软雅黑" panose="020B0503020204020204" pitchFamily="34" charset="-122"/>
                <a:ea typeface="微软雅黑" panose="020B0503020204020204" pitchFamily="34" charset="-122"/>
              </a:rPr>
              <a:t>ForEach</a:t>
            </a:r>
            <a:r>
              <a:rPr lang="zh-CN" altLang="zh-CN" sz="2000" dirty="0">
                <a:solidFill>
                  <a:srgbClr val="1369B2"/>
                </a:solidFill>
                <a:latin typeface="微软雅黑" panose="020B0503020204020204" pitchFamily="34" charset="-122"/>
                <a:ea typeface="微软雅黑" panose="020B0503020204020204" pitchFamily="34" charset="-122"/>
              </a:rPr>
              <a:t>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，则首先选中</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主界面中的线程</a:t>
            </a:r>
            <a:r>
              <a:rPr lang="zh-CN" altLang="zh-CN" sz="2000">
                <a:solidFill>
                  <a:srgbClr val="595959"/>
                </a:solidFill>
                <a:latin typeface="微软雅黑" panose="020B0503020204020204" pitchFamily="34" charset="-122"/>
                <a:ea typeface="微软雅黑" panose="020B0503020204020204" pitchFamily="34" charset="-122"/>
                <a:cs typeface="+mn-ea"/>
              </a:rPr>
              <a:t>组并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“逻辑控制器”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ForEach</a:t>
            </a:r>
            <a:r>
              <a:rPr lang="zh-CN" altLang="zh-CN" sz="2000" dirty="0">
                <a:solidFill>
                  <a:srgbClr val="1369B2"/>
                </a:solidFill>
                <a:latin typeface="微软雅黑" panose="020B0503020204020204" pitchFamily="34" charset="-122"/>
                <a:ea typeface="微软雅黑" panose="020B0503020204020204" pitchFamily="34" charset="-122"/>
              </a:rPr>
              <a:t>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a:t>
            </a:r>
            <a:r>
              <a:rPr lang="en-US" altLang="zh-CN" sz="2000" dirty="0" err="1">
                <a:solidFill>
                  <a:srgbClr val="595959"/>
                </a:solidFill>
                <a:latin typeface="微软雅黑" panose="020B0503020204020204" pitchFamily="34" charset="-122"/>
                <a:ea typeface="微软雅黑" panose="020B0503020204020204" pitchFamily="34" charset="-122"/>
                <a:cs typeface="+mn-ea"/>
              </a:rPr>
              <a:t>ForEach</a:t>
            </a:r>
            <a:r>
              <a:rPr lang="zh-CN" altLang="zh-CN" sz="2000">
                <a:solidFill>
                  <a:srgbClr val="595959"/>
                </a:solidFill>
                <a:latin typeface="微软雅黑" panose="020B0503020204020204" pitchFamily="34" charset="-122"/>
                <a:ea typeface="微软雅黑" panose="020B0503020204020204" pitchFamily="34" charset="-122"/>
                <a:cs typeface="+mn-ea"/>
              </a:rPr>
              <a:t>控制器界面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0250" y="2689205"/>
            <a:ext cx="6854777" cy="365221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1143690" y="1053069"/>
            <a:ext cx="3753113" cy="499624"/>
          </a:xfrm>
          <a:prstGeom prst="rect">
            <a:avLst/>
          </a:prstGeom>
        </p:spPr>
        <p:txBody>
          <a:bodyPr wrap="square">
            <a:spAutoFit/>
          </a:bodyPr>
          <a:lstStyle/>
          <a:p>
            <a:pPr>
              <a:lnSpc>
                <a:spcPct val="150000"/>
              </a:lnSpc>
            </a:pPr>
            <a:r>
              <a:rPr lang="en-US" altLang="zh-CN" sz="2000" dirty="0" err="1">
                <a:solidFill>
                  <a:srgbClr val="1369B2"/>
                </a:solidFill>
                <a:latin typeface="微软雅黑" panose="020B0503020204020204" pitchFamily="34" charset="-122"/>
                <a:ea typeface="微软雅黑" panose="020B0503020204020204" pitchFamily="34" charset="-122"/>
              </a:rPr>
              <a:t>ForEach</a:t>
            </a:r>
            <a:r>
              <a:rPr lang="zh-CN" altLang="zh-CN" sz="2000" dirty="0">
                <a:solidFill>
                  <a:srgbClr val="1369B2"/>
                </a:solidFill>
                <a:latin typeface="微软雅黑" panose="020B0503020204020204" pitchFamily="34" charset="-122"/>
                <a:ea typeface="微软雅黑" panose="020B0503020204020204" pitchFamily="34" charset="-122"/>
              </a:rPr>
              <a:t>控制器常用配置项</a:t>
            </a:r>
            <a:r>
              <a:rPr lang="zh-CN" altLang="en-US" sz="2000" dirty="0">
                <a:solidFill>
                  <a:srgbClr val="595959"/>
                </a:solidFill>
                <a:latin typeface="微软雅黑" panose="020B0503020204020204" pitchFamily="34" charset="-122"/>
                <a:ea typeface="微软雅黑" panose="020B0503020204020204" pitchFamily="34" charset="-122"/>
                <a:cs typeface="+mn-ea"/>
              </a:rPr>
              <a:t>如下。</a:t>
            </a:r>
          </a:p>
        </p:txBody>
      </p:sp>
      <p:sp>
        <p:nvSpPr>
          <p:cNvPr id="2" name="矩形 1"/>
          <p:cNvSpPr/>
          <p:nvPr/>
        </p:nvSpPr>
        <p:spPr>
          <a:xfrm>
            <a:off x="1143690" y="1832681"/>
            <a:ext cx="9722068" cy="2862322"/>
          </a:xfrm>
          <a:prstGeom prst="rect">
            <a:avLst/>
          </a:prstGeom>
        </p:spPr>
        <p:txBody>
          <a:bodyPr wrap="square">
            <a:spAutoFit/>
          </a:bodyPr>
          <a:lstStyle/>
          <a:p>
            <a:pPr marL="34290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输入变量前缀：</a:t>
            </a:r>
            <a:r>
              <a:rPr lang="zh-CN" altLang="zh-CN" sz="2000" dirty="0">
                <a:solidFill>
                  <a:srgbClr val="1369B2"/>
                </a:solidFill>
                <a:latin typeface="微软雅黑" panose="020B0503020204020204" pitchFamily="34" charset="-122"/>
                <a:ea typeface="微软雅黑" panose="020B0503020204020204" pitchFamily="34" charset="-122"/>
              </a:rPr>
              <a:t>将要遍历的一组数据的前缀</a:t>
            </a:r>
            <a:r>
              <a:rPr lang="zh-CN" altLang="zh-CN" sz="2000" dirty="0">
                <a:solidFill>
                  <a:srgbClr val="595959"/>
                </a:solidFill>
                <a:latin typeface="微软雅黑" panose="020B0503020204020204" pitchFamily="34" charset="-122"/>
                <a:ea typeface="微软雅黑" panose="020B0503020204020204" pitchFamily="34" charset="-122"/>
                <a:cs typeface="+mn-ea"/>
              </a:rPr>
              <a:t>。例如，</a:t>
            </a:r>
            <a:r>
              <a:rPr lang="en-US" altLang="zh-CN" sz="2000" dirty="0">
                <a:solidFill>
                  <a:srgbClr val="595959"/>
                </a:solidFill>
                <a:latin typeface="微软雅黑" panose="020B0503020204020204" pitchFamily="34" charset="-122"/>
                <a:ea typeface="微软雅黑" panose="020B0503020204020204" pitchFamily="34" charset="-122"/>
                <a:cs typeface="+mn-ea"/>
              </a:rPr>
              <a:t>id1</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id2</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id3</a:t>
            </a:r>
            <a:r>
              <a:rPr lang="zh-CN" altLang="zh-CN" sz="2000" dirty="0">
                <a:solidFill>
                  <a:srgbClr val="595959"/>
                </a:solidFill>
                <a:latin typeface="微软雅黑" panose="020B0503020204020204" pitchFamily="34" charset="-122"/>
                <a:ea typeface="微软雅黑" panose="020B0503020204020204" pitchFamily="34" charset="-122"/>
                <a:cs typeface="+mn-ea"/>
              </a:rPr>
              <a:t>这一</a:t>
            </a:r>
            <a:r>
              <a:rPr lang="zh-CN" altLang="zh-CN" sz="2000">
                <a:solidFill>
                  <a:srgbClr val="595959"/>
                </a:solidFill>
                <a:latin typeface="微软雅黑" panose="020B0503020204020204" pitchFamily="34" charset="-122"/>
                <a:ea typeface="微软雅黑" panose="020B0503020204020204" pitchFamily="34" charset="-122"/>
                <a:cs typeface="+mn-ea"/>
              </a:rPr>
              <a:t>组数据</a:t>
            </a:r>
            <a:r>
              <a:rPr lang="zh-CN" altLang="en-US" sz="2000">
                <a:solidFill>
                  <a:srgbClr val="595959"/>
                </a:solidFill>
                <a:latin typeface="微软雅黑" panose="020B0503020204020204" pitchFamily="34" charset="-122"/>
                <a:ea typeface="微软雅黑" panose="020B0503020204020204" pitchFamily="34" charset="-122"/>
                <a:cs typeface="+mn-ea"/>
              </a:rPr>
              <a:t>的</a:t>
            </a:r>
            <a:r>
              <a:rPr lang="zh-CN" altLang="zh-CN" sz="2000">
                <a:solidFill>
                  <a:srgbClr val="595959"/>
                </a:solidFill>
                <a:latin typeface="微软雅黑" panose="020B0503020204020204" pitchFamily="34" charset="-122"/>
                <a:ea typeface="微软雅黑" panose="020B0503020204020204" pitchFamily="34" charset="-122"/>
                <a:cs typeface="+mn-ea"/>
              </a:rPr>
              <a:t>前缀</a:t>
            </a:r>
            <a:r>
              <a:rPr lang="zh-CN" altLang="zh-CN" sz="2000" dirty="0">
                <a:solidFill>
                  <a:srgbClr val="595959"/>
                </a:solidFill>
                <a:latin typeface="微软雅黑" panose="020B0503020204020204" pitchFamily="34" charset="-122"/>
                <a:ea typeface="微软雅黑" panose="020B0503020204020204" pitchFamily="34" charset="-122"/>
                <a:cs typeface="+mn-ea"/>
              </a:rPr>
              <a:t>就是</a:t>
            </a:r>
            <a:r>
              <a:rPr lang="en-US" altLang="zh-CN" sz="2000" dirty="0">
                <a:solidFill>
                  <a:srgbClr val="595959"/>
                </a:solidFill>
                <a:latin typeface="微软雅黑" panose="020B0503020204020204" pitchFamily="34" charset="-122"/>
                <a:ea typeface="微软雅黑" panose="020B0503020204020204" pitchFamily="34" charset="-122"/>
                <a:cs typeface="+mn-ea"/>
              </a:rPr>
              <a:t>id</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开始循环字段（不包含）：</a:t>
            </a:r>
            <a:r>
              <a:rPr lang="zh-CN" altLang="zh-CN" sz="2000" dirty="0">
                <a:solidFill>
                  <a:srgbClr val="1369B2"/>
                </a:solidFill>
                <a:latin typeface="微软雅黑" panose="020B0503020204020204" pitchFamily="34" charset="-122"/>
                <a:ea typeface="微软雅黑" panose="020B0503020204020204" pitchFamily="34" charset="-122"/>
              </a:rPr>
              <a:t>循环起始位置</a:t>
            </a:r>
            <a:r>
              <a:rPr lang="zh-CN" altLang="zh-CN" sz="2000" dirty="0">
                <a:solidFill>
                  <a:srgbClr val="595959"/>
                </a:solidFill>
                <a:latin typeface="微软雅黑" panose="020B0503020204020204" pitchFamily="34" charset="-122"/>
                <a:ea typeface="微软雅黑" panose="020B0503020204020204" pitchFamily="34" charset="-122"/>
                <a:cs typeface="+mn-ea"/>
              </a:rPr>
              <a:t>，不读取当前位置的数据。例如，填写</a:t>
            </a:r>
            <a:r>
              <a:rPr lang="en-US" altLang="zh-CN" sz="2000" dirty="0">
                <a:solidFill>
                  <a:srgbClr val="595959"/>
                </a:solidFill>
                <a:latin typeface="微软雅黑" panose="020B0503020204020204" pitchFamily="34" charset="-122"/>
                <a:ea typeface="微软雅黑" panose="020B0503020204020204" pitchFamily="34" charset="-122"/>
                <a:cs typeface="+mn-ea"/>
              </a:rPr>
              <a:t>0</a:t>
            </a:r>
            <a:r>
              <a:rPr lang="zh-CN" altLang="zh-CN" sz="2000" dirty="0">
                <a:solidFill>
                  <a:srgbClr val="595959"/>
                </a:solidFill>
                <a:latin typeface="微软雅黑" panose="020B0503020204020204" pitchFamily="34" charset="-122"/>
                <a:ea typeface="微软雅黑" panose="020B0503020204020204" pitchFamily="34" charset="-122"/>
                <a:cs typeface="+mn-ea"/>
              </a:rPr>
              <a:t>，从第</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个位置开始读取；填写</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，从第</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个位置开始读取。</a:t>
            </a:r>
          </a:p>
          <a:p>
            <a:pPr marL="34290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结束循环字段（含）：</a:t>
            </a:r>
            <a:r>
              <a:rPr lang="zh-CN" altLang="zh-CN" sz="2000" dirty="0">
                <a:solidFill>
                  <a:srgbClr val="1369B2"/>
                </a:solidFill>
                <a:latin typeface="微软雅黑" panose="020B0503020204020204" pitchFamily="34" charset="-122"/>
                <a:ea typeface="微软雅黑" panose="020B0503020204020204" pitchFamily="34" charset="-122"/>
              </a:rPr>
              <a:t>循环结束的位置</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marL="342900"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cs typeface="+mn-ea"/>
              </a:rPr>
              <a:t>输出变量名称：</a:t>
            </a:r>
            <a:r>
              <a:rPr lang="zh-CN" altLang="zh-CN" sz="2000" dirty="0">
                <a:solidFill>
                  <a:srgbClr val="1369B2"/>
                </a:solidFill>
                <a:latin typeface="微软雅黑" panose="020B0503020204020204" pitchFamily="34" charset="-122"/>
                <a:ea typeface="微软雅黑" panose="020B0503020204020204" pitchFamily="34" charset="-122"/>
              </a:rPr>
              <a:t>用于保存读取的数据</a:t>
            </a:r>
            <a:r>
              <a:rPr lang="zh-CN" altLang="zh-CN" sz="2000" dirty="0">
                <a:solidFill>
                  <a:srgbClr val="595959"/>
                </a:solidFill>
                <a:latin typeface="微软雅黑" panose="020B0503020204020204" pitchFamily="34" charset="-122"/>
                <a:ea typeface="微软雅黑" panose="020B0503020204020204" pitchFamily="34" charset="-122"/>
                <a:cs typeface="+mn-ea"/>
              </a:rPr>
              <a:t>，在请求中可以引用该名称。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逻辑控制器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矩形 4"/>
          <p:cNvSpPr/>
          <p:nvPr/>
        </p:nvSpPr>
        <p:spPr>
          <a:xfrm>
            <a:off x="1226817" y="1132827"/>
            <a:ext cx="10160467" cy="2862322"/>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en-US" altLang="zh-CN" sz="2000" dirty="0" err="1">
                <a:solidFill>
                  <a:srgbClr val="1369B2"/>
                </a:solidFill>
                <a:latin typeface="微软雅黑" panose="020B0503020204020204" pitchFamily="34" charset="-122"/>
                <a:ea typeface="微软雅黑" panose="020B0503020204020204" pitchFamily="34" charset="-122"/>
              </a:rPr>
              <a:t>ForEach</a:t>
            </a:r>
            <a:r>
              <a:rPr lang="zh-CN" altLang="zh-CN" sz="2000" dirty="0">
                <a:solidFill>
                  <a:srgbClr val="1369B2"/>
                </a:solidFill>
                <a:latin typeface="微软雅黑" panose="020B0503020204020204" pitchFamily="34" charset="-122"/>
                <a:ea typeface="微软雅黑" panose="020B0503020204020204" pitchFamily="34" charset="-122"/>
              </a:rPr>
              <a:t>控制器</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的使用。本案例要求使用</a:t>
            </a:r>
            <a:r>
              <a:rPr lang="zh-CN" altLang="zh-CN" sz="2000" dirty="0">
                <a:solidFill>
                  <a:srgbClr val="1369B2"/>
                </a:solidFill>
                <a:latin typeface="微软雅黑" panose="020B0503020204020204" pitchFamily="34" charset="-122"/>
                <a:ea typeface="微软雅黑" panose="020B0503020204020204" pitchFamily="34" charset="-122"/>
              </a:rPr>
              <a:t>用户定义的变量</a:t>
            </a:r>
            <a:r>
              <a:rPr lang="zh-CN" altLang="zh-CN" sz="2000" dirty="0">
                <a:solidFill>
                  <a:srgbClr val="595959"/>
                </a:solidFill>
                <a:latin typeface="微软雅黑" panose="020B0503020204020204" pitchFamily="34" charset="-122"/>
                <a:ea typeface="微软雅黑" panose="020B0503020204020204" pitchFamily="34" charset="-122"/>
                <a:cs typeface="+mn-ea"/>
              </a:rPr>
              <a:t>定义一组关键字：</a:t>
            </a:r>
            <a:r>
              <a:rPr lang="en-US" altLang="zh-CN" sz="2000" dirty="0">
                <a:solidFill>
                  <a:srgbClr val="1369B2"/>
                </a:solidFill>
                <a:latin typeface="微软雅黑" panose="020B0503020204020204" pitchFamily="34" charset="-122"/>
                <a:ea typeface="微软雅黑" panose="020B0503020204020204" pitchFamily="34" charset="-122"/>
              </a:rPr>
              <a:t>hello</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rPr>
              <a:t>pyhton</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测试</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依次</a:t>
            </a:r>
            <a:r>
              <a:rPr lang="zh-CN" altLang="zh-CN" sz="2000" dirty="0">
                <a:solidFill>
                  <a:srgbClr val="595959"/>
                </a:solidFill>
                <a:latin typeface="微软雅黑" panose="020B0503020204020204" pitchFamily="34" charset="-122"/>
                <a:ea typeface="微软雅黑" panose="020B0503020204020204" pitchFamily="34" charset="-122"/>
                <a:cs typeface="+mn-ea"/>
              </a:rPr>
              <a:t>取出这一组</a:t>
            </a:r>
            <a:r>
              <a:rPr lang="zh-CN" altLang="zh-CN" sz="2000">
                <a:solidFill>
                  <a:srgbClr val="595959"/>
                </a:solidFill>
                <a:latin typeface="微软雅黑" panose="020B0503020204020204" pitchFamily="34" charset="-122"/>
                <a:ea typeface="微软雅黑" panose="020B0503020204020204" pitchFamily="34" charset="-122"/>
                <a:cs typeface="+mn-ea"/>
              </a:rPr>
              <a:t>关键字，</a:t>
            </a:r>
            <a:r>
              <a:rPr lang="zh-CN" altLang="en-US" sz="2000">
                <a:solidFill>
                  <a:srgbClr val="595959"/>
                </a:solidFill>
                <a:latin typeface="微软雅黑" panose="020B0503020204020204" pitchFamily="34" charset="-122"/>
                <a:ea typeface="微软雅黑" panose="020B0503020204020204" pitchFamily="34" charset="-122"/>
                <a:cs typeface="+mn-ea"/>
              </a:rPr>
              <a:t>将其</a:t>
            </a:r>
            <a:r>
              <a:rPr lang="zh-CN" altLang="zh-CN" sz="2000">
                <a:solidFill>
                  <a:srgbClr val="595959"/>
                </a:solidFill>
                <a:latin typeface="微软雅黑" panose="020B0503020204020204" pitchFamily="34" charset="-122"/>
                <a:ea typeface="微软雅黑" panose="020B0503020204020204" pitchFamily="34" charset="-122"/>
                <a:cs typeface="+mn-ea"/>
              </a:rPr>
              <a:t>作为</a:t>
            </a:r>
            <a:r>
              <a:rPr lang="zh-CN" altLang="zh-CN" sz="2000" dirty="0">
                <a:solidFill>
                  <a:srgbClr val="595959"/>
                </a:solidFill>
                <a:latin typeface="微软雅黑" panose="020B0503020204020204" pitchFamily="34" charset="-122"/>
                <a:ea typeface="微软雅黑" panose="020B0503020204020204" pitchFamily="34" charset="-122"/>
                <a:cs typeface="+mn-ea"/>
              </a:rPr>
              <a:t>请求参数请求百度网站（</a:t>
            </a:r>
            <a:r>
              <a:rPr lang="en-US" altLang="zh-CN" sz="2000" dirty="0">
                <a:solidFill>
                  <a:srgbClr val="1369B2"/>
                </a:solidFill>
                <a:latin typeface="微软雅黑" panose="020B0503020204020204" pitchFamily="34" charset="-122"/>
                <a:ea typeface="微软雅黑" panose="020B0503020204020204" pitchFamily="34" charset="-122"/>
              </a:rPr>
              <a:t>https://www.baidu.com/S?wd=hello</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分析上述要求，要想</a:t>
            </a:r>
            <a:r>
              <a:rPr lang="zh-CN" altLang="zh-CN" sz="2000">
                <a:solidFill>
                  <a:srgbClr val="1369B2"/>
                </a:solidFill>
                <a:latin typeface="微软雅黑" panose="020B0503020204020204" pitchFamily="34" charset="-122"/>
                <a:ea typeface="微软雅黑" panose="020B0503020204020204" pitchFamily="34" charset="-122"/>
              </a:rPr>
              <a:t>逐个读取用户定义的变量</a:t>
            </a:r>
            <a:r>
              <a:rPr lang="zh-CN" altLang="zh-CN" sz="2000">
                <a:solidFill>
                  <a:srgbClr val="595959"/>
                </a:solidFill>
                <a:latin typeface="微软雅黑" panose="020B0503020204020204" pitchFamily="34" charset="-122"/>
                <a:ea typeface="微软雅黑" panose="020B0503020204020204" pitchFamily="34" charset="-122"/>
                <a:cs typeface="+mn-ea"/>
              </a:rPr>
              <a:t>并定义一组关键字作为请求参数，可以使用 </a:t>
            </a:r>
            <a:r>
              <a:rPr lang="en-US" altLang="zh-CN" sz="2000">
                <a:solidFill>
                  <a:srgbClr val="1369B2"/>
                </a:solidFill>
                <a:latin typeface="微软雅黑" panose="020B0503020204020204" pitchFamily="34" charset="-122"/>
                <a:ea typeface="微软雅黑" panose="020B0503020204020204" pitchFamily="34" charset="-122"/>
              </a:rPr>
              <a:t>ForEach </a:t>
            </a:r>
            <a:r>
              <a:rPr lang="zh-CN" altLang="zh-CN" sz="2000">
                <a:solidFill>
                  <a:srgbClr val="1369B2"/>
                </a:solidFill>
                <a:latin typeface="微软雅黑" panose="020B0503020204020204" pitchFamily="34" charset="-122"/>
                <a:ea typeface="微软雅黑" panose="020B0503020204020204" pitchFamily="34" charset="-122"/>
              </a:rPr>
              <a:t>控制器</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nvPicPr>
        <p:blipFill>
          <a:blip r:embed="rId3"/>
          <a:stretch>
            <a:fillRect/>
          </a:stretch>
        </p:blipFill>
        <p:spPr>
          <a:xfrm>
            <a:off x="944880" y="2215515"/>
            <a:ext cx="2797810" cy="3898265"/>
          </a:xfrm>
          <a:prstGeom prst="rect">
            <a:avLst/>
          </a:prstGeom>
        </p:spPr>
      </p:pic>
      <p:sp>
        <p:nvSpPr>
          <p:cNvPr id="9"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0" name="TextBox 35"/>
          <p:cNvSpPr txBox="1">
            <a:spLocks noChangeArrowheads="1"/>
          </p:cNvSpPr>
          <p:nvPr/>
        </p:nvSpPr>
        <p:spPr bwMode="auto">
          <a:xfrm>
            <a:off x="3201035" y="1706408"/>
            <a:ext cx="160655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先定一个小目标！</a:t>
            </a:r>
          </a:p>
        </p:txBody>
      </p:sp>
      <p:sp>
        <p:nvSpPr>
          <p:cNvPr id="13" name="TextBox 35"/>
          <p:cNvSpPr txBox="1">
            <a:spLocks noChangeArrowheads="1"/>
          </p:cNvSpPr>
          <p:nvPr/>
        </p:nvSpPr>
        <p:spPr bwMode="auto">
          <a:xfrm>
            <a:off x="5815965" y="3576722"/>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掌握定时器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的</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使用</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，能够</a:t>
            </a:r>
            <a:r>
              <a:rPr lang="zh-CN" altLang="zh-CN" sz="2000" dirty="0">
                <a:solidFill>
                  <a:srgbClr val="1369B2"/>
                </a:solidFill>
                <a:latin typeface="微软雅黑" panose="020B0503020204020204" pitchFamily="34" charset="-122"/>
                <a:ea typeface="微软雅黑" panose="020B0503020204020204" pitchFamily="34" charset="-122"/>
                <a:cs typeface="+mn-ea"/>
              </a:rPr>
              <a:t>使用常用的</a:t>
            </a:r>
            <a:r>
              <a:rPr lang="zh-CN" altLang="en-US" sz="2000" dirty="0">
                <a:solidFill>
                  <a:srgbClr val="1369B2"/>
                </a:solidFill>
                <a:latin typeface="微软雅黑" panose="020B0503020204020204" pitchFamily="34" charset="-122"/>
                <a:ea typeface="微软雅黑" panose="020B0503020204020204" pitchFamily="34" charset="-122"/>
                <a:cs typeface="+mn-ea"/>
              </a:rPr>
              <a:t>定时</a:t>
            </a:r>
            <a:r>
              <a:rPr lang="zh-CN" altLang="zh-CN" sz="2000" dirty="0">
                <a:solidFill>
                  <a:srgbClr val="1369B2"/>
                </a:solidFill>
                <a:latin typeface="微软雅黑" panose="020B0503020204020204" pitchFamily="34" charset="-122"/>
                <a:ea typeface="微软雅黑" panose="020B0503020204020204" pitchFamily="34" charset="-122"/>
                <a:cs typeface="+mn-ea"/>
              </a:rPr>
              <a:t>器控制</a:t>
            </a:r>
            <a:r>
              <a:rPr lang="zh-CN" altLang="en-US" sz="2000" dirty="0">
                <a:solidFill>
                  <a:srgbClr val="1369B2"/>
                </a:solidFill>
                <a:latin typeface="微软雅黑" panose="020B0503020204020204" pitchFamily="34" charset="-122"/>
                <a:ea typeface="微软雅黑" panose="020B0503020204020204" pitchFamily="34" charset="-122"/>
                <a:cs typeface="+mn-ea"/>
              </a:rPr>
              <a:t>请求</a:t>
            </a:r>
            <a:r>
              <a:rPr lang="zh-CN" altLang="zh-CN" sz="2000" dirty="0">
                <a:solidFill>
                  <a:srgbClr val="1369B2"/>
                </a:solidFill>
                <a:latin typeface="微软雅黑" panose="020B0503020204020204" pitchFamily="34" charset="-122"/>
                <a:ea typeface="微软雅黑" panose="020B0503020204020204" pitchFamily="34" charset="-122"/>
                <a:cs typeface="+mn-ea"/>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延迟发送</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grpSp>
        <p:nvGrpSpPr>
          <p:cNvPr id="11" name="组合 10"/>
          <p:cNvGrpSpPr/>
          <p:nvPr/>
        </p:nvGrpSpPr>
        <p:grpSpPr>
          <a:xfrm>
            <a:off x="5328285" y="3787143"/>
            <a:ext cx="405130" cy="405130"/>
            <a:chOff x="8881" y="4685"/>
            <a:chExt cx="638" cy="638"/>
          </a:xfrm>
        </p:grpSpPr>
        <p:sp>
          <p:nvSpPr>
            <p:cNvPr id="12" name="椭圆 11"/>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1" name="图片 10"/>
          <p:cNvPicPr>
            <a:picLocks noChangeAspect="1"/>
          </p:cNvPicPr>
          <p:nvPr/>
        </p:nvPicPr>
        <p:blipFill>
          <a:blip r:embed="rId3"/>
          <a:stretch>
            <a:fillRect/>
          </a:stretch>
        </p:blipFill>
        <p:spPr>
          <a:xfrm>
            <a:off x="1011196" y="1629594"/>
            <a:ext cx="3715858" cy="4006159"/>
          </a:xfrm>
          <a:prstGeom prst="rect">
            <a:avLst/>
          </a:prstGeom>
        </p:spPr>
      </p:pic>
      <p:sp>
        <p:nvSpPr>
          <p:cNvPr id="14" name="文本框 7"/>
          <p:cNvSpPr txBox="1"/>
          <p:nvPr/>
        </p:nvSpPr>
        <p:spPr>
          <a:xfrm>
            <a:off x="5169589" y="2303600"/>
            <a:ext cx="6017909" cy="2862322"/>
          </a:xfrm>
          <a:prstGeom prst="rect">
            <a:avLst/>
          </a:prstGeom>
          <a:noFill/>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定时器用于为请求设置等待时间</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使请求暂停一段时间再发送</a:t>
            </a:r>
            <a:r>
              <a:rPr lang="zh-CN" altLang="zh-CN" sz="2000" dirty="0">
                <a:solidFill>
                  <a:srgbClr val="595959"/>
                </a:solidFill>
                <a:latin typeface="微软雅黑" panose="020B0503020204020204" pitchFamily="34" charset="-122"/>
                <a:ea typeface="微软雅黑" panose="020B0503020204020204" pitchFamily="34" charset="-122"/>
                <a:cs typeface="+mn-ea"/>
              </a:rPr>
              <a:t>。定时器的作用范围比较广，如果只想要定时器</a:t>
            </a:r>
            <a:r>
              <a:rPr lang="zh-CN" altLang="zh-CN" sz="2000" dirty="0">
                <a:solidFill>
                  <a:srgbClr val="1369B2"/>
                </a:solidFill>
                <a:latin typeface="微软雅黑" panose="020B0503020204020204" pitchFamily="34" charset="-122"/>
                <a:ea typeface="微软雅黑" panose="020B0503020204020204" pitchFamily="34" charset="-122"/>
              </a:rPr>
              <a:t>针对某个请求</a:t>
            </a:r>
            <a:r>
              <a:rPr lang="zh-CN" altLang="zh-CN" sz="2000" dirty="0">
                <a:solidFill>
                  <a:srgbClr val="595959"/>
                </a:solidFill>
                <a:latin typeface="微软雅黑" panose="020B0503020204020204" pitchFamily="34" charset="-122"/>
                <a:ea typeface="微软雅黑" panose="020B0503020204020204" pitchFamily="34" charset="-122"/>
                <a:cs typeface="+mn-ea"/>
              </a:rPr>
              <a:t>，则需要将定时器添加为</a:t>
            </a:r>
            <a:r>
              <a:rPr lang="zh-CN" altLang="zh-CN" sz="2000" dirty="0">
                <a:solidFill>
                  <a:srgbClr val="1369B2"/>
                </a:solidFill>
                <a:latin typeface="微软雅黑" panose="020B0503020204020204" pitchFamily="34" charset="-122"/>
                <a:ea typeface="微软雅黑" panose="020B0503020204020204" pitchFamily="34" charset="-122"/>
              </a:rPr>
              <a:t>请求的子节点</a:t>
            </a:r>
            <a:r>
              <a:rPr lang="zh-CN" altLang="zh-CN" sz="2000" dirty="0">
                <a:solidFill>
                  <a:srgbClr val="595959"/>
                </a:solidFill>
                <a:latin typeface="微软雅黑" panose="020B0503020204020204" pitchFamily="34" charset="-122"/>
                <a:ea typeface="微软雅黑" panose="020B0503020204020204" pitchFamily="34" charset="-122"/>
                <a:cs typeface="+mn-ea"/>
              </a:rPr>
              <a:t>。否则，定时器会控制与它</a:t>
            </a:r>
            <a:r>
              <a:rPr lang="zh-CN" altLang="zh-CN" sz="2000" dirty="0">
                <a:solidFill>
                  <a:srgbClr val="1369B2"/>
                </a:solidFill>
                <a:latin typeface="微软雅黑" panose="020B0503020204020204" pitchFamily="34" charset="-122"/>
                <a:ea typeface="微软雅黑" panose="020B0503020204020204" pitchFamily="34" charset="-122"/>
              </a:rPr>
              <a:t>同层的所有</a:t>
            </a:r>
            <a:r>
              <a:rPr lang="zh-CN" altLang="zh-CN" sz="2000">
                <a:solidFill>
                  <a:srgbClr val="1369B2"/>
                </a:solidFill>
                <a:latin typeface="微软雅黑" panose="020B0503020204020204" pitchFamily="34" charset="-122"/>
                <a:ea typeface="微软雅黑" panose="020B0503020204020204" pitchFamily="34" charset="-122"/>
              </a:rPr>
              <a:t>请求</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JMeter</a:t>
            </a:r>
            <a:r>
              <a:rPr lang="zh-CN" altLang="zh-CN" sz="2000">
                <a:solidFill>
                  <a:srgbClr val="595959"/>
                </a:solidFill>
                <a:latin typeface="微软雅黑" panose="020B0503020204020204" pitchFamily="34" charset="-122"/>
                <a:ea typeface="微软雅黑" panose="020B0503020204020204" pitchFamily="34" charset="-122"/>
                <a:cs typeface="+mn-ea"/>
              </a:rPr>
              <a:t>中常用的定时器有</a:t>
            </a:r>
            <a:r>
              <a:rPr lang="zh-CN" altLang="zh-CN" sz="2000">
                <a:solidFill>
                  <a:srgbClr val="1369B2"/>
                </a:solidFill>
                <a:latin typeface="微软雅黑" panose="020B0503020204020204" pitchFamily="34" charset="-122"/>
                <a:ea typeface="微软雅黑" panose="020B0503020204020204" pitchFamily="34" charset="-122"/>
              </a:rPr>
              <a:t>同步定时器</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常数吞吐量定时器</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固定定时器</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43491" y="1672101"/>
            <a:ext cx="10358005" cy="2862322"/>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同步定时器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Synchronizing Timer</a:t>
            </a:r>
            <a:r>
              <a:rPr lang="zh-CN" altLang="zh-CN" sz="2000" dirty="0">
                <a:solidFill>
                  <a:srgbClr val="595959"/>
                </a:solidFill>
                <a:latin typeface="微软雅黑" panose="020B0503020204020204" pitchFamily="34" charset="-122"/>
                <a:ea typeface="微软雅黑" panose="020B0503020204020204" pitchFamily="34" charset="-122"/>
                <a:cs typeface="+mn-ea"/>
              </a:rPr>
              <a:t>）可以</a:t>
            </a:r>
            <a:r>
              <a:rPr lang="zh-CN" altLang="zh-CN" sz="2000" dirty="0">
                <a:solidFill>
                  <a:srgbClr val="1369B2"/>
                </a:solidFill>
                <a:latin typeface="微软雅黑" panose="020B0503020204020204" pitchFamily="34" charset="-122"/>
                <a:ea typeface="微软雅黑" panose="020B0503020204020204" pitchFamily="34" charset="-122"/>
              </a:rPr>
              <a:t>阻塞线程</a:t>
            </a:r>
            <a:r>
              <a:rPr lang="zh-CN" altLang="zh-CN" sz="2000" dirty="0">
                <a:solidFill>
                  <a:srgbClr val="595959"/>
                </a:solidFill>
                <a:latin typeface="微软雅黑" panose="020B0503020204020204" pitchFamily="34" charset="-122"/>
                <a:ea typeface="微软雅黑" panose="020B0503020204020204" pitchFamily="34" charset="-122"/>
                <a:cs typeface="+mn-ea"/>
              </a:rPr>
              <a:t>，当线程在规定时间内达到一定数量时，这些线程会在</a:t>
            </a:r>
            <a:r>
              <a:rPr lang="zh-CN" altLang="zh-CN" sz="2000" dirty="0">
                <a:solidFill>
                  <a:srgbClr val="1369B2"/>
                </a:solidFill>
                <a:latin typeface="微软雅黑" panose="020B0503020204020204" pitchFamily="34" charset="-122"/>
                <a:ea typeface="微软雅黑" panose="020B0503020204020204" pitchFamily="34" charset="-122"/>
              </a:rPr>
              <a:t>同一个时间点一起发送</a:t>
            </a:r>
            <a:r>
              <a:rPr lang="zh-CN" altLang="zh-CN" sz="2000">
                <a:solidFill>
                  <a:srgbClr val="1369B2"/>
                </a:solidFill>
                <a:latin typeface="微软雅黑" panose="020B0503020204020204" pitchFamily="34" charset="-122"/>
                <a:ea typeface="微软雅黑" panose="020B0503020204020204" pitchFamily="34" charset="-122"/>
              </a:rPr>
              <a:t>请求</a:t>
            </a:r>
            <a:r>
              <a:rPr lang="zh-CN" altLang="zh-CN" sz="2000">
                <a:solidFill>
                  <a:srgbClr val="595959"/>
                </a:solidFill>
                <a:latin typeface="微软雅黑" panose="020B0503020204020204" pitchFamily="34" charset="-122"/>
                <a:ea typeface="微软雅黑" panose="020B0503020204020204" pitchFamily="34" charset="-122"/>
                <a:cs typeface="+mn-ea"/>
              </a:rPr>
              <a:t>。同步定时器通常用于</a:t>
            </a:r>
            <a:r>
              <a:rPr lang="zh-CN" altLang="zh-CN" sz="2000">
                <a:solidFill>
                  <a:srgbClr val="1369B2"/>
                </a:solidFill>
                <a:latin typeface="微软雅黑" panose="020B0503020204020204" pitchFamily="34" charset="-122"/>
                <a:ea typeface="微软雅黑" panose="020B0503020204020204" pitchFamily="34" charset="-122"/>
              </a:rPr>
              <a:t>压力测试</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rPr>
              <a:t>并发测试</a:t>
            </a:r>
            <a:r>
              <a:rPr lang="zh-CN" altLang="zh-CN" sz="2000">
                <a:solidFill>
                  <a:srgbClr val="595959"/>
                </a:solidFill>
                <a:latin typeface="微软雅黑" panose="020B0503020204020204" pitchFamily="34" charset="-122"/>
                <a:ea typeface="微软雅黑" panose="020B0503020204020204" pitchFamily="34" charset="-122"/>
                <a:cs typeface="+mn-ea"/>
              </a:rPr>
              <a:t>等场景。例如，在模拟电商购物网站的抢购、秒杀活动时，通常会用到同步定时器。如果</a:t>
            </a:r>
            <a:r>
              <a:rPr lang="zh-CN" altLang="zh-CN" sz="2000" dirty="0">
                <a:solidFill>
                  <a:srgbClr val="595959"/>
                </a:solidFill>
                <a:latin typeface="微软雅黑" panose="020B0503020204020204" pitchFamily="34" charset="-122"/>
                <a:ea typeface="微软雅黑" panose="020B0503020204020204" pitchFamily="34" charset="-122"/>
                <a:cs typeface="+mn-ea"/>
              </a:rPr>
              <a:t>在测试计划中需要使用同步定时器，则可以在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主界面选中</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“定时器”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Bean Shell Timer</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，会添加一个同步</a:t>
            </a:r>
            <a:r>
              <a:rPr lang="zh-CN" altLang="zh-CN" sz="2000">
                <a:solidFill>
                  <a:srgbClr val="595959"/>
                </a:solidFill>
                <a:latin typeface="微软雅黑" panose="020B0503020204020204" pitchFamily="34" charset="-122"/>
                <a:ea typeface="微软雅黑" panose="020B0503020204020204" pitchFamily="34" charset="-122"/>
                <a:cs typeface="+mn-ea"/>
              </a:rPr>
              <a:t>定时器界面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0690" y="4223554"/>
            <a:ext cx="6175848" cy="2419777"/>
          </a:xfrm>
          <a:prstGeom prst="rect">
            <a:avLst/>
          </a:prstGeom>
        </p:spPr>
      </p:pic>
      <p:sp>
        <p:nvSpPr>
          <p:cNvPr id="6" name="圆角矩形 5"/>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同步定时器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原创设计师QQ598969553          _4"/>
          <p:cNvSpPr/>
          <p:nvPr/>
        </p:nvSpPr>
        <p:spPr>
          <a:xfrm>
            <a:off x="1013062" y="1870466"/>
            <a:ext cx="10078492" cy="2213235"/>
          </a:xfrm>
          <a:prstGeom prst="rect">
            <a:avLst/>
          </a:prstGeom>
        </p:spPr>
        <p:txBody>
          <a:bodyPr wrap="square">
            <a:spAutoFit/>
          </a:bodyPr>
          <a:lstStyle/>
          <a:p>
            <a:pPr marL="342900" lvl="0" indent="-342900">
              <a:lnSpc>
                <a:spcPct val="150000"/>
              </a:lnSpc>
              <a:buFont typeface="Wingdings" panose="05000000000000000000" pitchFamily="2" charset="2"/>
              <a:buChar char="l"/>
            </a:pPr>
            <a:r>
              <a:rPr lang="zh-CN" altLang="en-US" sz="2000">
                <a:solidFill>
                  <a:srgbClr val="595959"/>
                </a:solidFill>
                <a:latin typeface="微软雅黑" panose="020B0503020204020204" pitchFamily="34" charset="-122"/>
                <a:ea typeface="微软雅黑" panose="020B0503020204020204" pitchFamily="34" charset="-122"/>
                <a:cs typeface="+mn-ea"/>
              </a:rPr>
              <a:t>模拟用户组的数量：用于</a:t>
            </a:r>
            <a:r>
              <a:rPr lang="zh-CN" altLang="zh-CN" sz="1800">
                <a:solidFill>
                  <a:srgbClr val="1369B2"/>
                </a:solidFill>
                <a:latin typeface="微软雅黑" panose="020B0503020204020204" pitchFamily="34" charset="-122"/>
                <a:ea typeface="微软雅黑" panose="020B0503020204020204" pitchFamily="34" charset="-122"/>
              </a:rPr>
              <a:t>设置</a:t>
            </a:r>
            <a:r>
              <a:rPr lang="zh-CN" altLang="zh-CN" sz="1800" dirty="0">
                <a:solidFill>
                  <a:srgbClr val="1369B2"/>
                </a:solidFill>
                <a:latin typeface="微软雅黑" panose="020B0503020204020204" pitchFamily="34" charset="-122"/>
                <a:ea typeface="微软雅黑" panose="020B0503020204020204" pitchFamily="34" charset="-122"/>
              </a:rPr>
              <a:t>同步的线程数量</a:t>
            </a:r>
            <a:r>
              <a:rPr lang="zh-CN" altLang="zh-CN" sz="1800" dirty="0">
                <a:solidFill>
                  <a:srgbClr val="595959"/>
                </a:solidFill>
                <a:latin typeface="微软雅黑" panose="020B0503020204020204" pitchFamily="34" charset="-122"/>
                <a:ea typeface="微软雅黑" panose="020B0503020204020204" pitchFamily="34" charset="-122"/>
                <a:cs typeface="+mn-ea"/>
              </a:rPr>
              <a:t>。若设置为</a:t>
            </a:r>
            <a:r>
              <a:rPr lang="en-US" altLang="zh-CN" sz="1800" dirty="0">
                <a:solidFill>
                  <a:srgbClr val="595959"/>
                </a:solidFill>
                <a:latin typeface="微软雅黑" panose="020B0503020204020204" pitchFamily="34" charset="-122"/>
                <a:ea typeface="微软雅黑" panose="020B0503020204020204" pitchFamily="34" charset="-122"/>
                <a:cs typeface="+mn-ea"/>
              </a:rPr>
              <a:t>0</a:t>
            </a:r>
            <a:r>
              <a:rPr lang="zh-CN" altLang="zh-CN" sz="1800" dirty="0">
                <a:solidFill>
                  <a:srgbClr val="595959"/>
                </a:solidFill>
                <a:latin typeface="微软雅黑" panose="020B0503020204020204" pitchFamily="34" charset="-122"/>
                <a:ea typeface="微软雅黑" panose="020B0503020204020204" pitchFamily="34" charset="-122"/>
                <a:cs typeface="+mn-ea"/>
              </a:rPr>
              <a:t>，则以线程组中的</a:t>
            </a:r>
            <a:r>
              <a:rPr lang="zh-CN" altLang="zh-CN" sz="1800" dirty="0">
                <a:solidFill>
                  <a:srgbClr val="1369B2"/>
                </a:solidFill>
                <a:latin typeface="微软雅黑" panose="020B0503020204020204" pitchFamily="34" charset="-122"/>
                <a:ea typeface="微软雅黑" panose="020B0503020204020204" pitchFamily="34" charset="-122"/>
              </a:rPr>
              <a:t>线程数量</a:t>
            </a:r>
            <a:r>
              <a:rPr lang="zh-CN" altLang="zh-CN" sz="1800" dirty="0">
                <a:solidFill>
                  <a:srgbClr val="595959"/>
                </a:solidFill>
                <a:latin typeface="微软雅黑" panose="020B0503020204020204" pitchFamily="34" charset="-122"/>
                <a:ea typeface="微软雅黑" panose="020B0503020204020204" pitchFamily="34" charset="-122"/>
                <a:cs typeface="+mn-ea"/>
              </a:rPr>
              <a:t>为准。需要注意的是，</a:t>
            </a:r>
            <a:r>
              <a:rPr lang="zh-CN" altLang="zh-CN" sz="1800" dirty="0">
                <a:solidFill>
                  <a:srgbClr val="1369B2"/>
                </a:solidFill>
                <a:latin typeface="微软雅黑" panose="020B0503020204020204" pitchFamily="34" charset="-122"/>
                <a:ea typeface="微软雅黑" panose="020B0503020204020204" pitchFamily="34" charset="-122"/>
              </a:rPr>
              <a:t>模拟用户组的数量</a:t>
            </a:r>
            <a:r>
              <a:rPr lang="zh-CN" altLang="zh-CN" sz="1800" dirty="0">
                <a:solidFill>
                  <a:srgbClr val="595959"/>
                </a:solidFill>
                <a:latin typeface="微软雅黑" panose="020B0503020204020204" pitchFamily="34" charset="-122"/>
                <a:ea typeface="微软雅黑" panose="020B0503020204020204" pitchFamily="34" charset="-122"/>
                <a:cs typeface="+mn-ea"/>
              </a:rPr>
              <a:t>不能大于它所在的</a:t>
            </a:r>
            <a:r>
              <a:rPr lang="zh-CN" altLang="zh-CN" sz="1800" dirty="0">
                <a:solidFill>
                  <a:srgbClr val="1369B2"/>
                </a:solidFill>
                <a:latin typeface="微软雅黑" panose="020B0503020204020204" pitchFamily="34" charset="-122"/>
                <a:ea typeface="微软雅黑" panose="020B0503020204020204" pitchFamily="34" charset="-122"/>
              </a:rPr>
              <a:t>线程组的线程</a:t>
            </a:r>
            <a:r>
              <a:rPr lang="zh-CN" altLang="zh-CN" sz="1800">
                <a:solidFill>
                  <a:srgbClr val="1369B2"/>
                </a:solidFill>
                <a:latin typeface="微软雅黑" panose="020B0503020204020204" pitchFamily="34" charset="-122"/>
                <a:ea typeface="微软雅黑" panose="020B0503020204020204" pitchFamily="34" charset="-122"/>
              </a:rPr>
              <a:t>数量</a:t>
            </a:r>
            <a:r>
              <a:rPr lang="zh-CN" altLang="zh-CN" sz="1800">
                <a:solidFill>
                  <a:srgbClr val="595959"/>
                </a:solidFill>
                <a:latin typeface="微软雅黑" panose="020B0503020204020204" pitchFamily="34" charset="-122"/>
                <a:ea typeface="微软雅黑" panose="020B0503020204020204" pitchFamily="34" charset="-122"/>
                <a:cs typeface="+mn-ea"/>
              </a:rPr>
              <a:t>。</a:t>
            </a:r>
            <a:endParaRPr lang="en-US" altLang="zh-CN" sz="1800">
              <a:solidFill>
                <a:srgbClr val="595959"/>
              </a:solidFill>
              <a:latin typeface="微软雅黑" panose="020B0503020204020204" pitchFamily="34" charset="-122"/>
              <a:ea typeface="微软雅黑" panose="020B0503020204020204" pitchFamily="34" charset="-122"/>
              <a:cs typeface="+mn-ea"/>
            </a:endParaRPr>
          </a:p>
          <a:p>
            <a:pPr marL="285750" indent="-285750">
              <a:lnSpc>
                <a:spcPct val="150000"/>
              </a:lnSpc>
              <a:buFont typeface="Wingdings" panose="05000000000000000000" pitchFamily="2" charset="2"/>
              <a:buChar char="l"/>
            </a:pPr>
            <a:r>
              <a:rPr lang="zh-CN" altLang="en-US" sz="1800">
                <a:solidFill>
                  <a:srgbClr val="595959"/>
                </a:solidFill>
                <a:latin typeface="微软雅黑" panose="020B0503020204020204" pitchFamily="34" charset="-122"/>
                <a:ea typeface="微软雅黑" panose="020B0503020204020204" pitchFamily="34" charset="-122"/>
                <a:cs typeface="+mn-ea"/>
              </a:rPr>
              <a:t>超时时间以毫秒为单位：用于</a:t>
            </a:r>
            <a:r>
              <a:rPr lang="zh-CN" altLang="zh-CN" sz="1800">
                <a:solidFill>
                  <a:srgbClr val="1369B2"/>
                </a:solidFill>
                <a:latin typeface="微软雅黑" panose="020B0503020204020204" pitchFamily="34" charset="-122"/>
                <a:ea typeface="微软雅黑" panose="020B0503020204020204" pitchFamily="34" charset="-122"/>
              </a:rPr>
              <a:t>设置超时时间</a:t>
            </a:r>
            <a:r>
              <a:rPr lang="zh-CN" altLang="zh-CN" sz="1800">
                <a:solidFill>
                  <a:srgbClr val="595959"/>
                </a:solidFill>
                <a:latin typeface="微软雅黑" panose="020B0503020204020204" pitchFamily="34" charset="-122"/>
                <a:ea typeface="微软雅黑" panose="020B0503020204020204" pitchFamily="34" charset="-122"/>
                <a:cs typeface="+mn-ea"/>
              </a:rPr>
              <a:t>。如果超时时间设置为</a:t>
            </a:r>
            <a:r>
              <a:rPr lang="en-US" altLang="zh-CN" sz="1800">
                <a:solidFill>
                  <a:srgbClr val="595959"/>
                </a:solidFill>
                <a:latin typeface="微软雅黑" panose="020B0503020204020204" pitchFamily="34" charset="-122"/>
                <a:ea typeface="微软雅黑" panose="020B0503020204020204" pitchFamily="34" charset="-122"/>
                <a:cs typeface="+mn-ea"/>
              </a:rPr>
              <a:t>0</a:t>
            </a:r>
            <a:r>
              <a:rPr lang="zh-CN" altLang="zh-CN" sz="1800">
                <a:solidFill>
                  <a:srgbClr val="595959"/>
                </a:solidFill>
                <a:latin typeface="微软雅黑" panose="020B0503020204020204" pitchFamily="34" charset="-122"/>
                <a:ea typeface="微软雅黑" panose="020B0503020204020204" pitchFamily="34" charset="-122"/>
                <a:cs typeface="+mn-ea"/>
              </a:rPr>
              <a:t>，则必须</a:t>
            </a:r>
            <a:r>
              <a:rPr lang="zh-CN" altLang="zh-CN" sz="1800">
                <a:solidFill>
                  <a:srgbClr val="1369B2"/>
                </a:solidFill>
                <a:latin typeface="微软雅黑" panose="020B0503020204020204" pitchFamily="34" charset="-122"/>
                <a:ea typeface="微软雅黑" panose="020B0503020204020204" pitchFamily="34" charset="-122"/>
              </a:rPr>
              <a:t>等线程数量达到所设置的数量</a:t>
            </a:r>
            <a:r>
              <a:rPr lang="zh-CN" altLang="zh-CN" sz="1800">
                <a:solidFill>
                  <a:srgbClr val="595959"/>
                </a:solidFill>
                <a:latin typeface="微软雅黑" panose="020B0503020204020204" pitchFamily="34" charset="-122"/>
                <a:ea typeface="微软雅黑" panose="020B0503020204020204" pitchFamily="34" charset="-122"/>
                <a:cs typeface="+mn-ea"/>
              </a:rPr>
              <a:t>时，才会发送</a:t>
            </a:r>
            <a:r>
              <a:rPr lang="zh-CN" altLang="en-US" sz="1800">
                <a:solidFill>
                  <a:srgbClr val="595959"/>
                </a:solidFill>
                <a:latin typeface="微软雅黑" panose="020B0503020204020204" pitchFamily="34" charset="-122"/>
                <a:ea typeface="微软雅黑" panose="020B0503020204020204" pitchFamily="34" charset="-122"/>
                <a:cs typeface="+mn-ea"/>
              </a:rPr>
              <a:t>请求</a:t>
            </a:r>
            <a:r>
              <a:rPr lang="zh-CN" altLang="zh-CN" sz="1800">
                <a:solidFill>
                  <a:srgbClr val="595959"/>
                </a:solidFill>
                <a:latin typeface="微软雅黑" panose="020B0503020204020204" pitchFamily="34" charset="-122"/>
                <a:ea typeface="微软雅黑" panose="020B0503020204020204" pitchFamily="34" charset="-122"/>
                <a:cs typeface="+mn-ea"/>
              </a:rPr>
              <a:t>；如果设置一个大于</a:t>
            </a:r>
            <a:r>
              <a:rPr lang="en-US" altLang="zh-CN" sz="1800">
                <a:solidFill>
                  <a:srgbClr val="595959"/>
                </a:solidFill>
                <a:latin typeface="微软雅黑" panose="020B0503020204020204" pitchFamily="34" charset="-122"/>
                <a:ea typeface="微软雅黑" panose="020B0503020204020204" pitchFamily="34" charset="-122"/>
                <a:cs typeface="+mn-ea"/>
              </a:rPr>
              <a:t>0</a:t>
            </a:r>
            <a:r>
              <a:rPr lang="zh-CN" altLang="zh-CN" sz="1800">
                <a:solidFill>
                  <a:srgbClr val="595959"/>
                </a:solidFill>
                <a:latin typeface="微软雅黑" panose="020B0503020204020204" pitchFamily="34" charset="-122"/>
                <a:ea typeface="微软雅黑" panose="020B0503020204020204" pitchFamily="34" charset="-122"/>
                <a:cs typeface="+mn-ea"/>
              </a:rPr>
              <a:t>的数值，则到了设置时间，即便线程数量没有达到要求，也会发送请求。</a:t>
            </a:r>
            <a:endParaRPr lang="zh-CN" altLang="en-US" sz="180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144369" y="1180263"/>
            <a:ext cx="5570756" cy="400110"/>
          </a:xfrm>
          <a:prstGeom prst="rect">
            <a:avLst/>
          </a:prstGeom>
        </p:spPr>
        <p:txBody>
          <a:bodyPr wrap="none">
            <a:spAutoFit/>
          </a:bodyPr>
          <a:lstStyle/>
          <a:p>
            <a:r>
              <a:rPr lang="zh-CN" altLang="zh-CN" sz="2000" dirty="0">
                <a:solidFill>
                  <a:srgbClr val="1369B2"/>
                </a:solidFill>
                <a:latin typeface="微软雅黑" panose="020B0503020204020204" pitchFamily="34" charset="-122"/>
                <a:ea typeface="微软雅黑" panose="020B0503020204020204" pitchFamily="34" charset="-122"/>
              </a:rPr>
              <a:t>同步定时器</a:t>
            </a:r>
            <a:r>
              <a:rPr lang="zh-CN" altLang="zh-CN" sz="2000" dirty="0">
                <a:solidFill>
                  <a:srgbClr val="595959"/>
                </a:solidFill>
                <a:latin typeface="微软雅黑" panose="020B0503020204020204" pitchFamily="34" charset="-122"/>
                <a:ea typeface="微软雅黑" panose="020B0503020204020204" pitchFamily="34" charset="-122"/>
                <a:cs typeface="+mn-ea"/>
              </a:rPr>
              <a:t>有两个</a:t>
            </a:r>
            <a:r>
              <a:rPr lang="zh-CN" altLang="zh-CN" sz="2000">
                <a:solidFill>
                  <a:srgbClr val="595959"/>
                </a:solidFill>
                <a:latin typeface="微软雅黑" panose="020B0503020204020204" pitchFamily="34" charset="-122"/>
                <a:ea typeface="微软雅黑" panose="020B0503020204020204" pitchFamily="34" charset="-122"/>
                <a:cs typeface="+mn-ea"/>
              </a:rPr>
              <a:t>常用配置项</a:t>
            </a:r>
            <a:r>
              <a:rPr lang="zh-CN" altLang="en-US" sz="2000">
                <a:solidFill>
                  <a:srgbClr val="595959"/>
                </a:solidFill>
                <a:latin typeface="微软雅黑" panose="020B0503020204020204" pitchFamily="34" charset="-122"/>
                <a:ea typeface="微软雅黑" panose="020B0503020204020204" pitchFamily="34" charset="-122"/>
                <a:cs typeface="+mn-ea"/>
              </a:rPr>
              <a:t>，具体介绍如下。</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1311800" y="1473352"/>
            <a:ext cx="10017260"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zh-CN" sz="2000" dirty="0">
                <a:solidFill>
                  <a:srgbClr val="1369B2"/>
                </a:solidFill>
                <a:latin typeface="微软雅黑" panose="020B0503020204020204" pitchFamily="34" charset="-122"/>
                <a:ea typeface="微软雅黑" panose="020B0503020204020204" pitchFamily="34" charset="-122"/>
              </a:rPr>
              <a:t>同步定时器</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的使用。本案例要求使用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1369B2"/>
                </a:solidFill>
                <a:latin typeface="微软雅黑" panose="020B0503020204020204" pitchFamily="34" charset="-122"/>
                <a:ea typeface="微软雅黑" panose="020B0503020204020204" pitchFamily="34" charset="-122"/>
              </a:rPr>
              <a:t>模拟</a:t>
            </a:r>
            <a:r>
              <a:rPr lang="en-US" altLang="zh-CN" sz="2000" dirty="0">
                <a:solidFill>
                  <a:srgbClr val="1369B2"/>
                </a:solidFill>
                <a:latin typeface="微软雅黑" panose="020B0503020204020204" pitchFamily="34" charset="-122"/>
                <a:ea typeface="微软雅黑" panose="020B0503020204020204" pitchFamily="34" charset="-122"/>
              </a:rPr>
              <a:t>100</a:t>
            </a:r>
            <a:r>
              <a:rPr lang="zh-CN" altLang="zh-CN" sz="2000" dirty="0">
                <a:solidFill>
                  <a:srgbClr val="1369B2"/>
                </a:solidFill>
                <a:latin typeface="微软雅黑" panose="020B0503020204020204" pitchFamily="34" charset="-122"/>
                <a:ea typeface="微软雅黑" panose="020B0503020204020204" pitchFamily="34" charset="-122"/>
              </a:rPr>
              <a:t>个用户</a:t>
            </a:r>
            <a:r>
              <a:rPr lang="zh-CN" altLang="zh-CN" sz="2000" dirty="0">
                <a:solidFill>
                  <a:srgbClr val="595959"/>
                </a:solidFill>
                <a:latin typeface="微软雅黑" panose="020B0503020204020204" pitchFamily="34" charset="-122"/>
                <a:ea typeface="微软雅黑" panose="020B0503020204020204" pitchFamily="34" charset="-122"/>
                <a:cs typeface="+mn-ea"/>
              </a:rPr>
              <a:t>同时访问百度首页（</a:t>
            </a:r>
            <a:r>
              <a:rPr lang="en-US" altLang="zh-CN" sz="2000" dirty="0">
                <a:solidFill>
                  <a:srgbClr val="595959"/>
                </a:solidFill>
                <a:latin typeface="微软雅黑" panose="020B0503020204020204" pitchFamily="34" charset="-122"/>
                <a:ea typeface="微软雅黑" panose="020B0503020204020204" pitchFamily="34" charset="-122"/>
                <a:cs typeface="+mn-ea"/>
              </a:rPr>
              <a:t>https://www.baidu.com</a:t>
            </a:r>
            <a:r>
              <a:rPr lang="zh-CN" altLang="zh-CN" sz="2000" dirty="0">
                <a:solidFill>
                  <a:srgbClr val="595959"/>
                </a:solidFill>
                <a:latin typeface="微软雅黑" panose="020B0503020204020204" pitchFamily="34" charset="-122"/>
                <a:ea typeface="微软雅黑" panose="020B0503020204020204" pitchFamily="34" charset="-122"/>
                <a:cs typeface="+mn-ea"/>
              </a:rPr>
              <a:t>），统计各种</a:t>
            </a:r>
            <a:r>
              <a:rPr lang="zh-CN" altLang="zh-CN" sz="2000" dirty="0">
                <a:solidFill>
                  <a:srgbClr val="1369B2"/>
                </a:solidFill>
                <a:latin typeface="微软雅黑" panose="020B0503020204020204" pitchFamily="34" charset="-122"/>
                <a:ea typeface="微软雅黑" panose="020B0503020204020204" pitchFamily="34" charset="-122"/>
              </a:rPr>
              <a:t>高并发</a:t>
            </a:r>
            <a:r>
              <a:rPr lang="zh-CN" altLang="zh-CN" sz="2000" dirty="0">
                <a:solidFill>
                  <a:srgbClr val="595959"/>
                </a:solidFill>
                <a:latin typeface="微软雅黑" panose="020B0503020204020204" pitchFamily="34" charset="-122"/>
                <a:ea typeface="微软雅黑" panose="020B0503020204020204" pitchFamily="34" charset="-122"/>
                <a:cs typeface="+mn-ea"/>
              </a:rPr>
              <a:t>情况下的运行</a:t>
            </a:r>
            <a:r>
              <a:rPr lang="zh-CN" altLang="zh-CN" sz="2000">
                <a:solidFill>
                  <a:srgbClr val="595959"/>
                </a:solidFill>
                <a:latin typeface="微软雅黑" panose="020B0503020204020204" pitchFamily="34" charset="-122"/>
                <a:ea typeface="微软雅黑" panose="020B0503020204020204" pitchFamily="34" charset="-122"/>
                <a:cs typeface="+mn-ea"/>
              </a:rPr>
              <a:t>情况。</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分析上述要求，当模拟 </a:t>
            </a:r>
            <a:r>
              <a:rPr lang="en-US" altLang="zh-CN" sz="2000">
                <a:solidFill>
                  <a:srgbClr val="595959"/>
                </a:solidFill>
                <a:latin typeface="微软雅黑" panose="020B0503020204020204" pitchFamily="34" charset="-122"/>
                <a:ea typeface="微软雅黑" panose="020B0503020204020204" pitchFamily="34" charset="-122"/>
                <a:cs typeface="+mn-ea"/>
              </a:rPr>
              <a:t>100 </a:t>
            </a:r>
            <a:r>
              <a:rPr lang="zh-CN" altLang="zh-CN" sz="2000">
                <a:solidFill>
                  <a:srgbClr val="595959"/>
                </a:solidFill>
                <a:latin typeface="微软雅黑" panose="020B0503020204020204" pitchFamily="34" charset="-122"/>
                <a:ea typeface="微软雅黑" panose="020B0503020204020204" pitchFamily="34" charset="-122"/>
                <a:cs typeface="+mn-ea"/>
              </a:rPr>
              <a:t>个用户同时访问百度首页时，可以使用</a:t>
            </a:r>
            <a:r>
              <a:rPr lang="zh-CN" altLang="zh-CN" sz="2000">
                <a:solidFill>
                  <a:srgbClr val="1369B2"/>
                </a:solidFill>
                <a:latin typeface="微软雅黑" panose="020B0503020204020204" pitchFamily="34" charset="-122"/>
                <a:ea typeface="微软雅黑" panose="020B0503020204020204" pitchFamily="34" charset="-122"/>
              </a:rPr>
              <a:t>同步定时器</a:t>
            </a:r>
            <a:r>
              <a:rPr lang="zh-CN" altLang="zh-CN" sz="2000">
                <a:solidFill>
                  <a:srgbClr val="595959"/>
                </a:solidFill>
                <a:latin typeface="微软雅黑" panose="020B0503020204020204" pitchFamily="34" charset="-122"/>
                <a:ea typeface="微软雅黑" panose="020B0503020204020204" pitchFamily="34" charset="-122"/>
                <a:cs typeface="+mn-ea"/>
              </a:rPr>
              <a:t>实现。</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1314" y="1437339"/>
            <a:ext cx="1016001" cy="1016001"/>
          </a:xfrm>
          <a:prstGeom prst="rect">
            <a:avLst/>
          </a:prstGeom>
        </p:spPr>
      </p:pic>
      <p:sp>
        <p:nvSpPr>
          <p:cNvPr id="6" name="矩形 5"/>
          <p:cNvSpPr/>
          <p:nvPr/>
        </p:nvSpPr>
        <p:spPr>
          <a:xfrm>
            <a:off x="2109058" y="1647316"/>
            <a:ext cx="2040378"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7" name="文本框 25"/>
          <p:cNvSpPr txBox="1"/>
          <p:nvPr/>
        </p:nvSpPr>
        <p:spPr>
          <a:xfrm>
            <a:off x="2109058" y="1797930"/>
            <a:ext cx="2040378" cy="461665"/>
          </a:xfrm>
          <a:prstGeom prst="rect">
            <a:avLst/>
          </a:prstGeom>
          <a:noFill/>
        </p:spPr>
        <p:txBody>
          <a:bodyPr wrap="square" rtlCol="0">
            <a:spAutoFit/>
          </a:bodyPr>
          <a:lstStyle/>
          <a:p>
            <a:pPr algn="dist"/>
            <a:r>
              <a:rPr lang="zh-CN" altLang="en-US" dirty="0">
                <a:solidFill>
                  <a:schemeClr val="bg1"/>
                </a:solidFill>
                <a:latin typeface="微软雅黑" panose="020B0503020204020204" pitchFamily="34" charset="-122"/>
                <a:ea typeface="微软雅黑" panose="020B0503020204020204" pitchFamily="34" charset="-122"/>
              </a:rPr>
              <a:t>清除测试结果</a:t>
            </a:r>
            <a:endParaRPr lang="zh-CN" altLang="zh-CN"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4245651" y="1662705"/>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433380" y="1662705"/>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3" name="矩形 2"/>
          <p:cNvSpPr/>
          <p:nvPr/>
        </p:nvSpPr>
        <p:spPr>
          <a:xfrm>
            <a:off x="1135698" y="2943247"/>
            <a:ext cx="10124385" cy="1477328"/>
          </a:xfrm>
          <a:prstGeom prst="rect">
            <a:avLst/>
          </a:prstGeom>
        </p:spPr>
        <p:txBody>
          <a:bodyPr wrap="square">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在使用</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JMeter</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测试时，</a:t>
            </a:r>
            <a:r>
              <a:rPr lang="zh-CN" altLang="zh-CN" sz="2000" dirty="0">
                <a:solidFill>
                  <a:srgbClr val="1369B2"/>
                </a:solidFill>
                <a:latin typeface="微软雅黑" panose="020B0503020204020204" pitchFamily="34" charset="-122"/>
                <a:ea typeface="微软雅黑" panose="020B0503020204020204" pitchFamily="34" charset="-122"/>
              </a:rPr>
              <a:t>经常会修改配置参数</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反复测试</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。当执行一次新测试时，测试结果不会覆盖上一次的测试结果，而是会在上一次的测试结果上累加。</a:t>
            </a:r>
            <a:r>
              <a:rPr lang="zh-CN" altLang="zh-CN" sz="2000">
                <a:solidFill>
                  <a:srgbClr val="1369B2"/>
                </a:solidFill>
                <a:latin typeface="微软雅黑" panose="020B0503020204020204" pitchFamily="34" charset="-122"/>
                <a:ea typeface="微软雅黑" panose="020B0503020204020204" pitchFamily="34" charset="-122"/>
              </a:rPr>
              <a:t>为了更好</a:t>
            </a:r>
            <a:r>
              <a:rPr lang="zh-CN" altLang="en-US" sz="2000">
                <a:solidFill>
                  <a:srgbClr val="1369B2"/>
                </a:solidFill>
                <a:latin typeface="微软雅黑" panose="020B0503020204020204" pitchFamily="34" charset="-122"/>
                <a:ea typeface="微软雅黑" panose="020B0503020204020204" pitchFamily="34" charset="-122"/>
              </a:rPr>
              <a:t>地</a:t>
            </a:r>
            <a:r>
              <a:rPr lang="zh-CN" altLang="zh-CN" sz="2000">
                <a:solidFill>
                  <a:srgbClr val="1369B2"/>
                </a:solidFill>
                <a:latin typeface="微软雅黑" panose="020B0503020204020204" pitchFamily="34" charset="-122"/>
                <a:ea typeface="微软雅黑" panose="020B0503020204020204" pitchFamily="34" charset="-122"/>
              </a:rPr>
              <a:t>展示</a:t>
            </a:r>
            <a:r>
              <a:rPr lang="zh-CN" altLang="zh-CN" sz="2000" dirty="0">
                <a:solidFill>
                  <a:srgbClr val="1369B2"/>
                </a:solidFill>
                <a:latin typeface="微软雅黑" panose="020B0503020204020204" pitchFamily="34" charset="-122"/>
                <a:ea typeface="微软雅黑" panose="020B0503020204020204" pitchFamily="34" charset="-122"/>
              </a:rPr>
              <a:t>测试结果</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需要清除上一次的测试结果</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p:txBody>
      </p:sp>
      <p:sp>
        <p:nvSpPr>
          <p:cNvPr id="11" name="矩形 10"/>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TextBox 13"/>
          <p:cNvSpPr txBox="1"/>
          <p:nvPr/>
        </p:nvSpPr>
        <p:spPr>
          <a:xfrm>
            <a:off x="1143690" y="2238703"/>
            <a:ext cx="9387676" cy="2123658"/>
          </a:xfrm>
          <a:prstGeom prst="rect">
            <a:avLst/>
          </a:prstGeom>
          <a:noFill/>
        </p:spPr>
        <p:txBody>
          <a:bodyPr wrap="square" rtlCol="0">
            <a:spAutoFit/>
          </a:bodyPr>
          <a:lstStyle/>
          <a:p>
            <a:pPr>
              <a:lnSpc>
                <a:spcPct val="150000"/>
              </a:lnSpc>
            </a:pP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清除测试结果时，需要选中要清除</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的测试报告</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如察看结果树、聚合报告</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单击</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cs typeface="+mn-ea"/>
              </a:rPr>
              <a:t>JMeter</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工具栏中的</a:t>
            </a:r>
            <a:r>
              <a:rPr lang="zh-CN" altLang="zh-CN" sz="2000">
                <a:solidFill>
                  <a:srgbClr val="1369B2"/>
                </a:solidFill>
                <a:latin typeface="微软雅黑" panose="020B0503020204020204" pitchFamily="34" charset="-122"/>
                <a:ea typeface="微软雅黑" panose="020B0503020204020204" pitchFamily="34" charset="-122"/>
              </a:rPr>
              <a:t>“清除”</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按钮</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   ）</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或</a:t>
            </a:r>
            <a:r>
              <a:rPr lang="zh-CN" altLang="zh-CN" sz="2000">
                <a:solidFill>
                  <a:srgbClr val="1369B2"/>
                </a:solidFill>
                <a:latin typeface="微软雅黑" panose="020B0503020204020204" pitchFamily="34" charset="-122"/>
                <a:ea typeface="微软雅黑" panose="020B0503020204020204" pitchFamily="34" charset="-122"/>
              </a:rPr>
              <a:t>“清除全部”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按钮</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   ）</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使用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“清除”</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按钮只能清除</a:t>
            </a:r>
            <a:r>
              <a:rPr lang="zh-CN" altLang="zh-CN" sz="2000" dirty="0">
                <a:solidFill>
                  <a:srgbClr val="1369B2"/>
                </a:solidFill>
                <a:latin typeface="微软雅黑" panose="020B0503020204020204" pitchFamily="34" charset="-122"/>
                <a:ea typeface="微软雅黑" panose="020B0503020204020204" pitchFamily="34" charset="-122"/>
              </a:rPr>
              <a:t>当前选中的测试报告的结果</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，而</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使用</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“清除全部”按钮</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rPr>
              <a:t>能</a:t>
            </a:r>
            <a:r>
              <a:rPr lang="zh-CN" altLang="zh-CN" sz="2000">
                <a:solidFill>
                  <a:schemeClr val="tx1">
                    <a:lumMod val="65000"/>
                    <a:lumOff val="35000"/>
                  </a:schemeClr>
                </a:solidFill>
                <a:latin typeface="微软雅黑" panose="020B0503020204020204" pitchFamily="34" charset="-122"/>
                <a:ea typeface="微软雅黑" panose="020B0503020204020204" pitchFamily="34" charset="-122"/>
                <a:cs typeface="+mn-ea"/>
              </a:rPr>
              <a:t>清除</a:t>
            </a:r>
            <a:r>
              <a:rPr lang="zh-CN" altLang="zh-CN" sz="2000" dirty="0">
                <a:solidFill>
                  <a:srgbClr val="1369B2"/>
                </a:solidFill>
                <a:latin typeface="微软雅黑" panose="020B0503020204020204" pitchFamily="34" charset="-122"/>
                <a:ea typeface="微软雅黑" panose="020B0503020204020204" pitchFamily="34" charset="-122"/>
              </a:rPr>
              <a:t>所有测试报告的结果</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p>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a:xfrm>
            <a:off x="5094698" y="2927432"/>
            <a:ext cx="265195" cy="178266"/>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a:xfrm>
            <a:off x="8104568" y="2899118"/>
            <a:ext cx="255660" cy="2065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43491" y="2071390"/>
            <a:ext cx="10258425" cy="1477328"/>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常数吞吐量定时器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Constant Throughput Timer</a:t>
            </a:r>
            <a:r>
              <a:rPr lang="zh-CN" altLang="zh-CN" sz="2000" dirty="0">
                <a:solidFill>
                  <a:srgbClr val="595959"/>
                </a:solidFill>
                <a:latin typeface="微软雅黑" panose="020B0503020204020204" pitchFamily="34" charset="-122"/>
                <a:ea typeface="微软雅黑" panose="020B0503020204020204" pitchFamily="34" charset="-122"/>
                <a:cs typeface="+mn-ea"/>
              </a:rPr>
              <a:t>）主要用于</a:t>
            </a:r>
            <a:r>
              <a:rPr lang="zh-CN" altLang="zh-CN" sz="2000" dirty="0">
                <a:solidFill>
                  <a:srgbClr val="1369B2"/>
                </a:solidFill>
                <a:latin typeface="微软雅黑" panose="020B0503020204020204" pitchFamily="34" charset="-122"/>
                <a:ea typeface="微软雅黑" panose="020B0503020204020204" pitchFamily="34" charset="-122"/>
              </a:rPr>
              <a:t>设置</a:t>
            </a:r>
            <a:r>
              <a:rPr lang="en-US" altLang="zh-CN" sz="2000" dirty="0">
                <a:solidFill>
                  <a:srgbClr val="1369B2"/>
                </a:solidFill>
                <a:latin typeface="微软雅黑" panose="020B0503020204020204" pitchFamily="34" charset="-122"/>
                <a:ea typeface="微软雅黑" panose="020B0503020204020204" pitchFamily="34" charset="-122"/>
              </a:rPr>
              <a:t>QPS</a:t>
            </a:r>
            <a:r>
              <a:rPr lang="zh-CN" altLang="zh-CN" sz="2000" dirty="0">
                <a:solidFill>
                  <a:srgbClr val="1369B2"/>
                </a:solidFill>
                <a:latin typeface="微软雅黑" panose="020B0503020204020204" pitchFamily="34" charset="-122"/>
                <a:ea typeface="微软雅黑" panose="020B0503020204020204" pitchFamily="34" charset="-122"/>
              </a:rPr>
              <a:t>限制</a:t>
            </a:r>
            <a:r>
              <a:rPr lang="zh-CN" altLang="zh-CN" sz="2000" dirty="0">
                <a:solidFill>
                  <a:srgbClr val="595959"/>
                </a:solidFill>
                <a:latin typeface="微软雅黑" panose="020B0503020204020204" pitchFamily="34" charset="-122"/>
                <a:ea typeface="微软雅黑" panose="020B0503020204020204" pitchFamily="34" charset="-122"/>
                <a:cs typeface="+mn-ea"/>
              </a:rPr>
              <a:t>，它可以让</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1369B2"/>
                </a:solidFill>
                <a:latin typeface="微软雅黑" panose="020B0503020204020204" pitchFamily="34" charset="-122"/>
                <a:ea typeface="微软雅黑" panose="020B0503020204020204" pitchFamily="34" charset="-122"/>
              </a:rPr>
              <a:t>按照指定吞吐量发送请求</a:t>
            </a:r>
            <a:r>
              <a:rPr lang="zh-CN" altLang="zh-CN" sz="2000" dirty="0">
                <a:solidFill>
                  <a:srgbClr val="595959"/>
                </a:solidFill>
                <a:latin typeface="微软雅黑" panose="020B0503020204020204" pitchFamily="34" charset="-122"/>
                <a:ea typeface="微软雅黑" panose="020B0503020204020204" pitchFamily="34" charset="-122"/>
                <a:cs typeface="+mn-ea"/>
              </a:rPr>
              <a:t>。常数吞吐量定时器多用于</a:t>
            </a:r>
            <a:r>
              <a:rPr lang="zh-CN" altLang="zh-CN" sz="2000">
                <a:solidFill>
                  <a:srgbClr val="1369B2"/>
                </a:solidFill>
                <a:latin typeface="微软雅黑" panose="020B0503020204020204" pitchFamily="34" charset="-122"/>
                <a:ea typeface="微软雅黑" panose="020B0503020204020204" pitchFamily="34" charset="-122"/>
              </a:rPr>
              <a:t>稳定性测试</a:t>
            </a:r>
            <a:r>
              <a:rPr lang="zh-CN" altLang="en-US"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rPr>
              <a:t>混合</a:t>
            </a:r>
            <a:r>
              <a:rPr lang="zh-CN" altLang="zh-CN" sz="2000" dirty="0">
                <a:solidFill>
                  <a:srgbClr val="1369B2"/>
                </a:solidFill>
                <a:latin typeface="微软雅黑" panose="020B0503020204020204" pitchFamily="34" charset="-122"/>
                <a:ea typeface="微软雅黑" panose="020B0503020204020204" pitchFamily="34" charset="-122"/>
              </a:rPr>
              <a:t>压测</a:t>
            </a:r>
            <a:r>
              <a:rPr lang="zh-CN" altLang="zh-CN" sz="2000" dirty="0">
                <a:solidFill>
                  <a:srgbClr val="595959"/>
                </a:solidFill>
                <a:latin typeface="微软雅黑" panose="020B0503020204020204" pitchFamily="34" charset="-122"/>
                <a:ea typeface="微软雅黑" panose="020B0503020204020204" pitchFamily="34" charset="-122"/>
                <a:cs typeface="+mn-ea"/>
              </a:rPr>
              <a:t>过程中同时压测多</a:t>
            </a:r>
            <a:r>
              <a:rPr lang="zh-CN" altLang="zh-CN" sz="2000">
                <a:solidFill>
                  <a:srgbClr val="595959"/>
                </a:solidFill>
                <a:latin typeface="微软雅黑" panose="020B0503020204020204" pitchFamily="34" charset="-122"/>
                <a:ea typeface="微软雅黑" panose="020B0503020204020204" pitchFamily="34" charset="-122"/>
                <a:cs typeface="+mn-ea"/>
              </a:rPr>
              <a:t>个接口</a:t>
            </a:r>
            <a:r>
              <a:rPr lang="zh-CN" altLang="en-US" sz="2000">
                <a:solidFill>
                  <a:srgbClr val="595959"/>
                </a:solidFill>
                <a:latin typeface="微软雅黑" panose="020B0503020204020204" pitchFamily="34" charset="-122"/>
                <a:ea typeface="微软雅黑" panose="020B0503020204020204" pitchFamily="34" charset="-122"/>
                <a:cs typeface="+mn-ea"/>
              </a:rPr>
              <a:t>以</a:t>
            </a:r>
            <a:r>
              <a:rPr lang="zh-CN" altLang="zh-CN" sz="2000">
                <a:solidFill>
                  <a:srgbClr val="595959"/>
                </a:solidFill>
                <a:latin typeface="微软雅黑" panose="020B0503020204020204" pitchFamily="34" charset="-122"/>
                <a:ea typeface="微软雅黑" panose="020B0503020204020204" pitchFamily="34" charset="-122"/>
                <a:cs typeface="+mn-ea"/>
              </a:rPr>
              <a:t>测试</a:t>
            </a:r>
            <a:r>
              <a:rPr lang="zh-CN" altLang="zh-CN" sz="2000" dirty="0">
                <a:solidFill>
                  <a:srgbClr val="595959"/>
                </a:solidFill>
                <a:latin typeface="微软雅黑" panose="020B0503020204020204" pitchFamily="34" charset="-122"/>
                <a:ea typeface="微软雅黑" panose="020B0503020204020204" pitchFamily="34" charset="-122"/>
                <a:cs typeface="+mn-ea"/>
              </a:rPr>
              <a:t>系统的稳定性。</a:t>
            </a:r>
          </a:p>
        </p:txBody>
      </p:sp>
      <p:sp>
        <p:nvSpPr>
          <p:cNvPr id="5" name="圆角矩形 4"/>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常数吞吐量定时器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189276"/>
            <a:ext cx="9875440" cy="1477328"/>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如果在测试计划中需要使用</a:t>
            </a:r>
            <a:r>
              <a:rPr lang="zh-CN" altLang="zh-CN" sz="2000" dirty="0">
                <a:solidFill>
                  <a:srgbClr val="1369B2"/>
                </a:solidFill>
                <a:latin typeface="微软雅黑" panose="020B0503020204020204" pitchFamily="34" charset="-122"/>
                <a:ea typeface="微软雅黑" panose="020B0503020204020204" pitchFamily="34" charset="-122"/>
              </a:rPr>
              <a:t>常数吞吐量定时器</a:t>
            </a:r>
            <a:r>
              <a:rPr lang="zh-CN" altLang="zh-CN" sz="2000" dirty="0">
                <a:solidFill>
                  <a:srgbClr val="595959"/>
                </a:solidFill>
                <a:latin typeface="微软雅黑" panose="020B0503020204020204" pitchFamily="34" charset="-122"/>
                <a:ea typeface="微软雅黑" panose="020B0503020204020204" pitchFamily="34" charset="-122"/>
                <a:cs typeface="+mn-ea"/>
              </a:rPr>
              <a:t>，则可以在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主界面选中</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“定时器”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Constant Throughput Timer</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，会添加一个常数吞吐量</a:t>
            </a:r>
            <a:r>
              <a:rPr lang="zh-CN" altLang="zh-CN" sz="2000">
                <a:solidFill>
                  <a:srgbClr val="595959"/>
                </a:solidFill>
                <a:latin typeface="微软雅黑" panose="020B0503020204020204" pitchFamily="34" charset="-122"/>
                <a:ea typeface="微软雅黑" panose="020B0503020204020204" pitchFamily="34" charset="-122"/>
                <a:cs typeface="+mn-ea"/>
              </a:rPr>
              <a:t>定时器界面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1605" y="3082799"/>
            <a:ext cx="9186832" cy="263391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390224"/>
            <a:ext cx="9875440" cy="3323987"/>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zh-CN" sz="2000">
                <a:solidFill>
                  <a:srgbClr val="1369B2"/>
                </a:solidFill>
                <a:latin typeface="微软雅黑" panose="020B0503020204020204" pitchFamily="34" charset="-122"/>
                <a:ea typeface="微软雅黑" panose="020B0503020204020204" pitchFamily="34" charset="-122"/>
              </a:rPr>
              <a:t>常数吞吐量</a:t>
            </a:r>
            <a:r>
              <a:rPr lang="zh-CN" altLang="en-US" sz="2000">
                <a:solidFill>
                  <a:srgbClr val="1369B2"/>
                </a:solidFill>
                <a:latin typeface="微软雅黑" panose="020B0503020204020204" pitchFamily="34" charset="-122"/>
                <a:ea typeface="微软雅黑" panose="020B0503020204020204" pitchFamily="34" charset="-122"/>
              </a:rPr>
              <a:t>定时器</a:t>
            </a:r>
            <a:r>
              <a:rPr lang="zh-CN" altLang="zh-CN" sz="200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595959"/>
                </a:solidFill>
                <a:latin typeface="微软雅黑" panose="020B0503020204020204" pitchFamily="34" charset="-122"/>
                <a:ea typeface="微软雅黑" panose="020B0503020204020204" pitchFamily="34" charset="-122"/>
                <a:cs typeface="+mn-ea"/>
              </a:rPr>
              <a:t>使用。本案例要求使用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发送请求访问百度首页</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https://www.baidu.com</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rPr>
              <a:t>QPS</a:t>
            </a:r>
            <a:r>
              <a:rPr lang="zh-CN" altLang="en-US" sz="2000" dirty="0">
                <a:solidFill>
                  <a:srgbClr val="1369B2"/>
                </a:solidFill>
                <a:latin typeface="微软雅黑" panose="020B0503020204020204" pitchFamily="34" charset="-122"/>
                <a:ea typeface="微软雅黑" panose="020B0503020204020204" pitchFamily="34" charset="-122"/>
              </a:rPr>
              <a:t>为</a:t>
            </a:r>
            <a:r>
              <a:rPr lang="en-US" altLang="zh-CN" sz="2000" dirty="0">
                <a:solidFill>
                  <a:srgbClr val="1369B2"/>
                </a:solidFill>
                <a:latin typeface="微软雅黑" panose="020B0503020204020204" pitchFamily="34" charset="-122"/>
                <a:ea typeface="微软雅黑" panose="020B0503020204020204" pitchFamily="34" charset="-122"/>
              </a:rPr>
              <a:t>20</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持续运行一段时间</a:t>
            </a:r>
            <a:r>
              <a:rPr lang="zh-CN" altLang="zh-CN" sz="2000">
                <a:solidFill>
                  <a:srgbClr val="595959"/>
                </a:solidFill>
                <a:latin typeface="微软雅黑" panose="020B0503020204020204" pitchFamily="34" charset="-122"/>
                <a:ea typeface="微软雅黑" panose="020B0503020204020204" pitchFamily="34" charset="-122"/>
                <a:cs typeface="+mn-ea"/>
              </a:rPr>
              <a:t>，观察</a:t>
            </a:r>
            <a:r>
              <a:rPr lang="zh-CN" altLang="en-US"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统计</a:t>
            </a:r>
            <a:r>
              <a:rPr lang="zh-CN" altLang="zh-CN" sz="2000" dirty="0">
                <a:solidFill>
                  <a:srgbClr val="595959"/>
                </a:solidFill>
                <a:latin typeface="微软雅黑" panose="020B0503020204020204" pitchFamily="34" charset="-122"/>
                <a:ea typeface="微软雅黑" panose="020B0503020204020204" pitchFamily="34" charset="-122"/>
                <a:cs typeface="+mn-ea"/>
              </a:rPr>
              <a:t>运行时的性能指标</a:t>
            </a:r>
            <a:r>
              <a:rPr lang="zh-CN" altLang="zh-CN" sz="2000">
                <a:solidFill>
                  <a:srgbClr val="595959"/>
                </a:solidFill>
                <a:latin typeface="微软雅黑" panose="020B0503020204020204" pitchFamily="34" charset="-122"/>
                <a:ea typeface="微软雅黑" panose="020B0503020204020204" pitchFamily="34" charset="-122"/>
                <a:cs typeface="+mn-ea"/>
              </a:rPr>
              <a:t>变化</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分析上述要求，模拟的业务场景中 </a:t>
            </a:r>
            <a:r>
              <a:rPr lang="en-US" altLang="zh-CN" sz="2000">
                <a:solidFill>
                  <a:srgbClr val="595959"/>
                </a:solidFill>
                <a:latin typeface="微软雅黑" panose="020B0503020204020204" pitchFamily="34" charset="-122"/>
                <a:ea typeface="微软雅黑" panose="020B0503020204020204" pitchFamily="34" charset="-122"/>
                <a:cs typeface="+mn-ea"/>
              </a:rPr>
              <a:t>QPS </a:t>
            </a:r>
            <a:r>
              <a:rPr lang="zh-CN" altLang="zh-CN" sz="2000">
                <a:solidFill>
                  <a:srgbClr val="595959"/>
                </a:solidFill>
                <a:latin typeface="微软雅黑" panose="020B0503020204020204" pitchFamily="34" charset="-122"/>
                <a:ea typeface="微软雅黑" panose="020B0503020204020204" pitchFamily="34" charset="-122"/>
                <a:cs typeface="+mn-ea"/>
              </a:rPr>
              <a:t>为 </a:t>
            </a:r>
            <a:r>
              <a:rPr lang="en-US" altLang="zh-CN" sz="2000">
                <a:solidFill>
                  <a:srgbClr val="595959"/>
                </a:solidFill>
                <a:latin typeface="微软雅黑" panose="020B0503020204020204" pitchFamily="34" charset="-122"/>
                <a:ea typeface="微软雅黑" panose="020B0503020204020204" pitchFamily="34" charset="-122"/>
                <a:cs typeface="+mn-ea"/>
              </a:rPr>
              <a:t>20</a:t>
            </a:r>
            <a:r>
              <a:rPr lang="zh-CN" altLang="zh-CN" sz="2000">
                <a:solidFill>
                  <a:srgbClr val="595959"/>
                </a:solidFill>
                <a:latin typeface="微软雅黑" panose="020B0503020204020204" pitchFamily="34" charset="-122"/>
                <a:ea typeface="微软雅黑" panose="020B0503020204020204" pitchFamily="34" charset="-122"/>
                <a:cs typeface="+mn-ea"/>
              </a:rPr>
              <a:t>，指定了吞吐量，可以使用</a:t>
            </a:r>
            <a:r>
              <a:rPr lang="zh-CN" altLang="zh-CN" sz="2000">
                <a:solidFill>
                  <a:srgbClr val="1369B2"/>
                </a:solidFill>
                <a:latin typeface="微软雅黑" panose="020B0503020204020204" pitchFamily="34" charset="-122"/>
                <a:ea typeface="微软雅黑" panose="020B0503020204020204" pitchFamily="34" charset="-122"/>
              </a:rPr>
              <a:t>常数吞吐量定时器</a:t>
            </a:r>
            <a:r>
              <a:rPr lang="zh-CN" altLang="zh-CN" sz="2000">
                <a:solidFill>
                  <a:srgbClr val="595959"/>
                </a:solidFill>
                <a:latin typeface="微软雅黑" panose="020B0503020204020204" pitchFamily="34" charset="-122"/>
                <a:ea typeface="微软雅黑" panose="020B0503020204020204" pitchFamily="34" charset="-122"/>
                <a:cs typeface="+mn-ea"/>
              </a:rPr>
              <a:t>实现吞吐量的设置。首先在 </a:t>
            </a:r>
            <a:r>
              <a:rPr lang="en-US" altLang="zh-CN" sz="2000">
                <a:solidFill>
                  <a:srgbClr val="595959"/>
                </a:solidFill>
                <a:latin typeface="微软雅黑" panose="020B0503020204020204" pitchFamily="34" charset="-122"/>
                <a:ea typeface="微软雅黑" panose="020B0503020204020204" pitchFamily="34" charset="-122"/>
                <a:cs typeface="+mn-ea"/>
              </a:rPr>
              <a:t>JMeter </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a:solidFill>
                  <a:srgbClr val="1369B2"/>
                </a:solidFill>
                <a:latin typeface="微软雅黑" panose="020B0503020204020204" pitchFamily="34" charset="-122"/>
                <a:ea typeface="微软雅黑" panose="020B0503020204020204" pitchFamily="34" charset="-122"/>
              </a:rPr>
              <a:t>添加一个线程组</a:t>
            </a:r>
            <a:r>
              <a:rPr lang="zh-CN" altLang="zh-CN" sz="2000">
                <a:solidFill>
                  <a:srgbClr val="595959"/>
                </a:solidFill>
                <a:latin typeface="微软雅黑" panose="020B0503020204020204" pitchFamily="34" charset="-122"/>
                <a:ea typeface="微软雅黑" panose="020B0503020204020204" pitchFamily="34" charset="-122"/>
                <a:cs typeface="+mn-ea"/>
              </a:rPr>
              <a:t>，并在线程组界面勾选</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永远</a:t>
            </a:r>
            <a:r>
              <a:rPr lang="en-US" altLang="zh-CN" sz="2000">
                <a:solidFill>
                  <a:srgbClr val="1369B2"/>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cs typeface="+mn-ea"/>
              </a:rPr>
              <a:t>复选框，然后在该线程组中</a:t>
            </a:r>
            <a:r>
              <a:rPr lang="zh-CN" altLang="zh-CN" sz="2000">
                <a:solidFill>
                  <a:srgbClr val="1369B2"/>
                </a:solidFill>
                <a:latin typeface="微软雅黑" panose="020B0503020204020204" pitchFamily="34" charset="-122"/>
                <a:ea typeface="微软雅黑" panose="020B0503020204020204" pitchFamily="34" charset="-122"/>
              </a:rPr>
              <a:t>添加</a:t>
            </a:r>
            <a:r>
              <a:rPr lang="en-US" altLang="zh-CN" sz="2000">
                <a:solidFill>
                  <a:srgbClr val="1369B2"/>
                </a:solidFill>
                <a:latin typeface="微软雅黑" panose="020B0503020204020204" pitchFamily="34" charset="-122"/>
                <a:ea typeface="微软雅黑" panose="020B0503020204020204" pitchFamily="34" charset="-122"/>
              </a:rPr>
              <a:t>HTTP </a:t>
            </a:r>
            <a:r>
              <a:rPr lang="zh-CN" altLang="zh-CN" sz="2000">
                <a:solidFill>
                  <a:srgbClr val="1369B2"/>
                </a:solidFill>
                <a:latin typeface="微软雅黑" panose="020B0503020204020204" pitchFamily="34" charset="-122"/>
                <a:ea typeface="微软雅黑" panose="020B0503020204020204" pitchFamily="34" charset="-122"/>
              </a:rPr>
              <a:t>请求</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274318" y="968586"/>
            <a:ext cx="8879084"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按照案例要求在</a:t>
            </a:r>
            <a:r>
              <a:rPr lang="en-US" altLang="zh-CN" sz="2000" dirty="0">
                <a:solidFill>
                  <a:srgbClr val="1369B2"/>
                </a:solidFill>
                <a:latin typeface="微软雅黑" panose="020B0503020204020204" pitchFamily="34" charset="-122"/>
                <a:ea typeface="微软雅黑" panose="020B0503020204020204" pitchFamily="34" charset="-122"/>
              </a:rPr>
              <a:t>HTTP</a:t>
            </a:r>
            <a:r>
              <a:rPr lang="zh-CN" altLang="zh-CN" sz="2000" dirty="0">
                <a:solidFill>
                  <a:srgbClr val="1369B2"/>
                </a:solidFill>
                <a:latin typeface="微软雅黑" panose="020B0503020204020204" pitchFamily="34" charset="-122"/>
                <a:ea typeface="微软雅黑" panose="020B0503020204020204" pitchFamily="34" charset="-122"/>
              </a:rPr>
              <a:t>请求界面</a:t>
            </a:r>
            <a:r>
              <a:rPr lang="zh-CN" altLang="en-US"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rPr>
              <a:t>常数吞吐量定时器配置界面</a:t>
            </a:r>
            <a:r>
              <a:rPr lang="zh-CN" altLang="zh-CN" sz="2000" dirty="0">
                <a:solidFill>
                  <a:srgbClr val="595959"/>
                </a:solidFill>
                <a:latin typeface="微软雅黑" panose="020B0503020204020204" pitchFamily="34" charset="-122"/>
                <a:ea typeface="微软雅黑" panose="020B0503020204020204" pitchFamily="34" charset="-122"/>
                <a:cs typeface="+mn-ea"/>
              </a:rPr>
              <a:t>完成</a:t>
            </a:r>
            <a:r>
              <a:rPr lang="zh-CN" altLang="zh-CN" sz="2000">
                <a:solidFill>
                  <a:srgbClr val="595959"/>
                </a:solidFill>
                <a:latin typeface="微软雅黑" panose="020B0503020204020204" pitchFamily="34" charset="-122"/>
                <a:ea typeface="微软雅黑" panose="020B0503020204020204" pitchFamily="34" charset="-122"/>
                <a:cs typeface="+mn-ea"/>
              </a:rPr>
              <a:t>相关配置</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94426" y="2419350"/>
            <a:ext cx="4530481" cy="2567173"/>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4392" y="2419350"/>
            <a:ext cx="5109665" cy="225952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262443" y="773081"/>
            <a:ext cx="9330347" cy="1015663"/>
          </a:xfrm>
          <a:prstGeom prst="rect">
            <a:avLst/>
          </a:prstGeom>
        </p:spPr>
        <p:txBody>
          <a:bodyPr wrap="square">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cs typeface="+mn-ea"/>
              </a:rPr>
              <a:t>配置完成后按</a:t>
            </a:r>
            <a:r>
              <a:rPr lang="en-US" altLang="zh-CN" sz="2000">
                <a:solidFill>
                  <a:srgbClr val="1369B2"/>
                </a:solidFill>
                <a:latin typeface="微软雅黑" panose="020B0503020204020204" pitchFamily="34" charset="-122"/>
                <a:ea typeface="微软雅黑" panose="020B0503020204020204" pitchFamily="34" charset="-122"/>
              </a:rPr>
              <a:t>“Ctrl+S”</a:t>
            </a:r>
            <a:r>
              <a:rPr lang="zh-CN" altLang="zh-CN" sz="2000">
                <a:solidFill>
                  <a:srgbClr val="595959"/>
                </a:solidFill>
                <a:latin typeface="微软雅黑" panose="020B0503020204020204" pitchFamily="34" charset="-122"/>
                <a:ea typeface="微软雅黑" panose="020B0503020204020204" pitchFamily="34" charset="-122"/>
                <a:cs typeface="+mn-ea"/>
              </a:rPr>
              <a:t>组合键保存，在</a:t>
            </a:r>
            <a:r>
              <a:rPr lang="zh-CN" altLang="zh-CN" sz="2000" dirty="0">
                <a:solidFill>
                  <a:srgbClr val="595959"/>
                </a:solidFill>
                <a:latin typeface="微软雅黑" panose="020B0503020204020204" pitchFamily="34" charset="-122"/>
                <a:ea typeface="微软雅黑" panose="020B0503020204020204" pitchFamily="34" charset="-122"/>
                <a:cs typeface="+mn-ea"/>
              </a:rPr>
              <a:t>线程组中添加一个</a:t>
            </a:r>
            <a:r>
              <a:rPr lang="zh-CN" altLang="zh-CN" sz="2000" dirty="0">
                <a:solidFill>
                  <a:srgbClr val="1369B2"/>
                </a:solidFill>
                <a:latin typeface="微软雅黑" panose="020B0503020204020204" pitchFamily="34" charset="-122"/>
                <a:ea typeface="微软雅黑" panose="020B0503020204020204" pitchFamily="34" charset="-122"/>
              </a:rPr>
              <a:t>聚合报告</a:t>
            </a:r>
            <a:r>
              <a:rPr lang="zh-CN" altLang="zh-CN" sz="2000" dirty="0">
                <a:solidFill>
                  <a:srgbClr val="595959"/>
                </a:solidFill>
                <a:latin typeface="微软雅黑" panose="020B0503020204020204" pitchFamily="34" charset="-122"/>
                <a:ea typeface="微软雅黑" panose="020B0503020204020204" pitchFamily="34" charset="-122"/>
                <a:cs typeface="+mn-ea"/>
              </a:rPr>
              <a:t>并执行测试</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rPr>
              <a:t>测试结果</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9438" y="2055479"/>
            <a:ext cx="8936356" cy="412323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0" y="266995"/>
            <a:ext cx="8479907"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5.4.8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定时器</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43690" y="1822992"/>
            <a:ext cx="10363500" cy="1477328"/>
          </a:xfrm>
          <a:prstGeom prst="rect">
            <a:avLst/>
          </a:prstGeom>
        </p:spPr>
        <p:txBody>
          <a:bodyPr wrap="square">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固定定时器</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Fixed Timer</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rPr>
              <a:t>可以使请求延迟指定时间发送</a:t>
            </a:r>
            <a:r>
              <a:rPr lang="zh-CN" altLang="zh-CN" sz="2000" dirty="0">
                <a:solidFill>
                  <a:srgbClr val="595959"/>
                </a:solidFill>
                <a:latin typeface="微软雅黑" panose="020B0503020204020204" pitchFamily="34" charset="-122"/>
                <a:ea typeface="微软雅黑" panose="020B0503020204020204" pitchFamily="34" charset="-122"/>
                <a:cs typeface="+mn-ea"/>
              </a:rPr>
              <a:t>。如果在测试计划中需要使用固定定时器，则可以在</a:t>
            </a:r>
            <a:r>
              <a:rPr lang="en-US" altLang="zh-CN" sz="2000" dirty="0" err="1">
                <a:solidFill>
                  <a:srgbClr val="595959"/>
                </a:solidFill>
                <a:latin typeface="微软雅黑" panose="020B0503020204020204" pitchFamily="34" charset="-122"/>
                <a:ea typeface="微软雅黑" panose="020B0503020204020204" pitchFamily="34" charset="-122"/>
                <a:cs typeface="+mn-ea"/>
              </a:rPr>
              <a:t>JMeter</a:t>
            </a:r>
            <a:r>
              <a:rPr lang="zh-CN" altLang="zh-CN" sz="2000" dirty="0">
                <a:solidFill>
                  <a:srgbClr val="595959"/>
                </a:solidFill>
                <a:latin typeface="微软雅黑" panose="020B0503020204020204" pitchFamily="34" charset="-122"/>
                <a:ea typeface="微软雅黑" panose="020B0503020204020204" pitchFamily="34" charset="-122"/>
                <a:cs typeface="+mn-ea"/>
              </a:rPr>
              <a:t>主界面选中</a:t>
            </a:r>
            <a:r>
              <a:rPr lang="zh-CN" altLang="zh-CN" sz="2000">
                <a:solidFill>
                  <a:srgbClr val="595959"/>
                </a:solidFill>
                <a:latin typeface="微软雅黑" panose="020B0503020204020204" pitchFamily="34" charset="-122"/>
                <a:ea typeface="微软雅黑" panose="020B0503020204020204" pitchFamily="34" charset="-122"/>
                <a:cs typeface="+mn-ea"/>
              </a:rPr>
              <a:t>测试计划并</a:t>
            </a:r>
            <a:r>
              <a:rPr lang="zh-CN" altLang="en-US" sz="2000">
                <a:solidFill>
                  <a:srgbClr val="595959"/>
                </a:solidFill>
                <a:latin typeface="微软雅黑" panose="020B0503020204020204" pitchFamily="34" charset="-122"/>
                <a:ea typeface="微软雅黑" panose="020B0503020204020204" pitchFamily="34" charset="-122"/>
                <a:cs typeface="+mn-ea"/>
              </a:rPr>
              <a:t>右键单击</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在弹</a:t>
            </a:r>
            <a:r>
              <a:rPr lang="zh-CN" altLang="zh-CN" sz="2000">
                <a:solidFill>
                  <a:srgbClr val="595959"/>
                </a:solidFill>
                <a:latin typeface="微软雅黑" panose="020B0503020204020204" pitchFamily="34" charset="-122"/>
                <a:ea typeface="微软雅黑" panose="020B0503020204020204" pitchFamily="34" charset="-122"/>
                <a:cs typeface="+mn-ea"/>
              </a:rPr>
              <a:t>出的</a:t>
            </a:r>
            <a:r>
              <a:rPr lang="zh-CN" altLang="en-US" sz="2000">
                <a:solidFill>
                  <a:srgbClr val="595959"/>
                </a:solidFill>
                <a:latin typeface="微软雅黑" panose="020B0503020204020204" pitchFamily="34" charset="-122"/>
                <a:ea typeface="微软雅黑" panose="020B0503020204020204" pitchFamily="34" charset="-122"/>
                <a:cs typeface="+mn-ea"/>
              </a:rPr>
              <a:t>快捷菜单</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依次选择</a:t>
            </a:r>
            <a:r>
              <a:rPr lang="zh-CN" altLang="zh-CN" sz="2000" dirty="0">
                <a:solidFill>
                  <a:srgbClr val="1369B2"/>
                </a:solidFill>
                <a:latin typeface="微软雅黑" panose="020B0503020204020204" pitchFamily="34" charset="-122"/>
                <a:ea typeface="微软雅黑" panose="020B0503020204020204" pitchFamily="34" charset="-122"/>
              </a:rPr>
              <a:t>“添加”</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“定时器”</a:t>
            </a:r>
            <a:r>
              <a:rPr lang="en-US" altLang="zh-CN" sz="2000" dirty="0">
                <a:solidFill>
                  <a:srgbClr val="1369B2"/>
                </a:solidFill>
                <a:latin typeface="微软雅黑" panose="020B0503020204020204" pitchFamily="34" charset="-122"/>
                <a:ea typeface="微软雅黑" panose="020B0503020204020204" pitchFamily="34" charset="-122"/>
                <a:sym typeface="Wingdings 3" panose="05040102010807070707"/>
              </a:rPr>
              <a:t></a:t>
            </a:r>
            <a:r>
              <a:rPr lang="zh-CN" altLang="zh-CN" sz="2000" dirty="0">
                <a:solidFill>
                  <a:srgbClr val="1369B2"/>
                </a:solidFill>
                <a:latin typeface="微软雅黑" panose="020B0503020204020204" pitchFamily="34" charset="-122"/>
                <a:ea typeface="微软雅黑" panose="020B0503020204020204" pitchFamily="34" charset="-122"/>
              </a:rPr>
              <a:t>“固定定时器”</a:t>
            </a:r>
            <a:r>
              <a:rPr lang="zh-CN" altLang="zh-CN" sz="2000" dirty="0">
                <a:solidFill>
                  <a:srgbClr val="595959"/>
                </a:solidFill>
                <a:latin typeface="微软雅黑" panose="020B0503020204020204" pitchFamily="34" charset="-122"/>
                <a:ea typeface="微软雅黑" panose="020B0503020204020204" pitchFamily="34" charset="-122"/>
                <a:cs typeface="+mn-ea"/>
              </a:rPr>
              <a:t>，会添加一个固定</a:t>
            </a:r>
            <a:r>
              <a:rPr lang="zh-CN" altLang="zh-CN" sz="2000">
                <a:solidFill>
                  <a:srgbClr val="595959"/>
                </a:solidFill>
                <a:latin typeface="微软雅黑" panose="020B0503020204020204" pitchFamily="34" charset="-122"/>
                <a:ea typeface="微软雅黑" panose="020B0503020204020204" pitchFamily="34" charset="-122"/>
                <a:cs typeface="+mn-ea"/>
              </a:rPr>
              <a:t>定时器界面</a:t>
            </a:r>
            <a:r>
              <a:rPr lang="zh-CN" altLang="en-US" sz="200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2602" y="3492904"/>
            <a:ext cx="5628192" cy="2604699"/>
          </a:xfrm>
          <a:prstGeom prst="rect">
            <a:avLst/>
          </a:prstGeom>
        </p:spPr>
      </p:pic>
      <p:sp>
        <p:nvSpPr>
          <p:cNvPr id="6" name="圆角矩形 5"/>
          <p:cNvSpPr/>
          <p:nvPr/>
        </p:nvSpPr>
        <p:spPr>
          <a:xfrm>
            <a:off x="1043491" y="965665"/>
            <a:ext cx="2709111" cy="664743"/>
          </a:xfrm>
          <a:prstGeom prst="roundRect">
            <a:avLst/>
          </a:prstGeom>
          <a:solidFill>
            <a:srgbClr val="1369B2"/>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0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固定定时器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 name="COMMONDATA" val="eyJoZGlkIjoiZmIyYTRhZmU2ZjA1MzE5NWYzOWIzNGFiZmU1NDg0OT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SubTitle"/>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Text"/>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5"/>
</p:tagLst>
</file>

<file path=ppt/tags/tag11.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6"/>
</p:tagLst>
</file>

<file path=ppt/tags/tag12.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7"/>
</p:tagLst>
</file>

<file path=ppt/tags/tag13.xml><?xml version="1.0" encoding="utf-8"?>
<p:tagLst xmlns:a="http://schemas.openxmlformats.org/drawingml/2006/main" xmlns:r="http://schemas.openxmlformats.org/officeDocument/2006/relationships" xmlns:p="http://schemas.openxmlformats.org/presentationml/2006/main">
  <p:tag name="MH" val="20180611105247"/>
  <p:tag name="MH_LIBRARY" val="GRAPHIC"/>
  <p:tag name="MH_TYPE" val="Other"/>
  <p:tag name="MH_ORDER" val="8"/>
</p:tagLst>
</file>

<file path=ppt/tags/tag1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267"/>
  <p:tag name="TABLE_ENDDRAG_RECT" val="156*151*589*267"/>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267"/>
  <p:tag name="TABLE_ENDDRAG_RECT" val="156*151*589*267"/>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267"/>
  <p:tag name="TABLE_ENDDRAG_RECT" val="156*151*589*267"/>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8684</Words>
  <Application>Microsoft Office PowerPoint</Application>
  <PresentationFormat>自定义</PresentationFormat>
  <Paragraphs>573</Paragraphs>
  <Slides>107</Slides>
  <Notes>107</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107</vt:i4>
      </vt:variant>
    </vt:vector>
  </HeadingPairs>
  <TitlesOfParts>
    <vt:vector size="117" baseType="lpstr">
      <vt:lpstr>思源黑体旧字形 ExtraLight</vt:lpstr>
      <vt:lpstr>微软雅黑</vt:lpstr>
      <vt:lpstr>字魂105号-简雅黑</vt:lpstr>
      <vt:lpstr>Arial</vt:lpstr>
      <vt:lpstr>Calibri</vt:lpstr>
      <vt:lpstr>Impact</vt:lpstr>
      <vt:lpstr>Lato Light</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欧 李</cp:lastModifiedBy>
  <cp:revision>2712</cp:revision>
  <dcterms:created xsi:type="dcterms:W3CDTF">2020-11-11T09:29:00Z</dcterms:created>
  <dcterms:modified xsi:type="dcterms:W3CDTF">2025-11-04T16:33:13Z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1FB6A7A7EFEB45CFBE96459B997A0808_13</vt:lpwstr>
  </property>
</Properties>
</file>