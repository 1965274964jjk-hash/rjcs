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ags/tag2.xml" ContentType="application/vnd.openxmlformats-officedocument.presentationml.tags+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19.xml" ContentType="application/vnd.openxmlformats-officedocument.presentationml.tags+xml"/>
  <Override PartName="/ppt/notesSlides/notesSlide24.xml" ContentType="application/vnd.openxmlformats-officedocument.presentationml.notesSlide+xml"/>
  <Override PartName="/ppt/tags/tag20.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21.xml" ContentType="application/vnd.openxmlformats-officedocument.presentationml.tags+xml"/>
  <Override PartName="/ppt/notesSlides/notesSlide33.xml" ContentType="application/vnd.openxmlformats-officedocument.presentationml.notesSlide+xml"/>
  <Override PartName="/ppt/tags/tag22.xml" ContentType="application/vnd.openxmlformats-officedocument.presentationml.tags+xml"/>
  <Override PartName="/ppt/notesSlides/notesSlide34.xml" ContentType="application/vnd.openxmlformats-officedocument.presentationml.notesSlide+xml"/>
  <Override PartName="/ppt/tags/tag23.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2"/>
  </p:sldMasterIdLst>
  <p:notesMasterIdLst>
    <p:notesMasterId r:id="rId59"/>
  </p:notesMasterIdLst>
  <p:handoutMasterIdLst>
    <p:handoutMasterId r:id="rId60"/>
  </p:handoutMasterIdLst>
  <p:sldIdLst>
    <p:sldId id="325" r:id="rId3"/>
    <p:sldId id="264" r:id="rId4"/>
    <p:sldId id="767" r:id="rId5"/>
    <p:sldId id="328" r:id="rId6"/>
    <p:sldId id="924" r:id="rId7"/>
    <p:sldId id="1170" r:id="rId8"/>
    <p:sldId id="926" r:id="rId9"/>
    <p:sldId id="928" r:id="rId10"/>
    <p:sldId id="1171" r:id="rId11"/>
    <p:sldId id="1172" r:id="rId12"/>
    <p:sldId id="1173" r:id="rId13"/>
    <p:sldId id="1174" r:id="rId14"/>
    <p:sldId id="1175" r:id="rId15"/>
    <p:sldId id="936" r:id="rId16"/>
    <p:sldId id="1176" r:id="rId17"/>
    <p:sldId id="1193" r:id="rId18"/>
    <p:sldId id="1177" r:id="rId19"/>
    <p:sldId id="1178" r:id="rId20"/>
    <p:sldId id="1179" r:id="rId21"/>
    <p:sldId id="944" r:id="rId22"/>
    <p:sldId id="1180" r:id="rId23"/>
    <p:sldId id="940" r:id="rId24"/>
    <p:sldId id="1254" r:id="rId25"/>
    <p:sldId id="1247" r:id="rId26"/>
    <p:sldId id="1195" r:id="rId27"/>
    <p:sldId id="1248" r:id="rId28"/>
    <p:sldId id="1196" r:id="rId29"/>
    <p:sldId id="1197" r:id="rId30"/>
    <p:sldId id="1198" r:id="rId31"/>
    <p:sldId id="1199" r:id="rId32"/>
    <p:sldId id="1201" r:id="rId33"/>
    <p:sldId id="958" r:id="rId34"/>
    <p:sldId id="1202" r:id="rId35"/>
    <p:sldId id="1203" r:id="rId36"/>
    <p:sldId id="1204" r:id="rId37"/>
    <p:sldId id="1250" r:id="rId38"/>
    <p:sldId id="1251" r:id="rId39"/>
    <p:sldId id="1206" r:id="rId40"/>
    <p:sldId id="1207" r:id="rId41"/>
    <p:sldId id="962" r:id="rId42"/>
    <p:sldId id="1212" r:id="rId43"/>
    <p:sldId id="1255" r:id="rId44"/>
    <p:sldId id="1213" r:id="rId45"/>
    <p:sldId id="1214" r:id="rId46"/>
    <p:sldId id="1215" r:id="rId47"/>
    <p:sldId id="1256" r:id="rId48"/>
    <p:sldId id="1216" r:id="rId49"/>
    <p:sldId id="1217" r:id="rId50"/>
    <p:sldId id="1218" r:id="rId51"/>
    <p:sldId id="1220" r:id="rId52"/>
    <p:sldId id="1257" r:id="rId53"/>
    <p:sldId id="1221" r:id="rId54"/>
    <p:sldId id="1222" r:id="rId55"/>
    <p:sldId id="1223" r:id="rId56"/>
    <p:sldId id="1224" r:id="rId57"/>
    <p:sldId id="1225" r:id="rId58"/>
  </p:sldIdLst>
  <p:sldSz cx="12190413" cy="6859588"/>
  <p:notesSz cx="6858000" cy="9144000"/>
  <p:custDataLst>
    <p:tags r:id="rId61"/>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8" userDrawn="1">
          <p15:clr>
            <a:srgbClr val="A4A3A4"/>
          </p15:clr>
        </p15:guide>
        <p15:guide id="2" pos="619" userDrawn="1">
          <p15:clr>
            <a:srgbClr val="A4A3A4"/>
          </p15:clr>
        </p15:guide>
        <p15:guide id="3" pos="7247" userDrawn="1">
          <p15:clr>
            <a:srgbClr val="A4A3A4"/>
          </p15:clr>
        </p15:guide>
      </p15:sldGuideLst>
    </p:ext>
    <p:ext uri="{2D200454-40CA-4A62-9FC3-DE9A4176ACB9}">
      <p15:notesGuideLst xmlns:p15="http://schemas.microsoft.com/office/powerpoint/2012/main">
        <p15:guide id="1" orient="horz" pos="3103">
          <p15:clr>
            <a:srgbClr val="A4A3A4"/>
          </p15:clr>
        </p15:guide>
        <p15:guide id="2" pos="221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孟方思" initials="mfs" lastIdx="1" clrIdx="0"/>
  <p:cmAuthor id="2" name="LD" initials="L" lastIdx="2" clrIdx="1"/>
  <p:cmAuthor id="3" name="Lv0593" initials="L" lastIdx="15"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a:srgbClr val="1369B2"/>
    <a:srgbClr val="FF0000"/>
    <a:srgbClr val="FAFAFA"/>
    <a:srgbClr val="F2F2F2"/>
    <a:srgbClr val="006BBC"/>
    <a:srgbClr val="0075CC"/>
    <a:srgbClr val="008DF6"/>
    <a:srgbClr val="005DA2"/>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2" autoAdjust="0"/>
    <p:restoredTop sz="94590" autoAdjust="0"/>
  </p:normalViewPr>
  <p:slideViewPr>
    <p:cSldViewPr showGuides="1">
      <p:cViewPr varScale="1">
        <p:scale>
          <a:sx n="90" d="100"/>
          <a:sy n="90" d="100"/>
        </p:scale>
        <p:origin x="628" y="72"/>
      </p:cViewPr>
      <p:guideLst>
        <p:guide orient="horz" pos="2328"/>
        <p:guide pos="619"/>
        <p:guide pos="7247"/>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7" d="100"/>
          <a:sy n="87" d="100"/>
        </p:scale>
        <p:origin x="3840" y="96"/>
      </p:cViewPr>
      <p:guideLst>
        <p:guide orient="horz" pos="3103"/>
        <p:guide pos="2212"/>
      </p:guideLst>
    </p:cSldViewPr>
  </p:notes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tags" Target="tags/tag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handoutMaster" Target="handoutMasters/handoutMaster1.xml"/><Relationship Id="rId65"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t>2025/11/5</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t>2025/11/5</a:t>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15</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16</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17</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18</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19</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20</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21</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22</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23</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24</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25</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26</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27</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28</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29</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30</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32</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33</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34</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35</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36</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37</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38</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39</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40</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41</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42</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43</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44</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45</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46</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47</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48</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49</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50</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51</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52</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53</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54</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55</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56</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5794"/>
            <a:ext cx="12190413" cy="2413577"/>
            <a:chOff x="170694" y="178255"/>
            <a:chExt cx="3936004" cy="779007"/>
          </a:xfrm>
        </p:grpSpPr>
        <p:sp>
          <p:nvSpPr>
            <p:cNvPr id="44" name="等腰三角形 43"/>
            <p:cNvSpPr/>
            <p:nvPr/>
          </p:nvSpPr>
          <p:spPr>
            <a:xfrm>
              <a:off x="1270819" y="178255"/>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170694" y="600746"/>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48666" y="178257"/>
              <a:ext cx="1100951"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8484731"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756764"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620748"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5028797"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892781"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2025/11/5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2025/11/5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2025/11/5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2025/11/5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2025/11/5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693670"/>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98623" y="3693670"/>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t>2025/11/5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2025/11/5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6" Type="http://schemas.openxmlformats.org/officeDocument/2006/relationships/image" Target="../media/image1.png"/><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tags" Target="../tags/tag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t>2025/11/5</a:t>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
        <p:nvSpPr>
          <p:cNvPr id="2" name="矩形 1"/>
          <p:cNvSpPr/>
          <p:nvPr userDrawn="1"/>
        </p:nvSpPr>
        <p:spPr>
          <a:xfrm>
            <a:off x="278765" y="160020"/>
            <a:ext cx="391795" cy="236855"/>
          </a:xfrm>
          <a:prstGeom prst="rect">
            <a:avLst/>
          </a:prstGeom>
          <a:solidFill>
            <a:srgbClr val="4F7D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pic>
        <p:nvPicPr>
          <p:cNvPr id="10" name="图片 9" descr="数字技术产业学院 标志设计2"/>
          <p:cNvPicPr>
            <a:picLocks noChangeAspect="1"/>
          </p:cNvPicPr>
          <p:nvPr userDrawn="1">
            <p:custDataLst>
              <p:tags r:id="rId10"/>
            </p:custDataLst>
          </p:nvPr>
        </p:nvPicPr>
        <p:blipFill>
          <a:blip r:embed="rId11"/>
          <a:stretch>
            <a:fillRect/>
          </a:stretch>
        </p:blipFill>
        <p:spPr>
          <a:xfrm>
            <a:off x="9622790" y="56515"/>
            <a:ext cx="2418715" cy="52451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t>2025/11/5</a:t>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t>‹#›</a:t>
            </a:fld>
            <a:endParaRPr lang="zh-CN" altLang="en-US"/>
          </a:p>
        </p:txBody>
      </p:sp>
      <p:sp>
        <p:nvSpPr>
          <p:cNvPr id="9" name="矩形 8"/>
          <p:cNvSpPr/>
          <p:nvPr userDrawn="1"/>
        </p:nvSpPr>
        <p:spPr>
          <a:xfrm>
            <a:off x="278765" y="160020"/>
            <a:ext cx="391795" cy="236855"/>
          </a:xfrm>
          <a:prstGeom prst="rect">
            <a:avLst/>
          </a:prstGeom>
          <a:solidFill>
            <a:srgbClr val="4F7D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pic>
        <p:nvPicPr>
          <p:cNvPr id="10" name="图片 9" descr="数字技术产业学院 标志设计2"/>
          <p:cNvPicPr>
            <a:picLocks noChangeAspect="1"/>
          </p:cNvPicPr>
          <p:nvPr userDrawn="1">
            <p:custDataLst>
              <p:tags r:id="rId15"/>
            </p:custDataLst>
          </p:nvPr>
        </p:nvPicPr>
        <p:blipFill>
          <a:blip r:embed="rId16"/>
          <a:stretch>
            <a:fillRect/>
          </a:stretch>
        </p:blipFill>
        <p:spPr>
          <a:xfrm>
            <a:off x="9622790" y="56515"/>
            <a:ext cx="2418715" cy="524510"/>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8" Type="http://schemas.openxmlformats.org/officeDocument/2006/relationships/tags" Target="../tags/tag11.xml"/><Relationship Id="rId13" Type="http://schemas.openxmlformats.org/officeDocument/2006/relationships/tags" Target="../tags/tag16.xml"/><Relationship Id="rId3" Type="http://schemas.openxmlformats.org/officeDocument/2006/relationships/tags" Target="../tags/tag6.xml"/><Relationship Id="rId7" Type="http://schemas.openxmlformats.org/officeDocument/2006/relationships/tags" Target="../tags/tag10.xml"/><Relationship Id="rId12" Type="http://schemas.openxmlformats.org/officeDocument/2006/relationships/tags" Target="../tags/tag15.xml"/><Relationship Id="rId17" Type="http://schemas.openxmlformats.org/officeDocument/2006/relationships/notesSlide" Target="../notesSlides/notesSlide19.xml"/><Relationship Id="rId2" Type="http://schemas.openxmlformats.org/officeDocument/2006/relationships/tags" Target="../tags/tag5.xml"/><Relationship Id="rId16" Type="http://schemas.openxmlformats.org/officeDocument/2006/relationships/slideLayout" Target="../slideLayouts/slideLayout10.xml"/><Relationship Id="rId1" Type="http://schemas.openxmlformats.org/officeDocument/2006/relationships/tags" Target="../tags/tag4.xml"/><Relationship Id="rId6" Type="http://schemas.openxmlformats.org/officeDocument/2006/relationships/tags" Target="../tags/tag9.xml"/><Relationship Id="rId11" Type="http://schemas.openxmlformats.org/officeDocument/2006/relationships/tags" Target="../tags/tag14.xml"/><Relationship Id="rId5" Type="http://schemas.openxmlformats.org/officeDocument/2006/relationships/tags" Target="../tags/tag8.xml"/><Relationship Id="rId15" Type="http://schemas.openxmlformats.org/officeDocument/2006/relationships/tags" Target="../tags/tag18.xml"/><Relationship Id="rId10" Type="http://schemas.openxmlformats.org/officeDocument/2006/relationships/tags" Target="../tags/tag13.xml"/><Relationship Id="rId4" Type="http://schemas.openxmlformats.org/officeDocument/2006/relationships/tags" Target="../tags/tag7.xml"/><Relationship Id="rId9" Type="http://schemas.openxmlformats.org/officeDocument/2006/relationships/tags" Target="../tags/tag12.xml"/><Relationship Id="rId14" Type="http://schemas.openxmlformats.org/officeDocument/2006/relationships/tags" Target="../tags/tag1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0.xml"/><Relationship Id="rId1" Type="http://schemas.openxmlformats.org/officeDocument/2006/relationships/tags" Target="../tags/tag19.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0.xml"/><Relationship Id="rId1" Type="http://schemas.openxmlformats.org/officeDocument/2006/relationships/tags" Target="../tags/tag20.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10.xml"/><Relationship Id="rId4" Type="http://schemas.openxmlformats.org/officeDocument/2006/relationships/image" Target="../media/image8.sv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0.xml"/><Relationship Id="rId1" Type="http://schemas.openxmlformats.org/officeDocument/2006/relationships/tags" Target="../tags/tag21.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0.xml"/><Relationship Id="rId1" Type="http://schemas.openxmlformats.org/officeDocument/2006/relationships/tags" Target="../tags/tag2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0.xml"/><Relationship Id="rId1" Type="http://schemas.openxmlformats.org/officeDocument/2006/relationships/tags" Target="../tags/tag2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10.xml"/><Relationship Id="rId4" Type="http://schemas.openxmlformats.org/officeDocument/2006/relationships/image" Target="../media/image8.sv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8" Type="http://schemas.openxmlformats.org/officeDocument/2006/relationships/tags" Target="../tags/tag31.xml"/><Relationship Id="rId13" Type="http://schemas.openxmlformats.org/officeDocument/2006/relationships/tags" Target="../tags/tag36.xml"/><Relationship Id="rId18" Type="http://schemas.openxmlformats.org/officeDocument/2006/relationships/notesSlide" Target="../notesSlides/notesSlide46.xml"/><Relationship Id="rId3" Type="http://schemas.openxmlformats.org/officeDocument/2006/relationships/tags" Target="../tags/tag26.xml"/><Relationship Id="rId7" Type="http://schemas.openxmlformats.org/officeDocument/2006/relationships/tags" Target="../tags/tag30.xml"/><Relationship Id="rId12" Type="http://schemas.openxmlformats.org/officeDocument/2006/relationships/tags" Target="../tags/tag35.xml"/><Relationship Id="rId17" Type="http://schemas.openxmlformats.org/officeDocument/2006/relationships/slideLayout" Target="../slideLayouts/slideLayout10.xml"/><Relationship Id="rId2" Type="http://schemas.openxmlformats.org/officeDocument/2006/relationships/tags" Target="../tags/tag25.xml"/><Relationship Id="rId16" Type="http://schemas.openxmlformats.org/officeDocument/2006/relationships/tags" Target="../tags/tag39.xml"/><Relationship Id="rId1" Type="http://schemas.openxmlformats.org/officeDocument/2006/relationships/tags" Target="../tags/tag24.xml"/><Relationship Id="rId6" Type="http://schemas.openxmlformats.org/officeDocument/2006/relationships/tags" Target="../tags/tag29.xml"/><Relationship Id="rId11" Type="http://schemas.openxmlformats.org/officeDocument/2006/relationships/tags" Target="../tags/tag34.xml"/><Relationship Id="rId5" Type="http://schemas.openxmlformats.org/officeDocument/2006/relationships/tags" Target="../tags/tag28.xml"/><Relationship Id="rId15" Type="http://schemas.openxmlformats.org/officeDocument/2006/relationships/tags" Target="../tags/tag38.xml"/><Relationship Id="rId10" Type="http://schemas.openxmlformats.org/officeDocument/2006/relationships/tags" Target="../tags/tag33.xml"/><Relationship Id="rId4" Type="http://schemas.openxmlformats.org/officeDocument/2006/relationships/tags" Target="../tags/tag27.xml"/><Relationship Id="rId9" Type="http://schemas.openxmlformats.org/officeDocument/2006/relationships/tags" Target="../tags/tag32.xml"/><Relationship Id="rId14" Type="http://schemas.openxmlformats.org/officeDocument/2006/relationships/tags" Target="../tags/tag3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3.xml"/><Relationship Id="rId1" Type="http://schemas.openxmlformats.org/officeDocument/2006/relationships/slideLayout" Target="../slideLayouts/slideLayout10.xml"/><Relationship Id="rId4" Type="http://schemas.openxmlformats.org/officeDocument/2006/relationships/image" Target="../media/image8.svg"/></Relationships>
</file>

<file path=ppt/slides/_rels/slide5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4.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18"/>
          <p:cNvSpPr txBox="1"/>
          <p:nvPr/>
        </p:nvSpPr>
        <p:spPr>
          <a:xfrm>
            <a:off x="3503294" y="2637790"/>
            <a:ext cx="5975911" cy="784830"/>
          </a:xfrm>
          <a:prstGeom prst="rect">
            <a:avLst/>
          </a:prstGeom>
          <a:noFill/>
        </p:spPr>
        <p:txBody>
          <a:bodyPr wrap="square" rtlCol="0">
            <a:spAutoFit/>
          </a:bodyPr>
          <a:lstStyle/>
          <a:p>
            <a:r>
              <a:rPr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第</a:t>
            </a:r>
            <a:r>
              <a:rPr lang="en-US"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6</a:t>
            </a:r>
            <a:r>
              <a:rPr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章 </a:t>
            </a:r>
            <a:r>
              <a:rPr lang="en-US"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W</a:t>
            </a:r>
            <a:r>
              <a:rPr lang="en-US" altLang="zh-CN"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eb</a:t>
            </a:r>
            <a:r>
              <a:rPr lang="zh-CN" altLang="en-US"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自动化</a:t>
            </a:r>
            <a:r>
              <a:rPr sz="4500" dirty="0" err="1">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测试</a:t>
            </a:r>
            <a:endParaRPr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endParaRPr>
          </a:p>
        </p:txBody>
      </p:sp>
      <p:sp>
        <p:nvSpPr>
          <p:cNvPr id="4" name="Rectangle 4"/>
          <p:cNvSpPr txBox="1">
            <a:spLocks noChangeArrowheads="1"/>
          </p:cNvSpPr>
          <p:nvPr/>
        </p:nvSpPr>
        <p:spPr>
          <a:xfrm>
            <a:off x="6598920" y="3933825"/>
            <a:ext cx="3524250" cy="430530"/>
          </a:xfrm>
          <a:prstGeom prst="rect">
            <a:avLst/>
          </a:prstGeom>
        </p:spPr>
        <p:txBody>
          <a:bodyPr vert="horz" lIns="121917" tIns="60958" rIns="121917" bIns="60958" rtlCol="0"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a:t>
            </a:r>
            <a:r>
              <a:rPr lang="zh-CN" sz="2400" dirty="0">
                <a:solidFill>
                  <a:srgbClr val="595959"/>
                </a:solidFill>
                <a:latin typeface="微软雅黑" panose="020B0503020204020204" pitchFamily="34" charset="-122"/>
                <a:ea typeface="微软雅黑" panose="020B0503020204020204" pitchFamily="34" charset="-122"/>
                <a:cs typeface="+mn-ea"/>
                <a:sym typeface="+mn-lt"/>
              </a:rPr>
              <a:t>软件测试（第</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2</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版</a:t>
            </a:r>
            <a:r>
              <a:rPr lang="zh-CN" sz="2400" dirty="0">
                <a:solidFill>
                  <a:srgbClr val="595959"/>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a:t>
            </a:r>
            <a:endParaRPr lang="zh-CN" altLang="en-US" sz="2400"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80" name="组合 79"/>
          <p:cNvGrpSpPr/>
          <p:nvPr/>
        </p:nvGrpSpPr>
        <p:grpSpPr>
          <a:xfrm>
            <a:off x="1847206" y="1949228"/>
            <a:ext cx="7920001" cy="688075"/>
            <a:chOff x="978872" y="1800500"/>
            <a:chExt cx="6018237" cy="515937"/>
          </a:xfrm>
        </p:grpSpPr>
        <p:sp>
          <p:nvSpPr>
            <p:cNvPr id="81" name="Pentagon 3"/>
            <p:cNvSpPr/>
            <p:nvPr/>
          </p:nvSpPr>
          <p:spPr bwMode="auto">
            <a:xfrm>
              <a:off x="978872" y="1800500"/>
              <a:ext cx="6018237" cy="515937"/>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endParaRPr lang="zh-CN" altLang="en-US" dirty="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2"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3" name="组合 82"/>
          <p:cNvGrpSpPr/>
          <p:nvPr/>
        </p:nvGrpSpPr>
        <p:grpSpPr>
          <a:xfrm>
            <a:off x="1852295" y="2819400"/>
            <a:ext cx="7920000" cy="685800"/>
            <a:chOff x="978872" y="2570437"/>
            <a:chExt cx="5437064" cy="514350"/>
          </a:xfrm>
        </p:grpSpPr>
        <p:sp>
          <p:nvSpPr>
            <p:cNvPr id="84"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5"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2" name="组合 1"/>
          <p:cNvGrpSpPr/>
          <p:nvPr/>
        </p:nvGrpSpPr>
        <p:grpSpPr>
          <a:xfrm>
            <a:off x="1852295" y="3717288"/>
            <a:ext cx="7920000" cy="688341"/>
            <a:chOff x="978872" y="1800500"/>
            <a:chExt cx="5471124" cy="515938"/>
          </a:xfrm>
        </p:grpSpPr>
        <p:sp>
          <p:nvSpPr>
            <p:cNvPr id="3" name="Pentagon 3"/>
            <p:cNvSpPr/>
            <p:nvPr/>
          </p:nvSpPr>
          <p:spPr bwMode="auto">
            <a:xfrm>
              <a:off x="978872" y="1800501"/>
              <a:ext cx="5471124" cy="515937"/>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buClrTx/>
                <a:buSzTx/>
                <a:buFontTx/>
                <a:defRPr/>
              </a:pP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endParaRPr lang="zh-CN" altLang="en-US" dirty="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4"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5" name="组合 4"/>
          <p:cNvGrpSpPr/>
          <p:nvPr/>
        </p:nvGrpSpPr>
        <p:grpSpPr>
          <a:xfrm>
            <a:off x="1857375" y="4587240"/>
            <a:ext cx="7920000" cy="685800"/>
            <a:chOff x="978872" y="2570437"/>
            <a:chExt cx="5437064" cy="514350"/>
          </a:xfrm>
        </p:grpSpPr>
        <p:sp>
          <p:nvSpPr>
            <p:cNvPr id="6"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buClrTx/>
                <a:buSzTx/>
                <a:buFontTx/>
                <a:defRPr/>
              </a:pP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endParaRPr lang="zh-CN" altLang="en-US" dirty="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7"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sp>
        <p:nvSpPr>
          <p:cNvPr id="9" name="矩形 8"/>
          <p:cNvSpPr/>
          <p:nvPr/>
        </p:nvSpPr>
        <p:spPr>
          <a:xfrm>
            <a:off x="1881666" y="1949228"/>
            <a:ext cx="7773970" cy="757130"/>
          </a:xfrm>
          <a:prstGeom prst="rect">
            <a:avLst/>
          </a:prstGeom>
        </p:spPr>
        <p:txBody>
          <a:bodyPr wrap="square">
            <a:spAutoFit/>
          </a:bodyPr>
          <a:lstStyle/>
          <a:p>
            <a:pPr defTabSz="914400">
              <a:lnSpc>
                <a:spcPct val="120000"/>
              </a:lnSpc>
              <a:defRPr/>
            </a:pP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熟悉</a:t>
            </a:r>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自动化测试，</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能够归纳</a:t>
            </a:r>
            <a:r>
              <a:rPr lang="zh-CN" altLang="zh-CN" sz="1800" dirty="0">
                <a:solidFill>
                  <a:srgbClr val="0070C0"/>
                </a:solidFill>
                <a:latin typeface="微软雅黑" panose="020B0503020204020204" pitchFamily="34" charset="-122"/>
                <a:ea typeface="微软雅黑" panose="020B0503020204020204" pitchFamily="34" charset="-122"/>
                <a:cs typeface="+mn-ea"/>
              </a:rPr>
              <a:t>使用自动化测试需要满足的条件</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与</a:t>
            </a:r>
            <a:r>
              <a:rPr lang="zh-CN" altLang="zh-CN" sz="1800" dirty="0">
                <a:solidFill>
                  <a:srgbClr val="0070C0"/>
                </a:solidFill>
                <a:latin typeface="微软雅黑" panose="020B0503020204020204" pitchFamily="34" charset="-122"/>
                <a:ea typeface="微软雅黑" panose="020B0503020204020204" pitchFamily="34" charset="-122"/>
                <a:cs typeface="+mn-ea"/>
              </a:rPr>
              <a:t>自动化测试的优缺点</a:t>
            </a:r>
            <a:endParaRPr lang="zh-CN" altLang="en-US" sz="1800" dirty="0">
              <a:solidFill>
                <a:srgbClr val="0070C0"/>
              </a:solidFill>
              <a:latin typeface="微软雅黑" panose="020B0503020204020204" pitchFamily="34" charset="-122"/>
              <a:ea typeface="微软雅黑" panose="020B0503020204020204" pitchFamily="34" charset="-122"/>
              <a:cs typeface="+mn-ea"/>
            </a:endParaRPr>
          </a:p>
        </p:txBody>
      </p:sp>
      <p:sp>
        <p:nvSpPr>
          <p:cNvPr id="10" name="矩形 9"/>
          <p:cNvSpPr/>
          <p:nvPr/>
        </p:nvSpPr>
        <p:spPr>
          <a:xfrm>
            <a:off x="1835090" y="3013502"/>
            <a:ext cx="7336456" cy="369332"/>
          </a:xfrm>
          <a:prstGeom prst="rect">
            <a:avLst/>
          </a:prstGeom>
        </p:spPr>
        <p:txBody>
          <a:bodyPr wrap="square">
            <a:spAutoFit/>
          </a:bodyPr>
          <a:lstStyle/>
          <a:p>
            <a:pPr lvl="0"/>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了解自动化测试的常见技术，能够描述</a:t>
            </a:r>
            <a:r>
              <a:rPr lang="en-US" altLang="zh-CN" sz="1800" dirty="0">
                <a:solidFill>
                  <a:srgbClr val="0070C0"/>
                </a:solidFill>
                <a:latin typeface="微软雅黑" panose="020B0503020204020204" pitchFamily="34" charset="-122"/>
                <a:ea typeface="微软雅黑" panose="020B0503020204020204" pitchFamily="34" charset="-122"/>
                <a:cs typeface="+mn-ea"/>
              </a:rPr>
              <a:t>3</a:t>
            </a:r>
            <a:r>
              <a:rPr lang="zh-CN" altLang="zh-CN" sz="1800" dirty="0">
                <a:solidFill>
                  <a:srgbClr val="0070C0"/>
                </a:solidFill>
                <a:latin typeface="微软雅黑" panose="020B0503020204020204" pitchFamily="34" charset="-122"/>
                <a:ea typeface="微软雅黑" panose="020B0503020204020204" pitchFamily="34" charset="-122"/>
                <a:cs typeface="+mn-ea"/>
              </a:rPr>
              <a:t>种常见的自动化测试技术</a:t>
            </a:r>
          </a:p>
        </p:txBody>
      </p:sp>
      <p:sp>
        <p:nvSpPr>
          <p:cNvPr id="11" name="矩形 10"/>
          <p:cNvSpPr/>
          <p:nvPr/>
        </p:nvSpPr>
        <p:spPr>
          <a:xfrm>
            <a:off x="1861545" y="3768561"/>
            <a:ext cx="7796389" cy="646331"/>
          </a:xfrm>
          <a:prstGeom prst="rect">
            <a:avLst/>
          </a:prstGeom>
        </p:spPr>
        <p:txBody>
          <a:bodyPr wrap="square">
            <a:spAutoFit/>
          </a:bodyPr>
          <a:lstStyle/>
          <a:p>
            <a:pPr lvl="0"/>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掌握</a:t>
            </a:r>
            <a:r>
              <a:rPr lang="zh-CN" altLang="zh-CN" sz="1800" dirty="0">
                <a:solidFill>
                  <a:srgbClr val="0070C0"/>
                </a:solidFill>
                <a:latin typeface="微软雅黑" panose="020B0503020204020204" pitchFamily="34" charset="-122"/>
                <a:ea typeface="微软雅黑" panose="020B0503020204020204" pitchFamily="34" charset="-122"/>
                <a:cs typeface="+mn-ea"/>
              </a:rPr>
              <a:t>搭建自动化测试环境</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的方式，能够独立</a:t>
            </a:r>
            <a:r>
              <a:rPr lang="zh-CN" altLang="zh-CN" sz="1800" dirty="0">
                <a:solidFill>
                  <a:srgbClr val="0070C0"/>
                </a:solidFill>
                <a:latin typeface="微软雅黑" panose="020B0503020204020204" pitchFamily="34" charset="-122"/>
                <a:ea typeface="微软雅黑" panose="020B0503020204020204" pitchFamily="34" charset="-122"/>
                <a:cs typeface="+mn-ea"/>
              </a:rPr>
              <a:t>安装</a:t>
            </a:r>
            <a:r>
              <a:rPr lang="en-US" altLang="zh-CN" sz="1800" dirty="0">
                <a:solidFill>
                  <a:srgbClr val="0070C0"/>
                </a:solidFill>
                <a:latin typeface="微软雅黑" panose="020B0503020204020204" pitchFamily="34" charset="-122"/>
                <a:ea typeface="微软雅黑" panose="020B0503020204020204" pitchFamily="34" charset="-122"/>
                <a:cs typeface="+mn-ea"/>
              </a:rPr>
              <a:t>Python</a:t>
            </a:r>
            <a:r>
              <a:rPr lang="zh-CN" altLang="zh-CN" sz="1800" dirty="0">
                <a:solidFill>
                  <a:srgbClr val="0070C0"/>
                </a:solidFill>
                <a:latin typeface="微软雅黑" panose="020B0503020204020204" pitchFamily="34" charset="-122"/>
                <a:ea typeface="微软雅黑" panose="020B0503020204020204" pitchFamily="34" charset="-122"/>
                <a:cs typeface="+mn-ea"/>
              </a:rPr>
              <a:t>解释器</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en-US" altLang="zh-CN" sz="1800" err="1">
                <a:solidFill>
                  <a:srgbClr val="0070C0"/>
                </a:solidFill>
                <a:latin typeface="微软雅黑" panose="020B0503020204020204" pitchFamily="34" charset="-122"/>
                <a:ea typeface="微软雅黑" panose="020B0503020204020204" pitchFamily="34" charset="-122"/>
                <a:cs typeface="+mn-ea"/>
              </a:rPr>
              <a:t>PyCharm</a:t>
            </a:r>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en-US" altLang="zh-CN" sz="1800">
                <a:solidFill>
                  <a:srgbClr val="0070C0"/>
                </a:solidFill>
                <a:latin typeface="微软雅黑" panose="020B0503020204020204" pitchFamily="34" charset="-122"/>
                <a:ea typeface="微软雅黑" panose="020B0503020204020204" pitchFamily="34" charset="-122"/>
                <a:cs typeface="+mn-ea"/>
              </a:rPr>
              <a:t>Selenium</a:t>
            </a:r>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和</a:t>
            </a:r>
            <a:r>
              <a:rPr lang="zh-CN" altLang="zh-CN" sz="1800" dirty="0">
                <a:solidFill>
                  <a:srgbClr val="0070C0"/>
                </a:solidFill>
                <a:latin typeface="微软雅黑" panose="020B0503020204020204" pitchFamily="34" charset="-122"/>
                <a:ea typeface="微软雅黑" panose="020B0503020204020204" pitchFamily="34" charset="-122"/>
                <a:cs typeface="+mn-ea"/>
              </a:rPr>
              <a:t>浏览器驱动</a:t>
            </a:r>
          </a:p>
        </p:txBody>
      </p:sp>
      <p:sp>
        <p:nvSpPr>
          <p:cNvPr id="12" name="矩形 11"/>
          <p:cNvSpPr/>
          <p:nvPr/>
        </p:nvSpPr>
        <p:spPr>
          <a:xfrm>
            <a:off x="1891277" y="4745474"/>
            <a:ext cx="7881018" cy="369332"/>
          </a:xfrm>
          <a:prstGeom prst="rect">
            <a:avLst/>
          </a:prstGeom>
        </p:spPr>
        <p:txBody>
          <a:bodyPr wrap="square">
            <a:spAutoFit/>
          </a:bodyPr>
          <a:lstStyle/>
          <a:p>
            <a:pPr lvl="0"/>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掌握</a:t>
            </a:r>
            <a:r>
              <a:rPr lang="en-US" altLang="zh-CN" sz="1800">
                <a:solidFill>
                  <a:srgbClr val="0070C0"/>
                </a:solidFill>
                <a:latin typeface="微软雅黑" panose="020B0503020204020204" pitchFamily="34" charset="-122"/>
                <a:ea typeface="微软雅黑" panose="020B0503020204020204" pitchFamily="34" charset="-122"/>
                <a:cs typeface="+mn-ea"/>
              </a:rPr>
              <a:t>Selenium</a:t>
            </a:r>
            <a:r>
              <a:rPr lang="zh-CN" altLang="zh-CN" sz="1800">
                <a:solidFill>
                  <a:srgbClr val="0070C0"/>
                </a:solidFill>
                <a:latin typeface="微软雅黑" panose="020B0503020204020204" pitchFamily="34" charset="-122"/>
                <a:ea typeface="微软雅黑" panose="020B0503020204020204" pitchFamily="34" charset="-122"/>
                <a:cs typeface="+mn-ea"/>
              </a:rPr>
              <a:t>元素</a:t>
            </a:r>
            <a:r>
              <a:rPr lang="zh-CN" altLang="zh-CN" sz="1800" dirty="0">
                <a:solidFill>
                  <a:srgbClr val="0070C0"/>
                </a:solidFill>
                <a:latin typeface="微软雅黑" panose="020B0503020204020204" pitchFamily="34" charset="-122"/>
                <a:ea typeface="微软雅黑" panose="020B0503020204020204" pitchFamily="34" charset="-122"/>
                <a:cs typeface="+mn-ea"/>
              </a:rPr>
              <a:t>定位</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的方法，能够灵活应用</a:t>
            </a:r>
            <a:r>
              <a:rPr lang="en-US" altLang="zh-CN" sz="1800" dirty="0">
                <a:solidFill>
                  <a:srgbClr val="0070C0"/>
                </a:solidFill>
                <a:latin typeface="微软雅黑" panose="020B0503020204020204" pitchFamily="34" charset="-122"/>
                <a:ea typeface="微软雅黑" panose="020B0503020204020204" pitchFamily="34" charset="-122"/>
                <a:cs typeface="+mn-ea"/>
              </a:rPr>
              <a:t>8</a:t>
            </a:r>
            <a:r>
              <a:rPr lang="zh-CN" altLang="zh-CN" sz="1800" dirty="0">
                <a:solidFill>
                  <a:srgbClr val="0070C0"/>
                </a:solidFill>
                <a:latin typeface="微软雅黑" panose="020B0503020204020204" pitchFamily="34" charset="-122"/>
                <a:ea typeface="微软雅黑" panose="020B0503020204020204" pitchFamily="34" charset="-122"/>
                <a:cs typeface="+mn-ea"/>
              </a:rPr>
              <a:t>种方法定位</a:t>
            </a:r>
            <a:r>
              <a:rPr lang="en-US" altLang="zh-CN" sz="1800" dirty="0">
                <a:solidFill>
                  <a:srgbClr val="0070C0"/>
                </a:solidFill>
                <a:latin typeface="微软雅黑" panose="020B0503020204020204" pitchFamily="34" charset="-122"/>
                <a:ea typeface="微软雅黑" panose="020B0503020204020204" pitchFamily="34" charset="-122"/>
                <a:cs typeface="+mn-ea"/>
              </a:rPr>
              <a:t>Web</a:t>
            </a:r>
            <a:r>
              <a:rPr lang="zh-CN" altLang="zh-CN" sz="1800" dirty="0">
                <a:solidFill>
                  <a:srgbClr val="0070C0"/>
                </a:solidFill>
                <a:latin typeface="微软雅黑" panose="020B0503020204020204" pitchFamily="34" charset="-122"/>
                <a:ea typeface="微软雅黑" panose="020B0503020204020204" pitchFamily="34" charset="-122"/>
                <a:cs typeface="+mn-ea"/>
              </a:rPr>
              <a:t>页面元素</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83" name="组合 82"/>
          <p:cNvGrpSpPr/>
          <p:nvPr/>
        </p:nvGrpSpPr>
        <p:grpSpPr>
          <a:xfrm>
            <a:off x="1861545" y="2551677"/>
            <a:ext cx="8049660" cy="685800"/>
            <a:chOff x="978872" y="2570437"/>
            <a:chExt cx="5437064" cy="514350"/>
          </a:xfrm>
        </p:grpSpPr>
        <p:sp>
          <p:nvSpPr>
            <p:cNvPr id="84"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5"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2" name="组合 1"/>
          <p:cNvGrpSpPr/>
          <p:nvPr/>
        </p:nvGrpSpPr>
        <p:grpSpPr>
          <a:xfrm>
            <a:off x="1852294" y="3717290"/>
            <a:ext cx="8058911" cy="688340"/>
            <a:chOff x="978872" y="1800500"/>
            <a:chExt cx="5471124" cy="515937"/>
          </a:xfrm>
        </p:grpSpPr>
        <p:sp>
          <p:nvSpPr>
            <p:cNvPr id="3" name="Pentagon 3"/>
            <p:cNvSpPr/>
            <p:nvPr/>
          </p:nvSpPr>
          <p:spPr bwMode="auto">
            <a:xfrm>
              <a:off x="978872" y="1800500"/>
              <a:ext cx="5471124" cy="515937"/>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buClrTx/>
                <a:buSzTx/>
                <a:buFontTx/>
                <a:defRPr/>
              </a:pP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4"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5" name="组合 4"/>
          <p:cNvGrpSpPr/>
          <p:nvPr/>
        </p:nvGrpSpPr>
        <p:grpSpPr>
          <a:xfrm>
            <a:off x="1846547" y="4864239"/>
            <a:ext cx="8053830" cy="685800"/>
            <a:chOff x="978872" y="2570437"/>
            <a:chExt cx="5437064" cy="514350"/>
          </a:xfrm>
        </p:grpSpPr>
        <p:sp>
          <p:nvSpPr>
            <p:cNvPr id="6"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buClrTx/>
                <a:buSzTx/>
                <a:buFontTx/>
                <a:defRPr/>
              </a:pP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7"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sp>
        <p:nvSpPr>
          <p:cNvPr id="8" name="矩形 7"/>
          <p:cNvSpPr/>
          <p:nvPr/>
        </p:nvSpPr>
        <p:spPr>
          <a:xfrm>
            <a:off x="1870794" y="2626854"/>
            <a:ext cx="7910751" cy="646331"/>
          </a:xfrm>
          <a:prstGeom prst="rect">
            <a:avLst/>
          </a:prstGeom>
        </p:spPr>
        <p:txBody>
          <a:bodyPr wrap="square">
            <a:spAutoFit/>
          </a:bodyPr>
          <a:lstStyle/>
          <a:p>
            <a:pPr lvl="0"/>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掌握</a:t>
            </a:r>
            <a:r>
              <a:rPr lang="en-US"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Selenium</a:t>
            </a:r>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常用</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的操作方法，能够灵活应用</a:t>
            </a:r>
            <a:r>
              <a:rPr lang="zh-CN" altLang="zh-CN" sz="1800" dirty="0">
                <a:solidFill>
                  <a:srgbClr val="0070C0"/>
                </a:solidFill>
                <a:latin typeface="微软雅黑" panose="020B0503020204020204" pitchFamily="34" charset="-122"/>
                <a:ea typeface="微软雅黑" panose="020B0503020204020204" pitchFamily="34" charset="-122"/>
                <a:cs typeface="+mn-ea"/>
              </a:rPr>
              <a:t>常用的元素操作</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1800" dirty="0">
                <a:solidFill>
                  <a:srgbClr val="0070C0"/>
                </a:solidFill>
                <a:latin typeface="微软雅黑" panose="020B0503020204020204" pitchFamily="34" charset="-122"/>
                <a:ea typeface="微软雅黑" panose="020B0503020204020204" pitchFamily="34" charset="-122"/>
                <a:cs typeface="+mn-ea"/>
              </a:rPr>
              <a:t>浏览器操作</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和</a:t>
            </a:r>
            <a:r>
              <a:rPr lang="zh-CN" altLang="zh-CN" sz="1800" dirty="0">
                <a:solidFill>
                  <a:srgbClr val="0070C0"/>
                </a:solidFill>
                <a:latin typeface="微软雅黑" panose="020B0503020204020204" pitchFamily="34" charset="-122"/>
                <a:ea typeface="微软雅黑" panose="020B0503020204020204" pitchFamily="34" charset="-122"/>
                <a:cs typeface="+mn-ea"/>
              </a:rPr>
              <a:t>元素等待</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等方法</a:t>
            </a:r>
          </a:p>
        </p:txBody>
      </p:sp>
      <p:sp>
        <p:nvSpPr>
          <p:cNvPr id="9" name="矩形 8"/>
          <p:cNvSpPr/>
          <p:nvPr/>
        </p:nvSpPr>
        <p:spPr>
          <a:xfrm>
            <a:off x="1841467" y="3876794"/>
            <a:ext cx="7940078" cy="369332"/>
          </a:xfrm>
          <a:prstGeom prst="rect">
            <a:avLst/>
          </a:prstGeom>
        </p:spPr>
        <p:txBody>
          <a:bodyPr wrap="square">
            <a:spAutoFit/>
          </a:bodyPr>
          <a:lstStyle/>
          <a:p>
            <a:pPr lvl="0"/>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掌握</a:t>
            </a:r>
            <a:r>
              <a:rPr lang="zh-CN" altLang="zh-CN" sz="1800" dirty="0">
                <a:solidFill>
                  <a:srgbClr val="0070C0"/>
                </a:solidFill>
                <a:latin typeface="微软雅黑" panose="020B0503020204020204" pitchFamily="34" charset="-122"/>
                <a:ea typeface="微软雅黑" panose="020B0503020204020204" pitchFamily="34" charset="-122"/>
                <a:cs typeface="+mn-ea"/>
              </a:rPr>
              <a:t>自动化测试框架</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的使用，</a:t>
            </a:r>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能够使用</a:t>
            </a:r>
            <a:r>
              <a:rPr lang="en-US" altLang="zh-CN" sz="1800">
                <a:solidFill>
                  <a:srgbClr val="0070C0"/>
                </a:solidFill>
                <a:latin typeface="微软雅黑" panose="020B0503020204020204" pitchFamily="34" charset="-122"/>
                <a:ea typeface="微软雅黑" panose="020B0503020204020204" pitchFamily="34" charset="-122"/>
                <a:cs typeface="+mn-ea"/>
              </a:rPr>
              <a:t>unittest</a:t>
            </a:r>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和</a:t>
            </a:r>
            <a:r>
              <a:rPr lang="en-US" altLang="zh-CN" sz="1800" dirty="0" err="1">
                <a:solidFill>
                  <a:srgbClr val="0070C0"/>
                </a:solidFill>
                <a:latin typeface="微软雅黑" panose="020B0503020204020204" pitchFamily="34" charset="-122"/>
                <a:ea typeface="微软雅黑" panose="020B0503020204020204" pitchFamily="34" charset="-122"/>
                <a:cs typeface="+mn-ea"/>
              </a:rPr>
              <a:t>pytest</a:t>
            </a:r>
            <a:r>
              <a:rPr lang="zh-CN" altLang="zh-CN" sz="1800" dirty="0">
                <a:solidFill>
                  <a:srgbClr val="0070C0"/>
                </a:solidFill>
                <a:latin typeface="微软雅黑" panose="020B0503020204020204" pitchFamily="34" charset="-122"/>
                <a:ea typeface="微软雅黑" panose="020B0503020204020204" pitchFamily="34" charset="-122"/>
                <a:cs typeface="+mn-ea"/>
              </a:rPr>
              <a:t>框架</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进行自动化测试</a:t>
            </a:r>
          </a:p>
        </p:txBody>
      </p:sp>
      <p:sp>
        <p:nvSpPr>
          <p:cNvPr id="10" name="矩形 9"/>
          <p:cNvSpPr/>
          <p:nvPr/>
        </p:nvSpPr>
        <p:spPr>
          <a:xfrm>
            <a:off x="1841466" y="4949874"/>
            <a:ext cx="7940079" cy="646331"/>
          </a:xfrm>
          <a:prstGeom prst="rect">
            <a:avLst/>
          </a:prstGeom>
        </p:spPr>
        <p:txBody>
          <a:bodyPr wrap="square">
            <a:spAutoFit/>
          </a:bodyPr>
          <a:lstStyle/>
          <a:p>
            <a:pPr lvl="0"/>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掌握</a:t>
            </a:r>
            <a:r>
              <a:rPr lang="zh-CN" altLang="zh-CN" sz="1800" dirty="0">
                <a:solidFill>
                  <a:srgbClr val="0070C0"/>
                </a:solidFill>
                <a:latin typeface="微软雅黑" panose="020B0503020204020204" pitchFamily="34" charset="-122"/>
                <a:ea typeface="微软雅黑" panose="020B0503020204020204" pitchFamily="34" charset="-122"/>
                <a:cs typeface="+mn-ea"/>
              </a:rPr>
              <a:t>学成在线教育平台</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项目的测试方式，能够独立测试项目中的</a:t>
            </a:r>
            <a:r>
              <a:rPr lang="zh-CN" altLang="zh-CN" sz="1800" dirty="0">
                <a:solidFill>
                  <a:srgbClr val="0070C0"/>
                </a:solidFill>
                <a:latin typeface="微软雅黑" panose="020B0503020204020204" pitchFamily="34" charset="-122"/>
                <a:ea typeface="微软雅黑" panose="020B0503020204020204" pitchFamily="34" charset="-122"/>
                <a:cs typeface="+mn-ea"/>
              </a:rPr>
              <a:t>登录</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1800" dirty="0">
                <a:solidFill>
                  <a:srgbClr val="0070C0"/>
                </a:solidFill>
                <a:latin typeface="微软雅黑" panose="020B0503020204020204" pitchFamily="34" charset="-122"/>
                <a:ea typeface="微软雅黑" panose="020B0503020204020204" pitchFamily="34" charset="-122"/>
                <a:cs typeface="+mn-ea"/>
              </a:rPr>
              <a:t>退出</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和</a:t>
            </a:r>
            <a:r>
              <a:rPr lang="zh-CN" altLang="zh-CN" sz="1800" dirty="0">
                <a:solidFill>
                  <a:srgbClr val="0070C0"/>
                </a:solidFill>
                <a:latin typeface="微软雅黑" panose="020B0503020204020204" pitchFamily="34" charset="-122"/>
                <a:ea typeface="微软雅黑" panose="020B0503020204020204" pitchFamily="34" charset="-122"/>
                <a:cs typeface="+mn-ea"/>
              </a:rPr>
              <a:t>页面跳转功能</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71292" y="572758"/>
            <a:ext cx="3911746"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章节概述</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 Summary</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631106" y="2205504"/>
            <a:ext cx="9039080" cy="2893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随着</a:t>
            </a:r>
            <a:r>
              <a:rPr lang="en-US" altLang="zh-CN" sz="2000" dirty="0">
                <a:solidFill>
                  <a:srgbClr val="595959"/>
                </a:solidFill>
                <a:latin typeface="微软雅黑" panose="020B0503020204020204" pitchFamily="34" charset="-122"/>
                <a:ea typeface="微软雅黑" panose="020B0503020204020204" pitchFamily="34" charset="-122"/>
              </a:rPr>
              <a:t>IT</a:t>
            </a:r>
            <a:r>
              <a:rPr lang="zh-CN" altLang="zh-CN" sz="2000" dirty="0">
                <a:solidFill>
                  <a:srgbClr val="595959"/>
                </a:solidFill>
                <a:latin typeface="微软雅黑" panose="020B0503020204020204" pitchFamily="34" charset="-122"/>
                <a:ea typeface="微软雅黑" panose="020B0503020204020204" pitchFamily="34" charset="-122"/>
              </a:rPr>
              <a:t>技术的发展，软件产品开发周期越来越短，</a:t>
            </a:r>
            <a:r>
              <a:rPr lang="zh-CN" altLang="zh-CN" sz="2000" dirty="0">
                <a:solidFill>
                  <a:srgbClr val="0070C0"/>
                </a:solidFill>
                <a:latin typeface="微软雅黑" panose="020B0503020204020204" pitchFamily="34" charset="-122"/>
                <a:ea typeface="微软雅黑" panose="020B0503020204020204" pitchFamily="34" charset="-122"/>
              </a:rPr>
              <a:t>软件测试</a:t>
            </a:r>
            <a:r>
              <a:rPr lang="zh-CN" altLang="zh-CN" sz="2000" dirty="0">
                <a:solidFill>
                  <a:srgbClr val="595959"/>
                </a:solidFill>
                <a:latin typeface="微软雅黑" panose="020B0503020204020204" pitchFamily="34" charset="-122"/>
                <a:ea typeface="微软雅黑" panose="020B0503020204020204" pitchFamily="34" charset="-122"/>
              </a:rPr>
              <a:t>的任务越来越重，而测试中的许多操作都是</a:t>
            </a:r>
            <a:r>
              <a:rPr lang="zh-CN" altLang="zh-CN" sz="2000" dirty="0">
                <a:solidFill>
                  <a:srgbClr val="0070C0"/>
                </a:solidFill>
                <a:latin typeface="微软雅黑" panose="020B0503020204020204" pitchFamily="34" charset="-122"/>
                <a:ea typeface="微软雅黑" panose="020B0503020204020204" pitchFamily="34" charset="-122"/>
              </a:rPr>
              <a:t>重复性</a:t>
            </a:r>
            <a:r>
              <a:rPr lang="zh-CN" altLang="zh-CN" sz="2000" dirty="0">
                <a:solidFill>
                  <a:srgbClr val="595959"/>
                </a:solidFill>
                <a:latin typeface="微软雅黑" panose="020B0503020204020204" pitchFamily="34" charset="-122"/>
                <a:ea typeface="微软雅黑" panose="020B0503020204020204" pitchFamily="34" charset="-122"/>
              </a:rPr>
              <a:t>的、</a:t>
            </a:r>
            <a:r>
              <a:rPr lang="zh-CN" altLang="zh-CN" sz="2000" dirty="0">
                <a:solidFill>
                  <a:srgbClr val="0070C0"/>
                </a:solidFill>
                <a:latin typeface="微软雅黑" panose="020B0503020204020204" pitchFamily="34" charset="-122"/>
                <a:ea typeface="微软雅黑" panose="020B0503020204020204" pitchFamily="34" charset="-122"/>
              </a:rPr>
              <a:t>非创造性</a:t>
            </a:r>
            <a:r>
              <a:rPr lang="zh-CN" altLang="zh-CN" sz="2000" dirty="0">
                <a:solidFill>
                  <a:srgbClr val="595959"/>
                </a:solidFill>
                <a:latin typeface="微软雅黑" panose="020B0503020204020204" pitchFamily="34" charset="-122"/>
                <a:ea typeface="微软雅黑" panose="020B0503020204020204" pitchFamily="34" charset="-122"/>
              </a:rPr>
              <a:t>的，但要求</a:t>
            </a:r>
            <a:r>
              <a:rPr lang="zh-CN" altLang="zh-CN" sz="2000">
                <a:solidFill>
                  <a:srgbClr val="595959"/>
                </a:solidFill>
                <a:latin typeface="微软雅黑" panose="020B0503020204020204" pitchFamily="34" charset="-122"/>
                <a:ea typeface="微软雅黑" panose="020B0503020204020204" pitchFamily="34" charset="-122"/>
              </a:rPr>
              <a:t>工作准确</a:t>
            </a:r>
            <a:r>
              <a:rPr lang="zh-CN" altLang="en-US" sz="2000">
                <a:solidFill>
                  <a:srgbClr val="595959"/>
                </a:solidFill>
                <a:latin typeface="微软雅黑" panose="020B0503020204020204" pitchFamily="34" charset="-122"/>
                <a:ea typeface="微软雅黑" panose="020B0503020204020204" pitchFamily="34" charset="-122"/>
              </a:rPr>
              <a:t>、</a:t>
            </a:r>
            <a:r>
              <a:rPr lang="zh-CN" altLang="zh-CN" sz="2000">
                <a:solidFill>
                  <a:srgbClr val="595959"/>
                </a:solidFill>
                <a:latin typeface="微软雅黑" panose="020B0503020204020204" pitchFamily="34" charset="-122"/>
                <a:ea typeface="微软雅黑" panose="020B0503020204020204" pitchFamily="34" charset="-122"/>
              </a:rPr>
              <a:t>细致</a:t>
            </a:r>
            <a:r>
              <a:rPr lang="zh-CN" altLang="zh-CN" sz="2000" dirty="0">
                <a:solidFill>
                  <a:srgbClr val="595959"/>
                </a:solidFill>
                <a:latin typeface="微软雅黑" panose="020B0503020204020204" pitchFamily="34" charset="-122"/>
                <a:ea typeface="微软雅黑" panose="020B0503020204020204" pitchFamily="34" charset="-122"/>
              </a:rPr>
              <a:t>，此时自动化</a:t>
            </a:r>
            <a:r>
              <a:rPr lang="zh-CN" altLang="zh-CN" sz="2000">
                <a:solidFill>
                  <a:srgbClr val="595959"/>
                </a:solidFill>
                <a:latin typeface="微软雅黑" panose="020B0503020204020204" pitchFamily="34" charset="-122"/>
                <a:ea typeface="微软雅黑" panose="020B0503020204020204" pitchFamily="34" charset="-122"/>
              </a:rPr>
              <a:t>测试工具能够</a:t>
            </a:r>
            <a:r>
              <a:rPr lang="zh-CN" altLang="zh-CN" sz="2000" dirty="0">
                <a:solidFill>
                  <a:srgbClr val="595959"/>
                </a:solidFill>
                <a:latin typeface="微软雅黑" panose="020B0503020204020204" pitchFamily="34" charset="-122"/>
                <a:ea typeface="微软雅黑" panose="020B0503020204020204" pitchFamily="34" charset="-122"/>
              </a:rPr>
              <a:t>代替人工去完成这样的工作。</a:t>
            </a:r>
            <a:r>
              <a:rPr lang="zh-CN" altLang="zh-CN" sz="2000" dirty="0">
                <a:solidFill>
                  <a:srgbClr val="0070C0"/>
                </a:solidFill>
                <a:latin typeface="微软雅黑" panose="020B0503020204020204" pitchFamily="34" charset="-122"/>
                <a:ea typeface="微软雅黑" panose="020B0503020204020204" pitchFamily="34" charset="-122"/>
              </a:rPr>
              <a:t>软件自动化测试是为代替人工测试而产生的</a:t>
            </a:r>
            <a:r>
              <a:rPr lang="zh-CN" altLang="zh-CN" sz="2000" dirty="0">
                <a:solidFill>
                  <a:srgbClr val="595959"/>
                </a:solidFill>
                <a:latin typeface="微软雅黑" panose="020B0503020204020204" pitchFamily="34" charset="-122"/>
                <a:ea typeface="微软雅黑" panose="020B0503020204020204" pitchFamily="34" charset="-122"/>
              </a:rPr>
              <a:t>，它将自动化工具和技术应用于软件测试，旨在</a:t>
            </a:r>
            <a:r>
              <a:rPr lang="zh-CN" altLang="zh-CN" sz="2000" dirty="0">
                <a:solidFill>
                  <a:srgbClr val="0070C0"/>
                </a:solidFill>
                <a:latin typeface="微软雅黑" panose="020B0503020204020204" pitchFamily="34" charset="-122"/>
                <a:ea typeface="微软雅黑" panose="020B0503020204020204" pitchFamily="34" charset="-122"/>
              </a:rPr>
              <a:t>减少人工测试</a:t>
            </a:r>
            <a:r>
              <a:rPr lang="zh-CN" altLang="zh-CN" sz="2000">
                <a:solidFill>
                  <a:srgbClr val="0070C0"/>
                </a:solidFill>
                <a:latin typeface="微软雅黑" panose="020B0503020204020204" pitchFamily="34" charset="-122"/>
                <a:ea typeface="微软雅黑" panose="020B0503020204020204" pitchFamily="34" charset="-122"/>
              </a:rPr>
              <a:t>的重复性</a:t>
            </a:r>
            <a:r>
              <a:rPr lang="zh-CN" altLang="en-US" sz="2000">
                <a:solidFill>
                  <a:srgbClr val="0070C0"/>
                </a:solidFill>
                <a:latin typeface="微软雅黑" panose="020B0503020204020204" pitchFamily="34" charset="-122"/>
                <a:ea typeface="微软雅黑" panose="020B0503020204020204" pitchFamily="34" charset="-122"/>
              </a:rPr>
              <a:t>工作</a:t>
            </a:r>
            <a:r>
              <a:rPr lang="zh-CN" altLang="zh-CN" sz="200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以更快、更少</a:t>
            </a:r>
            <a:r>
              <a:rPr lang="zh-CN" altLang="zh-CN" sz="2000">
                <a:solidFill>
                  <a:srgbClr val="595959"/>
                </a:solidFill>
                <a:latin typeface="微软雅黑" panose="020B0503020204020204" pitchFamily="34" charset="-122"/>
                <a:ea typeface="微软雅黑" panose="020B0503020204020204" pitchFamily="34" charset="-122"/>
              </a:rPr>
              <a:t>的工作构建</a:t>
            </a:r>
            <a:r>
              <a:rPr lang="zh-CN" altLang="zh-CN" sz="2000" dirty="0">
                <a:solidFill>
                  <a:srgbClr val="595959"/>
                </a:solidFill>
                <a:latin typeface="微软雅黑" panose="020B0503020204020204" pitchFamily="34" charset="-122"/>
                <a:ea typeface="微软雅黑" panose="020B0503020204020204" pitchFamily="34" charset="-122"/>
              </a:rPr>
              <a:t>质量更好的软件。本章将对</a:t>
            </a:r>
            <a:r>
              <a:rPr lang="en-US" altLang="zh-CN" sz="2000" dirty="0">
                <a:solidFill>
                  <a:srgbClr val="0070C0"/>
                </a:solidFill>
                <a:latin typeface="微软雅黑" panose="020B0503020204020204" pitchFamily="34" charset="-122"/>
                <a:ea typeface="微软雅黑" panose="020B0503020204020204" pitchFamily="34" charset="-122"/>
              </a:rPr>
              <a:t>Web</a:t>
            </a:r>
            <a:r>
              <a:rPr lang="zh-CN" altLang="zh-CN" sz="2000" dirty="0">
                <a:solidFill>
                  <a:srgbClr val="0070C0"/>
                </a:solidFill>
                <a:latin typeface="微软雅黑" panose="020B0503020204020204" pitchFamily="34" charset="-122"/>
                <a:ea typeface="微软雅黑" panose="020B0503020204020204" pitchFamily="34" charset="-122"/>
              </a:rPr>
              <a:t>自动化测试</a:t>
            </a:r>
            <a:r>
              <a:rPr lang="zh-CN" altLang="zh-CN" sz="2000" dirty="0">
                <a:solidFill>
                  <a:srgbClr val="595959"/>
                </a:solidFill>
                <a:latin typeface="微软雅黑" panose="020B0503020204020204" pitchFamily="34" charset="-122"/>
                <a:ea typeface="微软雅黑" panose="020B0503020204020204" pitchFamily="34" charset="-122"/>
              </a:rPr>
              <a:t>的相关知识进行讲解。</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45" name="组合 44"/>
          <p:cNvGrpSpPr/>
          <p:nvPr/>
        </p:nvGrpSpPr>
        <p:grpSpPr>
          <a:xfrm>
            <a:off x="3119265" y="1933199"/>
            <a:ext cx="1192190" cy="613062"/>
            <a:chOff x="2215144" y="982844"/>
            <a:chExt cx="1244730" cy="842780"/>
          </a:xfrm>
        </p:grpSpPr>
        <p:sp>
          <p:nvSpPr>
            <p:cNvPr id="46" name="平行四边形 45"/>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7" name="文本框 9"/>
            <p:cNvSpPr txBox="1"/>
            <p:nvPr/>
          </p:nvSpPr>
          <p:spPr>
            <a:xfrm>
              <a:off x="2393075" y="1005670"/>
              <a:ext cx="1066799" cy="80389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01</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48" name="组合 47"/>
          <p:cNvGrpSpPr/>
          <p:nvPr/>
        </p:nvGrpSpPr>
        <p:grpSpPr>
          <a:xfrm>
            <a:off x="3119265" y="2853597"/>
            <a:ext cx="1192190" cy="618406"/>
            <a:chOff x="2215144" y="2026500"/>
            <a:chExt cx="1244730" cy="850129"/>
          </a:xfrm>
        </p:grpSpPr>
        <p:sp>
          <p:nvSpPr>
            <p:cNvPr id="49" name="平行四边形 48"/>
            <p:cNvSpPr/>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0" name="文本框 10"/>
            <p:cNvSpPr txBox="1"/>
            <p:nvPr/>
          </p:nvSpPr>
          <p:spPr>
            <a:xfrm>
              <a:off x="2393075" y="2026500"/>
              <a:ext cx="1066799" cy="803896"/>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02</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1" name="组合 50"/>
          <p:cNvGrpSpPr/>
          <p:nvPr/>
        </p:nvGrpSpPr>
        <p:grpSpPr>
          <a:xfrm>
            <a:off x="3119265" y="3784175"/>
            <a:ext cx="1192190" cy="614525"/>
            <a:chOff x="2215144" y="3084852"/>
            <a:chExt cx="1244730" cy="844793"/>
          </a:xfrm>
        </p:grpSpPr>
        <p:sp>
          <p:nvSpPr>
            <p:cNvPr id="52" name="平行四边形 51"/>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3" name="文本框 11"/>
            <p:cNvSpPr txBox="1"/>
            <p:nvPr/>
          </p:nvSpPr>
          <p:spPr>
            <a:xfrm>
              <a:off x="2393075" y="3125750"/>
              <a:ext cx="1066799" cy="803895"/>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03</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4" name="组合 53"/>
          <p:cNvGrpSpPr/>
          <p:nvPr/>
        </p:nvGrpSpPr>
        <p:grpSpPr>
          <a:xfrm>
            <a:off x="3119265" y="4710448"/>
            <a:ext cx="1192190" cy="613061"/>
            <a:chOff x="2215144" y="4135856"/>
            <a:chExt cx="1244730" cy="842781"/>
          </a:xfrm>
        </p:grpSpPr>
        <p:sp>
          <p:nvSpPr>
            <p:cNvPr id="55" name="平行四边形 54"/>
            <p:cNvSpPr/>
            <p:nvPr/>
          </p:nvSpPr>
          <p:spPr>
            <a:xfrm>
              <a:off x="2215144" y="4135856"/>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6" name="文本框 12"/>
            <p:cNvSpPr txBox="1"/>
            <p:nvPr/>
          </p:nvSpPr>
          <p:spPr>
            <a:xfrm>
              <a:off x="2393075" y="4169272"/>
              <a:ext cx="1066799" cy="803896"/>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04</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60" name="组合 59"/>
          <p:cNvGrpSpPr/>
          <p:nvPr/>
        </p:nvGrpSpPr>
        <p:grpSpPr>
          <a:xfrm>
            <a:off x="4024817" y="1911020"/>
            <a:ext cx="5142331" cy="613062"/>
            <a:chOff x="4315150" y="953426"/>
            <a:chExt cx="3857250" cy="540057"/>
          </a:xfrm>
        </p:grpSpPr>
        <p:sp>
          <p:nvSpPr>
            <p:cNvPr id="61" name="矩形 60"/>
            <p:cNvSpPr/>
            <p:nvPr/>
          </p:nvSpPr>
          <p:spPr>
            <a:xfrm>
              <a:off x="4841196" y="1036090"/>
              <a:ext cx="2827147" cy="331154"/>
            </a:xfrm>
            <a:prstGeom prst="rect">
              <a:avLst/>
            </a:prstGeom>
            <a:ln w="15875">
              <a:noFill/>
            </a:ln>
          </p:spPr>
          <p:txBody>
            <a:bodyPr wrap="square" lIns="68580" tIns="34290" rIns="68580" bIns="34290">
              <a:spAutoFit/>
            </a:bodyPr>
            <a:lstStyle/>
            <a:p>
              <a:r>
                <a:rPr lang="zh-CN" altLang="en-US" sz="2000"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自动化测试</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概述</a:t>
              </a:r>
            </a:p>
          </p:txBody>
        </p:sp>
        <p:sp>
          <p:nvSpPr>
            <p:cNvPr id="62" name="平行四边形 61"/>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3" name="组合 62"/>
          <p:cNvGrpSpPr/>
          <p:nvPr/>
        </p:nvGrpSpPr>
        <p:grpSpPr>
          <a:xfrm>
            <a:off x="4024817" y="2836771"/>
            <a:ext cx="5142331" cy="613062"/>
            <a:chOff x="4315150" y="1647579"/>
            <a:chExt cx="3857250" cy="540057"/>
          </a:xfrm>
        </p:grpSpPr>
        <p:sp>
          <p:nvSpPr>
            <p:cNvPr id="64" name="矩形 63"/>
            <p:cNvSpPr/>
            <p:nvPr/>
          </p:nvSpPr>
          <p:spPr>
            <a:xfrm>
              <a:off x="4841196" y="1730243"/>
              <a:ext cx="2827147" cy="331154"/>
            </a:xfrm>
            <a:prstGeom prst="rect">
              <a:avLst/>
            </a:prstGeom>
            <a:ln w="15875">
              <a:noFill/>
            </a:ln>
          </p:spPr>
          <p:txBody>
            <a:bodyPr wrap="square" lIns="68580" tIns="34290" rIns="68580" bIns="34290">
              <a:spAutoFit/>
            </a:bodyPr>
            <a:lstStyle/>
            <a:p>
              <a:pPr algn="l">
                <a:buClrTx/>
                <a:buSzTx/>
                <a:buFontTx/>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自动化测试</a:t>
              </a:r>
              <a:r>
                <a:rPr lang="zh-CN" altLang="en-US" sz="2000"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常见技术</a:t>
              </a:r>
            </a:p>
          </p:txBody>
        </p:sp>
        <p:sp>
          <p:nvSpPr>
            <p:cNvPr id="65" name="平行四边形 64"/>
            <p:cNvSpPr/>
            <p:nvPr/>
          </p:nvSpPr>
          <p:spPr>
            <a:xfrm>
              <a:off x="4315150" y="1647579"/>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6" name="组合 65"/>
          <p:cNvGrpSpPr/>
          <p:nvPr/>
        </p:nvGrpSpPr>
        <p:grpSpPr>
          <a:xfrm>
            <a:off x="4024817" y="3762522"/>
            <a:ext cx="5142331" cy="613062"/>
            <a:chOff x="4315150" y="2341731"/>
            <a:chExt cx="3857250" cy="540057"/>
          </a:xfrm>
        </p:grpSpPr>
        <p:sp>
          <p:nvSpPr>
            <p:cNvPr id="67" name="矩形 66"/>
            <p:cNvSpPr/>
            <p:nvPr/>
          </p:nvSpPr>
          <p:spPr>
            <a:xfrm>
              <a:off x="4841197" y="2424395"/>
              <a:ext cx="2827146" cy="331154"/>
            </a:xfrm>
            <a:prstGeom prst="rect">
              <a:avLst/>
            </a:prstGeom>
            <a:ln w="15875">
              <a:noFill/>
            </a:ln>
          </p:spPr>
          <p:txBody>
            <a:bodyPr wrap="square" lIns="68580" tIns="34290" rIns="68580" bIns="34290">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搭建</a:t>
              </a:r>
              <a:r>
                <a:rPr lang="zh-CN" altLang="en-US" sz="2000"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自动化测试环境</a:t>
              </a:r>
              <a:endParaRPr lang="en-GB" altLang="zh-CN" sz="2000" dirty="0">
                <a:solidFill>
                  <a:srgbClr val="0070C0"/>
                </a:solidFill>
                <a:latin typeface="微软雅黑" panose="020B0503020204020204" pitchFamily="34" charset="-122"/>
                <a:ea typeface="微软雅黑" panose="020B0503020204020204" pitchFamily="34" charset="-122"/>
                <a:cs typeface="+mn-ea"/>
                <a:sym typeface="+mn-lt"/>
              </a:endParaRPr>
            </a:p>
          </p:txBody>
        </p:sp>
        <p:sp>
          <p:nvSpPr>
            <p:cNvPr id="68" name="平行四边形 67"/>
            <p:cNvSpPr/>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9" name="组合 68"/>
          <p:cNvGrpSpPr/>
          <p:nvPr/>
        </p:nvGrpSpPr>
        <p:grpSpPr>
          <a:xfrm>
            <a:off x="4024817" y="4688273"/>
            <a:ext cx="5142331" cy="613062"/>
            <a:chOff x="4315150" y="3035884"/>
            <a:chExt cx="3857250" cy="540057"/>
          </a:xfrm>
        </p:grpSpPr>
        <p:sp>
          <p:nvSpPr>
            <p:cNvPr id="70" name="矩形 69"/>
            <p:cNvSpPr/>
            <p:nvPr/>
          </p:nvSpPr>
          <p:spPr>
            <a:xfrm>
              <a:off x="4841196" y="3118548"/>
              <a:ext cx="2827147" cy="331154"/>
            </a:xfrm>
            <a:prstGeom prst="rect">
              <a:avLst/>
            </a:prstGeom>
            <a:ln w="15875">
              <a:noFill/>
            </a:ln>
          </p:spPr>
          <p:txBody>
            <a:bodyPr wrap="square" lIns="68580" tIns="34290" rIns="68580" bIns="34290">
              <a:spAutoFit/>
            </a:bodyPr>
            <a:lstStyle/>
            <a:p>
              <a:r>
                <a:rPr lang="en-US" altLang="zh-CN" sz="200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Selenium</a:t>
              </a:r>
              <a:r>
                <a:rPr lang="zh-CN" altLang="en-US" sz="200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元素</a:t>
              </a:r>
              <a:r>
                <a:rPr lang="zh-CN" altLang="en-US" sz="2000"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定位</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方法</a:t>
              </a:r>
            </a:p>
          </p:txBody>
        </p:sp>
        <p:sp>
          <p:nvSpPr>
            <p:cNvPr id="71" name="平行四边形 70"/>
            <p:cNvSpPr/>
            <p:nvPr/>
          </p:nvSpPr>
          <p:spPr>
            <a:xfrm>
              <a:off x="4315150" y="3035884"/>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27" name="组合 26"/>
          <p:cNvGrpSpPr/>
          <p:nvPr/>
        </p:nvGrpSpPr>
        <p:grpSpPr>
          <a:xfrm>
            <a:off x="3047418" y="5683973"/>
            <a:ext cx="1192190" cy="613062"/>
            <a:chOff x="2215144" y="982844"/>
            <a:chExt cx="1244730" cy="842780"/>
          </a:xfrm>
        </p:grpSpPr>
        <p:sp>
          <p:nvSpPr>
            <p:cNvPr id="28" name="平行四边形 27"/>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29" name="文本框 9"/>
            <p:cNvSpPr txBox="1"/>
            <p:nvPr/>
          </p:nvSpPr>
          <p:spPr>
            <a:xfrm>
              <a:off x="2393075" y="1005670"/>
              <a:ext cx="1066799" cy="802230"/>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05</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30" name="组合 29"/>
          <p:cNvGrpSpPr/>
          <p:nvPr/>
        </p:nvGrpSpPr>
        <p:grpSpPr>
          <a:xfrm>
            <a:off x="3952970" y="5661794"/>
            <a:ext cx="5142331" cy="613062"/>
            <a:chOff x="4315150" y="953426"/>
            <a:chExt cx="3857250" cy="540057"/>
          </a:xfrm>
        </p:grpSpPr>
        <p:sp>
          <p:nvSpPr>
            <p:cNvPr id="31" name="矩形 30"/>
            <p:cNvSpPr/>
            <p:nvPr/>
          </p:nvSpPr>
          <p:spPr>
            <a:xfrm>
              <a:off x="4841196" y="1036090"/>
              <a:ext cx="2827147" cy="331154"/>
            </a:xfrm>
            <a:prstGeom prst="rect">
              <a:avLst/>
            </a:prstGeom>
            <a:ln w="15875">
              <a:noFill/>
            </a:ln>
          </p:spPr>
          <p:txBody>
            <a:bodyPr wrap="square" lIns="68580" tIns="34290" rIns="68580" bIns="34290">
              <a:spAutoFit/>
            </a:bodyPr>
            <a:lstStyle/>
            <a:p>
              <a:r>
                <a:rPr lang="en-US" altLang="zh-CN" sz="200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Selenium</a:t>
              </a:r>
              <a:r>
                <a:rPr lang="zh-CN" altLang="en-US" sz="200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常用</a:t>
              </a:r>
              <a:r>
                <a:rPr lang="zh-CN" altLang="en-US" sz="2000"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的操作</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方法</a:t>
              </a:r>
            </a:p>
          </p:txBody>
        </p:sp>
        <p:sp>
          <p:nvSpPr>
            <p:cNvPr id="32" name="平行四边形 31"/>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45" name="组合 44"/>
          <p:cNvGrpSpPr/>
          <p:nvPr/>
        </p:nvGrpSpPr>
        <p:grpSpPr>
          <a:xfrm>
            <a:off x="3119265" y="1933199"/>
            <a:ext cx="1192190" cy="613062"/>
            <a:chOff x="2215144" y="982844"/>
            <a:chExt cx="1244730" cy="842780"/>
          </a:xfrm>
        </p:grpSpPr>
        <p:sp>
          <p:nvSpPr>
            <p:cNvPr id="46" name="平行四边形 45"/>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7" name="文本框 9"/>
            <p:cNvSpPr txBox="1"/>
            <p:nvPr/>
          </p:nvSpPr>
          <p:spPr>
            <a:xfrm>
              <a:off x="2393075" y="1005670"/>
              <a:ext cx="1066799" cy="80389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06</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48" name="组合 47"/>
          <p:cNvGrpSpPr/>
          <p:nvPr/>
        </p:nvGrpSpPr>
        <p:grpSpPr>
          <a:xfrm>
            <a:off x="3119265" y="2853597"/>
            <a:ext cx="1192190" cy="618406"/>
            <a:chOff x="2215144" y="2026500"/>
            <a:chExt cx="1244730" cy="850129"/>
          </a:xfrm>
        </p:grpSpPr>
        <p:sp>
          <p:nvSpPr>
            <p:cNvPr id="49" name="平行四边形 48"/>
            <p:cNvSpPr/>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0" name="文本框 10"/>
            <p:cNvSpPr txBox="1"/>
            <p:nvPr/>
          </p:nvSpPr>
          <p:spPr>
            <a:xfrm>
              <a:off x="2393075" y="2026500"/>
              <a:ext cx="1066799" cy="803896"/>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07</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1" name="组合 50"/>
          <p:cNvGrpSpPr/>
          <p:nvPr/>
        </p:nvGrpSpPr>
        <p:grpSpPr>
          <a:xfrm>
            <a:off x="3119265" y="3784175"/>
            <a:ext cx="1192190" cy="614525"/>
            <a:chOff x="2215144" y="3084852"/>
            <a:chExt cx="1244730" cy="844793"/>
          </a:xfrm>
        </p:grpSpPr>
        <p:sp>
          <p:nvSpPr>
            <p:cNvPr id="52" name="平行四边形 51"/>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3" name="文本框 11"/>
            <p:cNvSpPr txBox="1"/>
            <p:nvPr/>
          </p:nvSpPr>
          <p:spPr>
            <a:xfrm>
              <a:off x="2393075" y="3125750"/>
              <a:ext cx="1066799" cy="803895"/>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08</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4" name="组合 53"/>
          <p:cNvGrpSpPr/>
          <p:nvPr/>
        </p:nvGrpSpPr>
        <p:grpSpPr>
          <a:xfrm>
            <a:off x="3119265" y="4710448"/>
            <a:ext cx="1192190" cy="613061"/>
            <a:chOff x="2215144" y="4135856"/>
            <a:chExt cx="1244730" cy="842781"/>
          </a:xfrm>
        </p:grpSpPr>
        <p:sp>
          <p:nvSpPr>
            <p:cNvPr id="55" name="平行四边形 54"/>
            <p:cNvSpPr/>
            <p:nvPr/>
          </p:nvSpPr>
          <p:spPr>
            <a:xfrm>
              <a:off x="2215144" y="4135856"/>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6" name="文本框 12"/>
            <p:cNvSpPr txBox="1"/>
            <p:nvPr/>
          </p:nvSpPr>
          <p:spPr>
            <a:xfrm>
              <a:off x="2393075" y="4169272"/>
              <a:ext cx="1066799" cy="803896"/>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09</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60" name="组合 59"/>
          <p:cNvGrpSpPr/>
          <p:nvPr/>
        </p:nvGrpSpPr>
        <p:grpSpPr>
          <a:xfrm>
            <a:off x="4024817" y="1911020"/>
            <a:ext cx="5142331" cy="613062"/>
            <a:chOff x="4315150" y="953426"/>
            <a:chExt cx="3857250" cy="540057"/>
          </a:xfrm>
        </p:grpSpPr>
        <p:sp>
          <p:nvSpPr>
            <p:cNvPr id="61" name="矩形 60"/>
            <p:cNvSpPr/>
            <p:nvPr/>
          </p:nvSpPr>
          <p:spPr>
            <a:xfrm>
              <a:off x="4841196" y="1036090"/>
              <a:ext cx="2827147" cy="331154"/>
            </a:xfrm>
            <a:prstGeom prst="rect">
              <a:avLst/>
            </a:prstGeom>
            <a:ln w="15875">
              <a:noFill/>
            </a:ln>
          </p:spPr>
          <p:txBody>
            <a:bodyPr wrap="square" lIns="68580" tIns="34290" rIns="68580" bIns="34290">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自动化</a:t>
              </a:r>
              <a:r>
                <a:rPr lang="zh-CN" altLang="en-US" sz="2000"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测试框架</a:t>
              </a:r>
            </a:p>
          </p:txBody>
        </p:sp>
        <p:sp>
          <p:nvSpPr>
            <p:cNvPr id="62" name="平行四边形 61"/>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3" name="组合 62"/>
          <p:cNvGrpSpPr/>
          <p:nvPr/>
        </p:nvGrpSpPr>
        <p:grpSpPr>
          <a:xfrm>
            <a:off x="4024817" y="2836771"/>
            <a:ext cx="5142331" cy="613062"/>
            <a:chOff x="4315150" y="1647579"/>
            <a:chExt cx="3857250" cy="540057"/>
          </a:xfrm>
        </p:grpSpPr>
        <p:sp>
          <p:nvSpPr>
            <p:cNvPr id="64" name="矩形 63"/>
            <p:cNvSpPr/>
            <p:nvPr/>
          </p:nvSpPr>
          <p:spPr>
            <a:xfrm>
              <a:off x="4841196" y="1730243"/>
              <a:ext cx="2827147" cy="331154"/>
            </a:xfrm>
            <a:prstGeom prst="rect">
              <a:avLst/>
            </a:prstGeom>
            <a:ln w="15875">
              <a:noFill/>
            </a:ln>
          </p:spPr>
          <p:txBody>
            <a:bodyPr wrap="square" lIns="68580" tIns="34290" rIns="68580" bIns="34290">
              <a:spAutoFit/>
            </a:bodyPr>
            <a:lstStyle/>
            <a:p>
              <a:pPr algn="l">
                <a:buClrTx/>
                <a:buSzTx/>
                <a:buFontTx/>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测试</a:t>
              </a:r>
              <a:r>
                <a:rPr lang="zh-CN" altLang="en-US" sz="2000"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环境准备</a:t>
              </a:r>
            </a:p>
          </p:txBody>
        </p:sp>
        <p:sp>
          <p:nvSpPr>
            <p:cNvPr id="65" name="平行四边形 64"/>
            <p:cNvSpPr/>
            <p:nvPr/>
          </p:nvSpPr>
          <p:spPr>
            <a:xfrm>
              <a:off x="4315150" y="1647579"/>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6" name="组合 65"/>
          <p:cNvGrpSpPr/>
          <p:nvPr/>
        </p:nvGrpSpPr>
        <p:grpSpPr>
          <a:xfrm>
            <a:off x="4024817" y="3762522"/>
            <a:ext cx="5142331" cy="613062"/>
            <a:chOff x="4315150" y="2341731"/>
            <a:chExt cx="3857250" cy="540057"/>
          </a:xfrm>
        </p:grpSpPr>
        <p:sp>
          <p:nvSpPr>
            <p:cNvPr id="67" name="矩形 66"/>
            <p:cNvSpPr/>
            <p:nvPr/>
          </p:nvSpPr>
          <p:spPr>
            <a:xfrm>
              <a:off x="4841197" y="2424395"/>
              <a:ext cx="2827146" cy="331154"/>
            </a:xfrm>
            <a:prstGeom prst="rect">
              <a:avLst/>
            </a:prstGeom>
            <a:ln w="15875">
              <a:noFill/>
            </a:ln>
          </p:spPr>
          <p:txBody>
            <a:bodyPr wrap="square" lIns="68580" tIns="34290" rIns="68580" bIns="34290">
              <a:spAutoFit/>
            </a:bodyPr>
            <a:lstStyle/>
            <a:p>
              <a:r>
                <a:rPr lang="zh-CN" altLang="en-US" sz="2000"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定位</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学成在线教育平台</a:t>
              </a:r>
              <a:r>
                <a:rPr lang="zh-CN" altLang="en-US" sz="200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首页</a:t>
              </a:r>
              <a:r>
                <a:rPr lang="zh-CN" altLang="en-US" sz="2000"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元素</a:t>
              </a:r>
              <a:endParaRPr lang="en-GB" altLang="zh-CN" sz="2000" dirty="0">
                <a:solidFill>
                  <a:srgbClr val="0070C0"/>
                </a:solidFill>
                <a:latin typeface="微软雅黑" panose="020B0503020204020204" pitchFamily="34" charset="-122"/>
                <a:ea typeface="微软雅黑" panose="020B0503020204020204" pitchFamily="34" charset="-122"/>
                <a:cs typeface="+mn-ea"/>
                <a:sym typeface="+mn-lt"/>
              </a:endParaRPr>
            </a:p>
          </p:txBody>
        </p:sp>
        <p:sp>
          <p:nvSpPr>
            <p:cNvPr id="68" name="平行四边形 67"/>
            <p:cNvSpPr/>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9" name="组合 68"/>
          <p:cNvGrpSpPr/>
          <p:nvPr/>
        </p:nvGrpSpPr>
        <p:grpSpPr>
          <a:xfrm>
            <a:off x="4024817" y="4688273"/>
            <a:ext cx="5142331" cy="613062"/>
            <a:chOff x="4315150" y="3035884"/>
            <a:chExt cx="3857250" cy="540057"/>
          </a:xfrm>
        </p:grpSpPr>
        <p:sp>
          <p:nvSpPr>
            <p:cNvPr id="70" name="矩形 69"/>
            <p:cNvSpPr/>
            <p:nvPr/>
          </p:nvSpPr>
          <p:spPr>
            <a:xfrm>
              <a:off x="4841196" y="3118548"/>
              <a:ext cx="2827147" cy="331154"/>
            </a:xfrm>
            <a:prstGeom prst="rect">
              <a:avLst/>
            </a:prstGeom>
            <a:ln w="15875">
              <a:noFill/>
            </a:ln>
          </p:spPr>
          <p:txBody>
            <a:bodyPr wrap="square" lIns="68580" tIns="34290" rIns="68580" bIns="34290">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测试</a:t>
              </a:r>
              <a:r>
                <a:rPr lang="zh-CN" altLang="en-US" sz="2000"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登录</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和</a:t>
              </a:r>
              <a:r>
                <a:rPr lang="zh-CN" altLang="en-US" sz="2000"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退出</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功能</a:t>
              </a:r>
            </a:p>
          </p:txBody>
        </p:sp>
        <p:sp>
          <p:nvSpPr>
            <p:cNvPr id="71" name="平行四边形 70"/>
            <p:cNvSpPr/>
            <p:nvPr/>
          </p:nvSpPr>
          <p:spPr>
            <a:xfrm>
              <a:off x="4315150" y="3035884"/>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27" name="组合 26"/>
          <p:cNvGrpSpPr/>
          <p:nvPr/>
        </p:nvGrpSpPr>
        <p:grpSpPr>
          <a:xfrm>
            <a:off x="3047418" y="5683973"/>
            <a:ext cx="1192190" cy="613062"/>
            <a:chOff x="2215144" y="982844"/>
            <a:chExt cx="1244730" cy="842780"/>
          </a:xfrm>
        </p:grpSpPr>
        <p:sp>
          <p:nvSpPr>
            <p:cNvPr id="28" name="平行四边形 27"/>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29" name="文本框 9"/>
            <p:cNvSpPr txBox="1"/>
            <p:nvPr/>
          </p:nvSpPr>
          <p:spPr>
            <a:xfrm>
              <a:off x="2393075" y="1005670"/>
              <a:ext cx="1066799" cy="802230"/>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10</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30" name="组合 29"/>
          <p:cNvGrpSpPr/>
          <p:nvPr/>
        </p:nvGrpSpPr>
        <p:grpSpPr>
          <a:xfrm>
            <a:off x="3952970" y="5661794"/>
            <a:ext cx="5142331" cy="613062"/>
            <a:chOff x="4315150" y="953426"/>
            <a:chExt cx="3857250" cy="540057"/>
          </a:xfrm>
        </p:grpSpPr>
        <p:sp>
          <p:nvSpPr>
            <p:cNvPr id="31" name="矩形 30"/>
            <p:cNvSpPr/>
            <p:nvPr/>
          </p:nvSpPr>
          <p:spPr>
            <a:xfrm>
              <a:off x="4841196" y="1036090"/>
              <a:ext cx="2827147" cy="331154"/>
            </a:xfrm>
            <a:prstGeom prst="rect">
              <a:avLst/>
            </a:prstGeom>
            <a:ln w="15875">
              <a:noFill/>
            </a:ln>
          </p:spPr>
          <p:txBody>
            <a:bodyPr wrap="square" lIns="68580" tIns="34290" rIns="68580" bIns="34290">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测试</a:t>
              </a:r>
              <a:r>
                <a:rPr lang="zh-CN" altLang="en-US" sz="2000"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页面跳转</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功能</a:t>
              </a:r>
            </a:p>
          </p:txBody>
        </p:sp>
        <p:sp>
          <p:nvSpPr>
            <p:cNvPr id="32" name="平行四边形 31"/>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US" sz="4800" b="1" dirty="0">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自动化测试</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概述</a:t>
            </a:r>
            <a:endParaRPr lang="en-GB" altLang="zh-CN" sz="48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6.1</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935354" y="3213770"/>
            <a:ext cx="5669299" cy="1046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a:lnSpc>
                <a:spcPct val="150000"/>
              </a:lnSpc>
              <a:defRPr/>
            </a:pP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熟悉</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自动化测试，</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能够归纳使用</a:t>
            </a:r>
            <a:r>
              <a:rPr lang="zh-CN" altLang="zh-CN" sz="2000" dirty="0">
                <a:solidFill>
                  <a:srgbClr val="0070C0"/>
                </a:solidFill>
                <a:latin typeface="微软雅黑" panose="020B0503020204020204" pitchFamily="34" charset="-122"/>
                <a:ea typeface="微软雅黑" panose="020B0503020204020204" pitchFamily="34" charset="-122"/>
                <a:cs typeface="+mn-ea"/>
              </a:rPr>
              <a:t>自动化测试需要满足的条件</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与</a:t>
            </a:r>
            <a:r>
              <a:rPr lang="zh-CN" altLang="zh-CN" sz="2000" dirty="0">
                <a:solidFill>
                  <a:srgbClr val="0070C0"/>
                </a:solidFill>
                <a:latin typeface="微软雅黑" panose="020B0503020204020204" pitchFamily="34" charset="-122"/>
                <a:ea typeface="微软雅黑" panose="020B0503020204020204" pitchFamily="34" charset="-122"/>
                <a:cs typeface="+mn-ea"/>
              </a:rPr>
              <a:t>自动化测试的优缺点</a:t>
            </a: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6.1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自动化测试概述</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6.1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自动化测试概述</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原创设计师QQ598969553          _9"/>
          <p:cNvSpPr txBox="1"/>
          <p:nvPr/>
        </p:nvSpPr>
        <p:spPr>
          <a:xfrm>
            <a:off x="5140692" y="1812138"/>
            <a:ext cx="6337138" cy="1938992"/>
          </a:xfrm>
          <a:prstGeom prst="rect">
            <a:avLst/>
          </a:prstGeom>
          <a:noFill/>
        </p:spPr>
        <p:txBody>
          <a:bodyPr wrap="square" rtlCol="0">
            <a:spAutoFit/>
          </a:bodyPr>
          <a:lstStyle/>
          <a:p>
            <a:pPr lvl="0" defTabSz="1216660">
              <a:lnSpc>
                <a:spcPct val="150000"/>
              </a:lnSpc>
              <a:spcBef>
                <a:spcPct val="20000"/>
              </a:spcBef>
              <a:defRPr/>
            </a:pPr>
            <a:r>
              <a:rPr lang="en-US" altLang="zh-CN" sz="2000">
                <a:solidFill>
                  <a:srgbClr val="595959"/>
                </a:solidFill>
                <a:latin typeface="微软雅黑" panose="020B0503020204020204" pitchFamily="34" charset="-122"/>
                <a:ea typeface="微软雅黑" panose="020B0503020204020204" pitchFamily="34" charset="-122"/>
                <a:cs typeface="+mn-ea"/>
              </a:rPr>
              <a:t>自动化测试是一种</a:t>
            </a:r>
            <a:r>
              <a:rPr lang="en-US" altLang="zh-CN" sz="2000">
                <a:solidFill>
                  <a:srgbClr val="1369B2"/>
                </a:solidFill>
                <a:latin typeface="微软雅黑" panose="020B0503020204020204" pitchFamily="34" charset="-122"/>
                <a:ea typeface="微软雅黑" panose="020B0503020204020204" pitchFamily="34" charset="-122"/>
                <a:cs typeface="+mn-ea"/>
              </a:rPr>
              <a:t>把人工驱动的测试行为转化为机器执行的测试过程</a:t>
            </a:r>
            <a:r>
              <a:rPr lang="en-US" altLang="zh-CN" sz="2000">
                <a:solidFill>
                  <a:srgbClr val="595959"/>
                </a:solidFill>
                <a:latin typeface="微软雅黑" panose="020B0503020204020204" pitchFamily="34" charset="-122"/>
                <a:ea typeface="微软雅黑" panose="020B0503020204020204" pitchFamily="34" charset="-122"/>
                <a:cs typeface="+mn-ea"/>
              </a:rPr>
              <a:t>。测试人员通过一些</a:t>
            </a:r>
            <a:r>
              <a:rPr lang="en-US" altLang="zh-CN" sz="2000">
                <a:solidFill>
                  <a:srgbClr val="1369B2"/>
                </a:solidFill>
                <a:latin typeface="微软雅黑" panose="020B0503020204020204" pitchFamily="34" charset="-122"/>
                <a:ea typeface="微软雅黑" panose="020B0503020204020204" pitchFamily="34" charset="-122"/>
                <a:cs typeface="+mn-ea"/>
              </a:rPr>
              <a:t>测试工具</a:t>
            </a:r>
            <a:r>
              <a:rPr lang="en-US" altLang="zh-CN" sz="2000">
                <a:solidFill>
                  <a:srgbClr val="595959"/>
                </a:solidFill>
                <a:latin typeface="微软雅黑" panose="020B0503020204020204" pitchFamily="34" charset="-122"/>
                <a:ea typeface="微软雅黑" panose="020B0503020204020204" pitchFamily="34" charset="-122"/>
                <a:cs typeface="+mn-ea"/>
              </a:rPr>
              <a:t>或</a:t>
            </a:r>
            <a:r>
              <a:rPr lang="en-US" altLang="zh-CN" sz="2000">
                <a:solidFill>
                  <a:srgbClr val="1369B2"/>
                </a:solidFill>
                <a:latin typeface="微软雅黑" panose="020B0503020204020204" pitchFamily="34" charset="-122"/>
                <a:ea typeface="微软雅黑" panose="020B0503020204020204" pitchFamily="34" charset="-122"/>
                <a:cs typeface="+mn-ea"/>
              </a:rPr>
              <a:t>框架</a:t>
            </a:r>
            <a:r>
              <a:rPr lang="en-US" altLang="zh-CN"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1369B2"/>
                </a:solidFill>
                <a:latin typeface="微软雅黑" panose="020B0503020204020204" pitchFamily="34" charset="-122"/>
                <a:ea typeface="微软雅黑" panose="020B0503020204020204" pitchFamily="34" charset="-122"/>
                <a:cs typeface="+mn-ea"/>
              </a:rPr>
              <a:t>编写自动化测试脚本</a:t>
            </a:r>
            <a:r>
              <a:rPr lang="en-US" altLang="zh-CN" sz="2000">
                <a:solidFill>
                  <a:srgbClr val="595959"/>
                </a:solidFill>
                <a:latin typeface="微软雅黑" panose="020B0503020204020204" pitchFamily="34" charset="-122"/>
                <a:ea typeface="微软雅黑" panose="020B0503020204020204" pitchFamily="34" charset="-122"/>
                <a:cs typeface="+mn-ea"/>
              </a:rPr>
              <a:t>来</a:t>
            </a:r>
            <a:r>
              <a:rPr lang="en-US" altLang="zh-CN" sz="2000">
                <a:solidFill>
                  <a:srgbClr val="1369B2"/>
                </a:solidFill>
                <a:latin typeface="微软雅黑" panose="020B0503020204020204" pitchFamily="34" charset="-122"/>
                <a:ea typeface="微软雅黑" panose="020B0503020204020204" pitchFamily="34" charset="-122"/>
                <a:cs typeface="+mn-ea"/>
              </a:rPr>
              <a:t>模拟人工测试</a:t>
            </a:r>
            <a:r>
              <a:rPr lang="en-US" altLang="zh-CN" sz="2000">
                <a:solidFill>
                  <a:srgbClr val="595959"/>
                </a:solidFill>
                <a:latin typeface="微软雅黑" panose="020B0503020204020204" pitchFamily="34" charset="-122"/>
                <a:ea typeface="微软雅黑" panose="020B0503020204020204" pitchFamily="34" charset="-122"/>
                <a:cs typeface="+mn-ea"/>
              </a:rPr>
              <a:t>，从而实现自动化测试。</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7" name="图片 6"/>
          <p:cNvPicPr>
            <a:picLocks noChangeAspect="1"/>
          </p:cNvPicPr>
          <p:nvPr/>
        </p:nvPicPr>
        <p:blipFill>
          <a:blip r:embed="rId3"/>
          <a:stretch>
            <a:fillRect/>
          </a:stretch>
        </p:blipFill>
        <p:spPr>
          <a:xfrm>
            <a:off x="839386" y="1413456"/>
            <a:ext cx="3715858" cy="400615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6.1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自动化测试概述</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矩形 5"/>
          <p:cNvSpPr/>
          <p:nvPr/>
        </p:nvSpPr>
        <p:spPr>
          <a:xfrm>
            <a:off x="3809076" y="1142599"/>
            <a:ext cx="7038130" cy="1478033"/>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endParaRPr lang="zh-CN" altLang="en-US" sz="2400">
              <a:latin typeface="微软雅黑" panose="020B0503020204020204" pitchFamily="34" charset="-122"/>
              <a:ea typeface="微软雅黑" panose="020B0503020204020204" pitchFamily="34" charset="-122"/>
              <a:cs typeface="+mn-ea"/>
              <a:sym typeface="+mn-lt"/>
            </a:endParaRPr>
          </a:p>
        </p:txBody>
      </p:sp>
      <p:sp>
        <p:nvSpPr>
          <p:cNvPr id="7" name="矩形 6"/>
          <p:cNvSpPr/>
          <p:nvPr/>
        </p:nvSpPr>
        <p:spPr>
          <a:xfrm>
            <a:off x="4203130" y="925063"/>
            <a:ext cx="5793473" cy="43662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r>
              <a:rPr lang="zh-CN" altLang="en-US" sz="2000" dirty="0">
                <a:latin typeface="微软雅黑" panose="020B0503020204020204" pitchFamily="34" charset="-122"/>
                <a:ea typeface="微软雅黑" panose="020B0503020204020204" pitchFamily="34" charset="-122"/>
                <a:cs typeface="+mn-ea"/>
                <a:sym typeface="+mn-lt"/>
              </a:rPr>
              <a:t>项目需求变动不频繁</a:t>
            </a:r>
          </a:p>
        </p:txBody>
      </p:sp>
      <p:sp>
        <p:nvSpPr>
          <p:cNvPr id="8" name="六边形 7"/>
          <p:cNvSpPr/>
          <p:nvPr/>
        </p:nvSpPr>
        <p:spPr>
          <a:xfrm>
            <a:off x="1143692" y="3030203"/>
            <a:ext cx="1648410" cy="1453679"/>
          </a:xfrm>
          <a:prstGeom prst="hexag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r>
              <a:rPr lang="zh-CN" altLang="zh-CN" sz="1800" b="1" dirty="0">
                <a:latin typeface="微软雅黑" panose="020B0503020204020204" pitchFamily="34" charset="-122"/>
                <a:ea typeface="微软雅黑" panose="020B0503020204020204" pitchFamily="34" charset="-122"/>
                <a:cs typeface="+mn-ea"/>
              </a:rPr>
              <a:t>自动化测试需要满足</a:t>
            </a:r>
            <a:r>
              <a:rPr lang="zh-CN" altLang="en-US" sz="1800" b="1" dirty="0">
                <a:latin typeface="微软雅黑" panose="020B0503020204020204" pitchFamily="34" charset="-122"/>
                <a:ea typeface="微软雅黑" panose="020B0503020204020204" pitchFamily="34" charset="-122"/>
                <a:cs typeface="+mn-ea"/>
              </a:rPr>
              <a:t>的</a:t>
            </a:r>
            <a:r>
              <a:rPr lang="en-US" altLang="zh-CN" sz="1800" b="1" dirty="0">
                <a:latin typeface="微软雅黑" panose="020B0503020204020204" pitchFamily="34" charset="-122"/>
                <a:ea typeface="微软雅黑" panose="020B0503020204020204" pitchFamily="34" charset="-122"/>
                <a:cs typeface="+mn-ea"/>
              </a:rPr>
              <a:t>3</a:t>
            </a:r>
            <a:r>
              <a:rPr lang="zh-CN" altLang="en-US" sz="1800" b="1" dirty="0">
                <a:latin typeface="微软雅黑" panose="020B0503020204020204" pitchFamily="34" charset="-122"/>
                <a:ea typeface="微软雅黑" panose="020B0503020204020204" pitchFamily="34" charset="-122"/>
                <a:cs typeface="+mn-ea"/>
              </a:rPr>
              <a:t>个条件</a:t>
            </a:r>
            <a:endParaRPr lang="zh-CN" altLang="en-US" sz="1800" b="1" dirty="0">
              <a:latin typeface="微软雅黑" panose="020B0503020204020204" pitchFamily="34" charset="-122"/>
              <a:ea typeface="微软雅黑" panose="020B0503020204020204" pitchFamily="34" charset="-122"/>
              <a:cs typeface="+mn-ea"/>
              <a:sym typeface="+mn-lt"/>
            </a:endParaRPr>
          </a:p>
        </p:txBody>
      </p:sp>
      <p:cxnSp>
        <p:nvCxnSpPr>
          <p:cNvPr id="9" name="直接箭头连接符 8"/>
          <p:cNvCxnSpPr>
            <a:stCxn id="8" idx="5"/>
            <a:endCxn id="6" idx="1"/>
          </p:cNvCxnSpPr>
          <p:nvPr/>
        </p:nvCxnSpPr>
        <p:spPr>
          <a:xfrm flipV="1">
            <a:off x="2428682" y="1881616"/>
            <a:ext cx="1380394" cy="1148587"/>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stCxn id="8" idx="0"/>
            <a:endCxn id="15" idx="1"/>
          </p:cNvCxnSpPr>
          <p:nvPr/>
        </p:nvCxnSpPr>
        <p:spPr>
          <a:xfrm>
            <a:off x="2792102" y="3757043"/>
            <a:ext cx="1029574" cy="62357"/>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8" idx="1"/>
            <a:endCxn id="19" idx="1"/>
          </p:cNvCxnSpPr>
          <p:nvPr/>
        </p:nvCxnSpPr>
        <p:spPr>
          <a:xfrm>
            <a:off x="2428682" y="4483882"/>
            <a:ext cx="1366996" cy="1153679"/>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935205" y="1341794"/>
            <a:ext cx="7017473" cy="1372685"/>
          </a:xfrm>
          <a:prstGeom prst="rect">
            <a:avLst/>
          </a:prstGeom>
          <a:noFill/>
        </p:spPr>
        <p:txBody>
          <a:bodyPr wrap="square" lIns="91445" tIns="45721" rIns="91445" bIns="45721" rtlCol="0">
            <a:spAutoFit/>
          </a:bodyPr>
          <a:lstStyle/>
          <a:p>
            <a:pPr>
              <a:lnSpc>
                <a:spcPct val="130000"/>
              </a:lnSpc>
            </a:pPr>
            <a:r>
              <a:rPr lang="zh-CN" altLang="zh-CN" sz="1600" dirty="0">
                <a:solidFill>
                  <a:srgbClr val="0070C0"/>
                </a:solidFill>
                <a:latin typeface="微软雅黑" panose="020B0503020204020204" pitchFamily="34" charset="-122"/>
                <a:ea typeface="微软雅黑" panose="020B0503020204020204" pitchFamily="34" charset="-122"/>
                <a:cs typeface="+mn-ea"/>
              </a:rPr>
              <a:t>测试脚本的稳定性</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决定了自动化测试的</a:t>
            </a:r>
            <a:r>
              <a:rPr lang="zh-CN" altLang="zh-CN" sz="1600" dirty="0">
                <a:solidFill>
                  <a:srgbClr val="0070C0"/>
                </a:solidFill>
                <a:latin typeface="微软雅黑" panose="020B0503020204020204" pitchFamily="34" charset="-122"/>
                <a:ea typeface="微软雅黑" panose="020B0503020204020204" pitchFamily="34" charset="-122"/>
                <a:cs typeface="+mn-ea"/>
              </a:rPr>
              <a:t>维护成本</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。如果项目需求变动过于频繁，测试人员需要</a:t>
            </a:r>
            <a:r>
              <a:rPr lang="zh-CN" altLang="zh-CN" sz="1600" dirty="0">
                <a:solidFill>
                  <a:srgbClr val="0070C0"/>
                </a:solidFill>
                <a:latin typeface="微软雅黑" panose="020B0503020204020204" pitchFamily="34" charset="-122"/>
                <a:ea typeface="微软雅黑" panose="020B0503020204020204" pitchFamily="34" charset="-122"/>
                <a:cs typeface="+mn-ea"/>
              </a:rPr>
              <a:t>根据变动的需求</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来</a:t>
            </a:r>
            <a:r>
              <a:rPr lang="zh-CN" altLang="zh-CN" sz="1600" dirty="0">
                <a:solidFill>
                  <a:srgbClr val="0070C0"/>
                </a:solidFill>
                <a:latin typeface="微软雅黑" panose="020B0503020204020204" pitchFamily="34" charset="-122"/>
                <a:ea typeface="微软雅黑" panose="020B0503020204020204" pitchFamily="34" charset="-122"/>
                <a:cs typeface="+mn-ea"/>
              </a:rPr>
              <a:t>更新测试用例</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以及</a:t>
            </a:r>
            <a:r>
              <a:rPr lang="zh-CN" altLang="zh-CN" sz="1600" dirty="0">
                <a:solidFill>
                  <a:srgbClr val="0070C0"/>
                </a:solidFill>
                <a:latin typeface="微软雅黑" panose="020B0503020204020204" pitchFamily="34" charset="-122"/>
                <a:ea typeface="微软雅黑" panose="020B0503020204020204" pitchFamily="34" charset="-122"/>
                <a:cs typeface="+mn-ea"/>
              </a:rPr>
              <a:t>相关的测试脚本</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，不断地对脚本代码进行</a:t>
            </a:r>
            <a:r>
              <a:rPr lang="zh-CN" altLang="zh-CN" sz="1600" dirty="0">
                <a:solidFill>
                  <a:srgbClr val="0070C0"/>
                </a:solidFill>
                <a:latin typeface="微软雅黑" panose="020B0503020204020204" pitchFamily="34" charset="-122"/>
                <a:ea typeface="微软雅黑" panose="020B0503020204020204" pitchFamily="34" charset="-122"/>
                <a:cs typeface="+mn-ea"/>
              </a:rPr>
              <a:t>修改</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与</a:t>
            </a:r>
            <a:r>
              <a:rPr lang="zh-CN" altLang="zh-CN" sz="1600" dirty="0">
                <a:solidFill>
                  <a:srgbClr val="0070C0"/>
                </a:solidFill>
                <a:latin typeface="微软雅黑" panose="020B0503020204020204" pitchFamily="34" charset="-122"/>
                <a:ea typeface="微软雅黑" panose="020B0503020204020204" pitchFamily="34" charset="-122"/>
                <a:cs typeface="+mn-ea"/>
              </a:rPr>
              <a:t>调试</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，有时候还需要</a:t>
            </a:r>
            <a:r>
              <a:rPr lang="zh-CN" altLang="zh-CN" sz="1600" dirty="0">
                <a:solidFill>
                  <a:srgbClr val="0070C0"/>
                </a:solidFill>
                <a:latin typeface="微软雅黑" panose="020B0503020204020204" pitchFamily="34" charset="-122"/>
                <a:ea typeface="微软雅黑" panose="020B0503020204020204" pitchFamily="34" charset="-122"/>
                <a:cs typeface="+mn-ea"/>
              </a:rPr>
              <a:t>花费很多时间</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对自动化测试的框架进行修改</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15" name="矩形 14"/>
          <p:cNvSpPr/>
          <p:nvPr/>
        </p:nvSpPr>
        <p:spPr>
          <a:xfrm>
            <a:off x="3821676" y="3019185"/>
            <a:ext cx="7030450" cy="160043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endParaRPr lang="zh-CN" altLang="en-US" sz="2400">
              <a:latin typeface="微软雅黑" panose="020B0503020204020204" pitchFamily="34" charset="-122"/>
              <a:ea typeface="微软雅黑" panose="020B0503020204020204" pitchFamily="34" charset="-122"/>
              <a:cs typeface="+mn-ea"/>
              <a:sym typeface="+mn-lt"/>
            </a:endParaRPr>
          </a:p>
        </p:txBody>
      </p:sp>
      <p:sp>
        <p:nvSpPr>
          <p:cNvPr id="17" name="矩形 16"/>
          <p:cNvSpPr/>
          <p:nvPr/>
        </p:nvSpPr>
        <p:spPr>
          <a:xfrm>
            <a:off x="4215730" y="2811892"/>
            <a:ext cx="5793473" cy="43662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5" tIns="45721" rIns="91445" bIns="45721" numCol="1" spcCol="0" rtlCol="0" fromWordArt="0" anchor="ctr" anchorCtr="0" forceAA="0" compatLnSpc="1">
            <a:noAutofit/>
          </a:bodyPr>
          <a:lstStyle/>
          <a:p>
            <a:pPr lvl="0" algn="ctr"/>
            <a:r>
              <a:rPr lang="zh-CN" altLang="zh-CN" sz="2000" dirty="0">
                <a:latin typeface="微软雅黑" panose="020B0503020204020204" pitchFamily="34" charset="-122"/>
                <a:ea typeface="微软雅黑" panose="020B0503020204020204" pitchFamily="34" charset="-122"/>
                <a:cs typeface="+mn-ea"/>
              </a:rPr>
              <a:t>项目进度压力不大，时间不紧迫</a:t>
            </a:r>
            <a:endParaRPr lang="zh-CN" altLang="en-US" sz="2000" dirty="0">
              <a:latin typeface="微软雅黑" panose="020B0503020204020204" pitchFamily="34" charset="-122"/>
              <a:ea typeface="微软雅黑" panose="020B0503020204020204" pitchFamily="34" charset="-122"/>
              <a:cs typeface="+mn-ea"/>
              <a:sym typeface="+mn-lt"/>
            </a:endParaRPr>
          </a:p>
        </p:txBody>
      </p:sp>
      <p:sp>
        <p:nvSpPr>
          <p:cNvPr id="18" name="TextBox 17"/>
          <p:cNvSpPr txBox="1"/>
          <p:nvPr/>
        </p:nvSpPr>
        <p:spPr>
          <a:xfrm>
            <a:off x="3866792" y="3246930"/>
            <a:ext cx="7228553" cy="1372685"/>
          </a:xfrm>
          <a:prstGeom prst="rect">
            <a:avLst/>
          </a:prstGeom>
          <a:noFill/>
        </p:spPr>
        <p:txBody>
          <a:bodyPr wrap="square" lIns="91445" tIns="45721" rIns="91445" bIns="45721" rtlCol="0">
            <a:spAutoFit/>
          </a:bodyPr>
          <a:lstStyle/>
          <a:p>
            <a:pPr lvl="0">
              <a:lnSpc>
                <a:spcPct val="130000"/>
              </a:lnSpc>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在自动化测试过程中，测试工具需要多次对项目进行测试后才能有效预防项目中的缺陷，并且在这个过程中测试人员还需要</a:t>
            </a:r>
            <a:r>
              <a:rPr lang="zh-CN" altLang="zh-CN" sz="1600" dirty="0">
                <a:solidFill>
                  <a:srgbClr val="0070C0"/>
                </a:solidFill>
                <a:latin typeface="微软雅黑" panose="020B0503020204020204" pitchFamily="34" charset="-122"/>
                <a:ea typeface="微软雅黑" panose="020B0503020204020204" pitchFamily="34" charset="-122"/>
                <a:cs typeface="+mn-ea"/>
              </a:rPr>
              <a:t>设计自动化测试框架</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zh-CN" altLang="zh-CN" sz="1600" dirty="0">
                <a:solidFill>
                  <a:srgbClr val="0070C0"/>
                </a:solidFill>
                <a:latin typeface="微软雅黑" panose="020B0503020204020204" pitchFamily="34" charset="-122"/>
                <a:ea typeface="微软雅黑" panose="020B0503020204020204" pitchFamily="34" charset="-122"/>
                <a:cs typeface="+mn-ea"/>
              </a:rPr>
              <a:t>编写并调试自动化测试脚本代码</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，这些操作都需要给予</a:t>
            </a:r>
            <a:r>
              <a:rPr lang="zh-CN" altLang="zh-CN" sz="1600" dirty="0">
                <a:solidFill>
                  <a:srgbClr val="0070C0"/>
                </a:solidFill>
                <a:latin typeface="微软雅黑" panose="020B0503020204020204" pitchFamily="34" charset="-122"/>
                <a:ea typeface="微软雅黑" panose="020B0503020204020204" pitchFamily="34" charset="-122"/>
                <a:cs typeface="+mn-ea"/>
              </a:rPr>
              <a:t>足够的时间</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才可以</a:t>
            </a: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mn-ea"/>
              </a:rPr>
              <a:t>完成。充足的时间有利于</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测试人员</a:t>
            </a:r>
            <a:r>
              <a:rPr lang="zh-CN" altLang="zh-CN" sz="1600" dirty="0">
                <a:solidFill>
                  <a:srgbClr val="0070C0"/>
                </a:solidFill>
                <a:latin typeface="微软雅黑" panose="020B0503020204020204" pitchFamily="34" charset="-122"/>
                <a:ea typeface="微软雅黑" panose="020B0503020204020204" pitchFamily="34" charset="-122"/>
                <a:cs typeface="+mn-ea"/>
              </a:rPr>
              <a:t>编写高质量的脚本</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，从而</a:t>
            </a:r>
            <a:r>
              <a:rPr lang="zh-CN" altLang="zh-CN" sz="1600" dirty="0">
                <a:solidFill>
                  <a:srgbClr val="0070C0"/>
                </a:solidFill>
                <a:latin typeface="微软雅黑" panose="020B0503020204020204" pitchFamily="34" charset="-122"/>
                <a:ea typeface="微软雅黑" panose="020B0503020204020204" pitchFamily="34" charset="-122"/>
                <a:cs typeface="+mn-ea"/>
              </a:rPr>
              <a:t>提高自动化测试的质量</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19" name="矩形 18"/>
          <p:cNvSpPr/>
          <p:nvPr/>
        </p:nvSpPr>
        <p:spPr>
          <a:xfrm>
            <a:off x="3795678" y="4965327"/>
            <a:ext cx="7051527" cy="1344467"/>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endParaRPr lang="zh-CN" altLang="en-US" sz="2400">
              <a:latin typeface="微软雅黑" panose="020B0503020204020204" pitchFamily="34" charset="-122"/>
              <a:ea typeface="微软雅黑" panose="020B0503020204020204" pitchFamily="34" charset="-122"/>
              <a:cs typeface="+mn-ea"/>
              <a:sym typeface="+mn-lt"/>
            </a:endParaRPr>
          </a:p>
        </p:txBody>
      </p:sp>
      <p:sp>
        <p:nvSpPr>
          <p:cNvPr id="20" name="矩形 19"/>
          <p:cNvSpPr/>
          <p:nvPr/>
        </p:nvSpPr>
        <p:spPr>
          <a:xfrm>
            <a:off x="4189733" y="4758035"/>
            <a:ext cx="5793474" cy="43662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5" tIns="45721" rIns="91445" bIns="45721" numCol="1" spcCol="0" rtlCol="0" fromWordArt="0" anchor="ctr" anchorCtr="0" forceAA="0" compatLnSpc="1">
            <a:noAutofit/>
          </a:bodyPr>
          <a:lstStyle/>
          <a:p>
            <a:pPr algn="ctr"/>
            <a:r>
              <a:rPr lang="zh-CN" altLang="zh-CN" sz="2000" dirty="0">
                <a:latin typeface="微软雅黑" panose="020B0503020204020204" pitchFamily="34" charset="-122"/>
                <a:ea typeface="微软雅黑" panose="020B0503020204020204" pitchFamily="34" charset="-122"/>
                <a:cs typeface="+mn-ea"/>
              </a:rPr>
              <a:t>多种浏览器或平台上可以重复运行相同的测试脚本</a:t>
            </a:r>
            <a:endParaRPr lang="zh-CN" altLang="en-US" sz="2000" dirty="0">
              <a:latin typeface="微软雅黑" panose="020B0503020204020204" pitchFamily="34" charset="-122"/>
              <a:ea typeface="微软雅黑" panose="020B0503020204020204" pitchFamily="34" charset="-122"/>
              <a:cs typeface="+mn-ea"/>
              <a:sym typeface="+mn-lt"/>
            </a:endParaRPr>
          </a:p>
        </p:txBody>
      </p:sp>
      <p:sp>
        <p:nvSpPr>
          <p:cNvPr id="21" name="TextBox 20"/>
          <p:cNvSpPr txBox="1"/>
          <p:nvPr/>
        </p:nvSpPr>
        <p:spPr>
          <a:xfrm>
            <a:off x="3892981" y="5203896"/>
            <a:ext cx="6956051" cy="1052598"/>
          </a:xfrm>
          <a:prstGeom prst="rect">
            <a:avLst/>
          </a:prstGeom>
          <a:noFill/>
        </p:spPr>
        <p:txBody>
          <a:bodyPr wrap="square" lIns="91445" tIns="45721" rIns="91445" bIns="45721" rtlCol="0">
            <a:spAutoFit/>
          </a:bodyPr>
          <a:lstStyle/>
          <a:p>
            <a:pPr lvl="0">
              <a:lnSpc>
                <a:spcPct val="130000"/>
              </a:lnSpc>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在自动化测试过程中，测试人员需要耗费一定的时间去编写测试脚本代码，如果</a:t>
            </a:r>
            <a:r>
              <a:rPr lang="zh-CN" altLang="zh-CN" sz="1600" dirty="0">
                <a:solidFill>
                  <a:srgbClr val="0070C0"/>
                </a:solidFill>
                <a:latin typeface="微软雅黑" panose="020B0503020204020204" pitchFamily="34" charset="-122"/>
                <a:ea typeface="微软雅黑" panose="020B0503020204020204" pitchFamily="34" charset="-122"/>
                <a:cs typeface="+mn-ea"/>
              </a:rPr>
              <a:t>测试脚本代码的复用率比较低</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，则</a:t>
            </a:r>
            <a:r>
              <a:rPr lang="zh-CN" altLang="zh-CN" sz="1600" dirty="0">
                <a:solidFill>
                  <a:srgbClr val="0070C0"/>
                </a:solidFill>
                <a:latin typeface="微软雅黑" panose="020B0503020204020204" pitchFamily="34" charset="-122"/>
                <a:ea typeface="微软雅黑" panose="020B0503020204020204" pitchFamily="34" charset="-122"/>
                <a:cs typeface="+mn-ea"/>
              </a:rPr>
              <a:t>会使</a:t>
            </a:r>
            <a:r>
              <a:rPr lang="zh-CN" altLang="zh-CN" sz="1600">
                <a:solidFill>
                  <a:srgbClr val="0070C0"/>
                </a:solidFill>
                <a:latin typeface="微软雅黑" panose="020B0503020204020204" pitchFamily="34" charset="-122"/>
                <a:ea typeface="微软雅黑" panose="020B0503020204020204" pitchFamily="34" charset="-122"/>
                <a:cs typeface="+mn-ea"/>
              </a:rPr>
              <a:t>编写脚本的</a:t>
            </a:r>
            <a:r>
              <a:rPr lang="zh-CN" altLang="zh-CN" sz="1600" dirty="0">
                <a:solidFill>
                  <a:srgbClr val="0070C0"/>
                </a:solidFill>
                <a:latin typeface="微软雅黑" panose="020B0503020204020204" pitchFamily="34" charset="-122"/>
                <a:ea typeface="微软雅黑" panose="020B0503020204020204" pitchFamily="34" charset="-122"/>
                <a:cs typeface="+mn-ea"/>
              </a:rPr>
              <a:t>成本大于创造的经济价值</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，这样会</a:t>
            </a:r>
            <a:r>
              <a:rPr lang="zh-CN" altLang="zh-CN" sz="1600" dirty="0">
                <a:solidFill>
                  <a:srgbClr val="0070C0"/>
                </a:solidFill>
                <a:latin typeface="微软雅黑" panose="020B0503020204020204" pitchFamily="34" charset="-122"/>
                <a:ea typeface="微软雅黑" panose="020B0503020204020204" pitchFamily="34" charset="-122"/>
                <a:cs typeface="+mn-ea"/>
              </a:rPr>
              <a:t>增加项目开发的经济负担</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6.1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自动化测试概述</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原创设计师QQ598969553          _9"/>
          <p:cNvSpPr txBox="1"/>
          <p:nvPr/>
        </p:nvSpPr>
        <p:spPr>
          <a:xfrm>
            <a:off x="911206" y="1197794"/>
            <a:ext cx="10296000" cy="1015663"/>
          </a:xfrm>
          <a:prstGeom prst="rect">
            <a:avLst/>
          </a:prstGeom>
          <a:noFill/>
        </p:spPr>
        <p:txBody>
          <a:bodyPr wrap="square" rtlCol="0">
            <a:spAutoFit/>
          </a:bodyPr>
          <a:lstStyle/>
          <a:p>
            <a:pPr lvl="0" defTabSz="1216660">
              <a:lnSpc>
                <a:spcPct val="150000"/>
              </a:lnSpc>
              <a:spcBef>
                <a:spcPct val="20000"/>
              </a:spcBef>
              <a:defRPr/>
            </a:pPr>
            <a:r>
              <a:rPr lang="zh-CN" altLang="zh-CN" sz="2000" dirty="0">
                <a:solidFill>
                  <a:srgbClr val="595959"/>
                </a:solidFill>
                <a:latin typeface="微软雅黑" panose="020B0503020204020204" pitchFamily="34" charset="-122"/>
                <a:ea typeface="微软雅黑" panose="020B0503020204020204" pitchFamily="34" charset="-122"/>
                <a:cs typeface="+mn-ea"/>
              </a:rPr>
              <a:t>在</a:t>
            </a:r>
            <a:r>
              <a:rPr lang="zh-CN" altLang="zh-CN" sz="2000" dirty="0">
                <a:solidFill>
                  <a:srgbClr val="1369B2"/>
                </a:solidFill>
                <a:latin typeface="微软雅黑" panose="020B0503020204020204" pitchFamily="34" charset="-122"/>
                <a:ea typeface="微软雅黑" panose="020B0503020204020204" pitchFamily="34" charset="-122"/>
                <a:cs typeface="+mn-ea"/>
              </a:rPr>
              <a:t>软件开发</a:t>
            </a:r>
            <a:r>
              <a:rPr lang="zh-CN" altLang="zh-CN" sz="2000" dirty="0">
                <a:solidFill>
                  <a:srgbClr val="595959"/>
                </a:solidFill>
                <a:latin typeface="微软雅黑" panose="020B0503020204020204" pitchFamily="34" charset="-122"/>
                <a:ea typeface="微软雅黑" panose="020B0503020204020204" pitchFamily="34" charset="-122"/>
                <a:cs typeface="+mn-ea"/>
              </a:rPr>
              <a:t>的过程中，由于</a:t>
            </a:r>
            <a:r>
              <a:rPr lang="zh-CN" altLang="zh-CN" sz="2000">
                <a:solidFill>
                  <a:srgbClr val="595959"/>
                </a:solidFill>
                <a:latin typeface="微软雅黑" panose="020B0503020204020204" pitchFamily="34" charset="-122"/>
                <a:ea typeface="微软雅黑" panose="020B0503020204020204" pitchFamily="34" charset="-122"/>
                <a:cs typeface="+mn-ea"/>
              </a:rPr>
              <a:t>开发团队</a:t>
            </a:r>
            <a:r>
              <a:rPr lang="zh-CN" altLang="en-US" sz="2000">
                <a:solidFill>
                  <a:srgbClr val="595959"/>
                </a:solidFill>
                <a:latin typeface="微软雅黑" panose="020B0503020204020204" pitchFamily="34" charset="-122"/>
                <a:ea typeface="微软雅黑" panose="020B0503020204020204" pitchFamily="34" charset="-122"/>
                <a:cs typeface="+mn-ea"/>
              </a:rPr>
              <a:t>通常</a:t>
            </a:r>
            <a:r>
              <a:rPr lang="zh-CN" altLang="zh-CN" sz="2000">
                <a:solidFill>
                  <a:srgbClr val="1369B2"/>
                </a:solidFill>
                <a:latin typeface="微软雅黑" panose="020B0503020204020204" pitchFamily="34" charset="-122"/>
                <a:ea typeface="微软雅黑" panose="020B0503020204020204" pitchFamily="34" charset="-122"/>
                <a:cs typeface="+mn-ea"/>
              </a:rPr>
              <a:t>追求</a:t>
            </a:r>
            <a:r>
              <a:rPr lang="zh-CN" altLang="zh-CN" sz="2000" dirty="0">
                <a:solidFill>
                  <a:srgbClr val="1369B2"/>
                </a:solidFill>
                <a:latin typeface="微软雅黑" panose="020B0503020204020204" pitchFamily="34" charset="-122"/>
                <a:ea typeface="微软雅黑" panose="020B0503020204020204" pitchFamily="34" charset="-122"/>
                <a:cs typeface="+mn-ea"/>
              </a:rPr>
              <a:t>敏捷开发</a:t>
            </a:r>
            <a:r>
              <a:rPr lang="zh-CN" altLang="zh-CN" sz="2000">
                <a:solidFill>
                  <a:srgbClr val="595959"/>
                </a:solidFill>
                <a:latin typeface="微软雅黑" panose="020B0503020204020204" pitchFamily="34" charset="-122"/>
                <a:ea typeface="微软雅黑" panose="020B0503020204020204" pitchFamily="34" charset="-122"/>
                <a:cs typeface="+mn-ea"/>
              </a:rPr>
              <a:t>，所以许多</a:t>
            </a:r>
            <a:r>
              <a:rPr lang="zh-CN" altLang="zh-CN" sz="2000" dirty="0">
                <a:solidFill>
                  <a:srgbClr val="595959"/>
                </a:solidFill>
                <a:latin typeface="微软雅黑" panose="020B0503020204020204" pitchFamily="34" charset="-122"/>
                <a:ea typeface="微软雅黑" panose="020B0503020204020204" pitchFamily="34" charset="-122"/>
                <a:cs typeface="+mn-ea"/>
              </a:rPr>
              <a:t>开发团队采用</a:t>
            </a:r>
            <a:r>
              <a:rPr lang="zh-CN" altLang="zh-CN" sz="2000" dirty="0">
                <a:solidFill>
                  <a:srgbClr val="1369B2"/>
                </a:solidFill>
                <a:latin typeface="微软雅黑" panose="020B0503020204020204" pitchFamily="34" charset="-122"/>
                <a:ea typeface="微软雅黑" panose="020B0503020204020204" pitchFamily="34" charset="-122"/>
                <a:cs typeface="+mn-ea"/>
              </a:rPr>
              <a:t>金字塔测试策略</a:t>
            </a:r>
            <a:r>
              <a:rPr lang="zh-CN"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5206" y="2219103"/>
            <a:ext cx="5486400" cy="389572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6.1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自动化测试概述</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5" name="直接连接符 42"/>
          <p:cNvCxnSpPr/>
          <p:nvPr/>
        </p:nvCxnSpPr>
        <p:spPr>
          <a:xfrm flipH="1">
            <a:off x="3689671" y="3807803"/>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sp>
        <p:nvSpPr>
          <p:cNvPr id="6" name="椭圆 5"/>
          <p:cNvSpPr/>
          <p:nvPr/>
        </p:nvSpPr>
        <p:spPr>
          <a:xfrm>
            <a:off x="4965815" y="3334432"/>
            <a:ext cx="923799" cy="92379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7" name="椭圆 6"/>
          <p:cNvSpPr/>
          <p:nvPr/>
        </p:nvSpPr>
        <p:spPr>
          <a:xfrm>
            <a:off x="4883204" y="3253930"/>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微软雅黑" panose="020B0503020204020204" pitchFamily="34" charset="-122"/>
              <a:ea typeface="微软雅黑" panose="020B0503020204020204" pitchFamily="34" charset="-122"/>
            </a:endParaRPr>
          </a:p>
        </p:txBody>
      </p:sp>
      <p:sp>
        <p:nvSpPr>
          <p:cNvPr id="8" name="椭圆 7"/>
          <p:cNvSpPr/>
          <p:nvPr/>
        </p:nvSpPr>
        <p:spPr>
          <a:xfrm>
            <a:off x="4965814" y="3347333"/>
            <a:ext cx="923799" cy="923799"/>
          </a:xfrm>
          <a:prstGeom prst="ellipse">
            <a:avLst/>
          </a:prstGeom>
          <a:solidFill>
            <a:srgbClr val="ED7D3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cxnSp>
        <p:nvCxnSpPr>
          <p:cNvPr id="9" name="直接连接符 41"/>
          <p:cNvCxnSpPr/>
          <p:nvPr/>
        </p:nvCxnSpPr>
        <p:spPr>
          <a:xfrm flipH="1">
            <a:off x="3689671" y="1843408"/>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11" name="直接连接符 43"/>
          <p:cNvCxnSpPr/>
          <p:nvPr/>
        </p:nvCxnSpPr>
        <p:spPr>
          <a:xfrm flipH="1">
            <a:off x="3689671" y="5520879"/>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12" name="直接连接符 44"/>
          <p:cNvCxnSpPr/>
          <p:nvPr/>
        </p:nvCxnSpPr>
        <p:spPr>
          <a:xfrm>
            <a:off x="3689671" y="1865598"/>
            <a:ext cx="0" cy="3635619"/>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sp>
        <p:nvSpPr>
          <p:cNvPr id="13" name="椭圆 12"/>
          <p:cNvSpPr/>
          <p:nvPr/>
        </p:nvSpPr>
        <p:spPr>
          <a:xfrm>
            <a:off x="4883204" y="1311725"/>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微软雅黑" panose="020B0503020204020204" pitchFamily="34" charset="-122"/>
              <a:ea typeface="微软雅黑" panose="020B0503020204020204" pitchFamily="34" charset="-122"/>
            </a:endParaRPr>
          </a:p>
        </p:txBody>
      </p:sp>
      <p:sp>
        <p:nvSpPr>
          <p:cNvPr id="14" name="椭圆 13"/>
          <p:cNvSpPr/>
          <p:nvPr/>
        </p:nvSpPr>
        <p:spPr>
          <a:xfrm>
            <a:off x="4883204" y="4947345"/>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微软雅黑" panose="020B0503020204020204" pitchFamily="34" charset="-122"/>
              <a:ea typeface="微软雅黑" panose="020B0503020204020204" pitchFamily="34" charset="-122"/>
            </a:endParaRPr>
          </a:p>
        </p:txBody>
      </p:sp>
      <p:sp>
        <p:nvSpPr>
          <p:cNvPr id="15" name="Freeform 176"/>
          <p:cNvSpPr>
            <a:spLocks noEditPoints="1"/>
          </p:cNvSpPr>
          <p:nvPr/>
        </p:nvSpPr>
        <p:spPr bwMode="auto">
          <a:xfrm>
            <a:off x="5134393" y="3541227"/>
            <a:ext cx="605367" cy="575733"/>
          </a:xfrm>
          <a:custGeom>
            <a:avLst/>
            <a:gdLst>
              <a:gd name="T0" fmla="*/ 93 w 121"/>
              <a:gd name="T1" fmla="*/ 56 h 115"/>
              <a:gd name="T2" fmla="*/ 90 w 121"/>
              <a:gd name="T3" fmla="*/ 60 h 115"/>
              <a:gd name="T4" fmla="*/ 86 w 121"/>
              <a:gd name="T5" fmla="*/ 40 h 115"/>
              <a:gd name="T6" fmla="*/ 82 w 121"/>
              <a:gd name="T7" fmla="*/ 82 h 115"/>
              <a:gd name="T8" fmla="*/ 75 w 121"/>
              <a:gd name="T9" fmla="*/ 89 h 115"/>
              <a:gd name="T10" fmla="*/ 69 w 121"/>
              <a:gd name="T11" fmla="*/ 44 h 115"/>
              <a:gd name="T12" fmla="*/ 59 w 121"/>
              <a:gd name="T13" fmla="*/ 28 h 115"/>
              <a:gd name="T14" fmla="*/ 82 w 121"/>
              <a:gd name="T15" fmla="*/ 13 h 115"/>
              <a:gd name="T16" fmla="*/ 59 w 121"/>
              <a:gd name="T17" fmla="*/ 10 h 115"/>
              <a:gd name="T18" fmla="*/ 116 w 121"/>
              <a:gd name="T19" fmla="*/ 0 h 115"/>
              <a:gd name="T20" fmla="*/ 113 w 121"/>
              <a:gd name="T21" fmla="*/ 21 h 115"/>
              <a:gd name="T22" fmla="*/ 121 w 121"/>
              <a:gd name="T23" fmla="*/ 23 h 115"/>
              <a:gd name="T24" fmla="*/ 121 w 121"/>
              <a:gd name="T25" fmla="*/ 28 h 115"/>
              <a:gd name="T26" fmla="*/ 110 w 121"/>
              <a:gd name="T27" fmla="*/ 39 h 115"/>
              <a:gd name="T28" fmla="*/ 93 w 121"/>
              <a:gd name="T29" fmla="*/ 42 h 115"/>
              <a:gd name="T30" fmla="*/ 5 w 121"/>
              <a:gd name="T31" fmla="*/ 40 h 115"/>
              <a:gd name="T32" fmla="*/ 56 w 121"/>
              <a:gd name="T33" fmla="*/ 37 h 115"/>
              <a:gd name="T34" fmla="*/ 5 w 121"/>
              <a:gd name="T35" fmla="*/ 40 h 115"/>
              <a:gd name="T36" fmla="*/ 7 w 121"/>
              <a:gd name="T37" fmla="*/ 49 h 115"/>
              <a:gd name="T38" fmla="*/ 29 w 121"/>
              <a:gd name="T39" fmla="*/ 64 h 115"/>
              <a:gd name="T40" fmla="*/ 52 w 121"/>
              <a:gd name="T41" fmla="*/ 108 h 115"/>
              <a:gd name="T42" fmla="*/ 58 w 121"/>
              <a:gd name="T43" fmla="*/ 46 h 115"/>
              <a:gd name="T44" fmla="*/ 42 w 121"/>
              <a:gd name="T45" fmla="*/ 98 h 115"/>
              <a:gd name="T46" fmla="*/ 44 w 121"/>
              <a:gd name="T47" fmla="*/ 107 h 115"/>
              <a:gd name="T48" fmla="*/ 42 w 121"/>
              <a:gd name="T49" fmla="*/ 98 h 115"/>
              <a:gd name="T50" fmla="*/ 51 w 121"/>
              <a:gd name="T51" fmla="*/ 11 h 115"/>
              <a:gd name="T52" fmla="*/ 39 w 121"/>
              <a:gd name="T53" fmla="*/ 7 h 115"/>
              <a:gd name="T54" fmla="*/ 36 w 121"/>
              <a:gd name="T55" fmla="*/ 8 h 115"/>
              <a:gd name="T56" fmla="*/ 16 w 121"/>
              <a:gd name="T57" fmla="*/ 25 h 115"/>
              <a:gd name="T58" fmla="*/ 12 w 121"/>
              <a:gd name="T59" fmla="*/ 12 h 115"/>
              <a:gd name="T60" fmla="*/ 12 w 121"/>
              <a:gd name="T61" fmla="*/ 26 h 115"/>
              <a:gd name="T62" fmla="*/ 7 w 121"/>
              <a:gd name="T63" fmla="*/ 13 h 115"/>
              <a:gd name="T64" fmla="*/ 4 w 121"/>
              <a:gd name="T65" fmla="*/ 36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15">
                <a:moveTo>
                  <a:pt x="93" y="42"/>
                </a:moveTo>
                <a:cubicBezTo>
                  <a:pt x="93" y="56"/>
                  <a:pt x="93" y="56"/>
                  <a:pt x="93" y="56"/>
                </a:cubicBezTo>
                <a:cubicBezTo>
                  <a:pt x="93" y="58"/>
                  <a:pt x="92" y="60"/>
                  <a:pt x="90" y="60"/>
                </a:cubicBezTo>
                <a:cubicBezTo>
                  <a:pt x="90" y="60"/>
                  <a:pt x="90" y="60"/>
                  <a:pt x="90" y="60"/>
                </a:cubicBezTo>
                <a:cubicBezTo>
                  <a:pt x="88" y="60"/>
                  <a:pt x="86" y="58"/>
                  <a:pt x="86" y="56"/>
                </a:cubicBezTo>
                <a:cubicBezTo>
                  <a:pt x="86" y="40"/>
                  <a:pt x="86" y="40"/>
                  <a:pt x="86" y="40"/>
                </a:cubicBezTo>
                <a:cubicBezTo>
                  <a:pt x="85" y="42"/>
                  <a:pt x="84" y="43"/>
                  <a:pt x="82" y="44"/>
                </a:cubicBezTo>
                <a:cubicBezTo>
                  <a:pt x="82" y="82"/>
                  <a:pt x="82" y="82"/>
                  <a:pt x="82" y="82"/>
                </a:cubicBezTo>
                <a:cubicBezTo>
                  <a:pt x="82" y="86"/>
                  <a:pt x="79" y="89"/>
                  <a:pt x="75" y="89"/>
                </a:cubicBezTo>
                <a:cubicBezTo>
                  <a:pt x="75" y="89"/>
                  <a:pt x="75" y="89"/>
                  <a:pt x="75" y="89"/>
                </a:cubicBezTo>
                <a:cubicBezTo>
                  <a:pt x="72" y="89"/>
                  <a:pt x="69" y="86"/>
                  <a:pt x="69" y="82"/>
                </a:cubicBezTo>
                <a:cubicBezTo>
                  <a:pt x="69" y="44"/>
                  <a:pt x="69" y="44"/>
                  <a:pt x="69" y="44"/>
                </a:cubicBezTo>
                <a:cubicBezTo>
                  <a:pt x="63" y="42"/>
                  <a:pt x="59" y="36"/>
                  <a:pt x="59" y="29"/>
                </a:cubicBezTo>
                <a:cubicBezTo>
                  <a:pt x="59" y="29"/>
                  <a:pt x="59" y="28"/>
                  <a:pt x="59" y="28"/>
                </a:cubicBezTo>
                <a:cubicBezTo>
                  <a:pt x="59" y="16"/>
                  <a:pt x="59" y="16"/>
                  <a:pt x="59" y="16"/>
                </a:cubicBezTo>
                <a:cubicBezTo>
                  <a:pt x="82" y="13"/>
                  <a:pt x="82" y="13"/>
                  <a:pt x="82" y="13"/>
                </a:cubicBezTo>
                <a:cubicBezTo>
                  <a:pt x="84" y="10"/>
                  <a:pt x="84" y="10"/>
                  <a:pt x="84" y="10"/>
                </a:cubicBezTo>
                <a:cubicBezTo>
                  <a:pt x="59" y="10"/>
                  <a:pt x="59" y="10"/>
                  <a:pt x="59" y="10"/>
                </a:cubicBezTo>
                <a:cubicBezTo>
                  <a:pt x="59" y="6"/>
                  <a:pt x="59" y="6"/>
                  <a:pt x="59" y="6"/>
                </a:cubicBezTo>
                <a:cubicBezTo>
                  <a:pt x="116" y="0"/>
                  <a:pt x="116" y="0"/>
                  <a:pt x="116" y="0"/>
                </a:cubicBezTo>
                <a:cubicBezTo>
                  <a:pt x="121" y="16"/>
                  <a:pt x="121" y="16"/>
                  <a:pt x="121" y="16"/>
                </a:cubicBezTo>
                <a:cubicBezTo>
                  <a:pt x="113" y="21"/>
                  <a:pt x="113" y="21"/>
                  <a:pt x="113" y="21"/>
                </a:cubicBezTo>
                <a:cubicBezTo>
                  <a:pt x="112" y="24"/>
                  <a:pt x="112" y="24"/>
                  <a:pt x="112" y="24"/>
                </a:cubicBezTo>
                <a:cubicBezTo>
                  <a:pt x="121" y="23"/>
                  <a:pt x="121" y="23"/>
                  <a:pt x="121" y="23"/>
                </a:cubicBezTo>
                <a:cubicBezTo>
                  <a:pt x="121" y="28"/>
                  <a:pt x="121" y="28"/>
                  <a:pt x="121" y="28"/>
                </a:cubicBezTo>
                <a:cubicBezTo>
                  <a:pt x="121" y="28"/>
                  <a:pt x="121" y="28"/>
                  <a:pt x="121" y="28"/>
                </a:cubicBezTo>
                <a:cubicBezTo>
                  <a:pt x="121" y="28"/>
                  <a:pt x="121" y="28"/>
                  <a:pt x="121" y="28"/>
                </a:cubicBezTo>
                <a:cubicBezTo>
                  <a:pt x="121" y="34"/>
                  <a:pt x="116" y="39"/>
                  <a:pt x="110" y="39"/>
                </a:cubicBezTo>
                <a:cubicBezTo>
                  <a:pt x="107" y="39"/>
                  <a:pt x="105" y="38"/>
                  <a:pt x="103" y="37"/>
                </a:cubicBezTo>
                <a:cubicBezTo>
                  <a:pt x="101" y="40"/>
                  <a:pt x="97" y="42"/>
                  <a:pt x="93" y="42"/>
                </a:cubicBezTo>
                <a:cubicBezTo>
                  <a:pt x="93" y="42"/>
                  <a:pt x="93" y="42"/>
                  <a:pt x="93" y="42"/>
                </a:cubicBezTo>
                <a:close/>
                <a:moveTo>
                  <a:pt x="5" y="40"/>
                </a:moveTo>
                <a:cubicBezTo>
                  <a:pt x="54" y="30"/>
                  <a:pt x="54" y="30"/>
                  <a:pt x="54" y="30"/>
                </a:cubicBezTo>
                <a:cubicBezTo>
                  <a:pt x="56" y="37"/>
                  <a:pt x="56" y="37"/>
                  <a:pt x="56" y="37"/>
                </a:cubicBezTo>
                <a:cubicBezTo>
                  <a:pt x="6" y="47"/>
                  <a:pt x="6" y="47"/>
                  <a:pt x="6" y="47"/>
                </a:cubicBezTo>
                <a:cubicBezTo>
                  <a:pt x="5" y="40"/>
                  <a:pt x="5" y="40"/>
                  <a:pt x="5" y="40"/>
                </a:cubicBezTo>
                <a:close/>
                <a:moveTo>
                  <a:pt x="56" y="40"/>
                </a:moveTo>
                <a:cubicBezTo>
                  <a:pt x="7" y="49"/>
                  <a:pt x="7" y="49"/>
                  <a:pt x="7" y="49"/>
                </a:cubicBezTo>
                <a:cubicBezTo>
                  <a:pt x="7" y="52"/>
                  <a:pt x="7" y="54"/>
                  <a:pt x="8" y="56"/>
                </a:cubicBezTo>
                <a:cubicBezTo>
                  <a:pt x="16" y="56"/>
                  <a:pt x="23" y="59"/>
                  <a:pt x="29" y="64"/>
                </a:cubicBezTo>
                <a:cubicBezTo>
                  <a:pt x="32" y="79"/>
                  <a:pt x="28" y="104"/>
                  <a:pt x="37" y="111"/>
                </a:cubicBezTo>
                <a:cubicBezTo>
                  <a:pt x="42" y="115"/>
                  <a:pt x="49" y="114"/>
                  <a:pt x="52" y="108"/>
                </a:cubicBezTo>
                <a:cubicBezTo>
                  <a:pt x="57" y="97"/>
                  <a:pt x="44" y="76"/>
                  <a:pt x="42" y="62"/>
                </a:cubicBezTo>
                <a:cubicBezTo>
                  <a:pt x="45" y="54"/>
                  <a:pt x="51" y="49"/>
                  <a:pt x="58" y="46"/>
                </a:cubicBezTo>
                <a:cubicBezTo>
                  <a:pt x="57" y="44"/>
                  <a:pt x="57" y="42"/>
                  <a:pt x="56" y="40"/>
                </a:cubicBezTo>
                <a:close/>
                <a:moveTo>
                  <a:pt x="42" y="98"/>
                </a:moveTo>
                <a:cubicBezTo>
                  <a:pt x="45" y="98"/>
                  <a:pt x="47" y="99"/>
                  <a:pt x="48" y="102"/>
                </a:cubicBezTo>
                <a:cubicBezTo>
                  <a:pt x="48" y="104"/>
                  <a:pt x="47" y="107"/>
                  <a:pt x="44" y="107"/>
                </a:cubicBezTo>
                <a:cubicBezTo>
                  <a:pt x="42" y="108"/>
                  <a:pt x="39" y="106"/>
                  <a:pt x="39" y="104"/>
                </a:cubicBezTo>
                <a:cubicBezTo>
                  <a:pt x="38" y="101"/>
                  <a:pt x="40" y="99"/>
                  <a:pt x="42" y="98"/>
                </a:cubicBezTo>
                <a:close/>
                <a:moveTo>
                  <a:pt x="54" y="26"/>
                </a:moveTo>
                <a:cubicBezTo>
                  <a:pt x="51" y="11"/>
                  <a:pt x="51" y="11"/>
                  <a:pt x="51" y="11"/>
                </a:cubicBezTo>
                <a:cubicBezTo>
                  <a:pt x="50" y="8"/>
                  <a:pt x="46" y="6"/>
                  <a:pt x="42" y="6"/>
                </a:cubicBezTo>
                <a:cubicBezTo>
                  <a:pt x="39" y="7"/>
                  <a:pt x="39" y="7"/>
                  <a:pt x="39" y="7"/>
                </a:cubicBezTo>
                <a:cubicBezTo>
                  <a:pt x="39" y="13"/>
                  <a:pt x="39" y="13"/>
                  <a:pt x="39" y="13"/>
                </a:cubicBezTo>
                <a:cubicBezTo>
                  <a:pt x="36" y="8"/>
                  <a:pt x="36" y="8"/>
                  <a:pt x="36" y="8"/>
                </a:cubicBezTo>
                <a:cubicBezTo>
                  <a:pt x="14" y="12"/>
                  <a:pt x="14" y="12"/>
                  <a:pt x="14" y="12"/>
                </a:cubicBezTo>
                <a:cubicBezTo>
                  <a:pt x="16" y="25"/>
                  <a:pt x="16" y="25"/>
                  <a:pt x="16" y="25"/>
                </a:cubicBezTo>
                <a:cubicBezTo>
                  <a:pt x="16" y="26"/>
                  <a:pt x="16" y="26"/>
                  <a:pt x="16" y="26"/>
                </a:cubicBezTo>
                <a:cubicBezTo>
                  <a:pt x="12" y="12"/>
                  <a:pt x="12" y="12"/>
                  <a:pt x="12" y="12"/>
                </a:cubicBezTo>
                <a:cubicBezTo>
                  <a:pt x="10" y="13"/>
                  <a:pt x="10" y="13"/>
                  <a:pt x="10" y="13"/>
                </a:cubicBezTo>
                <a:cubicBezTo>
                  <a:pt x="12" y="26"/>
                  <a:pt x="12" y="26"/>
                  <a:pt x="12" y="26"/>
                </a:cubicBezTo>
                <a:cubicBezTo>
                  <a:pt x="11" y="26"/>
                  <a:pt x="11" y="26"/>
                  <a:pt x="11" y="26"/>
                </a:cubicBezTo>
                <a:cubicBezTo>
                  <a:pt x="7" y="13"/>
                  <a:pt x="7" y="13"/>
                  <a:pt x="7" y="13"/>
                </a:cubicBezTo>
                <a:cubicBezTo>
                  <a:pt x="3" y="14"/>
                  <a:pt x="0" y="18"/>
                  <a:pt x="1" y="21"/>
                </a:cubicBezTo>
                <a:cubicBezTo>
                  <a:pt x="4" y="36"/>
                  <a:pt x="4" y="36"/>
                  <a:pt x="4" y="36"/>
                </a:cubicBezTo>
                <a:lnTo>
                  <a:pt x="54" y="26"/>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微软雅黑" panose="020B0503020204020204" pitchFamily="34" charset="-122"/>
              <a:ea typeface="微软雅黑" panose="020B0503020204020204" pitchFamily="34" charset="-122"/>
            </a:endParaRPr>
          </a:p>
        </p:txBody>
      </p:sp>
      <p:sp>
        <p:nvSpPr>
          <p:cNvPr id="16" name="椭圆 15"/>
          <p:cNvSpPr/>
          <p:nvPr/>
        </p:nvSpPr>
        <p:spPr>
          <a:xfrm>
            <a:off x="4975178" y="1403699"/>
            <a:ext cx="923799" cy="923799"/>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17" name="椭圆 16"/>
          <p:cNvSpPr/>
          <p:nvPr/>
        </p:nvSpPr>
        <p:spPr>
          <a:xfrm>
            <a:off x="4965816" y="5058980"/>
            <a:ext cx="923799" cy="923799"/>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18" name="Freeform 175"/>
          <p:cNvSpPr>
            <a:spLocks noEditPoints="1"/>
          </p:cNvSpPr>
          <p:nvPr/>
        </p:nvSpPr>
        <p:spPr bwMode="auto">
          <a:xfrm>
            <a:off x="5190486" y="5185835"/>
            <a:ext cx="575733" cy="630767"/>
          </a:xfrm>
          <a:custGeom>
            <a:avLst/>
            <a:gdLst>
              <a:gd name="T0" fmla="*/ 165 w 272"/>
              <a:gd name="T1" fmla="*/ 0 h 298"/>
              <a:gd name="T2" fmla="*/ 246 w 272"/>
              <a:gd name="T3" fmla="*/ 47 h 298"/>
              <a:gd name="T4" fmla="*/ 153 w 272"/>
              <a:gd name="T5" fmla="*/ 201 h 298"/>
              <a:gd name="T6" fmla="*/ 108 w 272"/>
              <a:gd name="T7" fmla="*/ 229 h 298"/>
              <a:gd name="T8" fmla="*/ 66 w 272"/>
              <a:gd name="T9" fmla="*/ 232 h 298"/>
              <a:gd name="T10" fmla="*/ 71 w 272"/>
              <a:gd name="T11" fmla="*/ 153 h 298"/>
              <a:gd name="T12" fmla="*/ 165 w 272"/>
              <a:gd name="T13" fmla="*/ 0 h 298"/>
              <a:gd name="T14" fmla="*/ 165 w 272"/>
              <a:gd name="T15" fmla="*/ 0 h 298"/>
              <a:gd name="T16" fmla="*/ 243 w 272"/>
              <a:gd name="T17" fmla="*/ 293 h 298"/>
              <a:gd name="T18" fmla="*/ 248 w 272"/>
              <a:gd name="T19" fmla="*/ 262 h 298"/>
              <a:gd name="T20" fmla="*/ 158 w 272"/>
              <a:gd name="T21" fmla="*/ 260 h 298"/>
              <a:gd name="T22" fmla="*/ 272 w 272"/>
              <a:gd name="T23" fmla="*/ 253 h 298"/>
              <a:gd name="T24" fmla="*/ 272 w 272"/>
              <a:gd name="T25" fmla="*/ 241 h 298"/>
              <a:gd name="T26" fmla="*/ 239 w 272"/>
              <a:gd name="T27" fmla="*/ 239 h 298"/>
              <a:gd name="T28" fmla="*/ 269 w 272"/>
              <a:gd name="T29" fmla="*/ 234 h 298"/>
              <a:gd name="T30" fmla="*/ 257 w 272"/>
              <a:gd name="T31" fmla="*/ 210 h 298"/>
              <a:gd name="T32" fmla="*/ 175 w 272"/>
              <a:gd name="T33" fmla="*/ 201 h 298"/>
              <a:gd name="T34" fmla="*/ 172 w 272"/>
              <a:gd name="T35" fmla="*/ 224 h 298"/>
              <a:gd name="T36" fmla="*/ 208 w 272"/>
              <a:gd name="T37" fmla="*/ 232 h 298"/>
              <a:gd name="T38" fmla="*/ 0 w 272"/>
              <a:gd name="T39" fmla="*/ 243 h 298"/>
              <a:gd name="T40" fmla="*/ 2 w 272"/>
              <a:gd name="T41" fmla="*/ 265 h 298"/>
              <a:gd name="T42" fmla="*/ 137 w 272"/>
              <a:gd name="T43" fmla="*/ 279 h 298"/>
              <a:gd name="T44" fmla="*/ 85 w 272"/>
              <a:gd name="T45" fmla="*/ 281 h 298"/>
              <a:gd name="T46" fmla="*/ 87 w 272"/>
              <a:gd name="T47" fmla="*/ 298 h 298"/>
              <a:gd name="T48" fmla="*/ 243 w 272"/>
              <a:gd name="T49" fmla="*/ 293 h 298"/>
              <a:gd name="T50" fmla="*/ 243 w 272"/>
              <a:gd name="T51" fmla="*/ 293 h 298"/>
              <a:gd name="T52" fmla="*/ 106 w 272"/>
              <a:gd name="T53" fmla="*/ 213 h 298"/>
              <a:gd name="T54" fmla="*/ 137 w 272"/>
              <a:gd name="T55" fmla="*/ 191 h 298"/>
              <a:gd name="T56" fmla="*/ 87 w 272"/>
              <a:gd name="T57" fmla="*/ 163 h 298"/>
              <a:gd name="T58" fmla="*/ 85 w 272"/>
              <a:gd name="T59" fmla="*/ 198 h 298"/>
              <a:gd name="T60" fmla="*/ 106 w 272"/>
              <a:gd name="T61" fmla="*/ 213 h 298"/>
              <a:gd name="T62" fmla="*/ 106 w 272"/>
              <a:gd name="T63" fmla="*/ 213 h 298"/>
              <a:gd name="T64" fmla="*/ 217 w 272"/>
              <a:gd name="T65" fmla="*/ 47 h 298"/>
              <a:gd name="T66" fmla="*/ 142 w 272"/>
              <a:gd name="T67" fmla="*/ 172 h 298"/>
              <a:gd name="T68" fmla="*/ 151 w 272"/>
              <a:gd name="T69" fmla="*/ 177 h 298"/>
              <a:gd name="T70" fmla="*/ 224 w 272"/>
              <a:gd name="T71" fmla="*/ 52 h 298"/>
              <a:gd name="T72" fmla="*/ 217 w 272"/>
              <a:gd name="T73" fmla="*/ 47 h 298"/>
              <a:gd name="T74" fmla="*/ 217 w 272"/>
              <a:gd name="T75" fmla="*/ 47 h 298"/>
              <a:gd name="T76" fmla="*/ 170 w 272"/>
              <a:gd name="T77" fmla="*/ 19 h 298"/>
              <a:gd name="T78" fmla="*/ 97 w 272"/>
              <a:gd name="T79" fmla="*/ 144 h 298"/>
              <a:gd name="T80" fmla="*/ 111 w 272"/>
              <a:gd name="T81" fmla="*/ 153 h 298"/>
              <a:gd name="T82" fmla="*/ 186 w 272"/>
              <a:gd name="T83" fmla="*/ 28 h 298"/>
              <a:gd name="T84" fmla="*/ 170 w 272"/>
              <a:gd name="T85" fmla="*/ 1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72" h="298">
                <a:moveTo>
                  <a:pt x="165" y="0"/>
                </a:moveTo>
                <a:lnTo>
                  <a:pt x="246" y="47"/>
                </a:lnTo>
                <a:lnTo>
                  <a:pt x="153" y="201"/>
                </a:lnTo>
                <a:lnTo>
                  <a:pt x="108" y="229"/>
                </a:lnTo>
                <a:lnTo>
                  <a:pt x="66" y="232"/>
                </a:lnTo>
                <a:lnTo>
                  <a:pt x="71" y="153"/>
                </a:lnTo>
                <a:lnTo>
                  <a:pt x="165" y="0"/>
                </a:lnTo>
                <a:lnTo>
                  <a:pt x="165" y="0"/>
                </a:lnTo>
                <a:close/>
                <a:moveTo>
                  <a:pt x="243" y="293"/>
                </a:moveTo>
                <a:lnTo>
                  <a:pt x="248" y="262"/>
                </a:lnTo>
                <a:lnTo>
                  <a:pt x="158" y="260"/>
                </a:lnTo>
                <a:lnTo>
                  <a:pt x="272" y="253"/>
                </a:lnTo>
                <a:lnTo>
                  <a:pt x="272" y="241"/>
                </a:lnTo>
                <a:lnTo>
                  <a:pt x="239" y="239"/>
                </a:lnTo>
                <a:lnTo>
                  <a:pt x="269" y="234"/>
                </a:lnTo>
                <a:lnTo>
                  <a:pt x="257" y="210"/>
                </a:lnTo>
                <a:lnTo>
                  <a:pt x="175" y="201"/>
                </a:lnTo>
                <a:lnTo>
                  <a:pt x="172" y="224"/>
                </a:lnTo>
                <a:lnTo>
                  <a:pt x="208" y="232"/>
                </a:lnTo>
                <a:lnTo>
                  <a:pt x="0" y="243"/>
                </a:lnTo>
                <a:lnTo>
                  <a:pt x="2" y="265"/>
                </a:lnTo>
                <a:lnTo>
                  <a:pt x="137" y="279"/>
                </a:lnTo>
                <a:lnTo>
                  <a:pt x="85" y="281"/>
                </a:lnTo>
                <a:lnTo>
                  <a:pt x="87" y="298"/>
                </a:lnTo>
                <a:lnTo>
                  <a:pt x="243" y="293"/>
                </a:lnTo>
                <a:lnTo>
                  <a:pt x="243" y="293"/>
                </a:lnTo>
                <a:close/>
                <a:moveTo>
                  <a:pt x="106" y="213"/>
                </a:moveTo>
                <a:lnTo>
                  <a:pt x="137" y="191"/>
                </a:lnTo>
                <a:lnTo>
                  <a:pt x="87" y="163"/>
                </a:lnTo>
                <a:lnTo>
                  <a:pt x="85" y="198"/>
                </a:lnTo>
                <a:lnTo>
                  <a:pt x="106" y="213"/>
                </a:lnTo>
                <a:lnTo>
                  <a:pt x="106" y="213"/>
                </a:lnTo>
                <a:close/>
                <a:moveTo>
                  <a:pt x="217" y="47"/>
                </a:moveTo>
                <a:lnTo>
                  <a:pt x="142" y="172"/>
                </a:lnTo>
                <a:lnTo>
                  <a:pt x="151" y="177"/>
                </a:lnTo>
                <a:lnTo>
                  <a:pt x="224" y="52"/>
                </a:lnTo>
                <a:lnTo>
                  <a:pt x="217" y="47"/>
                </a:lnTo>
                <a:lnTo>
                  <a:pt x="217" y="47"/>
                </a:lnTo>
                <a:close/>
                <a:moveTo>
                  <a:pt x="170" y="19"/>
                </a:moveTo>
                <a:lnTo>
                  <a:pt x="97" y="144"/>
                </a:lnTo>
                <a:lnTo>
                  <a:pt x="111" y="153"/>
                </a:lnTo>
                <a:lnTo>
                  <a:pt x="186" y="28"/>
                </a:lnTo>
                <a:lnTo>
                  <a:pt x="170" y="19"/>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微软雅黑" panose="020B0503020204020204" pitchFamily="34" charset="-122"/>
              <a:ea typeface="微软雅黑" panose="020B0503020204020204" pitchFamily="34" charset="-122"/>
            </a:endParaRPr>
          </a:p>
        </p:txBody>
      </p:sp>
      <p:sp>
        <p:nvSpPr>
          <p:cNvPr id="19" name="Freeform 168"/>
          <p:cNvSpPr>
            <a:spLocks noEditPoints="1"/>
          </p:cNvSpPr>
          <p:nvPr/>
        </p:nvSpPr>
        <p:spPr bwMode="auto">
          <a:xfrm>
            <a:off x="5160852" y="1759049"/>
            <a:ext cx="552451" cy="615951"/>
          </a:xfrm>
          <a:custGeom>
            <a:avLst/>
            <a:gdLst>
              <a:gd name="T0" fmla="*/ 55 w 110"/>
              <a:gd name="T1" fmla="*/ 41 h 123"/>
              <a:gd name="T2" fmla="*/ 75 w 110"/>
              <a:gd name="T3" fmla="*/ 31 h 123"/>
              <a:gd name="T4" fmla="*/ 99 w 110"/>
              <a:gd name="T5" fmla="*/ 86 h 123"/>
              <a:gd name="T6" fmla="*/ 97 w 110"/>
              <a:gd name="T7" fmla="*/ 88 h 123"/>
              <a:gd name="T8" fmla="*/ 101 w 110"/>
              <a:gd name="T9" fmla="*/ 96 h 123"/>
              <a:gd name="T10" fmla="*/ 94 w 110"/>
              <a:gd name="T11" fmla="*/ 99 h 123"/>
              <a:gd name="T12" fmla="*/ 90 w 110"/>
              <a:gd name="T13" fmla="*/ 91 h 123"/>
              <a:gd name="T14" fmla="*/ 87 w 110"/>
              <a:gd name="T15" fmla="*/ 93 h 123"/>
              <a:gd name="T16" fmla="*/ 55 w 110"/>
              <a:gd name="T17" fmla="*/ 41 h 123"/>
              <a:gd name="T18" fmla="*/ 0 w 110"/>
              <a:gd name="T19" fmla="*/ 108 h 123"/>
              <a:gd name="T20" fmla="*/ 3 w 110"/>
              <a:gd name="T21" fmla="*/ 115 h 123"/>
              <a:gd name="T22" fmla="*/ 31 w 110"/>
              <a:gd name="T23" fmla="*/ 105 h 123"/>
              <a:gd name="T24" fmla="*/ 30 w 110"/>
              <a:gd name="T25" fmla="*/ 121 h 123"/>
              <a:gd name="T26" fmla="*/ 110 w 110"/>
              <a:gd name="T27" fmla="*/ 105 h 123"/>
              <a:gd name="T28" fmla="*/ 108 w 110"/>
              <a:gd name="T29" fmla="*/ 98 h 123"/>
              <a:gd name="T30" fmla="*/ 36 w 110"/>
              <a:gd name="T31" fmla="*/ 113 h 123"/>
              <a:gd name="T32" fmla="*/ 55 w 110"/>
              <a:gd name="T33" fmla="*/ 96 h 123"/>
              <a:gd name="T34" fmla="*/ 52 w 110"/>
              <a:gd name="T35" fmla="*/ 89 h 123"/>
              <a:gd name="T36" fmla="*/ 0 w 110"/>
              <a:gd name="T37" fmla="*/ 108 h 123"/>
              <a:gd name="T38" fmla="*/ 60 w 110"/>
              <a:gd name="T39" fmla="*/ 9 h 123"/>
              <a:gd name="T40" fmla="*/ 53 w 110"/>
              <a:gd name="T41" fmla="*/ 36 h 123"/>
              <a:gd name="T42" fmla="*/ 72 w 110"/>
              <a:gd name="T43" fmla="*/ 26 h 123"/>
              <a:gd name="T44" fmla="*/ 66 w 110"/>
              <a:gd name="T45" fmla="*/ 15 h 123"/>
              <a:gd name="T46" fmla="*/ 71 w 110"/>
              <a:gd name="T47" fmla="*/ 12 h 123"/>
              <a:gd name="T48" fmla="*/ 86 w 110"/>
              <a:gd name="T49" fmla="*/ 51 h 123"/>
              <a:gd name="T50" fmla="*/ 93 w 110"/>
              <a:gd name="T51" fmla="*/ 48 h 123"/>
              <a:gd name="T52" fmla="*/ 77 w 110"/>
              <a:gd name="T53" fmla="*/ 5 h 123"/>
              <a:gd name="T54" fmla="*/ 75 w 110"/>
              <a:gd name="T55" fmla="*/ 2 h 123"/>
              <a:gd name="T56" fmla="*/ 72 w 110"/>
              <a:gd name="T57" fmla="*/ 3 h 123"/>
              <a:gd name="T58" fmla="*/ 60 w 110"/>
              <a:gd name="T59" fmla="*/ 9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0" h="123">
                <a:moveTo>
                  <a:pt x="55" y="41"/>
                </a:moveTo>
                <a:cubicBezTo>
                  <a:pt x="75" y="31"/>
                  <a:pt x="75" y="31"/>
                  <a:pt x="75" y="31"/>
                </a:cubicBezTo>
                <a:cubicBezTo>
                  <a:pt x="99" y="86"/>
                  <a:pt x="99" y="86"/>
                  <a:pt x="99" y="86"/>
                </a:cubicBezTo>
                <a:cubicBezTo>
                  <a:pt x="97" y="88"/>
                  <a:pt x="97" y="88"/>
                  <a:pt x="97" y="88"/>
                </a:cubicBezTo>
                <a:cubicBezTo>
                  <a:pt x="101" y="96"/>
                  <a:pt x="101" y="96"/>
                  <a:pt x="101" y="96"/>
                </a:cubicBezTo>
                <a:cubicBezTo>
                  <a:pt x="94" y="99"/>
                  <a:pt x="94" y="99"/>
                  <a:pt x="94" y="99"/>
                </a:cubicBezTo>
                <a:cubicBezTo>
                  <a:pt x="90" y="91"/>
                  <a:pt x="90" y="91"/>
                  <a:pt x="90" y="91"/>
                </a:cubicBezTo>
                <a:cubicBezTo>
                  <a:pt x="87" y="93"/>
                  <a:pt x="87" y="93"/>
                  <a:pt x="87" y="93"/>
                </a:cubicBezTo>
                <a:cubicBezTo>
                  <a:pt x="55" y="41"/>
                  <a:pt x="55" y="41"/>
                  <a:pt x="55" y="41"/>
                </a:cubicBezTo>
                <a:close/>
                <a:moveTo>
                  <a:pt x="0" y="108"/>
                </a:moveTo>
                <a:cubicBezTo>
                  <a:pt x="3" y="115"/>
                  <a:pt x="3" y="115"/>
                  <a:pt x="3" y="115"/>
                </a:cubicBezTo>
                <a:cubicBezTo>
                  <a:pt x="31" y="105"/>
                  <a:pt x="31" y="105"/>
                  <a:pt x="31" y="105"/>
                </a:cubicBezTo>
                <a:cubicBezTo>
                  <a:pt x="23" y="112"/>
                  <a:pt x="19" y="119"/>
                  <a:pt x="30" y="121"/>
                </a:cubicBezTo>
                <a:cubicBezTo>
                  <a:pt x="44" y="123"/>
                  <a:pt x="110" y="105"/>
                  <a:pt x="110" y="105"/>
                </a:cubicBezTo>
                <a:cubicBezTo>
                  <a:pt x="108" y="98"/>
                  <a:pt x="108" y="98"/>
                  <a:pt x="108" y="98"/>
                </a:cubicBezTo>
                <a:cubicBezTo>
                  <a:pt x="108" y="98"/>
                  <a:pt x="49" y="115"/>
                  <a:pt x="36" y="113"/>
                </a:cubicBezTo>
                <a:cubicBezTo>
                  <a:pt x="33" y="112"/>
                  <a:pt x="55" y="96"/>
                  <a:pt x="55" y="96"/>
                </a:cubicBezTo>
                <a:cubicBezTo>
                  <a:pt x="52" y="89"/>
                  <a:pt x="52" y="89"/>
                  <a:pt x="52" y="89"/>
                </a:cubicBezTo>
                <a:cubicBezTo>
                  <a:pt x="0" y="108"/>
                  <a:pt x="0" y="108"/>
                  <a:pt x="0" y="108"/>
                </a:cubicBezTo>
                <a:close/>
                <a:moveTo>
                  <a:pt x="60" y="9"/>
                </a:moveTo>
                <a:cubicBezTo>
                  <a:pt x="48" y="0"/>
                  <a:pt x="40" y="12"/>
                  <a:pt x="53" y="36"/>
                </a:cubicBezTo>
                <a:cubicBezTo>
                  <a:pt x="72" y="26"/>
                  <a:pt x="72" y="26"/>
                  <a:pt x="72" y="26"/>
                </a:cubicBezTo>
                <a:cubicBezTo>
                  <a:pt x="70" y="21"/>
                  <a:pt x="68" y="18"/>
                  <a:pt x="66" y="15"/>
                </a:cubicBezTo>
                <a:cubicBezTo>
                  <a:pt x="71" y="12"/>
                  <a:pt x="71" y="12"/>
                  <a:pt x="71" y="12"/>
                </a:cubicBezTo>
                <a:cubicBezTo>
                  <a:pt x="86" y="51"/>
                  <a:pt x="86" y="51"/>
                  <a:pt x="86" y="51"/>
                </a:cubicBezTo>
                <a:cubicBezTo>
                  <a:pt x="93" y="48"/>
                  <a:pt x="93" y="48"/>
                  <a:pt x="93" y="48"/>
                </a:cubicBezTo>
                <a:cubicBezTo>
                  <a:pt x="77" y="5"/>
                  <a:pt x="77" y="5"/>
                  <a:pt x="77" y="5"/>
                </a:cubicBezTo>
                <a:cubicBezTo>
                  <a:pt x="75" y="2"/>
                  <a:pt x="75" y="2"/>
                  <a:pt x="75" y="2"/>
                </a:cubicBezTo>
                <a:cubicBezTo>
                  <a:pt x="72" y="3"/>
                  <a:pt x="72" y="3"/>
                  <a:pt x="72" y="3"/>
                </a:cubicBezTo>
                <a:lnTo>
                  <a:pt x="60" y="9"/>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微软雅黑" panose="020B0503020204020204" pitchFamily="34" charset="-122"/>
              <a:ea typeface="微软雅黑" panose="020B0503020204020204" pitchFamily="34" charset="-122"/>
            </a:endParaRPr>
          </a:p>
        </p:txBody>
      </p:sp>
      <p:sp>
        <p:nvSpPr>
          <p:cNvPr id="20" name="文本框 9"/>
          <p:cNvSpPr txBox="1"/>
          <p:nvPr/>
        </p:nvSpPr>
        <p:spPr>
          <a:xfrm>
            <a:off x="6089698" y="1314327"/>
            <a:ext cx="4281735" cy="461899"/>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lnSpc>
                <a:spcPct val="150000"/>
              </a:lnSpc>
            </a:pPr>
            <a:r>
              <a:rPr lang="zh-CN" altLang="en-US" sz="2000" b="1" dirty="0">
                <a:solidFill>
                  <a:srgbClr val="595959"/>
                </a:solidFill>
                <a:cs typeface="+mn-ea"/>
              </a:rPr>
              <a:t>单元测试</a:t>
            </a:r>
          </a:p>
        </p:txBody>
      </p:sp>
      <p:sp>
        <p:nvSpPr>
          <p:cNvPr id="21" name="文本框 9"/>
          <p:cNvSpPr txBox="1"/>
          <p:nvPr/>
        </p:nvSpPr>
        <p:spPr>
          <a:xfrm>
            <a:off x="6119204" y="3267646"/>
            <a:ext cx="1270952" cy="58610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lnSpc>
                <a:spcPct val="150000"/>
              </a:lnSpc>
            </a:pPr>
            <a:r>
              <a:rPr lang="zh-CN" altLang="en-US" sz="2000" b="1" dirty="0">
                <a:solidFill>
                  <a:srgbClr val="595959"/>
                </a:solidFill>
                <a:cs typeface="+mn-ea"/>
              </a:rPr>
              <a:t>接口测试</a:t>
            </a:r>
            <a:endParaRPr lang="en-US" altLang="zh-CN" sz="2000" b="1" dirty="0">
              <a:solidFill>
                <a:srgbClr val="595959"/>
              </a:solidFill>
              <a:cs typeface="+mn-ea"/>
            </a:endParaRPr>
          </a:p>
        </p:txBody>
      </p:sp>
      <p:sp>
        <p:nvSpPr>
          <p:cNvPr id="22" name="文本框 9"/>
          <p:cNvSpPr txBox="1"/>
          <p:nvPr/>
        </p:nvSpPr>
        <p:spPr>
          <a:xfrm>
            <a:off x="6138125" y="5067419"/>
            <a:ext cx="5150377" cy="55964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lnSpc>
                <a:spcPct val="150000"/>
              </a:lnSpc>
            </a:pPr>
            <a:r>
              <a:rPr lang="en-US" altLang="zh-CN" sz="2000" b="1" dirty="0">
                <a:solidFill>
                  <a:srgbClr val="595959"/>
                </a:solidFill>
                <a:cs typeface="+mn-ea"/>
              </a:rPr>
              <a:t>UI</a:t>
            </a:r>
            <a:r>
              <a:rPr lang="zh-CN" altLang="zh-CN" sz="2000" b="1" dirty="0">
                <a:solidFill>
                  <a:srgbClr val="595959"/>
                </a:solidFill>
                <a:cs typeface="+mn-ea"/>
              </a:rPr>
              <a:t>测试</a:t>
            </a:r>
            <a:endParaRPr lang="en-US" altLang="zh-CN" sz="2000" b="1" dirty="0">
              <a:solidFill>
                <a:srgbClr val="595959"/>
              </a:solidFill>
              <a:cs typeface="+mn-ea"/>
            </a:endParaRPr>
          </a:p>
        </p:txBody>
      </p:sp>
      <p:sp>
        <p:nvSpPr>
          <p:cNvPr id="23" name="文本框 9"/>
          <p:cNvSpPr txBox="1"/>
          <p:nvPr/>
        </p:nvSpPr>
        <p:spPr>
          <a:xfrm>
            <a:off x="901183" y="3522737"/>
            <a:ext cx="3305175" cy="570132"/>
          </a:xfrm>
          <a:prstGeom prst="rect">
            <a:avLst/>
          </a:prstGeom>
          <a:ln w="9525">
            <a:noFill/>
            <a:miter lim="800000"/>
          </a:ln>
          <a:extLst>
            <a:ext uri="{909E8E84-426E-40DD-AFC4-6F175D3DCCD1}">
              <a14:hiddenFill xmlns:a14="http://schemas.microsoft.com/office/drawing/2010/main">
                <a:solidFill>
                  <a:srgbClr val="FFFFFF"/>
                </a:solidFill>
              </a14:hiddenFill>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lnSpc>
                <a:spcPct val="150000"/>
              </a:lnSpc>
            </a:pPr>
            <a:r>
              <a:rPr lang="zh-CN" altLang="zh-CN" sz="2000" b="1" dirty="0">
                <a:solidFill>
                  <a:srgbClr val="595959"/>
                </a:solidFill>
                <a:cs typeface="+mn-ea"/>
              </a:rPr>
              <a:t>自动化测试金字塔策略</a:t>
            </a:r>
            <a:endParaRPr lang="zh-CN" altLang="en-US" sz="2000" b="1" dirty="0">
              <a:solidFill>
                <a:srgbClr val="595959"/>
              </a:solidFill>
              <a:cs typeface="+mn-ea"/>
            </a:endParaRPr>
          </a:p>
        </p:txBody>
      </p:sp>
      <p:sp>
        <p:nvSpPr>
          <p:cNvPr id="24" name="TextBox 33"/>
          <p:cNvSpPr txBox="1"/>
          <p:nvPr/>
        </p:nvSpPr>
        <p:spPr>
          <a:xfrm>
            <a:off x="6017821" y="1837777"/>
            <a:ext cx="5284700" cy="1181862"/>
          </a:xfrm>
          <a:prstGeom prst="rect">
            <a:avLst/>
          </a:prstGeom>
          <a:noFill/>
        </p:spPr>
        <p:txBody>
          <a:bodyPr wrap="square" lIns="0" tIns="0" rIns="0" bIns="0" rtlCol="0">
            <a:spAutoFit/>
          </a:bodyPr>
          <a:lstStyle>
            <a:defPPr>
              <a:defRPr lang="zh-CN"/>
            </a:defPPr>
            <a:lvl1pPr algn="just" defTabSz="1218565">
              <a:lnSpc>
                <a:spcPts val="1600"/>
              </a:lnSpc>
              <a:defRPr sz="1255">
                <a:solidFill>
                  <a:schemeClr val="tx1">
                    <a:lumMod val="65000"/>
                    <a:lumOff val="35000"/>
                  </a:schemeClr>
                </a:solidFill>
                <a:latin typeface="微软雅黑 Light" panose="020B0502040204020203" charset="-122"/>
                <a:ea typeface="微软雅黑 Light" panose="020B0502040204020203" charset="-122"/>
              </a:defRPr>
            </a:lvl1pPr>
            <a:lvl2pPr marL="609600" defTabSz="1218565">
              <a:defRPr sz="2400"/>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a:lnSpc>
                <a:spcPct val="120000"/>
              </a:lnSpc>
            </a:pPr>
            <a:r>
              <a:rPr lang="zh-CN" altLang="zh-CN" sz="1600" dirty="0">
                <a:solidFill>
                  <a:srgbClr val="0070C0"/>
                </a:solidFill>
                <a:latin typeface="微软雅黑" panose="020B0503020204020204" pitchFamily="34" charset="-122"/>
                <a:ea typeface="微软雅黑" panose="020B0503020204020204" pitchFamily="34" charset="-122"/>
              </a:rPr>
              <a:t>单元测试</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rPr>
              <a:t>要求开发人员在开发的过程中对</a:t>
            </a:r>
            <a:r>
              <a:rPr lang="zh-CN" altLang="zh-CN" sz="1600" dirty="0">
                <a:solidFill>
                  <a:srgbClr val="0070C0"/>
                </a:solidFill>
                <a:latin typeface="微软雅黑" panose="020B0503020204020204" pitchFamily="34" charset="-122"/>
                <a:ea typeface="微软雅黑" panose="020B0503020204020204" pitchFamily="34" charset="-122"/>
              </a:rPr>
              <a:t>每个功能模块（函数、类方法</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rPr>
              <a:t>）进行</a:t>
            </a: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rPr>
              <a:t>测试，</a:t>
            </a:r>
            <a:r>
              <a:rPr lang="zh-CN" altLang="en-US" sz="1600">
                <a:solidFill>
                  <a:schemeClr val="tx1">
                    <a:lumMod val="75000"/>
                    <a:lumOff val="25000"/>
                  </a:schemeClr>
                </a:solidFill>
                <a:latin typeface="微软雅黑" panose="020B0503020204020204" pitchFamily="34" charset="-122"/>
                <a:ea typeface="微软雅黑" panose="020B0503020204020204" pitchFamily="34" charset="-122"/>
              </a:rPr>
              <a:t>例</a:t>
            </a: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rPr>
              <a:t>如</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rPr>
              <a:t>检测其中某一项功能是否按预期要求正常运行。单元测试中通常使用</a:t>
            </a:r>
            <a:r>
              <a:rPr lang="zh-CN" altLang="zh-CN" sz="1600" dirty="0">
                <a:solidFill>
                  <a:srgbClr val="0070C0"/>
                </a:solidFill>
                <a:latin typeface="微软雅黑" panose="020B0503020204020204" pitchFamily="34" charset="-122"/>
                <a:ea typeface="微软雅黑" panose="020B0503020204020204" pitchFamily="34" charset="-122"/>
              </a:rPr>
              <a:t>白盒测试方法</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rPr>
              <a:t>，主要</a:t>
            </a: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rPr>
              <a:t>对</a:t>
            </a:r>
            <a:r>
              <a:rPr lang="zh-CN" altLang="zh-CN" sz="1600">
                <a:solidFill>
                  <a:srgbClr val="0070C0"/>
                </a:solidFill>
                <a:latin typeface="微软雅黑" panose="020B0503020204020204" pitchFamily="34" charset="-122"/>
                <a:ea typeface="微软雅黑" panose="020B0503020204020204" pitchFamily="34" charset="-122"/>
              </a:rPr>
              <a:t>代码</a:t>
            </a:r>
            <a:r>
              <a:rPr lang="zh-CN" altLang="en-US" sz="1600">
                <a:solidFill>
                  <a:srgbClr val="0070C0"/>
                </a:solidFill>
                <a:latin typeface="微软雅黑" panose="020B0503020204020204" pitchFamily="34" charset="-122"/>
                <a:ea typeface="微软雅黑" panose="020B0503020204020204" pitchFamily="34" charset="-122"/>
              </a:rPr>
              <a:t>的</a:t>
            </a:r>
            <a:r>
              <a:rPr lang="zh-CN" altLang="zh-CN" sz="1600">
                <a:solidFill>
                  <a:srgbClr val="0070C0"/>
                </a:solidFill>
                <a:latin typeface="微软雅黑" panose="020B0503020204020204" pitchFamily="34" charset="-122"/>
                <a:ea typeface="微软雅黑" panose="020B0503020204020204" pitchFamily="34" charset="-122"/>
              </a:rPr>
              <a:t>内部</a:t>
            </a:r>
            <a:r>
              <a:rPr lang="zh-CN" altLang="zh-CN" sz="1600" dirty="0">
                <a:solidFill>
                  <a:srgbClr val="0070C0"/>
                </a:solidFill>
                <a:latin typeface="微软雅黑" panose="020B0503020204020204" pitchFamily="34" charset="-122"/>
                <a:ea typeface="微软雅黑" panose="020B0503020204020204" pitchFamily="34" charset="-122"/>
              </a:rPr>
              <a:t>逻辑结构</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rPr>
              <a:t>进行测试。</a:t>
            </a:r>
          </a:p>
        </p:txBody>
      </p:sp>
      <p:sp>
        <p:nvSpPr>
          <p:cNvPr id="3" name="矩形 2"/>
          <p:cNvSpPr/>
          <p:nvPr/>
        </p:nvSpPr>
        <p:spPr>
          <a:xfrm>
            <a:off x="5990889" y="3626475"/>
            <a:ext cx="5540785" cy="1569660"/>
          </a:xfrm>
          <a:prstGeom prst="rect">
            <a:avLst/>
          </a:prstGeom>
        </p:spPr>
        <p:txBody>
          <a:bodyPr wrap="square">
            <a:spAutoFit/>
          </a:bodyPr>
          <a:lstStyle/>
          <a:p>
            <a:pPr>
              <a:lnSpc>
                <a:spcPct val="150000"/>
              </a:lnSpc>
            </a:pPr>
            <a:r>
              <a:rPr lang="zh-CN" altLang="zh-CN" sz="1600" dirty="0">
                <a:solidFill>
                  <a:srgbClr val="0070C0"/>
                </a:solidFill>
                <a:latin typeface="微软雅黑" panose="020B0503020204020204" pitchFamily="34" charset="-122"/>
                <a:ea typeface="微软雅黑" panose="020B0503020204020204" pitchFamily="34" charset="-122"/>
              </a:rPr>
              <a:t>接口测试</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rPr>
              <a:t>要求对</a:t>
            </a:r>
            <a:r>
              <a:rPr lang="zh-CN" altLang="zh-CN" sz="1600" dirty="0">
                <a:solidFill>
                  <a:srgbClr val="0070C0"/>
                </a:solidFill>
                <a:latin typeface="微软雅黑" panose="020B0503020204020204" pitchFamily="34" charset="-122"/>
                <a:ea typeface="微软雅黑" panose="020B0503020204020204" pitchFamily="34" charset="-122"/>
              </a:rPr>
              <a:t>数据传输</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zh-CN" sz="1600" dirty="0">
                <a:solidFill>
                  <a:srgbClr val="0070C0"/>
                </a:solidFill>
                <a:latin typeface="微软雅黑" panose="020B0503020204020204" pitchFamily="34" charset="-122"/>
                <a:ea typeface="微软雅黑" panose="020B0503020204020204" pitchFamily="34" charset="-122"/>
              </a:rPr>
              <a:t>数据库性能</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rPr>
              <a:t>等进行测试，从而保证</a:t>
            </a: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rPr>
              <a:t>数据传输</a:t>
            </a:r>
            <a:r>
              <a:rPr lang="zh-CN" altLang="en-US" sz="1600">
                <a:solidFill>
                  <a:schemeClr val="tx1">
                    <a:lumMod val="75000"/>
                    <a:lumOff val="25000"/>
                  </a:schemeClr>
                </a:solidFill>
                <a:latin typeface="微软雅黑" panose="020B0503020204020204" pitchFamily="34" charset="-122"/>
                <a:ea typeface="微软雅黑" panose="020B0503020204020204" pitchFamily="34" charset="-122"/>
              </a:rPr>
              <a:t>和</a:t>
            </a: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rPr>
              <a:t>处理</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rPr>
              <a:t>的完整性。接口功能的完整运作对整个项目</a:t>
            </a:r>
            <a:r>
              <a:rPr lang="zh-CN" altLang="zh-CN" sz="1600" dirty="0">
                <a:solidFill>
                  <a:srgbClr val="0070C0"/>
                </a:solidFill>
                <a:latin typeface="微软雅黑" panose="020B0503020204020204" pitchFamily="34" charset="-122"/>
                <a:ea typeface="微软雅黑" panose="020B0503020204020204" pitchFamily="34" charset="-122"/>
              </a:rPr>
              <a:t>功能扩展</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zh-CN" sz="1600" dirty="0">
                <a:solidFill>
                  <a:srgbClr val="0070C0"/>
                </a:solidFill>
                <a:latin typeface="微软雅黑" panose="020B0503020204020204" pitchFamily="34" charset="-122"/>
                <a:ea typeface="微软雅黑" panose="020B0503020204020204" pitchFamily="34" charset="-122"/>
              </a:rPr>
              <a:t>升级</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rPr>
              <a:t>与</a:t>
            </a:r>
            <a:r>
              <a:rPr lang="zh-CN" altLang="zh-CN" sz="1600" dirty="0">
                <a:solidFill>
                  <a:srgbClr val="0070C0"/>
                </a:solidFill>
                <a:latin typeface="微软雅黑" panose="020B0503020204020204" pitchFamily="34" charset="-122"/>
                <a:ea typeface="微软雅黑" panose="020B0503020204020204" pitchFamily="34" charset="-122"/>
              </a:rPr>
              <a:t>维护</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rPr>
              <a:t>有着重要作用，接口测试通常使用</a:t>
            </a:r>
            <a:r>
              <a:rPr lang="zh-CN" altLang="zh-CN" sz="1600" dirty="0">
                <a:solidFill>
                  <a:srgbClr val="0070C0"/>
                </a:solidFill>
                <a:latin typeface="微软雅黑" panose="020B0503020204020204" pitchFamily="34" charset="-122"/>
                <a:ea typeface="微软雅黑" panose="020B0503020204020204" pitchFamily="34" charset="-122"/>
              </a:rPr>
              <a:t>黑盒测试</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rPr>
              <a:t>与</a:t>
            </a:r>
            <a:r>
              <a:rPr lang="zh-CN" altLang="zh-CN" sz="1600" dirty="0">
                <a:solidFill>
                  <a:srgbClr val="0070C0"/>
                </a:solidFill>
                <a:latin typeface="微软雅黑" panose="020B0503020204020204" pitchFamily="34" charset="-122"/>
                <a:ea typeface="微软雅黑" panose="020B0503020204020204" pitchFamily="34" charset="-122"/>
              </a:rPr>
              <a:t>白盒测试</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rPr>
              <a:t>相结合的方法进行。</a:t>
            </a:r>
          </a:p>
        </p:txBody>
      </p:sp>
      <p:sp>
        <p:nvSpPr>
          <p:cNvPr id="4" name="矩形 3"/>
          <p:cNvSpPr/>
          <p:nvPr/>
        </p:nvSpPr>
        <p:spPr>
          <a:xfrm>
            <a:off x="5972226" y="5347241"/>
            <a:ext cx="5450979" cy="1569660"/>
          </a:xfrm>
          <a:prstGeom prst="rect">
            <a:avLst/>
          </a:prstGeom>
        </p:spPr>
        <p:txBody>
          <a:bodyPr wrap="square">
            <a:spAutoFit/>
          </a:bodyPr>
          <a:lstStyle/>
          <a:p>
            <a:pPr>
              <a:lnSpc>
                <a:spcPct val="150000"/>
              </a:lnSpc>
            </a:pPr>
            <a:r>
              <a:rPr lang="en-US" altLang="zh-CN" sz="1600" dirty="0">
                <a:solidFill>
                  <a:srgbClr val="0070C0"/>
                </a:solidFill>
                <a:latin typeface="微软雅黑" panose="020B0503020204020204" pitchFamily="34" charset="-122"/>
                <a:ea typeface="微软雅黑" panose="020B0503020204020204" pitchFamily="34" charset="-122"/>
              </a:rPr>
              <a:t>UI</a:t>
            </a:r>
            <a:r>
              <a:rPr lang="zh-CN" altLang="zh-CN" sz="1600" dirty="0">
                <a:solidFill>
                  <a:srgbClr val="0070C0"/>
                </a:solidFill>
                <a:latin typeface="微软雅黑" panose="020B0503020204020204" pitchFamily="34" charset="-122"/>
                <a:ea typeface="微软雅黑" panose="020B0503020204020204" pitchFamily="34" charset="-122"/>
              </a:rPr>
              <a:t>测试以用户体验为主</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rPr>
              <a:t>，由于软件的所有功能都是通过</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rPr>
              <a:t>UI</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rPr>
              <a:t>这一层展示</a:t>
            </a: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rPr>
              <a:t>给用户</a:t>
            </a:r>
            <a:r>
              <a:rPr lang="zh-CN" altLang="en-US" sz="1600">
                <a:solidFill>
                  <a:schemeClr val="tx1">
                    <a:lumMod val="75000"/>
                    <a:lumOff val="25000"/>
                  </a:schemeClr>
                </a:solidFill>
                <a:latin typeface="微软雅黑" panose="020B0503020204020204" pitchFamily="34" charset="-122"/>
                <a:ea typeface="微软雅黑" panose="020B0503020204020204" pitchFamily="34" charset="-122"/>
              </a:rPr>
              <a:t>的</a:t>
            </a: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rPr>
              <a:t>所以</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rPr>
              <a:t>UI</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rPr>
              <a:t>测试也很</a:t>
            </a: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rPr>
              <a:t>重要。</a:t>
            </a:r>
            <a:r>
              <a:rPr lang="en-US" altLang="zh-CN" sz="1600">
                <a:solidFill>
                  <a:schemeClr val="tx1">
                    <a:lumMod val="75000"/>
                    <a:lumOff val="25000"/>
                  </a:schemeClr>
                </a:solidFill>
                <a:latin typeface="微软雅黑" panose="020B0503020204020204" pitchFamily="34" charset="-122"/>
                <a:ea typeface="微软雅黑" panose="020B0503020204020204" pitchFamily="34" charset="-122"/>
              </a:rPr>
              <a:t>UI</a:t>
            </a: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rPr>
              <a:t>测试</a:t>
            </a:r>
            <a:r>
              <a:rPr lang="zh-CN" altLang="zh-CN" sz="1600">
                <a:solidFill>
                  <a:srgbClr val="0070C0"/>
                </a:solidFill>
                <a:latin typeface="微软雅黑" panose="020B0503020204020204" pitchFamily="34" charset="-122"/>
                <a:ea typeface="微软雅黑" panose="020B0503020204020204" pitchFamily="34" charset="-122"/>
              </a:rPr>
              <a:t>并不是</a:t>
            </a:r>
            <a:r>
              <a:rPr lang="zh-CN" altLang="zh-CN" sz="1600" dirty="0">
                <a:solidFill>
                  <a:srgbClr val="0070C0"/>
                </a:solidFill>
                <a:latin typeface="微软雅黑" panose="020B0503020204020204" pitchFamily="34" charset="-122"/>
                <a:ea typeface="微软雅黑" panose="020B0503020204020204" pitchFamily="34" charset="-122"/>
              </a:rPr>
              <a:t>完全地使用自动化测试方式</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rPr>
              <a:t>实现，其中也需要</a:t>
            </a:r>
            <a:r>
              <a:rPr lang="zh-CN" altLang="zh-CN" sz="1600" dirty="0">
                <a:solidFill>
                  <a:srgbClr val="0070C0"/>
                </a:solidFill>
                <a:latin typeface="微软雅黑" panose="020B0503020204020204" pitchFamily="34" charset="-122"/>
                <a:ea typeface="微软雅黑" panose="020B0503020204020204" pitchFamily="34" charset="-122"/>
              </a:rPr>
              <a:t>人工操作</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rPr>
              <a:t>来</a:t>
            </a: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rPr>
              <a:t>确定</a:t>
            </a:r>
            <a:r>
              <a:rPr lang="en-US" altLang="zh-CN" sz="1600">
                <a:solidFill>
                  <a:schemeClr val="tx1">
                    <a:lumMod val="75000"/>
                    <a:lumOff val="25000"/>
                  </a:schemeClr>
                </a:solidFill>
                <a:latin typeface="微软雅黑" panose="020B0503020204020204" pitchFamily="34" charset="-122"/>
                <a:ea typeface="微软雅黑" panose="020B0503020204020204" pitchFamily="34" charset="-122"/>
              </a:rPr>
              <a:t>UI</a:t>
            </a: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rPr>
              <a:t>的</a:t>
            </a:r>
            <a:r>
              <a:rPr lang="zh-CN" altLang="zh-CN" sz="1600" dirty="0">
                <a:solidFill>
                  <a:srgbClr val="0070C0"/>
                </a:solidFill>
                <a:latin typeface="微软雅黑" panose="020B0503020204020204" pitchFamily="34" charset="-122"/>
                <a:ea typeface="微软雅黑" panose="020B0503020204020204" pitchFamily="34" charset="-122"/>
              </a:rPr>
              <a:t>易用程度</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6.1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自动化测试概述</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原创设计师QQ598969553          _9"/>
          <p:cNvSpPr txBox="1"/>
          <p:nvPr/>
        </p:nvSpPr>
        <p:spPr>
          <a:xfrm>
            <a:off x="911206" y="1443835"/>
            <a:ext cx="7128000" cy="2400657"/>
          </a:xfrm>
          <a:prstGeom prst="rect">
            <a:avLst/>
          </a:prstGeom>
          <a:noFill/>
        </p:spPr>
        <p:txBody>
          <a:bodyPr wrap="square" rtlCol="0">
            <a:spAutoFit/>
          </a:bodyPr>
          <a:lstStyle/>
          <a:p>
            <a:pPr defTabSz="1216660">
              <a:lnSpc>
                <a:spcPct val="150000"/>
              </a:lnSpc>
              <a:spcBef>
                <a:spcPct val="20000"/>
              </a:spcBef>
              <a:defRPr/>
            </a:pPr>
            <a:r>
              <a:rPr lang="zh-CN" altLang="zh-CN" sz="2000" dirty="0">
                <a:solidFill>
                  <a:srgbClr val="595959"/>
                </a:solidFill>
                <a:latin typeface="微软雅黑" panose="020B0503020204020204" pitchFamily="34" charset="-122"/>
                <a:ea typeface="微软雅黑" panose="020B0503020204020204" pitchFamily="34" charset="-122"/>
                <a:cs typeface="+mn-ea"/>
              </a:rPr>
              <a:t>自动化测试与人工测试相比，既有</a:t>
            </a:r>
            <a:r>
              <a:rPr lang="zh-CN" altLang="zh-CN" sz="2000" dirty="0">
                <a:solidFill>
                  <a:srgbClr val="1369B2"/>
                </a:solidFill>
                <a:latin typeface="微软雅黑" panose="020B0503020204020204" pitchFamily="34" charset="-122"/>
                <a:ea typeface="微软雅黑" panose="020B0503020204020204" pitchFamily="34" charset="-122"/>
                <a:cs typeface="+mn-ea"/>
              </a:rPr>
              <a:t>优点</a:t>
            </a:r>
            <a:r>
              <a:rPr lang="zh-CN" altLang="zh-CN" sz="2000" dirty="0">
                <a:solidFill>
                  <a:srgbClr val="595959"/>
                </a:solidFill>
                <a:latin typeface="微软雅黑" panose="020B0503020204020204" pitchFamily="34" charset="-122"/>
                <a:ea typeface="微软雅黑" panose="020B0503020204020204" pitchFamily="34" charset="-122"/>
                <a:cs typeface="+mn-ea"/>
              </a:rPr>
              <a:t>也有</a:t>
            </a:r>
            <a:r>
              <a:rPr lang="zh-CN" altLang="zh-CN" sz="2000" dirty="0">
                <a:solidFill>
                  <a:srgbClr val="1369B2"/>
                </a:solidFill>
                <a:latin typeface="微软雅黑" panose="020B0503020204020204" pitchFamily="34" charset="-122"/>
                <a:ea typeface="微软雅黑" panose="020B0503020204020204" pitchFamily="34" charset="-122"/>
                <a:cs typeface="+mn-ea"/>
              </a:rPr>
              <a:t>缺点</a:t>
            </a:r>
            <a:r>
              <a:rPr lang="zh-CN" altLang="zh-CN" sz="2000" dirty="0">
                <a:solidFill>
                  <a:srgbClr val="595959"/>
                </a:solidFill>
                <a:latin typeface="微软雅黑" panose="020B0503020204020204" pitchFamily="34" charset="-122"/>
                <a:ea typeface="微软雅黑" panose="020B0503020204020204" pitchFamily="34" charset="-122"/>
                <a:cs typeface="+mn-ea"/>
              </a:rPr>
              <a:t>。自动化测试虽然能够</a:t>
            </a:r>
            <a:r>
              <a:rPr lang="zh-CN" altLang="zh-CN" sz="2000" dirty="0">
                <a:solidFill>
                  <a:srgbClr val="1369B2"/>
                </a:solidFill>
                <a:latin typeface="微软雅黑" panose="020B0503020204020204" pitchFamily="34" charset="-122"/>
                <a:ea typeface="微软雅黑" panose="020B0503020204020204" pitchFamily="34" charset="-122"/>
                <a:cs typeface="+mn-ea"/>
              </a:rPr>
              <a:t>解决人工测试不能解决的复杂的测试场景问题</a:t>
            </a:r>
            <a:r>
              <a:rPr lang="zh-CN" altLang="zh-CN" sz="2000" dirty="0">
                <a:solidFill>
                  <a:srgbClr val="595959"/>
                </a:solidFill>
                <a:latin typeface="微软雅黑" panose="020B0503020204020204" pitchFamily="34" charset="-122"/>
                <a:ea typeface="微软雅黑" panose="020B0503020204020204" pitchFamily="34" charset="-122"/>
                <a:cs typeface="+mn-ea"/>
              </a:rPr>
              <a:t>，但是</a:t>
            </a:r>
            <a:r>
              <a:rPr lang="zh-CN" altLang="zh-CN" sz="2000" dirty="0">
                <a:solidFill>
                  <a:srgbClr val="1369B2"/>
                </a:solidFill>
                <a:latin typeface="微软雅黑" panose="020B0503020204020204" pitchFamily="34" charset="-122"/>
                <a:ea typeface="微软雅黑" panose="020B0503020204020204" pitchFamily="34" charset="-122"/>
                <a:cs typeface="+mn-ea"/>
              </a:rPr>
              <a:t>自动化测试也不能完全代替人工测试</a:t>
            </a:r>
            <a:r>
              <a:rPr lang="zh-CN" altLang="zh-CN" sz="2000" dirty="0">
                <a:solidFill>
                  <a:srgbClr val="595959"/>
                </a:solidFill>
                <a:latin typeface="微软雅黑" panose="020B0503020204020204" pitchFamily="34" charset="-122"/>
                <a:ea typeface="微软雅黑" panose="020B0503020204020204" pitchFamily="34" charset="-122"/>
                <a:cs typeface="+mn-ea"/>
              </a:rPr>
              <a:t>，例如，人工</a:t>
            </a:r>
            <a:r>
              <a:rPr lang="zh-CN" altLang="zh-CN" sz="2000">
                <a:solidFill>
                  <a:srgbClr val="595959"/>
                </a:solidFill>
                <a:latin typeface="微软雅黑" panose="020B0503020204020204" pitchFamily="34" charset="-122"/>
                <a:ea typeface="微软雅黑" panose="020B0503020204020204" pitchFamily="34" charset="-122"/>
                <a:cs typeface="+mn-ea"/>
              </a:rPr>
              <a:t>测试中</a:t>
            </a:r>
            <a:r>
              <a:rPr lang="zh-CN" altLang="en-US" sz="2000">
                <a:solidFill>
                  <a:srgbClr val="1369B2"/>
                </a:solidFill>
                <a:latin typeface="微软雅黑" panose="020B0503020204020204" pitchFamily="34" charset="-122"/>
                <a:ea typeface="微软雅黑" panose="020B0503020204020204" pitchFamily="34" charset="-122"/>
                <a:cs typeface="+mn-ea"/>
              </a:rPr>
              <a:t>测试人员经过</a:t>
            </a:r>
            <a:r>
              <a:rPr lang="zh-CN" altLang="zh-CN" sz="2000">
                <a:solidFill>
                  <a:srgbClr val="1369B2"/>
                </a:solidFill>
                <a:latin typeface="微软雅黑" panose="020B0503020204020204" pitchFamily="34" charset="-122"/>
                <a:ea typeface="微软雅黑" panose="020B0503020204020204" pitchFamily="34" charset="-122"/>
                <a:cs typeface="+mn-ea"/>
              </a:rPr>
              <a:t>大脑</a:t>
            </a:r>
            <a:r>
              <a:rPr lang="zh-CN" altLang="zh-CN" sz="2000" dirty="0">
                <a:solidFill>
                  <a:srgbClr val="1369B2"/>
                </a:solidFill>
                <a:latin typeface="微软雅黑" panose="020B0503020204020204" pitchFamily="34" charset="-122"/>
                <a:ea typeface="微软雅黑" panose="020B0503020204020204" pitchFamily="34" charset="-122"/>
                <a:cs typeface="+mn-ea"/>
              </a:rPr>
              <a:t>思考的逻辑判断</a:t>
            </a:r>
            <a:r>
              <a:rPr lang="zh-CN" altLang="zh-CN" sz="2000" dirty="0">
                <a:solidFill>
                  <a:srgbClr val="595959"/>
                </a:solidFill>
                <a:latin typeface="微软雅黑" panose="020B0503020204020204" pitchFamily="34" charset="-122"/>
                <a:ea typeface="微软雅黑" panose="020B0503020204020204" pitchFamily="34" charset="-122"/>
                <a:cs typeface="+mn-ea"/>
              </a:rPr>
              <a:t>与</a:t>
            </a:r>
            <a:r>
              <a:rPr lang="zh-CN" altLang="zh-CN" sz="2000" dirty="0">
                <a:solidFill>
                  <a:srgbClr val="1369B2"/>
                </a:solidFill>
                <a:latin typeface="微软雅黑" panose="020B0503020204020204" pitchFamily="34" charset="-122"/>
                <a:ea typeface="微软雅黑" panose="020B0503020204020204" pitchFamily="34" charset="-122"/>
                <a:cs typeface="+mn-ea"/>
              </a:rPr>
              <a:t>细致定位操作</a:t>
            </a:r>
            <a:r>
              <a:rPr lang="zh-CN" altLang="zh-CN" sz="2000" dirty="0">
                <a:solidFill>
                  <a:srgbClr val="595959"/>
                </a:solidFill>
                <a:latin typeface="微软雅黑" panose="020B0503020204020204" pitchFamily="34" charset="-122"/>
                <a:ea typeface="微软雅黑" panose="020B0503020204020204" pitchFamily="34" charset="-122"/>
                <a:cs typeface="+mn-ea"/>
              </a:rPr>
              <a:t>是</a:t>
            </a:r>
            <a:r>
              <a:rPr lang="zh-CN" altLang="zh-CN" sz="2000">
                <a:solidFill>
                  <a:srgbClr val="595959"/>
                </a:solidFill>
                <a:latin typeface="微软雅黑" panose="020B0503020204020204" pitchFamily="34" charset="-122"/>
                <a:ea typeface="微软雅黑" panose="020B0503020204020204" pitchFamily="34" charset="-122"/>
                <a:cs typeface="+mn-ea"/>
              </a:rPr>
              <a:t>自动化测试</a:t>
            </a:r>
            <a:r>
              <a:rPr lang="zh-CN" altLang="en-US" sz="2000">
                <a:solidFill>
                  <a:srgbClr val="595959"/>
                </a:solidFill>
                <a:latin typeface="微软雅黑" panose="020B0503020204020204" pitchFamily="34" charset="-122"/>
                <a:ea typeface="微软雅黑" panose="020B0503020204020204" pitchFamily="34" charset="-122"/>
                <a:cs typeface="+mn-ea"/>
              </a:rPr>
              <a:t>无法</a:t>
            </a:r>
            <a:r>
              <a:rPr lang="zh-CN" altLang="zh-CN" sz="2000">
                <a:solidFill>
                  <a:srgbClr val="595959"/>
                </a:solidFill>
                <a:latin typeface="微软雅黑" panose="020B0503020204020204" pitchFamily="34" charset="-122"/>
                <a:ea typeface="微软雅黑" panose="020B0503020204020204" pitchFamily="34" charset="-122"/>
                <a:cs typeface="+mn-ea"/>
              </a:rPr>
              <a:t>完成</a:t>
            </a:r>
            <a:r>
              <a:rPr lang="zh-CN" altLang="zh-CN" sz="2000" dirty="0">
                <a:solidFill>
                  <a:srgbClr val="595959"/>
                </a:solidFill>
                <a:latin typeface="微软雅黑" panose="020B0503020204020204" pitchFamily="34" charset="-122"/>
                <a:ea typeface="微软雅黑" panose="020B0503020204020204" pitchFamily="34" charset="-122"/>
                <a:cs typeface="+mn-ea"/>
              </a:rPr>
              <a:t>的，</a:t>
            </a:r>
            <a:r>
              <a:rPr lang="zh-CN" altLang="zh-CN" sz="2000" dirty="0">
                <a:solidFill>
                  <a:srgbClr val="1369B2"/>
                </a:solidFill>
                <a:latin typeface="微软雅黑" panose="020B0503020204020204" pitchFamily="34" charset="-122"/>
                <a:ea typeface="微软雅黑" panose="020B0503020204020204" pitchFamily="34" charset="-122"/>
                <a:cs typeface="+mn-ea"/>
              </a:rPr>
              <a:t>测试人员的测试经验</a:t>
            </a:r>
            <a:r>
              <a:rPr lang="zh-CN" altLang="zh-CN" sz="2000" dirty="0">
                <a:solidFill>
                  <a:srgbClr val="595959"/>
                </a:solidFill>
                <a:latin typeface="微软雅黑" panose="020B0503020204020204" pitchFamily="34" charset="-122"/>
                <a:ea typeface="微软雅黑" panose="020B0503020204020204" pitchFamily="34" charset="-122"/>
                <a:cs typeface="+mn-ea"/>
              </a:rPr>
              <a:t>也是自动化测试不具备的。</a:t>
            </a:r>
          </a:p>
        </p:txBody>
      </p:sp>
      <p:pic>
        <p:nvPicPr>
          <p:cNvPr id="6" name="Picture 2" descr="C:\Users\admin\Desktop\QQ截图20201109163646.png"/>
          <p:cNvPicPr>
            <a:picLocks noChangeAspect="1" noChangeArrowheads="1"/>
          </p:cNvPicPr>
          <p:nvPr/>
        </p:nvPicPr>
        <p:blipFill rotWithShape="1">
          <a:blip r:embed="rId3">
            <a:extLst>
              <a:ext uri="{28A0092B-C50C-407E-A947-70E740481C1C}">
                <a14:useLocalDpi xmlns:a14="http://schemas.microsoft.com/office/drawing/2010/main" val="0"/>
              </a:ext>
            </a:extLst>
          </a:blip>
          <a:srcRect r="5516"/>
          <a:stretch>
            <a:fillRect/>
          </a:stretch>
        </p:blipFill>
        <p:spPr bwMode="auto">
          <a:xfrm flipH="1">
            <a:off x="8458200" y="2103928"/>
            <a:ext cx="2946548" cy="34861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012"/>
          <p:cNvSpPr/>
          <p:nvPr/>
        </p:nvSpPr>
        <p:spPr>
          <a:xfrm>
            <a:off x="7055425" y="1549672"/>
            <a:ext cx="3561372" cy="1686613"/>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3" name="Shape 2013"/>
          <p:cNvSpPr/>
          <p:nvPr/>
        </p:nvSpPr>
        <p:spPr>
          <a:xfrm>
            <a:off x="7055425" y="3480148"/>
            <a:ext cx="3561372" cy="1684827"/>
          </a:xfrm>
          <a:prstGeom prst="roundRect">
            <a:avLst>
              <a:gd name="adj" fmla="val 6925"/>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4" name="Shape 2014"/>
          <p:cNvSpPr/>
          <p:nvPr/>
        </p:nvSpPr>
        <p:spPr>
          <a:xfrm>
            <a:off x="1581951" y="3479255"/>
            <a:ext cx="3561372" cy="1686612"/>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5" name="Shape 2015"/>
          <p:cNvSpPr/>
          <p:nvPr/>
        </p:nvSpPr>
        <p:spPr>
          <a:xfrm>
            <a:off x="1581951" y="1549672"/>
            <a:ext cx="3561372" cy="1686613"/>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6" name="Shape 2016"/>
          <p:cNvSpPr/>
          <p:nvPr/>
        </p:nvSpPr>
        <p:spPr>
          <a:xfrm>
            <a:off x="4651927" y="1917313"/>
            <a:ext cx="2887903" cy="288790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12700">
            <a:miter lim="400000"/>
          </a:ln>
        </p:spPr>
        <p:txBody>
          <a:bodyPr lIns="25400" tIns="25400" rIns="25400" bIns="25400"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7" name="Shape 2021"/>
          <p:cNvSpPr/>
          <p:nvPr/>
        </p:nvSpPr>
        <p:spPr>
          <a:xfrm>
            <a:off x="2134420" y="1975974"/>
            <a:ext cx="2681661" cy="1165820"/>
          </a:xfrm>
          <a:prstGeom prst="rect">
            <a:avLst/>
          </a:prstGeom>
          <a:ln w="12700">
            <a:miter lim="400000"/>
          </a:ln>
        </p:spPr>
        <p:txBody>
          <a:bodyPr lIns="0" tIns="0" rIns="0" bIns="0"/>
          <a:lstStyle>
            <a:lvl1pPr algn="l">
              <a:lnSpc>
                <a:spcPct val="120000"/>
              </a:lnSpc>
              <a:spcBef>
                <a:spcPts val="2500"/>
              </a:spcBef>
              <a:defRPr sz="2000">
                <a:solidFill>
                  <a:srgbClr val="53585F"/>
                </a:solidFill>
              </a:defRPr>
            </a:lvl1pPr>
          </a:lstStyle>
          <a:p>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当需要对项目进行回归测试时，只需要重新按照预先设计好的测试用例和业务操作流程进行测试即可。</a:t>
            </a:r>
          </a:p>
        </p:txBody>
      </p:sp>
      <p:sp>
        <p:nvSpPr>
          <p:cNvPr id="8" name="Shape 2022"/>
          <p:cNvSpPr/>
          <p:nvPr/>
        </p:nvSpPr>
        <p:spPr>
          <a:xfrm>
            <a:off x="2123189" y="1574357"/>
            <a:ext cx="2149279" cy="401615"/>
          </a:xfrm>
          <a:prstGeom prst="rect">
            <a:avLst/>
          </a:prstGeom>
          <a:ln w="12700">
            <a:miter lim="400000"/>
          </a:ln>
        </p:spPr>
        <p:txBody>
          <a:bodyPr lIns="0" tIns="0" rIns="0" bIns="0" anchor="ctr"/>
          <a:lstStyle>
            <a:lvl1pPr algn="l">
              <a:lnSpc>
                <a:spcPct val="120000"/>
              </a:lnSpc>
              <a:defRPr sz="3500">
                <a:solidFill>
                  <a:srgbClr val="53585F"/>
                </a:solidFill>
              </a:defRPr>
            </a:lvl1pPr>
          </a:lstStyle>
          <a:p>
            <a:r>
              <a:rPr lang="zh-CN" altLang="zh-CN" sz="1800" b="1">
                <a:solidFill>
                  <a:schemeClr val="tx1">
                    <a:lumMod val="75000"/>
                    <a:lumOff val="25000"/>
                  </a:schemeClr>
                </a:solidFill>
                <a:latin typeface="微软雅黑" panose="020B0503020204020204" pitchFamily="34" charset="-122"/>
                <a:ea typeface="微软雅黑" panose="020B0503020204020204" pitchFamily="34" charset="-122"/>
                <a:cs typeface="+mn-ea"/>
              </a:rPr>
              <a:t>提高回归测试</a:t>
            </a:r>
            <a:r>
              <a:rPr lang="zh-CN" altLang="en-US" sz="1800" b="1">
                <a:solidFill>
                  <a:schemeClr val="tx1">
                    <a:lumMod val="75000"/>
                    <a:lumOff val="25000"/>
                  </a:schemeClr>
                </a:solidFill>
                <a:latin typeface="微软雅黑" panose="020B0503020204020204" pitchFamily="34" charset="-122"/>
                <a:ea typeface="微软雅黑" panose="020B0503020204020204" pitchFamily="34" charset="-122"/>
                <a:cs typeface="+mn-ea"/>
              </a:rPr>
              <a:t>的</a:t>
            </a:r>
            <a:r>
              <a:rPr lang="zh-CN" altLang="zh-CN" sz="1800" b="1">
                <a:solidFill>
                  <a:schemeClr val="tx1">
                    <a:lumMod val="75000"/>
                    <a:lumOff val="25000"/>
                  </a:schemeClr>
                </a:solidFill>
                <a:latin typeface="微软雅黑" panose="020B0503020204020204" pitchFamily="34" charset="-122"/>
                <a:ea typeface="微软雅黑" panose="020B0503020204020204" pitchFamily="34" charset="-122"/>
                <a:cs typeface="+mn-ea"/>
              </a:rPr>
              <a:t>效率</a:t>
            </a:r>
            <a:endPar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9" name="Shape 2023"/>
          <p:cNvSpPr/>
          <p:nvPr/>
        </p:nvSpPr>
        <p:spPr>
          <a:xfrm>
            <a:off x="2141684" y="3933794"/>
            <a:ext cx="2681661" cy="1158068"/>
          </a:xfrm>
          <a:prstGeom prst="rect">
            <a:avLst/>
          </a:prstGeom>
          <a:ln w="12700">
            <a:miter lim="400000"/>
          </a:ln>
        </p:spPr>
        <p:txBody>
          <a:bodyPr lIns="0" tIns="0" rIns="0" bIns="0"/>
          <a:lstStyle>
            <a:lvl1pPr algn="l">
              <a:lnSpc>
                <a:spcPct val="120000"/>
              </a:lnSpc>
              <a:spcBef>
                <a:spcPts val="2500"/>
              </a:spcBef>
              <a:defRPr sz="2000">
                <a:solidFill>
                  <a:srgbClr val="53585F"/>
                </a:solidFill>
              </a:defRPr>
            </a:lvl1pPr>
          </a:lstStyle>
          <a:p>
            <a:pPr algn="just"/>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自动化测试在测试的过程中是由测试工具每次按照相同的轨迹不断地自动执行测试操作来完成的</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10" name="Shape 2024"/>
          <p:cNvSpPr/>
          <p:nvPr/>
        </p:nvSpPr>
        <p:spPr>
          <a:xfrm>
            <a:off x="2138832" y="3549023"/>
            <a:ext cx="1869332" cy="401615"/>
          </a:xfrm>
          <a:prstGeom prst="rect">
            <a:avLst/>
          </a:prstGeom>
          <a:ln w="12700">
            <a:miter lim="400000"/>
          </a:ln>
        </p:spPr>
        <p:txBody>
          <a:bodyPr lIns="0" tIns="0" rIns="0" bIns="0" anchor="ctr"/>
          <a:lstStyle>
            <a:lvl1pPr algn="l">
              <a:lnSpc>
                <a:spcPct val="120000"/>
              </a:lnSpc>
              <a:defRPr sz="3500">
                <a:solidFill>
                  <a:srgbClr val="53585F"/>
                </a:solidFill>
              </a:defRPr>
            </a:lvl1pPr>
          </a:lstStyle>
          <a:p>
            <a:r>
              <a:rPr lang="zh-CN" altLang="zh-CN" sz="1800" b="1">
                <a:solidFill>
                  <a:schemeClr val="tx1">
                    <a:lumMod val="75000"/>
                    <a:lumOff val="25000"/>
                  </a:schemeClr>
                </a:solidFill>
                <a:latin typeface="微软雅黑" panose="020B0503020204020204" pitchFamily="34" charset="-122"/>
                <a:ea typeface="微软雅黑" panose="020B0503020204020204" pitchFamily="34" charset="-122"/>
                <a:cs typeface="+mn-ea"/>
              </a:rPr>
              <a:t>提高测试</a:t>
            </a:r>
            <a:r>
              <a:rPr lang="zh-CN" altLang="en-US" sz="1800" b="1">
                <a:solidFill>
                  <a:schemeClr val="tx1">
                    <a:lumMod val="75000"/>
                    <a:lumOff val="25000"/>
                  </a:schemeClr>
                </a:solidFill>
                <a:latin typeface="微软雅黑" panose="020B0503020204020204" pitchFamily="34" charset="-122"/>
                <a:ea typeface="微软雅黑" panose="020B0503020204020204" pitchFamily="34" charset="-122"/>
                <a:cs typeface="+mn-ea"/>
              </a:rPr>
              <a:t>的</a:t>
            </a:r>
            <a:r>
              <a:rPr lang="zh-CN" altLang="zh-CN" sz="1800" b="1">
                <a:solidFill>
                  <a:schemeClr val="tx1">
                    <a:lumMod val="75000"/>
                    <a:lumOff val="25000"/>
                  </a:schemeClr>
                </a:solidFill>
                <a:latin typeface="微软雅黑" panose="020B0503020204020204" pitchFamily="34" charset="-122"/>
                <a:ea typeface="微软雅黑" panose="020B0503020204020204" pitchFamily="34" charset="-122"/>
                <a:cs typeface="+mn-ea"/>
              </a:rPr>
              <a:t>精确度</a:t>
            </a:r>
            <a:endPar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11" name="Shape 2025"/>
          <p:cNvSpPr/>
          <p:nvPr/>
        </p:nvSpPr>
        <p:spPr>
          <a:xfrm>
            <a:off x="7515506" y="1975973"/>
            <a:ext cx="2616127" cy="1165821"/>
          </a:xfrm>
          <a:prstGeom prst="rect">
            <a:avLst/>
          </a:prstGeom>
          <a:ln w="12700">
            <a:miter lim="400000"/>
          </a:ln>
        </p:spPr>
        <p:txBody>
          <a:bodyPr lIns="0" tIns="0" rIns="0" bIns="0"/>
          <a:lstStyle>
            <a:lvl1pPr algn="r">
              <a:lnSpc>
                <a:spcPct val="120000"/>
              </a:lnSpc>
              <a:spcBef>
                <a:spcPts val="4500"/>
              </a:spcBef>
              <a:defRPr sz="2000">
                <a:solidFill>
                  <a:srgbClr val="53585F"/>
                </a:solidFill>
              </a:defRPr>
            </a:lvl1pPr>
          </a:lstStyle>
          <a:p>
            <a:pPr algn="just"/>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自动化测试可以在无人看守的状态下对测试结果进行分析，测试人员可以有时间和精力投入到其他测试工作中。</a:t>
            </a:r>
          </a:p>
          <a:p>
            <a:pPr algn="just"/>
            <a:endParaRPr 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12" name="Shape 2026"/>
          <p:cNvSpPr/>
          <p:nvPr/>
        </p:nvSpPr>
        <p:spPr>
          <a:xfrm>
            <a:off x="7386324" y="1574357"/>
            <a:ext cx="2391140" cy="401615"/>
          </a:xfrm>
          <a:prstGeom prst="rect">
            <a:avLst/>
          </a:prstGeom>
          <a:ln w="12700">
            <a:miter lim="400000"/>
          </a:ln>
        </p:spPr>
        <p:txBody>
          <a:bodyPr lIns="0" tIns="0" rIns="0" bIns="0" anchor="ctr"/>
          <a:lstStyle>
            <a:lvl1pPr algn="r">
              <a:defRPr sz="3500">
                <a:solidFill>
                  <a:srgbClr val="53585F"/>
                </a:solidFill>
              </a:defRPr>
            </a:lvl1pPr>
          </a:lstStyle>
          <a:p>
            <a:r>
              <a:rPr lang="zh-CN" altLang="zh-CN" sz="1800" b="1" dirty="0">
                <a:solidFill>
                  <a:schemeClr val="tx1">
                    <a:lumMod val="75000"/>
                    <a:lumOff val="25000"/>
                  </a:schemeClr>
                </a:solidFill>
                <a:latin typeface="微软雅黑" panose="020B0503020204020204" pitchFamily="34" charset="-122"/>
                <a:ea typeface="微软雅黑" panose="020B0503020204020204" pitchFamily="34" charset="-122"/>
                <a:cs typeface="+mn-ea"/>
              </a:rPr>
              <a:t>提高</a:t>
            </a:r>
            <a:r>
              <a:rPr lang="zh-CN" altLang="zh-CN" sz="1800" b="1">
                <a:solidFill>
                  <a:schemeClr val="tx1">
                    <a:lumMod val="75000"/>
                    <a:lumOff val="25000"/>
                  </a:schemeClr>
                </a:solidFill>
                <a:latin typeface="微软雅黑" panose="020B0503020204020204" pitchFamily="34" charset="-122"/>
                <a:ea typeface="微软雅黑" panose="020B0503020204020204" pitchFamily="34" charset="-122"/>
                <a:cs typeface="+mn-ea"/>
              </a:rPr>
              <a:t>测试人员</a:t>
            </a:r>
            <a:r>
              <a:rPr lang="zh-CN" altLang="en-US" sz="1800" b="1">
                <a:solidFill>
                  <a:schemeClr val="tx1">
                    <a:lumMod val="75000"/>
                    <a:lumOff val="25000"/>
                  </a:schemeClr>
                </a:solidFill>
                <a:latin typeface="微软雅黑" panose="020B0503020204020204" pitchFamily="34" charset="-122"/>
                <a:ea typeface="微软雅黑" panose="020B0503020204020204" pitchFamily="34" charset="-122"/>
                <a:cs typeface="+mn-ea"/>
              </a:rPr>
              <a:t>的</a:t>
            </a:r>
            <a:r>
              <a:rPr lang="zh-CN" altLang="zh-CN" sz="1800" b="1">
                <a:solidFill>
                  <a:schemeClr val="tx1">
                    <a:lumMod val="75000"/>
                    <a:lumOff val="25000"/>
                  </a:schemeClr>
                </a:solidFill>
                <a:latin typeface="微软雅黑" panose="020B0503020204020204" pitchFamily="34" charset="-122"/>
                <a:ea typeface="微软雅黑" panose="020B0503020204020204" pitchFamily="34" charset="-122"/>
                <a:cs typeface="+mn-ea"/>
              </a:rPr>
              <a:t>利用率</a:t>
            </a:r>
            <a:endPar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13" name="Shape 2027"/>
          <p:cNvSpPr/>
          <p:nvPr/>
        </p:nvSpPr>
        <p:spPr>
          <a:xfrm>
            <a:off x="7539831" y="3920258"/>
            <a:ext cx="2597110" cy="1158068"/>
          </a:xfrm>
          <a:prstGeom prst="rect">
            <a:avLst/>
          </a:prstGeom>
          <a:ln w="12700">
            <a:miter lim="400000"/>
          </a:ln>
        </p:spPr>
        <p:txBody>
          <a:bodyPr lIns="0" tIns="0" rIns="0" bIns="0"/>
          <a:lstStyle>
            <a:lvl1pPr algn="r">
              <a:lnSpc>
                <a:spcPct val="120000"/>
              </a:lnSpc>
              <a:spcBef>
                <a:spcPts val="4500"/>
              </a:spcBef>
              <a:defRPr sz="2000">
                <a:solidFill>
                  <a:srgbClr val="53585F"/>
                </a:solidFill>
              </a:defRPr>
            </a:lvl1pPr>
          </a:lstStyle>
          <a:p>
            <a:pPr algn="just"/>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自动化测试可以</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实现大量用户同时访问并操作项目</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从而达到对项目进行负载测试与压力测试的目的</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endParaRPr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14" name="Shape 2028"/>
          <p:cNvSpPr/>
          <p:nvPr/>
        </p:nvSpPr>
        <p:spPr>
          <a:xfrm>
            <a:off x="7508141" y="3549023"/>
            <a:ext cx="1869332" cy="401615"/>
          </a:xfrm>
          <a:prstGeom prst="rect">
            <a:avLst/>
          </a:prstGeom>
          <a:ln w="12700">
            <a:miter lim="400000"/>
          </a:ln>
        </p:spPr>
        <p:txBody>
          <a:bodyPr lIns="0" tIns="0" rIns="0" bIns="0" anchor="ctr"/>
          <a:lstStyle>
            <a:lvl1pPr algn="r">
              <a:defRPr sz="3500">
                <a:solidFill>
                  <a:srgbClr val="53585F"/>
                </a:solidFill>
              </a:defRPr>
            </a:lvl1pPr>
          </a:lstStyle>
          <a:p>
            <a:r>
              <a:rPr lang="zh-CN" altLang="zh-CN" sz="1800" b="1" dirty="0">
                <a:solidFill>
                  <a:schemeClr val="tx1">
                    <a:lumMod val="75000"/>
                    <a:lumOff val="25000"/>
                  </a:schemeClr>
                </a:solidFill>
                <a:latin typeface="微软雅黑" panose="020B0503020204020204" pitchFamily="34" charset="-122"/>
                <a:ea typeface="微软雅黑" panose="020B0503020204020204" pitchFamily="34" charset="-122"/>
                <a:cs typeface="+mn-ea"/>
              </a:rPr>
              <a:t>提高测试的便捷性</a:t>
            </a:r>
            <a:endPar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nvGrpSpPr>
          <p:cNvPr id="15" name="Group 2031"/>
          <p:cNvGrpSpPr/>
          <p:nvPr/>
        </p:nvGrpSpPr>
        <p:grpSpPr>
          <a:xfrm>
            <a:off x="1107307" y="1915236"/>
            <a:ext cx="955485" cy="955485"/>
            <a:chOff x="0" y="0"/>
            <a:chExt cx="1910968" cy="1910968"/>
          </a:xfrm>
        </p:grpSpPr>
        <p:sp>
          <p:nvSpPr>
            <p:cNvPr id="16" name="Shape 2029"/>
            <p:cNvSpPr/>
            <p:nvPr/>
          </p:nvSpPr>
          <p:spPr>
            <a:xfrm>
              <a:off x="0" y="0"/>
              <a:ext cx="1910969" cy="191096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12700" cap="flat">
              <a:noFill/>
              <a:miter lim="400000"/>
            </a:ln>
            <a:effectLst/>
          </p:spPr>
          <p:txBody>
            <a:bodyPr wrap="square" lIns="33867" tIns="33867" rIns="33867" bIns="33867" numCol="1" anchor="ctr">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17" name="Shape 2030"/>
            <p:cNvSpPr/>
            <p:nvPr/>
          </p:nvSpPr>
          <p:spPr>
            <a:xfrm>
              <a:off x="553362" y="560070"/>
              <a:ext cx="804244" cy="706915"/>
            </a:xfrm>
            <a:custGeom>
              <a:avLst/>
              <a:gdLst/>
              <a:ahLst/>
              <a:cxnLst>
                <a:cxn ang="0">
                  <a:pos x="wd2" y="hd2"/>
                </a:cxn>
                <a:cxn ang="5400000">
                  <a:pos x="wd2" y="hd2"/>
                </a:cxn>
                <a:cxn ang="10800000">
                  <a:pos x="wd2" y="hd2"/>
                </a:cxn>
                <a:cxn ang="16200000">
                  <a:pos x="wd2" y="hd2"/>
                </a:cxn>
              </a:cxnLst>
              <a:rect l="0" t="0" r="r" b="b"/>
              <a:pathLst>
                <a:path w="21600" h="21600" extrusionOk="0">
                  <a:moveTo>
                    <a:pt x="8071" y="8035"/>
                  </a:moveTo>
                  <a:lnTo>
                    <a:pt x="11327" y="9235"/>
                  </a:lnTo>
                  <a:lnTo>
                    <a:pt x="14583" y="4904"/>
                  </a:lnTo>
                  <a:lnTo>
                    <a:pt x="15088" y="4330"/>
                  </a:lnTo>
                  <a:lnTo>
                    <a:pt x="17289" y="6157"/>
                  </a:lnTo>
                  <a:lnTo>
                    <a:pt x="17289" y="3078"/>
                  </a:lnTo>
                  <a:lnTo>
                    <a:pt x="17289" y="0"/>
                  </a:lnTo>
                  <a:lnTo>
                    <a:pt x="14583" y="626"/>
                  </a:lnTo>
                  <a:lnTo>
                    <a:pt x="11878" y="1200"/>
                  </a:lnTo>
                  <a:lnTo>
                    <a:pt x="14033" y="3704"/>
                  </a:lnTo>
                  <a:lnTo>
                    <a:pt x="10777" y="7409"/>
                  </a:lnTo>
                  <a:lnTo>
                    <a:pt x="7567" y="6157"/>
                  </a:lnTo>
                  <a:lnTo>
                    <a:pt x="5411" y="10487"/>
                  </a:lnTo>
                  <a:lnTo>
                    <a:pt x="2155" y="9235"/>
                  </a:lnTo>
                  <a:lnTo>
                    <a:pt x="550" y="14817"/>
                  </a:lnTo>
                  <a:lnTo>
                    <a:pt x="0" y="16017"/>
                  </a:lnTo>
                  <a:lnTo>
                    <a:pt x="1055" y="16643"/>
                  </a:lnTo>
                  <a:lnTo>
                    <a:pt x="2706" y="11113"/>
                  </a:lnTo>
                  <a:lnTo>
                    <a:pt x="5916" y="12313"/>
                  </a:lnTo>
                  <a:lnTo>
                    <a:pt x="8071" y="8035"/>
                  </a:lnTo>
                  <a:lnTo>
                    <a:pt x="8071" y="8035"/>
                  </a:lnTo>
                  <a:close/>
                  <a:moveTo>
                    <a:pt x="6466" y="21600"/>
                  </a:moveTo>
                  <a:lnTo>
                    <a:pt x="6466" y="16643"/>
                  </a:lnTo>
                  <a:lnTo>
                    <a:pt x="3761" y="16643"/>
                  </a:lnTo>
                  <a:lnTo>
                    <a:pt x="3761" y="21600"/>
                  </a:lnTo>
                  <a:lnTo>
                    <a:pt x="6466" y="21600"/>
                  </a:lnTo>
                  <a:lnTo>
                    <a:pt x="6466" y="21600"/>
                  </a:lnTo>
                  <a:close/>
                  <a:moveTo>
                    <a:pt x="10227" y="21600"/>
                  </a:moveTo>
                  <a:lnTo>
                    <a:pt x="7567" y="21600"/>
                  </a:lnTo>
                  <a:lnTo>
                    <a:pt x="7567" y="14817"/>
                  </a:lnTo>
                  <a:lnTo>
                    <a:pt x="10227" y="14817"/>
                  </a:lnTo>
                  <a:lnTo>
                    <a:pt x="10227" y="21600"/>
                  </a:lnTo>
                  <a:lnTo>
                    <a:pt x="10227" y="21600"/>
                  </a:lnTo>
                  <a:close/>
                  <a:moveTo>
                    <a:pt x="14033" y="21600"/>
                  </a:moveTo>
                  <a:lnTo>
                    <a:pt x="11327" y="21600"/>
                  </a:lnTo>
                  <a:lnTo>
                    <a:pt x="11327" y="12313"/>
                  </a:lnTo>
                  <a:lnTo>
                    <a:pt x="14033" y="12313"/>
                  </a:lnTo>
                  <a:lnTo>
                    <a:pt x="14033" y="21600"/>
                  </a:lnTo>
                  <a:lnTo>
                    <a:pt x="14033" y="21600"/>
                  </a:lnTo>
                  <a:close/>
                  <a:moveTo>
                    <a:pt x="17794" y="21600"/>
                  </a:moveTo>
                  <a:lnTo>
                    <a:pt x="15088" y="21600"/>
                  </a:lnTo>
                  <a:lnTo>
                    <a:pt x="15088" y="9861"/>
                  </a:lnTo>
                  <a:lnTo>
                    <a:pt x="17794" y="9861"/>
                  </a:lnTo>
                  <a:lnTo>
                    <a:pt x="17794" y="21600"/>
                  </a:lnTo>
                  <a:lnTo>
                    <a:pt x="17794" y="21600"/>
                  </a:lnTo>
                  <a:close/>
                  <a:moveTo>
                    <a:pt x="18894" y="6783"/>
                  </a:moveTo>
                  <a:lnTo>
                    <a:pt x="18894" y="21600"/>
                  </a:lnTo>
                  <a:lnTo>
                    <a:pt x="21600" y="21600"/>
                  </a:lnTo>
                  <a:lnTo>
                    <a:pt x="21600" y="6783"/>
                  </a:lnTo>
                  <a:lnTo>
                    <a:pt x="18894" y="6783"/>
                  </a:lnTo>
                  <a:close/>
                </a:path>
              </a:pathLst>
            </a:custGeom>
            <a:solidFill>
              <a:srgbClr val="FFFFFF"/>
            </a:solidFill>
            <a:ln w="12700" cap="flat">
              <a:noFill/>
              <a:miter lim="400000"/>
            </a:ln>
            <a:effectLst/>
          </p:spPr>
          <p:txBody>
            <a:bodyPr wrap="square" lIns="0" tIns="0" rIns="0" bIns="0" numCol="1" anchor="t">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grpSp>
      <p:grpSp>
        <p:nvGrpSpPr>
          <p:cNvPr id="18" name="Group 2034"/>
          <p:cNvGrpSpPr/>
          <p:nvPr/>
        </p:nvGrpSpPr>
        <p:grpSpPr>
          <a:xfrm>
            <a:off x="1109974" y="3847487"/>
            <a:ext cx="950151" cy="950151"/>
            <a:chOff x="0" y="0"/>
            <a:chExt cx="1900299" cy="1900299"/>
          </a:xfrm>
        </p:grpSpPr>
        <p:sp>
          <p:nvSpPr>
            <p:cNvPr id="19" name="Shape 2032"/>
            <p:cNvSpPr/>
            <p:nvPr/>
          </p:nvSpPr>
          <p:spPr>
            <a:xfrm>
              <a:off x="0" y="0"/>
              <a:ext cx="1900300" cy="190030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12700" cap="flat">
              <a:noFill/>
              <a:miter lim="400000"/>
            </a:ln>
            <a:effectLst/>
          </p:spPr>
          <p:txBody>
            <a:bodyPr wrap="square" lIns="33867" tIns="33867" rIns="33867" bIns="33867" numCol="1" anchor="ctr">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20" name="Shape 2033"/>
            <p:cNvSpPr/>
            <p:nvPr/>
          </p:nvSpPr>
          <p:spPr>
            <a:xfrm rot="10800000" flipH="1">
              <a:off x="548028" y="596692"/>
              <a:ext cx="804244" cy="706916"/>
            </a:xfrm>
            <a:custGeom>
              <a:avLst/>
              <a:gdLst/>
              <a:ahLst/>
              <a:cxnLst>
                <a:cxn ang="0">
                  <a:pos x="wd2" y="hd2"/>
                </a:cxn>
                <a:cxn ang="5400000">
                  <a:pos x="wd2" y="hd2"/>
                </a:cxn>
                <a:cxn ang="10800000">
                  <a:pos x="wd2" y="hd2"/>
                </a:cxn>
                <a:cxn ang="16200000">
                  <a:pos x="wd2" y="hd2"/>
                </a:cxn>
              </a:cxnLst>
              <a:rect l="0" t="0" r="r" b="b"/>
              <a:pathLst>
                <a:path w="21600" h="21600" extrusionOk="0">
                  <a:moveTo>
                    <a:pt x="8071" y="8035"/>
                  </a:moveTo>
                  <a:lnTo>
                    <a:pt x="11327" y="9235"/>
                  </a:lnTo>
                  <a:lnTo>
                    <a:pt x="14583" y="4904"/>
                  </a:lnTo>
                  <a:lnTo>
                    <a:pt x="15088" y="4330"/>
                  </a:lnTo>
                  <a:lnTo>
                    <a:pt x="17289" y="6157"/>
                  </a:lnTo>
                  <a:lnTo>
                    <a:pt x="17289" y="3078"/>
                  </a:lnTo>
                  <a:lnTo>
                    <a:pt x="17289" y="0"/>
                  </a:lnTo>
                  <a:lnTo>
                    <a:pt x="14583" y="626"/>
                  </a:lnTo>
                  <a:lnTo>
                    <a:pt x="11878" y="1200"/>
                  </a:lnTo>
                  <a:lnTo>
                    <a:pt x="14033" y="3704"/>
                  </a:lnTo>
                  <a:lnTo>
                    <a:pt x="10777" y="7409"/>
                  </a:lnTo>
                  <a:lnTo>
                    <a:pt x="7567" y="6157"/>
                  </a:lnTo>
                  <a:lnTo>
                    <a:pt x="5411" y="10487"/>
                  </a:lnTo>
                  <a:lnTo>
                    <a:pt x="2155" y="9235"/>
                  </a:lnTo>
                  <a:lnTo>
                    <a:pt x="550" y="14817"/>
                  </a:lnTo>
                  <a:lnTo>
                    <a:pt x="0" y="16017"/>
                  </a:lnTo>
                  <a:lnTo>
                    <a:pt x="1055" y="16643"/>
                  </a:lnTo>
                  <a:lnTo>
                    <a:pt x="2706" y="11113"/>
                  </a:lnTo>
                  <a:lnTo>
                    <a:pt x="5916" y="12313"/>
                  </a:lnTo>
                  <a:lnTo>
                    <a:pt x="8071" y="8035"/>
                  </a:lnTo>
                  <a:lnTo>
                    <a:pt x="8071" y="8035"/>
                  </a:lnTo>
                  <a:close/>
                  <a:moveTo>
                    <a:pt x="6466" y="21600"/>
                  </a:moveTo>
                  <a:lnTo>
                    <a:pt x="6466" y="16643"/>
                  </a:lnTo>
                  <a:lnTo>
                    <a:pt x="3761" y="16643"/>
                  </a:lnTo>
                  <a:lnTo>
                    <a:pt x="3761" y="21600"/>
                  </a:lnTo>
                  <a:lnTo>
                    <a:pt x="6466" y="21600"/>
                  </a:lnTo>
                  <a:lnTo>
                    <a:pt x="6466" y="21600"/>
                  </a:lnTo>
                  <a:close/>
                  <a:moveTo>
                    <a:pt x="10227" y="21600"/>
                  </a:moveTo>
                  <a:lnTo>
                    <a:pt x="7567" y="21600"/>
                  </a:lnTo>
                  <a:lnTo>
                    <a:pt x="7567" y="14817"/>
                  </a:lnTo>
                  <a:lnTo>
                    <a:pt x="10227" y="14817"/>
                  </a:lnTo>
                  <a:lnTo>
                    <a:pt x="10227" y="21600"/>
                  </a:lnTo>
                  <a:lnTo>
                    <a:pt x="10227" y="21600"/>
                  </a:lnTo>
                  <a:close/>
                  <a:moveTo>
                    <a:pt x="14033" y="21600"/>
                  </a:moveTo>
                  <a:lnTo>
                    <a:pt x="11327" y="21600"/>
                  </a:lnTo>
                  <a:lnTo>
                    <a:pt x="11327" y="12313"/>
                  </a:lnTo>
                  <a:lnTo>
                    <a:pt x="14033" y="12313"/>
                  </a:lnTo>
                  <a:lnTo>
                    <a:pt x="14033" y="21600"/>
                  </a:lnTo>
                  <a:lnTo>
                    <a:pt x="14033" y="21600"/>
                  </a:lnTo>
                  <a:close/>
                  <a:moveTo>
                    <a:pt x="17794" y="21600"/>
                  </a:moveTo>
                  <a:lnTo>
                    <a:pt x="15088" y="21600"/>
                  </a:lnTo>
                  <a:lnTo>
                    <a:pt x="15088" y="9861"/>
                  </a:lnTo>
                  <a:lnTo>
                    <a:pt x="17794" y="9861"/>
                  </a:lnTo>
                  <a:lnTo>
                    <a:pt x="17794" y="21600"/>
                  </a:lnTo>
                  <a:lnTo>
                    <a:pt x="17794" y="21600"/>
                  </a:lnTo>
                  <a:close/>
                  <a:moveTo>
                    <a:pt x="18894" y="6783"/>
                  </a:moveTo>
                  <a:lnTo>
                    <a:pt x="18894" y="21600"/>
                  </a:lnTo>
                  <a:lnTo>
                    <a:pt x="21600" y="21600"/>
                  </a:lnTo>
                  <a:lnTo>
                    <a:pt x="21600" y="6783"/>
                  </a:lnTo>
                  <a:lnTo>
                    <a:pt x="18894" y="6783"/>
                  </a:lnTo>
                  <a:close/>
                </a:path>
              </a:pathLst>
            </a:custGeom>
            <a:solidFill>
              <a:srgbClr val="FFFFFF"/>
            </a:solidFill>
            <a:ln w="12700" cap="flat">
              <a:noFill/>
              <a:miter lim="400000"/>
            </a:ln>
            <a:effectLst/>
          </p:spPr>
          <p:txBody>
            <a:bodyPr wrap="square" lIns="0" tIns="0" rIns="0" bIns="0" numCol="1" anchor="t">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grpSp>
      <p:sp>
        <p:nvSpPr>
          <p:cNvPr id="21" name="Shape 2035"/>
          <p:cNvSpPr/>
          <p:nvPr/>
        </p:nvSpPr>
        <p:spPr>
          <a:xfrm>
            <a:off x="10136941" y="3847485"/>
            <a:ext cx="950152" cy="95015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12700" cap="flat">
            <a:noFill/>
            <a:miter lim="400000"/>
          </a:ln>
          <a:effectLst/>
        </p:spPr>
        <p:txBody>
          <a:bodyPr wrap="square" lIns="25400" tIns="25400" rIns="25400" bIns="25400" numCol="1" anchor="ctr">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grpSp>
        <p:nvGrpSpPr>
          <p:cNvPr id="22" name="Group 2040"/>
          <p:cNvGrpSpPr/>
          <p:nvPr/>
        </p:nvGrpSpPr>
        <p:grpSpPr>
          <a:xfrm>
            <a:off x="10131634" y="1915236"/>
            <a:ext cx="955485" cy="955485"/>
            <a:chOff x="0" y="0"/>
            <a:chExt cx="1910968" cy="1910968"/>
          </a:xfrm>
        </p:grpSpPr>
        <p:sp>
          <p:nvSpPr>
            <p:cNvPr id="23" name="Shape 2038"/>
            <p:cNvSpPr/>
            <p:nvPr/>
          </p:nvSpPr>
          <p:spPr>
            <a:xfrm>
              <a:off x="0" y="0"/>
              <a:ext cx="1910969" cy="191096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12700" cap="flat">
              <a:noFill/>
              <a:miter lim="400000"/>
            </a:ln>
            <a:effectLst/>
          </p:spPr>
          <p:txBody>
            <a:bodyPr wrap="square" lIns="33867" tIns="33867" rIns="33867" bIns="33867" numCol="1" anchor="ctr">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24" name="Shape 2039"/>
            <p:cNvSpPr/>
            <p:nvPr/>
          </p:nvSpPr>
          <p:spPr>
            <a:xfrm>
              <a:off x="657404" y="557107"/>
              <a:ext cx="596161" cy="749014"/>
            </a:xfrm>
            <a:custGeom>
              <a:avLst/>
              <a:gdLst/>
              <a:ahLst/>
              <a:cxnLst>
                <a:cxn ang="0">
                  <a:pos x="wd2" y="hd2"/>
                </a:cxn>
                <a:cxn ang="5400000">
                  <a:pos x="wd2" y="hd2"/>
                </a:cxn>
                <a:cxn ang="10800000">
                  <a:pos x="wd2" y="hd2"/>
                </a:cxn>
                <a:cxn ang="16200000">
                  <a:pos x="wd2" y="hd2"/>
                </a:cxn>
              </a:cxnLst>
              <a:rect l="0" t="0" r="r" b="b"/>
              <a:pathLst>
                <a:path w="21015" h="21072" extrusionOk="0">
                  <a:moveTo>
                    <a:pt x="17468" y="6506"/>
                  </a:moveTo>
                  <a:cubicBezTo>
                    <a:pt x="16410" y="7763"/>
                    <a:pt x="15333" y="6878"/>
                    <a:pt x="13824" y="5996"/>
                  </a:cubicBezTo>
                  <a:cubicBezTo>
                    <a:pt x="12317" y="5116"/>
                    <a:pt x="10950" y="4575"/>
                    <a:pt x="12006" y="3318"/>
                  </a:cubicBezTo>
                  <a:cubicBezTo>
                    <a:pt x="13062" y="2059"/>
                    <a:pt x="15140" y="1754"/>
                    <a:pt x="16648" y="2634"/>
                  </a:cubicBezTo>
                  <a:cubicBezTo>
                    <a:pt x="18155" y="3515"/>
                    <a:pt x="18522" y="5248"/>
                    <a:pt x="17468" y="6506"/>
                  </a:cubicBezTo>
                  <a:close/>
                  <a:moveTo>
                    <a:pt x="20868" y="4865"/>
                  </a:moveTo>
                  <a:cubicBezTo>
                    <a:pt x="20191" y="1663"/>
                    <a:pt x="16530" y="-474"/>
                    <a:pt x="12691" y="90"/>
                  </a:cubicBezTo>
                  <a:cubicBezTo>
                    <a:pt x="8853" y="655"/>
                    <a:pt x="5613" y="3118"/>
                    <a:pt x="6290" y="6320"/>
                  </a:cubicBezTo>
                  <a:cubicBezTo>
                    <a:pt x="6436" y="7009"/>
                    <a:pt x="6840" y="8088"/>
                    <a:pt x="7318" y="8862"/>
                  </a:cubicBezTo>
                  <a:lnTo>
                    <a:pt x="346" y="17166"/>
                  </a:lnTo>
                  <a:cubicBezTo>
                    <a:pt x="90" y="17473"/>
                    <a:pt x="-56" y="18024"/>
                    <a:pt x="20" y="18392"/>
                  </a:cubicBezTo>
                  <a:lnTo>
                    <a:pt x="470" y="20511"/>
                  </a:lnTo>
                  <a:cubicBezTo>
                    <a:pt x="547" y="20879"/>
                    <a:pt x="971" y="21126"/>
                    <a:pt x="1412" y="21061"/>
                  </a:cubicBezTo>
                  <a:lnTo>
                    <a:pt x="3454" y="20761"/>
                  </a:lnTo>
                  <a:cubicBezTo>
                    <a:pt x="3895" y="20696"/>
                    <a:pt x="4457" y="20387"/>
                    <a:pt x="4700" y="20072"/>
                  </a:cubicBezTo>
                  <a:lnTo>
                    <a:pt x="7456" y="16513"/>
                  </a:lnTo>
                  <a:lnTo>
                    <a:pt x="7480" y="16490"/>
                  </a:lnTo>
                  <a:lnTo>
                    <a:pt x="9346" y="16216"/>
                  </a:lnTo>
                  <a:lnTo>
                    <a:pt x="12566" y="12046"/>
                  </a:lnTo>
                  <a:cubicBezTo>
                    <a:pt x="13623" y="12195"/>
                    <a:pt x="15142" y="12146"/>
                    <a:pt x="16039" y="12013"/>
                  </a:cubicBezTo>
                  <a:cubicBezTo>
                    <a:pt x="19878" y="11449"/>
                    <a:pt x="21544" y="8068"/>
                    <a:pt x="20868" y="4865"/>
                  </a:cubicBezTo>
                  <a:close/>
                </a:path>
              </a:pathLst>
            </a:custGeom>
            <a:solidFill>
              <a:srgbClr val="FFFFFF"/>
            </a:solidFill>
            <a:ln w="12700" cap="flat">
              <a:noFill/>
              <a:miter lim="400000"/>
            </a:ln>
            <a:effectLst/>
          </p:spPr>
          <p:txBody>
            <a:bodyPr wrap="square" lIns="0" tIns="0" rIns="0" bIns="0" numCol="1" anchor="ctr">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grpSp>
      <p:sp>
        <p:nvSpPr>
          <p:cNvPr id="26" name="Text Placeholder 5"/>
          <p:cNvSpPr txBox="1"/>
          <p:nvPr/>
        </p:nvSpPr>
        <p:spPr>
          <a:xfrm>
            <a:off x="5327650" y="2924810"/>
            <a:ext cx="1696085" cy="792480"/>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charset="0"/>
                <a:ea typeface="Open Sans" panose="020B0606030504020204" charset="0"/>
                <a:cs typeface="Open Sans" panose="020B060603050402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zh-CN" altLang="en-US" sz="2665" b="1" dirty="0">
                <a:solidFill>
                  <a:schemeClr val="bg1"/>
                </a:solidFill>
                <a:latin typeface="微软雅黑" panose="020B0503020204020204" pitchFamily="34" charset="-122"/>
                <a:ea typeface="微软雅黑" panose="020B0503020204020204" pitchFamily="34" charset="-122"/>
                <a:cs typeface="+mn-ea"/>
                <a:sym typeface="+mn-lt"/>
              </a:rPr>
              <a:t>自动化测试的优点</a:t>
            </a:r>
          </a:p>
        </p:txBody>
      </p:sp>
      <p:sp>
        <p:nvSpPr>
          <p:cNvPr id="30" name="Shape 2036"/>
          <p:cNvSpPr/>
          <p:nvPr/>
        </p:nvSpPr>
        <p:spPr>
          <a:xfrm>
            <a:off x="10410956" y="4108092"/>
            <a:ext cx="402123" cy="428939"/>
          </a:xfrm>
          <a:custGeom>
            <a:avLst/>
            <a:gdLst/>
            <a:ahLst/>
            <a:cxnLst>
              <a:cxn ang="0">
                <a:pos x="wd2" y="hd2"/>
              </a:cxn>
              <a:cxn ang="5400000">
                <a:pos x="wd2" y="hd2"/>
              </a:cxn>
              <a:cxn ang="10800000">
                <a:pos x="wd2" y="hd2"/>
              </a:cxn>
              <a:cxn ang="16200000">
                <a:pos x="wd2" y="hd2"/>
              </a:cxn>
            </a:cxnLst>
            <a:rect l="0" t="0" r="r" b="b"/>
            <a:pathLst>
              <a:path w="21153" h="21260" extrusionOk="0">
                <a:moveTo>
                  <a:pt x="11752" y="11733"/>
                </a:moveTo>
                <a:lnTo>
                  <a:pt x="9401" y="11733"/>
                </a:lnTo>
                <a:lnTo>
                  <a:pt x="9401" y="5975"/>
                </a:lnTo>
                <a:lnTo>
                  <a:pt x="11752" y="5975"/>
                </a:lnTo>
                <a:cubicBezTo>
                  <a:pt x="11752" y="5975"/>
                  <a:pt x="11752" y="11733"/>
                  <a:pt x="11752" y="11733"/>
                </a:cubicBezTo>
                <a:close/>
                <a:moveTo>
                  <a:pt x="11752" y="15276"/>
                </a:moveTo>
                <a:lnTo>
                  <a:pt x="9401" y="15276"/>
                </a:lnTo>
                <a:lnTo>
                  <a:pt x="9401" y="12951"/>
                </a:lnTo>
                <a:lnTo>
                  <a:pt x="11752" y="12951"/>
                </a:lnTo>
                <a:cubicBezTo>
                  <a:pt x="11752" y="12951"/>
                  <a:pt x="11752" y="15276"/>
                  <a:pt x="11752" y="15276"/>
                </a:cubicBezTo>
                <a:close/>
                <a:moveTo>
                  <a:pt x="20789" y="13227"/>
                </a:moveTo>
                <a:lnTo>
                  <a:pt x="18761" y="11523"/>
                </a:lnTo>
                <a:cubicBezTo>
                  <a:pt x="18172" y="11029"/>
                  <a:pt x="18172" y="10223"/>
                  <a:pt x="18761" y="9729"/>
                </a:cubicBezTo>
                <a:lnTo>
                  <a:pt x="20789" y="8025"/>
                </a:lnTo>
                <a:cubicBezTo>
                  <a:pt x="21376" y="7532"/>
                  <a:pt x="21220" y="7072"/>
                  <a:pt x="20441" y="7001"/>
                </a:cubicBezTo>
                <a:lnTo>
                  <a:pt x="17751" y="6761"/>
                </a:lnTo>
                <a:cubicBezTo>
                  <a:pt x="16971" y="6692"/>
                  <a:pt x="16552" y="6061"/>
                  <a:pt x="16819" y="5360"/>
                </a:cubicBezTo>
                <a:lnTo>
                  <a:pt x="18247" y="1615"/>
                </a:lnTo>
                <a:cubicBezTo>
                  <a:pt x="18515" y="912"/>
                  <a:pt x="18188" y="656"/>
                  <a:pt x="17520" y="1047"/>
                </a:cubicBezTo>
                <a:lnTo>
                  <a:pt x="14346" y="2896"/>
                </a:lnTo>
                <a:cubicBezTo>
                  <a:pt x="13678" y="3285"/>
                  <a:pt x="12815" y="3072"/>
                  <a:pt x="12430" y="2423"/>
                </a:cubicBezTo>
                <a:lnTo>
                  <a:pt x="11279" y="489"/>
                </a:lnTo>
                <a:cubicBezTo>
                  <a:pt x="10893" y="-160"/>
                  <a:pt x="10255" y="-164"/>
                  <a:pt x="9860" y="481"/>
                </a:cubicBezTo>
                <a:lnTo>
                  <a:pt x="8793" y="2232"/>
                </a:lnTo>
                <a:cubicBezTo>
                  <a:pt x="8398" y="2877"/>
                  <a:pt x="7493" y="3153"/>
                  <a:pt x="6781" y="2844"/>
                </a:cubicBezTo>
                <a:lnTo>
                  <a:pt x="4900" y="2031"/>
                </a:lnTo>
                <a:cubicBezTo>
                  <a:pt x="4188" y="1723"/>
                  <a:pt x="3639" y="2080"/>
                  <a:pt x="3682" y="2825"/>
                </a:cubicBezTo>
                <a:lnTo>
                  <a:pt x="3784" y="4615"/>
                </a:lnTo>
                <a:cubicBezTo>
                  <a:pt x="3826" y="5360"/>
                  <a:pt x="3242" y="6128"/>
                  <a:pt x="2486" y="6320"/>
                </a:cubicBezTo>
                <a:lnTo>
                  <a:pt x="670" y="6780"/>
                </a:lnTo>
                <a:cubicBezTo>
                  <a:pt x="-85" y="6972"/>
                  <a:pt x="-224" y="7532"/>
                  <a:pt x="365" y="8025"/>
                </a:cubicBezTo>
                <a:lnTo>
                  <a:pt x="2394" y="9729"/>
                </a:lnTo>
                <a:cubicBezTo>
                  <a:pt x="2981" y="10223"/>
                  <a:pt x="2981" y="11029"/>
                  <a:pt x="2394" y="11523"/>
                </a:cubicBezTo>
                <a:lnTo>
                  <a:pt x="365" y="13225"/>
                </a:lnTo>
                <a:cubicBezTo>
                  <a:pt x="-224" y="13720"/>
                  <a:pt x="-68" y="14196"/>
                  <a:pt x="709" y="14285"/>
                </a:cubicBezTo>
                <a:lnTo>
                  <a:pt x="3171" y="14567"/>
                </a:lnTo>
                <a:cubicBezTo>
                  <a:pt x="3948" y="14656"/>
                  <a:pt x="4381" y="15309"/>
                  <a:pt x="4133" y="16017"/>
                </a:cubicBezTo>
                <a:lnTo>
                  <a:pt x="2869" y="19625"/>
                </a:lnTo>
                <a:cubicBezTo>
                  <a:pt x="2622" y="20333"/>
                  <a:pt x="2976" y="20609"/>
                  <a:pt x="3655" y="20240"/>
                </a:cubicBezTo>
                <a:lnTo>
                  <a:pt x="6549" y="18661"/>
                </a:lnTo>
                <a:cubicBezTo>
                  <a:pt x="7229" y="18291"/>
                  <a:pt x="8143" y="18495"/>
                  <a:pt x="8581" y="19113"/>
                </a:cubicBezTo>
                <a:lnTo>
                  <a:pt x="9782" y="20816"/>
                </a:lnTo>
                <a:cubicBezTo>
                  <a:pt x="10219" y="21436"/>
                  <a:pt x="10875" y="21403"/>
                  <a:pt x="11240" y="20741"/>
                </a:cubicBezTo>
                <a:lnTo>
                  <a:pt x="12297" y="18823"/>
                </a:lnTo>
                <a:cubicBezTo>
                  <a:pt x="12660" y="18160"/>
                  <a:pt x="13532" y="17891"/>
                  <a:pt x="14234" y="18221"/>
                </a:cubicBezTo>
                <a:lnTo>
                  <a:pt x="16272" y="19181"/>
                </a:lnTo>
                <a:cubicBezTo>
                  <a:pt x="16974" y="19511"/>
                  <a:pt x="17514" y="19172"/>
                  <a:pt x="17472" y="18427"/>
                </a:cubicBezTo>
                <a:lnTo>
                  <a:pt x="17370" y="16637"/>
                </a:lnTo>
                <a:cubicBezTo>
                  <a:pt x="17327" y="15891"/>
                  <a:pt x="17912" y="15124"/>
                  <a:pt x="18668" y="14932"/>
                </a:cubicBezTo>
                <a:lnTo>
                  <a:pt x="20482" y="14472"/>
                </a:lnTo>
                <a:cubicBezTo>
                  <a:pt x="21239" y="14280"/>
                  <a:pt x="21376" y="13720"/>
                  <a:pt x="20789" y="13227"/>
                </a:cubicBezTo>
                <a:close/>
              </a:path>
            </a:pathLst>
          </a:custGeom>
          <a:solidFill>
            <a:srgbClr val="FFFFFF"/>
          </a:solidFill>
          <a:ln w="12700" cap="flat">
            <a:noFill/>
            <a:miter lim="400000"/>
          </a:ln>
          <a:effectLst/>
        </p:spPr>
        <p:txBody>
          <a:bodyPr wrap="square" lIns="0" tIns="0" rIns="0" bIns="0" numCol="1" anchor="ctr">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6.1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自动化测试概述</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原创设计师QQ598969553          _7"/>
          <p:cNvSpPr txBox="1"/>
          <p:nvPr/>
        </p:nvSpPr>
        <p:spPr>
          <a:xfrm>
            <a:off x="4045331" y="1963443"/>
            <a:ext cx="3324452" cy="400110"/>
          </a:xfrm>
          <a:prstGeom prst="rect">
            <a:avLst/>
          </a:prstGeom>
          <a:noFill/>
        </p:spPr>
        <p:txBody>
          <a:bodyPr wrap="square" rtlCol="0">
            <a:spAutoFit/>
          </a:bodyPr>
          <a:lstStyle/>
          <a:p>
            <a:pPr lvl="0" algn="ctr" defTabSz="1216660">
              <a:spcBef>
                <a:spcPct val="20000"/>
              </a:spcBef>
              <a:defRPr/>
            </a:pPr>
            <a:r>
              <a:rPr lang="en-US" altLang="zh-CN" sz="2000" b="1" dirty="0">
                <a:solidFill>
                  <a:schemeClr val="bg1"/>
                </a:solidFill>
                <a:latin typeface="微软雅黑" panose="020B0503020204020204" pitchFamily="34" charset="-122"/>
                <a:ea typeface="微软雅黑" panose="020B0503020204020204" pitchFamily="34" charset="-122"/>
                <a:cs typeface="+mn-ea"/>
                <a:sym typeface="+mn-lt"/>
              </a:rPr>
              <a:t>QPS</a:t>
            </a:r>
            <a:r>
              <a:rPr lang="zh-CN" altLang="en-US" sz="2000" b="1" dirty="0">
                <a:solidFill>
                  <a:schemeClr val="bg1"/>
                </a:solidFill>
                <a:latin typeface="微软雅黑" panose="020B0503020204020204" pitchFamily="34" charset="-122"/>
                <a:ea typeface="微软雅黑" panose="020B0503020204020204" pitchFamily="34" charset="-122"/>
                <a:cs typeface="+mn-ea"/>
                <a:sym typeface="+mn-lt"/>
              </a:rPr>
              <a:t>和</a:t>
            </a:r>
            <a:r>
              <a:rPr lang="en-US" altLang="zh-CN" sz="2000" b="1" dirty="0">
                <a:solidFill>
                  <a:schemeClr val="bg1"/>
                </a:solidFill>
                <a:latin typeface="微软雅黑" panose="020B0503020204020204" pitchFamily="34" charset="-122"/>
                <a:ea typeface="微软雅黑" panose="020B0503020204020204" pitchFamily="34" charset="-122"/>
                <a:cs typeface="+mn-ea"/>
                <a:sym typeface="+mn-lt"/>
              </a:rPr>
              <a:t>TPS</a:t>
            </a:r>
            <a:endParaRPr lang="zh-CN" altLang="en-US" sz="2000" b="1" dirty="0">
              <a:solidFill>
                <a:schemeClr val="bg1"/>
              </a:solidFill>
              <a:latin typeface="微软雅黑" panose="020B0503020204020204" pitchFamily="34" charset="-122"/>
              <a:ea typeface="微软雅黑" panose="020B0503020204020204" pitchFamily="34" charset="-122"/>
              <a:cs typeface="+mn-ea"/>
              <a:sym typeface="+mn-lt"/>
            </a:endParaRPr>
          </a:p>
        </p:txBody>
      </p:sp>
      <p:grpSp>
        <p:nvGrpSpPr>
          <p:cNvPr id="14" name="组合 13"/>
          <p:cNvGrpSpPr/>
          <p:nvPr/>
        </p:nvGrpSpPr>
        <p:grpSpPr>
          <a:xfrm>
            <a:off x="2618507" y="1568016"/>
            <a:ext cx="6963152" cy="1440000"/>
            <a:chOff x="2655457" y="2246012"/>
            <a:chExt cx="6963152" cy="1440000"/>
          </a:xfrm>
        </p:grpSpPr>
        <p:sp>
          <p:nvSpPr>
            <p:cNvPr id="15" name="Rectangle 58"/>
            <p:cNvSpPr>
              <a:spLocks noChangeArrowheads="1"/>
            </p:cNvSpPr>
            <p:nvPr/>
          </p:nvSpPr>
          <p:spPr bwMode="auto">
            <a:xfrm rot="2700000">
              <a:off x="3737952" y="2246012"/>
              <a:ext cx="1440000" cy="1440000"/>
            </a:xfrm>
            <a:prstGeom prst="rect">
              <a:avLst/>
            </a:prstGeom>
            <a:solidFill>
              <a:srgbClr val="0070C0"/>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endParaRPr lang="en-US" sz="1600" kern="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6" name="Rectangle 58"/>
            <p:cNvSpPr>
              <a:spLocks noChangeArrowheads="1"/>
            </p:cNvSpPr>
            <p:nvPr/>
          </p:nvSpPr>
          <p:spPr bwMode="auto">
            <a:xfrm rot="2700000">
              <a:off x="5376000" y="2246012"/>
              <a:ext cx="1440000" cy="1440000"/>
            </a:xfrm>
            <a:prstGeom prst="rect">
              <a:avLst/>
            </a:prstGeom>
            <a:solidFill>
              <a:schemeClr val="bg1"/>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endParaRPr lang="en-US" sz="1600" kern="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7" name="Rectangle 58"/>
            <p:cNvSpPr>
              <a:spLocks noChangeArrowheads="1"/>
            </p:cNvSpPr>
            <p:nvPr/>
          </p:nvSpPr>
          <p:spPr bwMode="auto">
            <a:xfrm rot="2700000">
              <a:off x="7084003" y="2246012"/>
              <a:ext cx="1440000" cy="1440000"/>
            </a:xfrm>
            <a:prstGeom prst="rect">
              <a:avLst/>
            </a:prstGeom>
            <a:solidFill>
              <a:srgbClr val="0070C0"/>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endParaRPr lang="en-US" sz="1600" kern="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8" name="Freeform 28"/>
            <p:cNvSpPr>
              <a:spLocks noEditPoints="1"/>
            </p:cNvSpPr>
            <p:nvPr/>
          </p:nvSpPr>
          <p:spPr bwMode="auto">
            <a:xfrm>
              <a:off x="5723670" y="2607118"/>
              <a:ext cx="721832" cy="688172"/>
            </a:xfrm>
            <a:custGeom>
              <a:avLst/>
              <a:gdLst>
                <a:gd name="T0" fmla="*/ 188 w 490"/>
                <a:gd name="T1" fmla="*/ 199 h 467"/>
                <a:gd name="T2" fmla="*/ 162 w 490"/>
                <a:gd name="T3" fmla="*/ 123 h 467"/>
                <a:gd name="T4" fmla="*/ 162 w 490"/>
                <a:gd name="T5" fmla="*/ 117 h 467"/>
                <a:gd name="T6" fmla="*/ 329 w 490"/>
                <a:gd name="T7" fmla="*/ 117 h 467"/>
                <a:gd name="T8" fmla="*/ 329 w 490"/>
                <a:gd name="T9" fmla="*/ 123 h 467"/>
                <a:gd name="T10" fmla="*/ 303 w 490"/>
                <a:gd name="T11" fmla="*/ 199 h 467"/>
                <a:gd name="T12" fmla="*/ 391 w 490"/>
                <a:gd name="T13" fmla="*/ 244 h 467"/>
                <a:gd name="T14" fmla="*/ 445 w 490"/>
                <a:gd name="T15" fmla="*/ 172 h 467"/>
                <a:gd name="T16" fmla="*/ 445 w 490"/>
                <a:gd name="T17" fmla="*/ 172 h 467"/>
                <a:gd name="T18" fmla="*/ 407 w 490"/>
                <a:gd name="T19" fmla="*/ 94 h 467"/>
                <a:gd name="T20" fmla="*/ 375 w 490"/>
                <a:gd name="T21" fmla="*/ 93 h 467"/>
                <a:gd name="T22" fmla="*/ 337 w 490"/>
                <a:gd name="T23" fmla="*/ 172 h 467"/>
                <a:gd name="T24" fmla="*/ 337 w 490"/>
                <a:gd name="T25" fmla="*/ 172 h 467"/>
                <a:gd name="T26" fmla="*/ 391 w 490"/>
                <a:gd name="T27" fmla="*/ 244 h 467"/>
                <a:gd name="T28" fmla="*/ 344 w 490"/>
                <a:gd name="T29" fmla="*/ 173 h 467"/>
                <a:gd name="T30" fmla="*/ 349 w 490"/>
                <a:gd name="T31" fmla="*/ 148 h 467"/>
                <a:gd name="T32" fmla="*/ 430 w 490"/>
                <a:gd name="T33" fmla="*/ 134 h 467"/>
                <a:gd name="T34" fmla="*/ 434 w 490"/>
                <a:gd name="T35" fmla="*/ 160 h 467"/>
                <a:gd name="T36" fmla="*/ 422 w 490"/>
                <a:gd name="T37" fmla="*/ 217 h 467"/>
                <a:gd name="T38" fmla="*/ 360 w 490"/>
                <a:gd name="T39" fmla="*/ 217 h 467"/>
                <a:gd name="T40" fmla="*/ 137 w 490"/>
                <a:gd name="T41" fmla="*/ 221 h 467"/>
                <a:gd name="T42" fmla="*/ 154 w 490"/>
                <a:gd name="T43" fmla="*/ 172 h 467"/>
                <a:gd name="T44" fmla="*/ 154 w 490"/>
                <a:gd name="T45" fmla="*/ 168 h 467"/>
                <a:gd name="T46" fmla="*/ 99 w 490"/>
                <a:gd name="T47" fmla="*/ 92 h 467"/>
                <a:gd name="T48" fmla="*/ 46 w 490"/>
                <a:gd name="T49" fmla="*/ 168 h 467"/>
                <a:gd name="T50" fmla="*/ 46 w 490"/>
                <a:gd name="T51" fmla="*/ 172 h 467"/>
                <a:gd name="T52" fmla="*/ 62 w 490"/>
                <a:gd name="T53" fmla="*/ 221 h 467"/>
                <a:gd name="T54" fmla="*/ 68 w 490"/>
                <a:gd name="T55" fmla="*/ 217 h 467"/>
                <a:gd name="T56" fmla="*/ 56 w 490"/>
                <a:gd name="T57" fmla="*/ 160 h 467"/>
                <a:gd name="T58" fmla="*/ 61 w 490"/>
                <a:gd name="T59" fmla="*/ 134 h 467"/>
                <a:gd name="T60" fmla="*/ 142 w 490"/>
                <a:gd name="T61" fmla="*/ 148 h 467"/>
                <a:gd name="T62" fmla="*/ 146 w 490"/>
                <a:gd name="T63" fmla="*/ 173 h 467"/>
                <a:gd name="T64" fmla="*/ 100 w 490"/>
                <a:gd name="T65" fmla="*/ 237 h 467"/>
                <a:gd name="T66" fmla="*/ 262 w 490"/>
                <a:gd name="T67" fmla="*/ 291 h 467"/>
                <a:gd name="T68" fmla="*/ 252 w 490"/>
                <a:gd name="T69" fmla="*/ 313 h 467"/>
                <a:gd name="T70" fmla="*/ 314 w 490"/>
                <a:gd name="T71" fmla="*/ 264 h 467"/>
                <a:gd name="T72" fmla="*/ 402 w 490"/>
                <a:gd name="T73" fmla="*/ 437 h 467"/>
                <a:gd name="T74" fmla="*/ 119 w 490"/>
                <a:gd name="T75" fmla="*/ 467 h 467"/>
                <a:gd name="T76" fmla="*/ 88 w 490"/>
                <a:gd name="T77" fmla="*/ 334 h 467"/>
                <a:gd name="T78" fmla="*/ 231 w 490"/>
                <a:gd name="T79" fmla="*/ 413 h 467"/>
                <a:gd name="T80" fmla="*/ 238 w 490"/>
                <a:gd name="T81" fmla="*/ 308 h 467"/>
                <a:gd name="T82" fmla="*/ 229 w 490"/>
                <a:gd name="T83" fmla="*/ 288 h 467"/>
                <a:gd name="T84" fmla="*/ 259 w 490"/>
                <a:gd name="T85" fmla="*/ 286 h 467"/>
                <a:gd name="T86" fmla="*/ 262 w 490"/>
                <a:gd name="T87" fmla="*/ 291 h 467"/>
                <a:gd name="T88" fmla="*/ 490 w 490"/>
                <a:gd name="T89" fmla="*/ 305 h 467"/>
                <a:gd name="T90" fmla="*/ 412 w 490"/>
                <a:gd name="T91" fmla="*/ 312 h 467"/>
                <a:gd name="T92" fmla="*/ 416 w 490"/>
                <a:gd name="T93" fmla="*/ 388 h 467"/>
                <a:gd name="T94" fmla="*/ 490 w 490"/>
                <a:gd name="T95" fmla="*/ 371 h 467"/>
                <a:gd name="T96" fmla="*/ 16 w 490"/>
                <a:gd name="T97" fmla="*/ 388 h 467"/>
                <a:gd name="T98" fmla="*/ 74 w 490"/>
                <a:gd name="T99" fmla="*/ 334 h 467"/>
                <a:gd name="T100" fmla="*/ 139 w 490"/>
                <a:gd name="T101" fmla="*/ 260 h 467"/>
                <a:gd name="T102" fmla="*/ 0 w 490"/>
                <a:gd name="T103" fmla="*/ 371 h 467"/>
                <a:gd name="T104" fmla="*/ 245 w 490"/>
                <a:gd name="T105" fmla="*/ 223 h 467"/>
                <a:gd name="T106" fmla="*/ 317 w 490"/>
                <a:gd name="T107" fmla="*/ 124 h 467"/>
                <a:gd name="T108" fmla="*/ 310 w 490"/>
                <a:gd name="T109" fmla="*/ 85 h 467"/>
                <a:gd name="T110" fmla="*/ 274 w 490"/>
                <a:gd name="T111" fmla="*/ 61 h 467"/>
                <a:gd name="T112" fmla="*/ 216 w 490"/>
                <a:gd name="T113" fmla="*/ 61 h 467"/>
                <a:gd name="T114" fmla="*/ 185 w 490"/>
                <a:gd name="T115" fmla="*/ 64 h 467"/>
                <a:gd name="T116" fmla="*/ 178 w 490"/>
                <a:gd name="T117" fmla="*/ 105 h 467"/>
                <a:gd name="T118" fmla="*/ 197 w 490"/>
                <a:gd name="T119" fmla="*/ 192 h 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90" h="467">
                  <a:moveTo>
                    <a:pt x="245" y="235"/>
                  </a:moveTo>
                  <a:cubicBezTo>
                    <a:pt x="224" y="235"/>
                    <a:pt x="203" y="220"/>
                    <a:pt x="188" y="199"/>
                  </a:cubicBezTo>
                  <a:cubicBezTo>
                    <a:pt x="172" y="178"/>
                    <a:pt x="162" y="150"/>
                    <a:pt x="162" y="123"/>
                  </a:cubicBezTo>
                  <a:cubicBezTo>
                    <a:pt x="162" y="123"/>
                    <a:pt x="162" y="123"/>
                    <a:pt x="162" y="123"/>
                  </a:cubicBezTo>
                  <a:cubicBezTo>
                    <a:pt x="162" y="122"/>
                    <a:pt x="162" y="122"/>
                    <a:pt x="162" y="122"/>
                  </a:cubicBezTo>
                  <a:cubicBezTo>
                    <a:pt x="162" y="121"/>
                    <a:pt x="162" y="119"/>
                    <a:pt x="162" y="117"/>
                  </a:cubicBezTo>
                  <a:cubicBezTo>
                    <a:pt x="162" y="52"/>
                    <a:pt x="151" y="0"/>
                    <a:pt x="245" y="0"/>
                  </a:cubicBezTo>
                  <a:cubicBezTo>
                    <a:pt x="340" y="0"/>
                    <a:pt x="329" y="52"/>
                    <a:pt x="329" y="117"/>
                  </a:cubicBezTo>
                  <a:cubicBezTo>
                    <a:pt x="329" y="119"/>
                    <a:pt x="329" y="121"/>
                    <a:pt x="329" y="122"/>
                  </a:cubicBezTo>
                  <a:cubicBezTo>
                    <a:pt x="329" y="123"/>
                    <a:pt x="329" y="123"/>
                    <a:pt x="329" y="123"/>
                  </a:cubicBezTo>
                  <a:cubicBezTo>
                    <a:pt x="329" y="123"/>
                    <a:pt x="329" y="123"/>
                    <a:pt x="329" y="123"/>
                  </a:cubicBezTo>
                  <a:cubicBezTo>
                    <a:pt x="329" y="150"/>
                    <a:pt x="318" y="178"/>
                    <a:pt x="303" y="199"/>
                  </a:cubicBezTo>
                  <a:cubicBezTo>
                    <a:pt x="287" y="220"/>
                    <a:pt x="266" y="235"/>
                    <a:pt x="245" y="235"/>
                  </a:cubicBezTo>
                  <a:close/>
                  <a:moveTo>
                    <a:pt x="391" y="244"/>
                  </a:moveTo>
                  <a:cubicBezTo>
                    <a:pt x="404" y="244"/>
                    <a:pt x="418" y="235"/>
                    <a:pt x="428" y="221"/>
                  </a:cubicBezTo>
                  <a:cubicBezTo>
                    <a:pt x="438" y="208"/>
                    <a:pt x="445" y="190"/>
                    <a:pt x="445" y="172"/>
                  </a:cubicBezTo>
                  <a:cubicBezTo>
                    <a:pt x="445" y="172"/>
                    <a:pt x="445" y="172"/>
                    <a:pt x="445" y="172"/>
                  </a:cubicBezTo>
                  <a:cubicBezTo>
                    <a:pt x="445" y="172"/>
                    <a:pt x="445" y="172"/>
                    <a:pt x="445" y="172"/>
                  </a:cubicBezTo>
                  <a:cubicBezTo>
                    <a:pt x="445" y="170"/>
                    <a:pt x="445" y="169"/>
                    <a:pt x="445" y="168"/>
                  </a:cubicBezTo>
                  <a:cubicBezTo>
                    <a:pt x="445" y="131"/>
                    <a:pt x="451" y="99"/>
                    <a:pt x="407" y="94"/>
                  </a:cubicBezTo>
                  <a:cubicBezTo>
                    <a:pt x="402" y="93"/>
                    <a:pt x="397" y="92"/>
                    <a:pt x="391" y="92"/>
                  </a:cubicBezTo>
                  <a:cubicBezTo>
                    <a:pt x="385" y="92"/>
                    <a:pt x="380" y="93"/>
                    <a:pt x="375" y="93"/>
                  </a:cubicBezTo>
                  <a:cubicBezTo>
                    <a:pt x="331" y="99"/>
                    <a:pt x="337" y="130"/>
                    <a:pt x="337" y="168"/>
                  </a:cubicBezTo>
                  <a:cubicBezTo>
                    <a:pt x="337" y="169"/>
                    <a:pt x="337" y="170"/>
                    <a:pt x="337" y="172"/>
                  </a:cubicBezTo>
                  <a:cubicBezTo>
                    <a:pt x="337" y="172"/>
                    <a:pt x="337" y="172"/>
                    <a:pt x="337" y="172"/>
                  </a:cubicBezTo>
                  <a:cubicBezTo>
                    <a:pt x="337" y="172"/>
                    <a:pt x="337" y="172"/>
                    <a:pt x="337" y="172"/>
                  </a:cubicBezTo>
                  <a:cubicBezTo>
                    <a:pt x="337" y="190"/>
                    <a:pt x="344" y="208"/>
                    <a:pt x="354" y="221"/>
                  </a:cubicBezTo>
                  <a:cubicBezTo>
                    <a:pt x="364" y="235"/>
                    <a:pt x="377" y="244"/>
                    <a:pt x="391" y="244"/>
                  </a:cubicBezTo>
                  <a:close/>
                  <a:moveTo>
                    <a:pt x="360" y="217"/>
                  </a:moveTo>
                  <a:cubicBezTo>
                    <a:pt x="351" y="204"/>
                    <a:pt x="345" y="188"/>
                    <a:pt x="344" y="173"/>
                  </a:cubicBezTo>
                  <a:cubicBezTo>
                    <a:pt x="348" y="160"/>
                    <a:pt x="348" y="160"/>
                    <a:pt x="348" y="160"/>
                  </a:cubicBezTo>
                  <a:cubicBezTo>
                    <a:pt x="349" y="156"/>
                    <a:pt x="349" y="152"/>
                    <a:pt x="349" y="148"/>
                  </a:cubicBezTo>
                  <a:cubicBezTo>
                    <a:pt x="349" y="142"/>
                    <a:pt x="349" y="138"/>
                    <a:pt x="352" y="134"/>
                  </a:cubicBezTo>
                  <a:cubicBezTo>
                    <a:pt x="354" y="127"/>
                    <a:pt x="429" y="127"/>
                    <a:pt x="430" y="134"/>
                  </a:cubicBezTo>
                  <a:cubicBezTo>
                    <a:pt x="433" y="138"/>
                    <a:pt x="433" y="142"/>
                    <a:pt x="433" y="148"/>
                  </a:cubicBezTo>
                  <a:cubicBezTo>
                    <a:pt x="433" y="152"/>
                    <a:pt x="433" y="156"/>
                    <a:pt x="434" y="160"/>
                  </a:cubicBezTo>
                  <a:cubicBezTo>
                    <a:pt x="437" y="173"/>
                    <a:pt x="437" y="173"/>
                    <a:pt x="437" y="173"/>
                  </a:cubicBezTo>
                  <a:cubicBezTo>
                    <a:pt x="437" y="188"/>
                    <a:pt x="431" y="204"/>
                    <a:pt x="422" y="217"/>
                  </a:cubicBezTo>
                  <a:cubicBezTo>
                    <a:pt x="413" y="229"/>
                    <a:pt x="402" y="237"/>
                    <a:pt x="391" y="237"/>
                  </a:cubicBezTo>
                  <a:cubicBezTo>
                    <a:pt x="380" y="237"/>
                    <a:pt x="368" y="229"/>
                    <a:pt x="360" y="217"/>
                  </a:cubicBezTo>
                  <a:close/>
                  <a:moveTo>
                    <a:pt x="100" y="244"/>
                  </a:moveTo>
                  <a:cubicBezTo>
                    <a:pt x="113" y="244"/>
                    <a:pt x="127" y="235"/>
                    <a:pt x="137" y="221"/>
                  </a:cubicBezTo>
                  <a:cubicBezTo>
                    <a:pt x="147" y="208"/>
                    <a:pt x="154" y="190"/>
                    <a:pt x="154" y="172"/>
                  </a:cubicBezTo>
                  <a:cubicBezTo>
                    <a:pt x="154" y="172"/>
                    <a:pt x="154" y="172"/>
                    <a:pt x="154" y="172"/>
                  </a:cubicBezTo>
                  <a:cubicBezTo>
                    <a:pt x="154" y="172"/>
                    <a:pt x="154" y="172"/>
                    <a:pt x="154" y="172"/>
                  </a:cubicBezTo>
                  <a:cubicBezTo>
                    <a:pt x="154" y="170"/>
                    <a:pt x="154" y="169"/>
                    <a:pt x="154" y="168"/>
                  </a:cubicBezTo>
                  <a:cubicBezTo>
                    <a:pt x="154" y="130"/>
                    <a:pt x="160" y="99"/>
                    <a:pt x="114" y="93"/>
                  </a:cubicBezTo>
                  <a:cubicBezTo>
                    <a:pt x="110" y="92"/>
                    <a:pt x="105" y="92"/>
                    <a:pt x="99" y="92"/>
                  </a:cubicBezTo>
                  <a:cubicBezTo>
                    <a:pt x="93" y="92"/>
                    <a:pt x="87" y="93"/>
                    <a:pt x="82" y="94"/>
                  </a:cubicBezTo>
                  <a:cubicBezTo>
                    <a:pt x="40" y="100"/>
                    <a:pt x="46" y="131"/>
                    <a:pt x="46" y="168"/>
                  </a:cubicBezTo>
                  <a:cubicBezTo>
                    <a:pt x="46" y="169"/>
                    <a:pt x="46" y="170"/>
                    <a:pt x="46" y="172"/>
                  </a:cubicBezTo>
                  <a:cubicBezTo>
                    <a:pt x="46" y="172"/>
                    <a:pt x="46" y="172"/>
                    <a:pt x="46" y="172"/>
                  </a:cubicBezTo>
                  <a:cubicBezTo>
                    <a:pt x="46" y="172"/>
                    <a:pt x="46" y="172"/>
                    <a:pt x="46" y="172"/>
                  </a:cubicBezTo>
                  <a:cubicBezTo>
                    <a:pt x="46" y="190"/>
                    <a:pt x="52" y="208"/>
                    <a:pt x="62" y="221"/>
                  </a:cubicBezTo>
                  <a:cubicBezTo>
                    <a:pt x="72" y="235"/>
                    <a:pt x="86" y="244"/>
                    <a:pt x="100" y="244"/>
                  </a:cubicBezTo>
                  <a:close/>
                  <a:moveTo>
                    <a:pt x="68" y="217"/>
                  </a:moveTo>
                  <a:cubicBezTo>
                    <a:pt x="59" y="204"/>
                    <a:pt x="53" y="188"/>
                    <a:pt x="53" y="173"/>
                  </a:cubicBezTo>
                  <a:cubicBezTo>
                    <a:pt x="56" y="160"/>
                    <a:pt x="56" y="160"/>
                    <a:pt x="56" y="160"/>
                  </a:cubicBezTo>
                  <a:cubicBezTo>
                    <a:pt x="57" y="156"/>
                    <a:pt x="57" y="152"/>
                    <a:pt x="58" y="148"/>
                  </a:cubicBezTo>
                  <a:cubicBezTo>
                    <a:pt x="58" y="142"/>
                    <a:pt x="58" y="138"/>
                    <a:pt x="61" y="134"/>
                  </a:cubicBezTo>
                  <a:cubicBezTo>
                    <a:pt x="63" y="127"/>
                    <a:pt x="138" y="127"/>
                    <a:pt x="139" y="134"/>
                  </a:cubicBezTo>
                  <a:cubicBezTo>
                    <a:pt x="141" y="138"/>
                    <a:pt x="142" y="142"/>
                    <a:pt x="142" y="148"/>
                  </a:cubicBezTo>
                  <a:cubicBezTo>
                    <a:pt x="142" y="152"/>
                    <a:pt x="142" y="156"/>
                    <a:pt x="143" y="160"/>
                  </a:cubicBezTo>
                  <a:cubicBezTo>
                    <a:pt x="146" y="173"/>
                    <a:pt x="146" y="173"/>
                    <a:pt x="146" y="173"/>
                  </a:cubicBezTo>
                  <a:cubicBezTo>
                    <a:pt x="146" y="188"/>
                    <a:pt x="140" y="204"/>
                    <a:pt x="131" y="217"/>
                  </a:cubicBezTo>
                  <a:cubicBezTo>
                    <a:pt x="122" y="229"/>
                    <a:pt x="111" y="237"/>
                    <a:pt x="100" y="237"/>
                  </a:cubicBezTo>
                  <a:cubicBezTo>
                    <a:pt x="89" y="237"/>
                    <a:pt x="77" y="229"/>
                    <a:pt x="68" y="217"/>
                  </a:cubicBezTo>
                  <a:close/>
                  <a:moveTo>
                    <a:pt x="262" y="291"/>
                  </a:moveTo>
                  <a:cubicBezTo>
                    <a:pt x="253" y="308"/>
                    <a:pt x="253" y="308"/>
                    <a:pt x="253" y="308"/>
                  </a:cubicBezTo>
                  <a:cubicBezTo>
                    <a:pt x="252" y="310"/>
                    <a:pt x="251" y="311"/>
                    <a:pt x="252" y="313"/>
                  </a:cubicBezTo>
                  <a:cubicBezTo>
                    <a:pt x="260" y="412"/>
                    <a:pt x="260" y="412"/>
                    <a:pt x="260" y="412"/>
                  </a:cubicBezTo>
                  <a:cubicBezTo>
                    <a:pt x="285" y="360"/>
                    <a:pt x="299" y="326"/>
                    <a:pt x="314" y="264"/>
                  </a:cubicBezTo>
                  <a:cubicBezTo>
                    <a:pt x="364" y="275"/>
                    <a:pt x="402" y="298"/>
                    <a:pt x="402" y="334"/>
                  </a:cubicBezTo>
                  <a:cubicBezTo>
                    <a:pt x="402" y="437"/>
                    <a:pt x="402" y="437"/>
                    <a:pt x="402" y="437"/>
                  </a:cubicBezTo>
                  <a:cubicBezTo>
                    <a:pt x="402" y="454"/>
                    <a:pt x="388" y="467"/>
                    <a:pt x="371" y="467"/>
                  </a:cubicBezTo>
                  <a:cubicBezTo>
                    <a:pt x="287" y="467"/>
                    <a:pt x="203" y="467"/>
                    <a:pt x="119" y="467"/>
                  </a:cubicBezTo>
                  <a:cubicBezTo>
                    <a:pt x="102" y="467"/>
                    <a:pt x="88" y="454"/>
                    <a:pt x="88" y="437"/>
                  </a:cubicBezTo>
                  <a:cubicBezTo>
                    <a:pt x="88" y="402"/>
                    <a:pt x="88" y="368"/>
                    <a:pt x="88" y="334"/>
                  </a:cubicBezTo>
                  <a:cubicBezTo>
                    <a:pt x="88" y="298"/>
                    <a:pt x="126" y="275"/>
                    <a:pt x="176" y="264"/>
                  </a:cubicBezTo>
                  <a:cubicBezTo>
                    <a:pt x="191" y="327"/>
                    <a:pt x="206" y="360"/>
                    <a:pt x="231" y="413"/>
                  </a:cubicBezTo>
                  <a:cubicBezTo>
                    <a:pt x="239" y="313"/>
                    <a:pt x="239" y="313"/>
                    <a:pt x="239" y="313"/>
                  </a:cubicBezTo>
                  <a:cubicBezTo>
                    <a:pt x="239" y="311"/>
                    <a:pt x="239" y="310"/>
                    <a:pt x="238" y="308"/>
                  </a:cubicBezTo>
                  <a:cubicBezTo>
                    <a:pt x="229" y="291"/>
                    <a:pt x="229" y="291"/>
                    <a:pt x="229" y="291"/>
                  </a:cubicBezTo>
                  <a:cubicBezTo>
                    <a:pt x="228" y="290"/>
                    <a:pt x="228" y="289"/>
                    <a:pt x="229" y="288"/>
                  </a:cubicBezTo>
                  <a:cubicBezTo>
                    <a:pt x="229" y="287"/>
                    <a:pt x="230" y="286"/>
                    <a:pt x="231" y="286"/>
                  </a:cubicBezTo>
                  <a:cubicBezTo>
                    <a:pt x="241" y="286"/>
                    <a:pt x="250" y="286"/>
                    <a:pt x="259" y="286"/>
                  </a:cubicBezTo>
                  <a:cubicBezTo>
                    <a:pt x="261" y="286"/>
                    <a:pt x="262" y="287"/>
                    <a:pt x="262" y="288"/>
                  </a:cubicBezTo>
                  <a:cubicBezTo>
                    <a:pt x="263" y="289"/>
                    <a:pt x="263" y="290"/>
                    <a:pt x="262" y="291"/>
                  </a:cubicBezTo>
                  <a:close/>
                  <a:moveTo>
                    <a:pt x="490" y="371"/>
                  </a:moveTo>
                  <a:cubicBezTo>
                    <a:pt x="490" y="305"/>
                    <a:pt x="490" y="305"/>
                    <a:pt x="490" y="305"/>
                  </a:cubicBezTo>
                  <a:cubicBezTo>
                    <a:pt x="490" y="263"/>
                    <a:pt x="410" y="248"/>
                    <a:pt x="351" y="260"/>
                  </a:cubicBezTo>
                  <a:cubicBezTo>
                    <a:pt x="376" y="269"/>
                    <a:pt x="402" y="286"/>
                    <a:pt x="412" y="312"/>
                  </a:cubicBezTo>
                  <a:cubicBezTo>
                    <a:pt x="415" y="319"/>
                    <a:pt x="416" y="326"/>
                    <a:pt x="416" y="334"/>
                  </a:cubicBezTo>
                  <a:cubicBezTo>
                    <a:pt x="416" y="388"/>
                    <a:pt x="416" y="388"/>
                    <a:pt x="416" y="388"/>
                  </a:cubicBezTo>
                  <a:cubicBezTo>
                    <a:pt x="435" y="388"/>
                    <a:pt x="454" y="388"/>
                    <a:pt x="474" y="388"/>
                  </a:cubicBezTo>
                  <a:cubicBezTo>
                    <a:pt x="483" y="388"/>
                    <a:pt x="490" y="380"/>
                    <a:pt x="490" y="371"/>
                  </a:cubicBezTo>
                  <a:close/>
                  <a:moveTo>
                    <a:pt x="0" y="371"/>
                  </a:moveTo>
                  <a:cubicBezTo>
                    <a:pt x="0" y="380"/>
                    <a:pt x="7" y="388"/>
                    <a:pt x="16" y="388"/>
                  </a:cubicBezTo>
                  <a:cubicBezTo>
                    <a:pt x="36" y="388"/>
                    <a:pt x="55" y="388"/>
                    <a:pt x="74" y="388"/>
                  </a:cubicBezTo>
                  <a:cubicBezTo>
                    <a:pt x="74" y="334"/>
                    <a:pt x="74" y="334"/>
                    <a:pt x="74" y="334"/>
                  </a:cubicBezTo>
                  <a:cubicBezTo>
                    <a:pt x="74" y="326"/>
                    <a:pt x="75" y="319"/>
                    <a:pt x="78" y="312"/>
                  </a:cubicBezTo>
                  <a:cubicBezTo>
                    <a:pt x="88" y="286"/>
                    <a:pt x="114" y="269"/>
                    <a:pt x="139" y="260"/>
                  </a:cubicBezTo>
                  <a:cubicBezTo>
                    <a:pt x="80" y="248"/>
                    <a:pt x="0" y="263"/>
                    <a:pt x="0" y="305"/>
                  </a:cubicBezTo>
                  <a:cubicBezTo>
                    <a:pt x="0" y="327"/>
                    <a:pt x="0" y="349"/>
                    <a:pt x="0" y="371"/>
                  </a:cubicBezTo>
                  <a:close/>
                  <a:moveTo>
                    <a:pt x="197" y="192"/>
                  </a:moveTo>
                  <a:cubicBezTo>
                    <a:pt x="211" y="210"/>
                    <a:pt x="228" y="223"/>
                    <a:pt x="245" y="223"/>
                  </a:cubicBezTo>
                  <a:cubicBezTo>
                    <a:pt x="262" y="223"/>
                    <a:pt x="280" y="210"/>
                    <a:pt x="293" y="192"/>
                  </a:cubicBezTo>
                  <a:cubicBezTo>
                    <a:pt x="307" y="173"/>
                    <a:pt x="317" y="148"/>
                    <a:pt x="317" y="124"/>
                  </a:cubicBezTo>
                  <a:cubicBezTo>
                    <a:pt x="312" y="105"/>
                    <a:pt x="312" y="105"/>
                    <a:pt x="312" y="105"/>
                  </a:cubicBezTo>
                  <a:cubicBezTo>
                    <a:pt x="310" y="98"/>
                    <a:pt x="310" y="91"/>
                    <a:pt x="310" y="85"/>
                  </a:cubicBezTo>
                  <a:cubicBezTo>
                    <a:pt x="310" y="77"/>
                    <a:pt x="310" y="70"/>
                    <a:pt x="305" y="64"/>
                  </a:cubicBezTo>
                  <a:cubicBezTo>
                    <a:pt x="298" y="54"/>
                    <a:pt x="287" y="57"/>
                    <a:pt x="274" y="61"/>
                  </a:cubicBezTo>
                  <a:cubicBezTo>
                    <a:pt x="265" y="64"/>
                    <a:pt x="256" y="66"/>
                    <a:pt x="245" y="66"/>
                  </a:cubicBezTo>
                  <a:cubicBezTo>
                    <a:pt x="235" y="66"/>
                    <a:pt x="225" y="64"/>
                    <a:pt x="216" y="61"/>
                  </a:cubicBezTo>
                  <a:cubicBezTo>
                    <a:pt x="216" y="61"/>
                    <a:pt x="216" y="61"/>
                    <a:pt x="216" y="61"/>
                  </a:cubicBezTo>
                  <a:cubicBezTo>
                    <a:pt x="203" y="57"/>
                    <a:pt x="192" y="54"/>
                    <a:pt x="185" y="64"/>
                  </a:cubicBezTo>
                  <a:cubicBezTo>
                    <a:pt x="181" y="70"/>
                    <a:pt x="180" y="77"/>
                    <a:pt x="180" y="85"/>
                  </a:cubicBezTo>
                  <a:cubicBezTo>
                    <a:pt x="180" y="91"/>
                    <a:pt x="180" y="98"/>
                    <a:pt x="178" y="105"/>
                  </a:cubicBezTo>
                  <a:cubicBezTo>
                    <a:pt x="174" y="124"/>
                    <a:pt x="174" y="124"/>
                    <a:pt x="174" y="124"/>
                  </a:cubicBezTo>
                  <a:cubicBezTo>
                    <a:pt x="174" y="148"/>
                    <a:pt x="183" y="173"/>
                    <a:pt x="197" y="192"/>
                  </a:cubicBezTo>
                  <a:close/>
                </a:path>
              </a:pathLst>
            </a:custGeom>
            <a:solidFill>
              <a:srgbClr val="0070C0"/>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9" name="Freeform 29"/>
            <p:cNvSpPr>
              <a:spLocks noEditPoints="1"/>
            </p:cNvSpPr>
            <p:nvPr/>
          </p:nvSpPr>
          <p:spPr bwMode="auto">
            <a:xfrm>
              <a:off x="4193165" y="2651859"/>
              <a:ext cx="506744" cy="598693"/>
            </a:xfrm>
            <a:custGeom>
              <a:avLst/>
              <a:gdLst>
                <a:gd name="T0" fmla="*/ 344 w 420"/>
                <a:gd name="T1" fmla="*/ 0 h 496"/>
                <a:gd name="T2" fmla="*/ 332 w 420"/>
                <a:gd name="T3" fmla="*/ 79 h 496"/>
                <a:gd name="T4" fmla="*/ 347 w 420"/>
                <a:gd name="T5" fmla="*/ 92 h 496"/>
                <a:gd name="T6" fmla="*/ 360 w 420"/>
                <a:gd name="T7" fmla="*/ 13 h 496"/>
                <a:gd name="T8" fmla="*/ 193 w 420"/>
                <a:gd name="T9" fmla="*/ 362 h 496"/>
                <a:gd name="T10" fmla="*/ 145 w 420"/>
                <a:gd name="T11" fmla="*/ 410 h 496"/>
                <a:gd name="T12" fmla="*/ 193 w 420"/>
                <a:gd name="T13" fmla="*/ 362 h 496"/>
                <a:gd name="T14" fmla="*/ 229 w 420"/>
                <a:gd name="T15" fmla="*/ 362 h 496"/>
                <a:gd name="T16" fmla="*/ 276 w 420"/>
                <a:gd name="T17" fmla="*/ 410 h 496"/>
                <a:gd name="T18" fmla="*/ 110 w 420"/>
                <a:gd name="T19" fmla="*/ 362 h 496"/>
                <a:gd name="T20" fmla="*/ 62 w 420"/>
                <a:gd name="T21" fmla="*/ 410 h 496"/>
                <a:gd name="T22" fmla="*/ 110 w 420"/>
                <a:gd name="T23" fmla="*/ 362 h 496"/>
                <a:gd name="T24" fmla="*/ 312 w 420"/>
                <a:gd name="T25" fmla="*/ 291 h 496"/>
                <a:gd name="T26" fmla="*/ 360 w 420"/>
                <a:gd name="T27" fmla="*/ 338 h 496"/>
                <a:gd name="T28" fmla="*/ 193 w 420"/>
                <a:gd name="T29" fmla="*/ 291 h 496"/>
                <a:gd name="T30" fmla="*/ 145 w 420"/>
                <a:gd name="T31" fmla="*/ 338 h 496"/>
                <a:gd name="T32" fmla="*/ 193 w 420"/>
                <a:gd name="T33" fmla="*/ 291 h 496"/>
                <a:gd name="T34" fmla="*/ 229 w 420"/>
                <a:gd name="T35" fmla="*/ 291 h 496"/>
                <a:gd name="T36" fmla="*/ 276 w 420"/>
                <a:gd name="T37" fmla="*/ 338 h 496"/>
                <a:gd name="T38" fmla="*/ 110 w 420"/>
                <a:gd name="T39" fmla="*/ 291 h 496"/>
                <a:gd name="T40" fmla="*/ 62 w 420"/>
                <a:gd name="T41" fmla="*/ 338 h 496"/>
                <a:gd name="T42" fmla="*/ 110 w 420"/>
                <a:gd name="T43" fmla="*/ 291 h 496"/>
                <a:gd name="T44" fmla="*/ 312 w 420"/>
                <a:gd name="T45" fmla="*/ 219 h 496"/>
                <a:gd name="T46" fmla="*/ 360 w 420"/>
                <a:gd name="T47" fmla="*/ 267 h 496"/>
                <a:gd name="T48" fmla="*/ 193 w 420"/>
                <a:gd name="T49" fmla="*/ 219 h 496"/>
                <a:gd name="T50" fmla="*/ 145 w 420"/>
                <a:gd name="T51" fmla="*/ 267 h 496"/>
                <a:gd name="T52" fmla="*/ 193 w 420"/>
                <a:gd name="T53" fmla="*/ 219 h 496"/>
                <a:gd name="T54" fmla="*/ 229 w 420"/>
                <a:gd name="T55" fmla="*/ 219 h 496"/>
                <a:gd name="T56" fmla="*/ 276 w 420"/>
                <a:gd name="T57" fmla="*/ 267 h 496"/>
                <a:gd name="T58" fmla="*/ 77 w 420"/>
                <a:gd name="T59" fmla="*/ 0 h 496"/>
                <a:gd name="T60" fmla="*/ 62 w 420"/>
                <a:gd name="T61" fmla="*/ 13 h 496"/>
                <a:gd name="T62" fmla="*/ 75 w 420"/>
                <a:gd name="T63" fmla="*/ 92 h 496"/>
                <a:gd name="T64" fmla="*/ 90 w 420"/>
                <a:gd name="T65" fmla="*/ 79 h 496"/>
                <a:gd name="T66" fmla="*/ 77 w 420"/>
                <a:gd name="T67" fmla="*/ 0 h 496"/>
                <a:gd name="T68" fmla="*/ 392 w 420"/>
                <a:gd name="T69" fmla="*/ 441 h 496"/>
                <a:gd name="T70" fmla="*/ 34 w 420"/>
                <a:gd name="T71" fmla="*/ 446 h 496"/>
                <a:gd name="T72" fmla="*/ 28 w 420"/>
                <a:gd name="T73" fmla="*/ 185 h 496"/>
                <a:gd name="T74" fmla="*/ 386 w 420"/>
                <a:gd name="T75" fmla="*/ 180 h 496"/>
                <a:gd name="T76" fmla="*/ 392 w 420"/>
                <a:gd name="T77" fmla="*/ 460 h 496"/>
                <a:gd name="T78" fmla="*/ 28 w 420"/>
                <a:gd name="T79" fmla="*/ 463 h 496"/>
                <a:gd name="T80" fmla="*/ 392 w 420"/>
                <a:gd name="T81" fmla="*/ 460 h 496"/>
                <a:gd name="T82" fmla="*/ 392 w 420"/>
                <a:gd name="T83" fmla="*/ 481 h 496"/>
                <a:gd name="T84" fmla="*/ 28 w 420"/>
                <a:gd name="T85" fmla="*/ 478 h 496"/>
                <a:gd name="T86" fmla="*/ 386 w 420"/>
                <a:gd name="T87" fmla="*/ 41 h 496"/>
                <a:gd name="T88" fmla="*/ 420 w 420"/>
                <a:gd name="T89" fmla="*/ 463 h 496"/>
                <a:gd name="T90" fmla="*/ 34 w 420"/>
                <a:gd name="T91" fmla="*/ 496 h 496"/>
                <a:gd name="T92" fmla="*/ 0 w 420"/>
                <a:gd name="T93" fmla="*/ 75 h 496"/>
                <a:gd name="T94" fmla="*/ 51 w 420"/>
                <a:gd name="T95" fmla="*/ 41 h 496"/>
                <a:gd name="T96" fmla="*/ 69 w 420"/>
                <a:gd name="T97" fmla="*/ 106 h 496"/>
                <a:gd name="T98" fmla="*/ 101 w 420"/>
                <a:gd name="T99" fmla="*/ 88 h 496"/>
                <a:gd name="T100" fmla="*/ 321 w 420"/>
                <a:gd name="T101" fmla="*/ 41 h 496"/>
                <a:gd name="T102" fmla="*/ 339 w 420"/>
                <a:gd name="T103" fmla="*/ 106 h 496"/>
                <a:gd name="T104" fmla="*/ 370 w 420"/>
                <a:gd name="T105" fmla="*/ 88 h 496"/>
                <a:gd name="T106" fmla="*/ 386 w 420"/>
                <a:gd name="T107" fmla="*/ 41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20" h="496">
                  <a:moveTo>
                    <a:pt x="347" y="0"/>
                  </a:moveTo>
                  <a:cubicBezTo>
                    <a:pt x="346" y="0"/>
                    <a:pt x="345" y="0"/>
                    <a:pt x="344" y="0"/>
                  </a:cubicBezTo>
                  <a:cubicBezTo>
                    <a:pt x="337" y="0"/>
                    <a:pt x="332" y="6"/>
                    <a:pt x="332" y="13"/>
                  </a:cubicBezTo>
                  <a:cubicBezTo>
                    <a:pt x="332" y="79"/>
                    <a:pt x="332" y="79"/>
                    <a:pt x="332" y="79"/>
                  </a:cubicBezTo>
                  <a:cubicBezTo>
                    <a:pt x="332" y="87"/>
                    <a:pt x="337" y="92"/>
                    <a:pt x="344" y="92"/>
                  </a:cubicBezTo>
                  <a:cubicBezTo>
                    <a:pt x="345" y="92"/>
                    <a:pt x="346" y="92"/>
                    <a:pt x="347" y="92"/>
                  </a:cubicBezTo>
                  <a:cubicBezTo>
                    <a:pt x="354" y="92"/>
                    <a:pt x="360" y="87"/>
                    <a:pt x="360" y="79"/>
                  </a:cubicBezTo>
                  <a:cubicBezTo>
                    <a:pt x="360" y="13"/>
                    <a:pt x="360" y="13"/>
                    <a:pt x="360" y="13"/>
                  </a:cubicBezTo>
                  <a:cubicBezTo>
                    <a:pt x="360" y="6"/>
                    <a:pt x="354" y="0"/>
                    <a:pt x="347" y="0"/>
                  </a:cubicBezTo>
                  <a:close/>
                  <a:moveTo>
                    <a:pt x="193" y="362"/>
                  </a:moveTo>
                  <a:cubicBezTo>
                    <a:pt x="177" y="362"/>
                    <a:pt x="161" y="362"/>
                    <a:pt x="145" y="362"/>
                  </a:cubicBezTo>
                  <a:cubicBezTo>
                    <a:pt x="145" y="378"/>
                    <a:pt x="145" y="394"/>
                    <a:pt x="145" y="410"/>
                  </a:cubicBezTo>
                  <a:cubicBezTo>
                    <a:pt x="161" y="410"/>
                    <a:pt x="177" y="410"/>
                    <a:pt x="193" y="410"/>
                  </a:cubicBezTo>
                  <a:cubicBezTo>
                    <a:pt x="193" y="394"/>
                    <a:pt x="193" y="378"/>
                    <a:pt x="193" y="362"/>
                  </a:cubicBezTo>
                  <a:close/>
                  <a:moveTo>
                    <a:pt x="276" y="362"/>
                  </a:moveTo>
                  <a:cubicBezTo>
                    <a:pt x="260" y="362"/>
                    <a:pt x="245" y="362"/>
                    <a:pt x="229" y="362"/>
                  </a:cubicBezTo>
                  <a:cubicBezTo>
                    <a:pt x="229" y="378"/>
                    <a:pt x="229" y="394"/>
                    <a:pt x="229" y="410"/>
                  </a:cubicBezTo>
                  <a:cubicBezTo>
                    <a:pt x="245" y="410"/>
                    <a:pt x="260" y="410"/>
                    <a:pt x="276" y="410"/>
                  </a:cubicBezTo>
                  <a:cubicBezTo>
                    <a:pt x="276" y="394"/>
                    <a:pt x="276" y="378"/>
                    <a:pt x="276" y="362"/>
                  </a:cubicBezTo>
                  <a:close/>
                  <a:moveTo>
                    <a:pt x="110" y="362"/>
                  </a:moveTo>
                  <a:cubicBezTo>
                    <a:pt x="62" y="362"/>
                    <a:pt x="62" y="362"/>
                    <a:pt x="62" y="362"/>
                  </a:cubicBezTo>
                  <a:cubicBezTo>
                    <a:pt x="62" y="410"/>
                    <a:pt x="62" y="410"/>
                    <a:pt x="62" y="410"/>
                  </a:cubicBezTo>
                  <a:cubicBezTo>
                    <a:pt x="110" y="410"/>
                    <a:pt x="110" y="410"/>
                    <a:pt x="110" y="410"/>
                  </a:cubicBezTo>
                  <a:cubicBezTo>
                    <a:pt x="110" y="362"/>
                    <a:pt x="110" y="362"/>
                    <a:pt x="110" y="362"/>
                  </a:cubicBezTo>
                  <a:close/>
                  <a:moveTo>
                    <a:pt x="360" y="291"/>
                  </a:moveTo>
                  <a:cubicBezTo>
                    <a:pt x="312" y="291"/>
                    <a:pt x="312" y="291"/>
                    <a:pt x="312" y="291"/>
                  </a:cubicBezTo>
                  <a:cubicBezTo>
                    <a:pt x="312" y="338"/>
                    <a:pt x="312" y="338"/>
                    <a:pt x="312" y="338"/>
                  </a:cubicBezTo>
                  <a:cubicBezTo>
                    <a:pt x="360" y="338"/>
                    <a:pt x="360" y="338"/>
                    <a:pt x="360" y="338"/>
                  </a:cubicBezTo>
                  <a:cubicBezTo>
                    <a:pt x="360" y="291"/>
                    <a:pt x="360" y="291"/>
                    <a:pt x="360" y="291"/>
                  </a:cubicBezTo>
                  <a:close/>
                  <a:moveTo>
                    <a:pt x="193" y="291"/>
                  </a:moveTo>
                  <a:cubicBezTo>
                    <a:pt x="177" y="291"/>
                    <a:pt x="161" y="291"/>
                    <a:pt x="145" y="291"/>
                  </a:cubicBezTo>
                  <a:cubicBezTo>
                    <a:pt x="145" y="306"/>
                    <a:pt x="145" y="322"/>
                    <a:pt x="145" y="338"/>
                  </a:cubicBezTo>
                  <a:cubicBezTo>
                    <a:pt x="161" y="338"/>
                    <a:pt x="177" y="338"/>
                    <a:pt x="193" y="338"/>
                  </a:cubicBezTo>
                  <a:cubicBezTo>
                    <a:pt x="193" y="322"/>
                    <a:pt x="193" y="306"/>
                    <a:pt x="193" y="291"/>
                  </a:cubicBezTo>
                  <a:close/>
                  <a:moveTo>
                    <a:pt x="276" y="291"/>
                  </a:moveTo>
                  <a:cubicBezTo>
                    <a:pt x="260" y="291"/>
                    <a:pt x="245" y="291"/>
                    <a:pt x="229" y="291"/>
                  </a:cubicBezTo>
                  <a:cubicBezTo>
                    <a:pt x="229" y="306"/>
                    <a:pt x="229" y="322"/>
                    <a:pt x="229" y="338"/>
                  </a:cubicBezTo>
                  <a:cubicBezTo>
                    <a:pt x="245" y="338"/>
                    <a:pt x="260" y="338"/>
                    <a:pt x="276" y="338"/>
                  </a:cubicBezTo>
                  <a:cubicBezTo>
                    <a:pt x="276" y="322"/>
                    <a:pt x="276" y="306"/>
                    <a:pt x="276" y="291"/>
                  </a:cubicBezTo>
                  <a:close/>
                  <a:moveTo>
                    <a:pt x="110" y="291"/>
                  </a:moveTo>
                  <a:cubicBezTo>
                    <a:pt x="62" y="291"/>
                    <a:pt x="62" y="291"/>
                    <a:pt x="62" y="291"/>
                  </a:cubicBezTo>
                  <a:cubicBezTo>
                    <a:pt x="62" y="338"/>
                    <a:pt x="62" y="338"/>
                    <a:pt x="62" y="338"/>
                  </a:cubicBezTo>
                  <a:cubicBezTo>
                    <a:pt x="110" y="338"/>
                    <a:pt x="110" y="338"/>
                    <a:pt x="110" y="338"/>
                  </a:cubicBezTo>
                  <a:cubicBezTo>
                    <a:pt x="110" y="291"/>
                    <a:pt x="110" y="291"/>
                    <a:pt x="110" y="291"/>
                  </a:cubicBezTo>
                  <a:close/>
                  <a:moveTo>
                    <a:pt x="360" y="219"/>
                  </a:moveTo>
                  <a:cubicBezTo>
                    <a:pt x="312" y="219"/>
                    <a:pt x="312" y="219"/>
                    <a:pt x="312" y="219"/>
                  </a:cubicBezTo>
                  <a:cubicBezTo>
                    <a:pt x="312" y="267"/>
                    <a:pt x="312" y="267"/>
                    <a:pt x="312" y="267"/>
                  </a:cubicBezTo>
                  <a:cubicBezTo>
                    <a:pt x="360" y="267"/>
                    <a:pt x="360" y="267"/>
                    <a:pt x="360" y="267"/>
                  </a:cubicBezTo>
                  <a:cubicBezTo>
                    <a:pt x="360" y="219"/>
                    <a:pt x="360" y="219"/>
                    <a:pt x="360" y="219"/>
                  </a:cubicBezTo>
                  <a:close/>
                  <a:moveTo>
                    <a:pt x="193" y="219"/>
                  </a:moveTo>
                  <a:cubicBezTo>
                    <a:pt x="177" y="219"/>
                    <a:pt x="161" y="219"/>
                    <a:pt x="145" y="219"/>
                  </a:cubicBezTo>
                  <a:cubicBezTo>
                    <a:pt x="145" y="235"/>
                    <a:pt x="145" y="251"/>
                    <a:pt x="145" y="267"/>
                  </a:cubicBezTo>
                  <a:cubicBezTo>
                    <a:pt x="161" y="267"/>
                    <a:pt x="177" y="267"/>
                    <a:pt x="193" y="267"/>
                  </a:cubicBezTo>
                  <a:cubicBezTo>
                    <a:pt x="193" y="251"/>
                    <a:pt x="193" y="235"/>
                    <a:pt x="193" y="219"/>
                  </a:cubicBezTo>
                  <a:close/>
                  <a:moveTo>
                    <a:pt x="276" y="219"/>
                  </a:moveTo>
                  <a:cubicBezTo>
                    <a:pt x="260" y="219"/>
                    <a:pt x="245" y="219"/>
                    <a:pt x="229" y="219"/>
                  </a:cubicBezTo>
                  <a:cubicBezTo>
                    <a:pt x="229" y="235"/>
                    <a:pt x="229" y="251"/>
                    <a:pt x="229" y="267"/>
                  </a:cubicBezTo>
                  <a:cubicBezTo>
                    <a:pt x="245" y="267"/>
                    <a:pt x="260" y="267"/>
                    <a:pt x="276" y="267"/>
                  </a:cubicBezTo>
                  <a:cubicBezTo>
                    <a:pt x="276" y="251"/>
                    <a:pt x="276" y="235"/>
                    <a:pt x="276" y="219"/>
                  </a:cubicBezTo>
                  <a:close/>
                  <a:moveTo>
                    <a:pt x="77" y="0"/>
                  </a:moveTo>
                  <a:cubicBezTo>
                    <a:pt x="76" y="0"/>
                    <a:pt x="76" y="0"/>
                    <a:pt x="75" y="0"/>
                  </a:cubicBezTo>
                  <a:cubicBezTo>
                    <a:pt x="68" y="0"/>
                    <a:pt x="62" y="6"/>
                    <a:pt x="62" y="13"/>
                  </a:cubicBezTo>
                  <a:cubicBezTo>
                    <a:pt x="62" y="79"/>
                    <a:pt x="62" y="79"/>
                    <a:pt x="62" y="79"/>
                  </a:cubicBezTo>
                  <a:cubicBezTo>
                    <a:pt x="62" y="87"/>
                    <a:pt x="68" y="92"/>
                    <a:pt x="75" y="92"/>
                  </a:cubicBezTo>
                  <a:cubicBezTo>
                    <a:pt x="76" y="92"/>
                    <a:pt x="76" y="92"/>
                    <a:pt x="77" y="92"/>
                  </a:cubicBezTo>
                  <a:cubicBezTo>
                    <a:pt x="84" y="92"/>
                    <a:pt x="90" y="87"/>
                    <a:pt x="90" y="79"/>
                  </a:cubicBezTo>
                  <a:cubicBezTo>
                    <a:pt x="90" y="13"/>
                    <a:pt x="90" y="13"/>
                    <a:pt x="90" y="13"/>
                  </a:cubicBezTo>
                  <a:cubicBezTo>
                    <a:pt x="90" y="6"/>
                    <a:pt x="84" y="0"/>
                    <a:pt x="77" y="0"/>
                  </a:cubicBezTo>
                  <a:close/>
                  <a:moveTo>
                    <a:pt x="392" y="185"/>
                  </a:moveTo>
                  <a:cubicBezTo>
                    <a:pt x="392" y="441"/>
                    <a:pt x="392" y="441"/>
                    <a:pt x="392" y="441"/>
                  </a:cubicBezTo>
                  <a:cubicBezTo>
                    <a:pt x="392" y="443"/>
                    <a:pt x="389" y="446"/>
                    <a:pt x="386" y="446"/>
                  </a:cubicBezTo>
                  <a:cubicBezTo>
                    <a:pt x="34" y="446"/>
                    <a:pt x="34" y="446"/>
                    <a:pt x="34" y="446"/>
                  </a:cubicBezTo>
                  <a:cubicBezTo>
                    <a:pt x="31" y="446"/>
                    <a:pt x="28" y="443"/>
                    <a:pt x="28" y="441"/>
                  </a:cubicBezTo>
                  <a:cubicBezTo>
                    <a:pt x="28" y="185"/>
                    <a:pt x="28" y="185"/>
                    <a:pt x="28" y="185"/>
                  </a:cubicBezTo>
                  <a:cubicBezTo>
                    <a:pt x="28" y="182"/>
                    <a:pt x="31" y="180"/>
                    <a:pt x="34" y="180"/>
                  </a:cubicBezTo>
                  <a:cubicBezTo>
                    <a:pt x="386" y="180"/>
                    <a:pt x="386" y="180"/>
                    <a:pt x="386" y="180"/>
                  </a:cubicBezTo>
                  <a:cubicBezTo>
                    <a:pt x="389" y="180"/>
                    <a:pt x="392" y="182"/>
                    <a:pt x="392" y="185"/>
                  </a:cubicBezTo>
                  <a:close/>
                  <a:moveTo>
                    <a:pt x="392" y="460"/>
                  </a:moveTo>
                  <a:cubicBezTo>
                    <a:pt x="392" y="463"/>
                    <a:pt x="392" y="463"/>
                    <a:pt x="392" y="463"/>
                  </a:cubicBezTo>
                  <a:cubicBezTo>
                    <a:pt x="28" y="463"/>
                    <a:pt x="28" y="463"/>
                    <a:pt x="28" y="463"/>
                  </a:cubicBezTo>
                  <a:cubicBezTo>
                    <a:pt x="28" y="460"/>
                    <a:pt x="28" y="460"/>
                    <a:pt x="28" y="460"/>
                  </a:cubicBezTo>
                  <a:cubicBezTo>
                    <a:pt x="392" y="460"/>
                    <a:pt x="392" y="460"/>
                    <a:pt x="392" y="460"/>
                  </a:cubicBezTo>
                  <a:close/>
                  <a:moveTo>
                    <a:pt x="392" y="478"/>
                  </a:moveTo>
                  <a:cubicBezTo>
                    <a:pt x="392" y="481"/>
                    <a:pt x="392" y="481"/>
                    <a:pt x="392" y="481"/>
                  </a:cubicBezTo>
                  <a:cubicBezTo>
                    <a:pt x="28" y="481"/>
                    <a:pt x="28" y="481"/>
                    <a:pt x="28" y="481"/>
                  </a:cubicBezTo>
                  <a:cubicBezTo>
                    <a:pt x="28" y="478"/>
                    <a:pt x="28" y="478"/>
                    <a:pt x="28" y="478"/>
                  </a:cubicBezTo>
                  <a:cubicBezTo>
                    <a:pt x="392" y="478"/>
                    <a:pt x="392" y="478"/>
                    <a:pt x="392" y="478"/>
                  </a:cubicBezTo>
                  <a:close/>
                  <a:moveTo>
                    <a:pt x="386" y="41"/>
                  </a:moveTo>
                  <a:cubicBezTo>
                    <a:pt x="405" y="41"/>
                    <a:pt x="420" y="56"/>
                    <a:pt x="420" y="75"/>
                  </a:cubicBezTo>
                  <a:cubicBezTo>
                    <a:pt x="420" y="463"/>
                    <a:pt x="420" y="463"/>
                    <a:pt x="420" y="463"/>
                  </a:cubicBezTo>
                  <a:cubicBezTo>
                    <a:pt x="420" y="481"/>
                    <a:pt x="405" y="496"/>
                    <a:pt x="386" y="496"/>
                  </a:cubicBezTo>
                  <a:cubicBezTo>
                    <a:pt x="269" y="496"/>
                    <a:pt x="151" y="496"/>
                    <a:pt x="34" y="496"/>
                  </a:cubicBezTo>
                  <a:cubicBezTo>
                    <a:pt x="15" y="496"/>
                    <a:pt x="0" y="481"/>
                    <a:pt x="0" y="463"/>
                  </a:cubicBezTo>
                  <a:cubicBezTo>
                    <a:pt x="0" y="75"/>
                    <a:pt x="0" y="75"/>
                    <a:pt x="0" y="75"/>
                  </a:cubicBezTo>
                  <a:cubicBezTo>
                    <a:pt x="0" y="56"/>
                    <a:pt x="15" y="41"/>
                    <a:pt x="34" y="41"/>
                  </a:cubicBezTo>
                  <a:cubicBezTo>
                    <a:pt x="51" y="41"/>
                    <a:pt x="51" y="41"/>
                    <a:pt x="51" y="41"/>
                  </a:cubicBezTo>
                  <a:cubicBezTo>
                    <a:pt x="51" y="57"/>
                    <a:pt x="51" y="72"/>
                    <a:pt x="51" y="88"/>
                  </a:cubicBezTo>
                  <a:cubicBezTo>
                    <a:pt x="51" y="98"/>
                    <a:pt x="59" y="106"/>
                    <a:pt x="69" y="106"/>
                  </a:cubicBezTo>
                  <a:cubicBezTo>
                    <a:pt x="74" y="106"/>
                    <a:pt x="78" y="106"/>
                    <a:pt x="83" y="106"/>
                  </a:cubicBezTo>
                  <a:cubicBezTo>
                    <a:pt x="93" y="106"/>
                    <a:pt x="101" y="98"/>
                    <a:pt x="101" y="88"/>
                  </a:cubicBezTo>
                  <a:cubicBezTo>
                    <a:pt x="101" y="72"/>
                    <a:pt x="101" y="57"/>
                    <a:pt x="101" y="41"/>
                  </a:cubicBezTo>
                  <a:cubicBezTo>
                    <a:pt x="321" y="41"/>
                    <a:pt x="321" y="41"/>
                    <a:pt x="321" y="41"/>
                  </a:cubicBezTo>
                  <a:cubicBezTo>
                    <a:pt x="321" y="57"/>
                    <a:pt x="321" y="72"/>
                    <a:pt x="321" y="88"/>
                  </a:cubicBezTo>
                  <a:cubicBezTo>
                    <a:pt x="321" y="98"/>
                    <a:pt x="329" y="106"/>
                    <a:pt x="339" y="106"/>
                  </a:cubicBezTo>
                  <a:cubicBezTo>
                    <a:pt x="343" y="106"/>
                    <a:pt x="348" y="106"/>
                    <a:pt x="352" y="106"/>
                  </a:cubicBezTo>
                  <a:cubicBezTo>
                    <a:pt x="362" y="106"/>
                    <a:pt x="370" y="98"/>
                    <a:pt x="370" y="88"/>
                  </a:cubicBezTo>
                  <a:cubicBezTo>
                    <a:pt x="370" y="72"/>
                    <a:pt x="370" y="57"/>
                    <a:pt x="370" y="41"/>
                  </a:cubicBezTo>
                  <a:lnTo>
                    <a:pt x="386" y="41"/>
                  </a:lnTo>
                  <a:close/>
                </a:path>
              </a:pathLst>
            </a:custGeom>
            <a:solidFill>
              <a:schemeClr val="bg1"/>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0" name="Freeform 30"/>
            <p:cNvSpPr>
              <a:spLocks noEditPoints="1"/>
            </p:cNvSpPr>
            <p:nvPr/>
          </p:nvSpPr>
          <p:spPr bwMode="auto">
            <a:xfrm>
              <a:off x="7516809" y="2606482"/>
              <a:ext cx="551558" cy="689448"/>
            </a:xfrm>
            <a:custGeom>
              <a:avLst/>
              <a:gdLst>
                <a:gd name="T0" fmla="*/ 100 w 408"/>
                <a:gd name="T1" fmla="*/ 18 h 510"/>
                <a:gd name="T2" fmla="*/ 290 w 408"/>
                <a:gd name="T3" fmla="*/ 368 h 510"/>
                <a:gd name="T4" fmla="*/ 345 w 408"/>
                <a:gd name="T5" fmla="*/ 332 h 510"/>
                <a:gd name="T6" fmla="*/ 259 w 408"/>
                <a:gd name="T7" fmla="*/ 464 h 510"/>
                <a:gd name="T8" fmla="*/ 267 w 408"/>
                <a:gd name="T9" fmla="*/ 397 h 510"/>
                <a:gd name="T10" fmla="*/ 241 w 408"/>
                <a:gd name="T11" fmla="*/ 345 h 510"/>
                <a:gd name="T12" fmla="*/ 216 w 408"/>
                <a:gd name="T13" fmla="*/ 319 h 510"/>
                <a:gd name="T14" fmla="*/ 320 w 408"/>
                <a:gd name="T15" fmla="*/ 474 h 510"/>
                <a:gd name="T16" fmla="*/ 159 w 408"/>
                <a:gd name="T17" fmla="*/ 386 h 510"/>
                <a:gd name="T18" fmla="*/ 196 w 408"/>
                <a:gd name="T19" fmla="*/ 298 h 510"/>
                <a:gd name="T20" fmla="*/ 229 w 408"/>
                <a:gd name="T21" fmla="*/ 381 h 510"/>
                <a:gd name="T22" fmla="*/ 338 w 408"/>
                <a:gd name="T23" fmla="*/ 391 h 510"/>
                <a:gd name="T24" fmla="*/ 278 w 408"/>
                <a:gd name="T25" fmla="*/ 440 h 510"/>
                <a:gd name="T26" fmla="*/ 289 w 408"/>
                <a:gd name="T27" fmla="*/ 332 h 510"/>
                <a:gd name="T28" fmla="*/ 126 w 408"/>
                <a:gd name="T29" fmla="*/ 86 h 510"/>
                <a:gd name="T30" fmla="*/ 138 w 408"/>
                <a:gd name="T31" fmla="*/ 19 h 510"/>
                <a:gd name="T32" fmla="*/ 217 w 408"/>
                <a:gd name="T33" fmla="*/ 61 h 510"/>
                <a:gd name="T34" fmla="*/ 127 w 408"/>
                <a:gd name="T35" fmla="*/ 22 h 510"/>
                <a:gd name="T36" fmla="*/ 244 w 408"/>
                <a:gd name="T37" fmla="*/ 59 h 510"/>
                <a:gd name="T38" fmla="*/ 134 w 408"/>
                <a:gd name="T39" fmla="*/ 343 h 510"/>
                <a:gd name="T40" fmla="*/ 87 w 408"/>
                <a:gd name="T41" fmla="*/ 290 h 510"/>
                <a:gd name="T42" fmla="*/ 86 w 408"/>
                <a:gd name="T43" fmla="*/ 290 h 510"/>
                <a:gd name="T44" fmla="*/ 85 w 408"/>
                <a:gd name="T45" fmla="*/ 290 h 510"/>
                <a:gd name="T46" fmla="*/ 84 w 408"/>
                <a:gd name="T47" fmla="*/ 289 h 510"/>
                <a:gd name="T48" fmla="*/ 83 w 408"/>
                <a:gd name="T49" fmla="*/ 289 h 510"/>
                <a:gd name="T50" fmla="*/ 83 w 408"/>
                <a:gd name="T51" fmla="*/ 289 h 510"/>
                <a:gd name="T52" fmla="*/ 82 w 408"/>
                <a:gd name="T53" fmla="*/ 289 h 510"/>
                <a:gd name="T54" fmla="*/ 81 w 408"/>
                <a:gd name="T55" fmla="*/ 288 h 510"/>
                <a:gd name="T56" fmla="*/ 81 w 408"/>
                <a:gd name="T57" fmla="*/ 288 h 510"/>
                <a:gd name="T58" fmla="*/ 80 w 408"/>
                <a:gd name="T59" fmla="*/ 287 h 510"/>
                <a:gd name="T60" fmla="*/ 80 w 408"/>
                <a:gd name="T61" fmla="*/ 287 h 510"/>
                <a:gd name="T62" fmla="*/ 79 w 408"/>
                <a:gd name="T63" fmla="*/ 286 h 510"/>
                <a:gd name="T64" fmla="*/ 79 w 408"/>
                <a:gd name="T65" fmla="*/ 285 h 510"/>
                <a:gd name="T66" fmla="*/ 78 w 408"/>
                <a:gd name="T67" fmla="*/ 284 h 510"/>
                <a:gd name="T68" fmla="*/ 78 w 408"/>
                <a:gd name="T69" fmla="*/ 284 h 510"/>
                <a:gd name="T70" fmla="*/ 78 w 408"/>
                <a:gd name="T71" fmla="*/ 283 h 510"/>
                <a:gd name="T72" fmla="*/ 78 w 408"/>
                <a:gd name="T73" fmla="*/ 282 h 510"/>
                <a:gd name="T74" fmla="*/ 77 w 408"/>
                <a:gd name="T75" fmla="*/ 281 h 510"/>
                <a:gd name="T76" fmla="*/ 77 w 408"/>
                <a:gd name="T77" fmla="*/ 281 h 510"/>
                <a:gd name="T78" fmla="*/ 77 w 408"/>
                <a:gd name="T79" fmla="*/ 280 h 510"/>
                <a:gd name="T80" fmla="*/ 77 w 408"/>
                <a:gd name="T81" fmla="*/ 279 h 510"/>
                <a:gd name="T82" fmla="*/ 78 w 408"/>
                <a:gd name="T83" fmla="*/ 278 h 510"/>
                <a:gd name="T84" fmla="*/ 78 w 408"/>
                <a:gd name="T85" fmla="*/ 278 h 510"/>
                <a:gd name="T86" fmla="*/ 78 w 408"/>
                <a:gd name="T87" fmla="*/ 277 h 510"/>
                <a:gd name="T88" fmla="*/ 79 w 408"/>
                <a:gd name="T89" fmla="*/ 276 h 510"/>
                <a:gd name="T90" fmla="*/ 79 w 408"/>
                <a:gd name="T91" fmla="*/ 275 h 510"/>
                <a:gd name="T92" fmla="*/ 80 w 408"/>
                <a:gd name="T93" fmla="*/ 274 h 510"/>
                <a:gd name="T94" fmla="*/ 80 w 408"/>
                <a:gd name="T95" fmla="*/ 274 h 510"/>
                <a:gd name="T96" fmla="*/ 81 w 408"/>
                <a:gd name="T97" fmla="*/ 273 h 510"/>
                <a:gd name="T98" fmla="*/ 82 w 408"/>
                <a:gd name="T99" fmla="*/ 272 h 510"/>
                <a:gd name="T100" fmla="*/ 83 w 408"/>
                <a:gd name="T101" fmla="*/ 272 h 510"/>
                <a:gd name="T102" fmla="*/ 84 w 408"/>
                <a:gd name="T103" fmla="*/ 272 h 510"/>
                <a:gd name="T104" fmla="*/ 86 w 408"/>
                <a:gd name="T105" fmla="*/ 271 h 510"/>
                <a:gd name="T106" fmla="*/ 77 w 408"/>
                <a:gd name="T107" fmla="*/ 280 h 510"/>
                <a:gd name="T108" fmla="*/ 87 w 408"/>
                <a:gd name="T109" fmla="*/ 237 h 510"/>
                <a:gd name="T110" fmla="*/ 267 w 408"/>
                <a:gd name="T111" fmla="*/ 175 h 510"/>
                <a:gd name="T112" fmla="*/ 258 w 408"/>
                <a:gd name="T113" fmla="*/ 115 h 510"/>
                <a:gd name="T114" fmla="*/ 87 w 408"/>
                <a:gd name="T115" fmla="*/ 115 h 510"/>
                <a:gd name="T116" fmla="*/ 212 w 408"/>
                <a:gd name="T117" fmla="*/ 28 h 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08" h="510">
                  <a:moveTo>
                    <a:pt x="23" y="460"/>
                  </a:moveTo>
                  <a:cubicBezTo>
                    <a:pt x="147" y="460"/>
                    <a:pt x="147" y="460"/>
                    <a:pt x="147" y="460"/>
                  </a:cubicBezTo>
                  <a:cubicBezTo>
                    <a:pt x="140" y="447"/>
                    <a:pt x="135" y="434"/>
                    <a:pt x="132" y="419"/>
                  </a:cubicBezTo>
                  <a:cubicBezTo>
                    <a:pt x="43" y="419"/>
                    <a:pt x="43" y="419"/>
                    <a:pt x="43" y="419"/>
                  </a:cubicBezTo>
                  <a:cubicBezTo>
                    <a:pt x="43" y="59"/>
                    <a:pt x="43" y="59"/>
                    <a:pt x="43" y="59"/>
                  </a:cubicBezTo>
                  <a:cubicBezTo>
                    <a:pt x="100" y="59"/>
                    <a:pt x="100" y="59"/>
                    <a:pt x="100" y="59"/>
                  </a:cubicBezTo>
                  <a:cubicBezTo>
                    <a:pt x="100" y="18"/>
                    <a:pt x="100" y="18"/>
                    <a:pt x="100" y="18"/>
                  </a:cubicBezTo>
                  <a:cubicBezTo>
                    <a:pt x="23" y="18"/>
                    <a:pt x="23" y="18"/>
                    <a:pt x="23" y="18"/>
                  </a:cubicBezTo>
                  <a:cubicBezTo>
                    <a:pt x="11" y="18"/>
                    <a:pt x="0" y="28"/>
                    <a:pt x="0" y="41"/>
                  </a:cubicBezTo>
                  <a:cubicBezTo>
                    <a:pt x="0" y="437"/>
                    <a:pt x="0" y="437"/>
                    <a:pt x="0" y="437"/>
                  </a:cubicBezTo>
                  <a:cubicBezTo>
                    <a:pt x="0" y="450"/>
                    <a:pt x="11" y="460"/>
                    <a:pt x="23" y="460"/>
                  </a:cubicBezTo>
                  <a:close/>
                  <a:moveTo>
                    <a:pt x="286" y="370"/>
                  </a:moveTo>
                  <a:cubicBezTo>
                    <a:pt x="286" y="370"/>
                    <a:pt x="287" y="369"/>
                    <a:pt x="287" y="369"/>
                  </a:cubicBezTo>
                  <a:cubicBezTo>
                    <a:pt x="288" y="368"/>
                    <a:pt x="289" y="368"/>
                    <a:pt x="290" y="368"/>
                  </a:cubicBezTo>
                  <a:cubicBezTo>
                    <a:pt x="291" y="369"/>
                    <a:pt x="291" y="369"/>
                    <a:pt x="291" y="370"/>
                  </a:cubicBezTo>
                  <a:cubicBezTo>
                    <a:pt x="292" y="370"/>
                    <a:pt x="292" y="370"/>
                    <a:pt x="292" y="370"/>
                  </a:cubicBezTo>
                  <a:cubicBezTo>
                    <a:pt x="337" y="325"/>
                    <a:pt x="337" y="325"/>
                    <a:pt x="337" y="325"/>
                  </a:cubicBezTo>
                  <a:cubicBezTo>
                    <a:pt x="338" y="324"/>
                    <a:pt x="340" y="323"/>
                    <a:pt x="341" y="323"/>
                  </a:cubicBezTo>
                  <a:cubicBezTo>
                    <a:pt x="342" y="323"/>
                    <a:pt x="344" y="324"/>
                    <a:pt x="345" y="325"/>
                  </a:cubicBezTo>
                  <a:cubicBezTo>
                    <a:pt x="346" y="326"/>
                    <a:pt x="346" y="327"/>
                    <a:pt x="346" y="329"/>
                  </a:cubicBezTo>
                  <a:cubicBezTo>
                    <a:pt x="346" y="330"/>
                    <a:pt x="346" y="331"/>
                    <a:pt x="345" y="332"/>
                  </a:cubicBezTo>
                  <a:cubicBezTo>
                    <a:pt x="293" y="384"/>
                    <a:pt x="293" y="384"/>
                    <a:pt x="293" y="384"/>
                  </a:cubicBezTo>
                  <a:cubicBezTo>
                    <a:pt x="300" y="389"/>
                    <a:pt x="300" y="389"/>
                    <a:pt x="300" y="389"/>
                  </a:cubicBezTo>
                  <a:cubicBezTo>
                    <a:pt x="302" y="391"/>
                    <a:pt x="303" y="392"/>
                    <a:pt x="303" y="394"/>
                  </a:cubicBezTo>
                  <a:cubicBezTo>
                    <a:pt x="304" y="398"/>
                    <a:pt x="301" y="402"/>
                    <a:pt x="297" y="403"/>
                  </a:cubicBezTo>
                  <a:cubicBezTo>
                    <a:pt x="295" y="403"/>
                    <a:pt x="293" y="403"/>
                    <a:pt x="291" y="401"/>
                  </a:cubicBezTo>
                  <a:cubicBezTo>
                    <a:pt x="283" y="396"/>
                    <a:pt x="283" y="396"/>
                    <a:pt x="283" y="396"/>
                  </a:cubicBezTo>
                  <a:cubicBezTo>
                    <a:pt x="259" y="464"/>
                    <a:pt x="259" y="464"/>
                    <a:pt x="259" y="464"/>
                  </a:cubicBezTo>
                  <a:cubicBezTo>
                    <a:pt x="259" y="465"/>
                    <a:pt x="258" y="465"/>
                    <a:pt x="258" y="466"/>
                  </a:cubicBezTo>
                  <a:cubicBezTo>
                    <a:pt x="256" y="466"/>
                    <a:pt x="254" y="466"/>
                    <a:pt x="253" y="464"/>
                  </a:cubicBezTo>
                  <a:cubicBezTo>
                    <a:pt x="253" y="463"/>
                    <a:pt x="253" y="463"/>
                    <a:pt x="253" y="462"/>
                  </a:cubicBezTo>
                  <a:cubicBezTo>
                    <a:pt x="274" y="402"/>
                    <a:pt x="274" y="402"/>
                    <a:pt x="274" y="402"/>
                  </a:cubicBezTo>
                  <a:cubicBezTo>
                    <a:pt x="274" y="402"/>
                    <a:pt x="273" y="403"/>
                    <a:pt x="272" y="403"/>
                  </a:cubicBezTo>
                  <a:cubicBezTo>
                    <a:pt x="271" y="403"/>
                    <a:pt x="270" y="402"/>
                    <a:pt x="269" y="401"/>
                  </a:cubicBezTo>
                  <a:cubicBezTo>
                    <a:pt x="268" y="400"/>
                    <a:pt x="267" y="399"/>
                    <a:pt x="267" y="397"/>
                  </a:cubicBezTo>
                  <a:cubicBezTo>
                    <a:pt x="267" y="396"/>
                    <a:pt x="268" y="394"/>
                    <a:pt x="269" y="393"/>
                  </a:cubicBezTo>
                  <a:cubicBezTo>
                    <a:pt x="274" y="388"/>
                    <a:pt x="274" y="388"/>
                    <a:pt x="274" y="388"/>
                  </a:cubicBezTo>
                  <a:cubicBezTo>
                    <a:pt x="232" y="357"/>
                    <a:pt x="232" y="357"/>
                    <a:pt x="232" y="357"/>
                  </a:cubicBezTo>
                  <a:cubicBezTo>
                    <a:pt x="231" y="356"/>
                    <a:pt x="230" y="354"/>
                    <a:pt x="229" y="352"/>
                  </a:cubicBezTo>
                  <a:cubicBezTo>
                    <a:pt x="229" y="350"/>
                    <a:pt x="230" y="348"/>
                    <a:pt x="231" y="347"/>
                  </a:cubicBezTo>
                  <a:cubicBezTo>
                    <a:pt x="232" y="345"/>
                    <a:pt x="234" y="344"/>
                    <a:pt x="236" y="344"/>
                  </a:cubicBezTo>
                  <a:cubicBezTo>
                    <a:pt x="238" y="344"/>
                    <a:pt x="240" y="344"/>
                    <a:pt x="241" y="345"/>
                  </a:cubicBezTo>
                  <a:cubicBezTo>
                    <a:pt x="283" y="377"/>
                    <a:pt x="283" y="377"/>
                    <a:pt x="283" y="377"/>
                  </a:cubicBezTo>
                  <a:cubicBezTo>
                    <a:pt x="286" y="370"/>
                    <a:pt x="286" y="370"/>
                    <a:pt x="286" y="370"/>
                  </a:cubicBezTo>
                  <a:close/>
                  <a:moveTo>
                    <a:pt x="350" y="319"/>
                  </a:moveTo>
                  <a:cubicBezTo>
                    <a:pt x="342" y="310"/>
                    <a:pt x="331" y="303"/>
                    <a:pt x="320" y="299"/>
                  </a:cubicBezTo>
                  <a:cubicBezTo>
                    <a:pt x="309" y="294"/>
                    <a:pt x="296" y="291"/>
                    <a:pt x="283" y="291"/>
                  </a:cubicBezTo>
                  <a:cubicBezTo>
                    <a:pt x="271" y="291"/>
                    <a:pt x="258" y="294"/>
                    <a:pt x="247" y="299"/>
                  </a:cubicBezTo>
                  <a:cubicBezTo>
                    <a:pt x="236" y="303"/>
                    <a:pt x="225" y="310"/>
                    <a:pt x="216" y="319"/>
                  </a:cubicBezTo>
                  <a:cubicBezTo>
                    <a:pt x="208" y="328"/>
                    <a:pt x="201" y="338"/>
                    <a:pt x="196" y="350"/>
                  </a:cubicBezTo>
                  <a:cubicBezTo>
                    <a:pt x="191" y="361"/>
                    <a:pt x="189" y="373"/>
                    <a:pt x="189" y="386"/>
                  </a:cubicBezTo>
                  <a:cubicBezTo>
                    <a:pt x="189" y="399"/>
                    <a:pt x="191" y="411"/>
                    <a:pt x="196" y="422"/>
                  </a:cubicBezTo>
                  <a:cubicBezTo>
                    <a:pt x="201" y="434"/>
                    <a:pt x="208" y="444"/>
                    <a:pt x="216" y="453"/>
                  </a:cubicBezTo>
                  <a:cubicBezTo>
                    <a:pt x="225" y="462"/>
                    <a:pt x="236" y="469"/>
                    <a:pt x="247" y="474"/>
                  </a:cubicBezTo>
                  <a:cubicBezTo>
                    <a:pt x="258" y="478"/>
                    <a:pt x="271" y="481"/>
                    <a:pt x="283" y="481"/>
                  </a:cubicBezTo>
                  <a:cubicBezTo>
                    <a:pt x="296" y="481"/>
                    <a:pt x="309" y="478"/>
                    <a:pt x="320" y="474"/>
                  </a:cubicBezTo>
                  <a:cubicBezTo>
                    <a:pt x="331" y="469"/>
                    <a:pt x="342" y="462"/>
                    <a:pt x="350" y="453"/>
                  </a:cubicBezTo>
                  <a:cubicBezTo>
                    <a:pt x="359" y="444"/>
                    <a:pt x="366" y="434"/>
                    <a:pt x="371" y="422"/>
                  </a:cubicBezTo>
                  <a:cubicBezTo>
                    <a:pt x="376" y="411"/>
                    <a:pt x="378" y="399"/>
                    <a:pt x="378" y="386"/>
                  </a:cubicBezTo>
                  <a:cubicBezTo>
                    <a:pt x="378" y="373"/>
                    <a:pt x="376" y="361"/>
                    <a:pt x="371" y="350"/>
                  </a:cubicBezTo>
                  <a:cubicBezTo>
                    <a:pt x="366" y="338"/>
                    <a:pt x="359" y="328"/>
                    <a:pt x="350" y="319"/>
                  </a:cubicBezTo>
                  <a:close/>
                  <a:moveTo>
                    <a:pt x="196" y="298"/>
                  </a:moveTo>
                  <a:cubicBezTo>
                    <a:pt x="173" y="321"/>
                    <a:pt x="159" y="352"/>
                    <a:pt x="159" y="386"/>
                  </a:cubicBezTo>
                  <a:cubicBezTo>
                    <a:pt x="159" y="420"/>
                    <a:pt x="173" y="451"/>
                    <a:pt x="196" y="474"/>
                  </a:cubicBezTo>
                  <a:cubicBezTo>
                    <a:pt x="218" y="496"/>
                    <a:pt x="249" y="510"/>
                    <a:pt x="283" y="510"/>
                  </a:cubicBezTo>
                  <a:cubicBezTo>
                    <a:pt x="318" y="510"/>
                    <a:pt x="349" y="496"/>
                    <a:pt x="371" y="474"/>
                  </a:cubicBezTo>
                  <a:cubicBezTo>
                    <a:pt x="394" y="451"/>
                    <a:pt x="408" y="420"/>
                    <a:pt x="408" y="386"/>
                  </a:cubicBezTo>
                  <a:cubicBezTo>
                    <a:pt x="408" y="352"/>
                    <a:pt x="394" y="321"/>
                    <a:pt x="371" y="298"/>
                  </a:cubicBezTo>
                  <a:cubicBezTo>
                    <a:pt x="349" y="276"/>
                    <a:pt x="318" y="262"/>
                    <a:pt x="283" y="262"/>
                  </a:cubicBezTo>
                  <a:cubicBezTo>
                    <a:pt x="249" y="262"/>
                    <a:pt x="218" y="276"/>
                    <a:pt x="196" y="298"/>
                  </a:cubicBezTo>
                  <a:close/>
                  <a:moveTo>
                    <a:pt x="229" y="381"/>
                  </a:moveTo>
                  <a:cubicBezTo>
                    <a:pt x="202" y="381"/>
                    <a:pt x="202" y="381"/>
                    <a:pt x="202" y="381"/>
                  </a:cubicBezTo>
                  <a:cubicBezTo>
                    <a:pt x="199" y="381"/>
                    <a:pt x="197" y="383"/>
                    <a:pt x="197" y="386"/>
                  </a:cubicBezTo>
                  <a:cubicBezTo>
                    <a:pt x="197" y="389"/>
                    <a:pt x="199" y="391"/>
                    <a:pt x="202" y="391"/>
                  </a:cubicBezTo>
                  <a:cubicBezTo>
                    <a:pt x="229" y="391"/>
                    <a:pt x="229" y="391"/>
                    <a:pt x="229" y="391"/>
                  </a:cubicBezTo>
                  <a:cubicBezTo>
                    <a:pt x="232" y="391"/>
                    <a:pt x="235" y="389"/>
                    <a:pt x="235" y="386"/>
                  </a:cubicBezTo>
                  <a:cubicBezTo>
                    <a:pt x="235" y="383"/>
                    <a:pt x="232" y="381"/>
                    <a:pt x="229" y="381"/>
                  </a:cubicBezTo>
                  <a:close/>
                  <a:moveTo>
                    <a:pt x="338" y="391"/>
                  </a:moveTo>
                  <a:cubicBezTo>
                    <a:pt x="365" y="391"/>
                    <a:pt x="365" y="391"/>
                    <a:pt x="365" y="391"/>
                  </a:cubicBezTo>
                  <a:cubicBezTo>
                    <a:pt x="368" y="391"/>
                    <a:pt x="370" y="389"/>
                    <a:pt x="370" y="386"/>
                  </a:cubicBezTo>
                  <a:cubicBezTo>
                    <a:pt x="370" y="383"/>
                    <a:pt x="368" y="381"/>
                    <a:pt x="365" y="381"/>
                  </a:cubicBezTo>
                  <a:cubicBezTo>
                    <a:pt x="338" y="381"/>
                    <a:pt x="338" y="381"/>
                    <a:pt x="338" y="381"/>
                  </a:cubicBezTo>
                  <a:cubicBezTo>
                    <a:pt x="335" y="381"/>
                    <a:pt x="332" y="383"/>
                    <a:pt x="332" y="386"/>
                  </a:cubicBezTo>
                  <a:cubicBezTo>
                    <a:pt x="332" y="389"/>
                    <a:pt x="335" y="391"/>
                    <a:pt x="338" y="391"/>
                  </a:cubicBezTo>
                  <a:close/>
                  <a:moveTo>
                    <a:pt x="278" y="440"/>
                  </a:moveTo>
                  <a:cubicBezTo>
                    <a:pt x="278" y="467"/>
                    <a:pt x="278" y="467"/>
                    <a:pt x="278" y="467"/>
                  </a:cubicBezTo>
                  <a:cubicBezTo>
                    <a:pt x="278" y="470"/>
                    <a:pt x="280" y="473"/>
                    <a:pt x="283" y="473"/>
                  </a:cubicBezTo>
                  <a:cubicBezTo>
                    <a:pt x="286" y="473"/>
                    <a:pt x="289" y="470"/>
                    <a:pt x="289" y="467"/>
                  </a:cubicBezTo>
                  <a:cubicBezTo>
                    <a:pt x="289" y="440"/>
                    <a:pt x="289" y="440"/>
                    <a:pt x="289" y="440"/>
                  </a:cubicBezTo>
                  <a:cubicBezTo>
                    <a:pt x="289" y="437"/>
                    <a:pt x="286" y="435"/>
                    <a:pt x="283" y="435"/>
                  </a:cubicBezTo>
                  <a:cubicBezTo>
                    <a:pt x="280" y="435"/>
                    <a:pt x="278" y="437"/>
                    <a:pt x="278" y="440"/>
                  </a:cubicBezTo>
                  <a:close/>
                  <a:moveTo>
                    <a:pt x="289" y="332"/>
                  </a:moveTo>
                  <a:cubicBezTo>
                    <a:pt x="289" y="305"/>
                    <a:pt x="289" y="305"/>
                    <a:pt x="289" y="305"/>
                  </a:cubicBezTo>
                  <a:cubicBezTo>
                    <a:pt x="289" y="302"/>
                    <a:pt x="286" y="299"/>
                    <a:pt x="283" y="299"/>
                  </a:cubicBezTo>
                  <a:cubicBezTo>
                    <a:pt x="280" y="299"/>
                    <a:pt x="278" y="302"/>
                    <a:pt x="278" y="305"/>
                  </a:cubicBezTo>
                  <a:cubicBezTo>
                    <a:pt x="278" y="332"/>
                    <a:pt x="278" y="332"/>
                    <a:pt x="278" y="332"/>
                  </a:cubicBezTo>
                  <a:cubicBezTo>
                    <a:pt x="278" y="335"/>
                    <a:pt x="280" y="337"/>
                    <a:pt x="283" y="337"/>
                  </a:cubicBezTo>
                  <a:cubicBezTo>
                    <a:pt x="286" y="337"/>
                    <a:pt x="289" y="335"/>
                    <a:pt x="289" y="332"/>
                  </a:cubicBezTo>
                  <a:close/>
                  <a:moveTo>
                    <a:pt x="218" y="0"/>
                  </a:moveTo>
                  <a:cubicBezTo>
                    <a:pt x="224" y="0"/>
                    <a:pt x="228" y="2"/>
                    <a:pt x="232" y="4"/>
                  </a:cubicBezTo>
                  <a:cubicBezTo>
                    <a:pt x="235" y="7"/>
                    <a:pt x="237" y="11"/>
                    <a:pt x="237" y="14"/>
                  </a:cubicBezTo>
                  <a:cubicBezTo>
                    <a:pt x="237" y="72"/>
                    <a:pt x="237" y="72"/>
                    <a:pt x="237" y="72"/>
                  </a:cubicBezTo>
                  <a:cubicBezTo>
                    <a:pt x="237" y="75"/>
                    <a:pt x="235" y="79"/>
                    <a:pt x="232" y="82"/>
                  </a:cubicBezTo>
                  <a:cubicBezTo>
                    <a:pt x="228" y="84"/>
                    <a:pt x="224" y="86"/>
                    <a:pt x="218" y="86"/>
                  </a:cubicBezTo>
                  <a:cubicBezTo>
                    <a:pt x="126" y="86"/>
                    <a:pt x="126" y="86"/>
                    <a:pt x="126" y="86"/>
                  </a:cubicBezTo>
                  <a:cubicBezTo>
                    <a:pt x="121" y="86"/>
                    <a:pt x="116" y="84"/>
                    <a:pt x="113" y="82"/>
                  </a:cubicBezTo>
                  <a:cubicBezTo>
                    <a:pt x="110" y="79"/>
                    <a:pt x="108" y="75"/>
                    <a:pt x="108" y="72"/>
                  </a:cubicBezTo>
                  <a:cubicBezTo>
                    <a:pt x="108" y="14"/>
                    <a:pt x="108" y="14"/>
                    <a:pt x="108" y="14"/>
                  </a:cubicBezTo>
                  <a:cubicBezTo>
                    <a:pt x="108" y="11"/>
                    <a:pt x="110" y="7"/>
                    <a:pt x="113" y="4"/>
                  </a:cubicBezTo>
                  <a:cubicBezTo>
                    <a:pt x="116" y="2"/>
                    <a:pt x="121" y="0"/>
                    <a:pt x="126" y="0"/>
                  </a:cubicBezTo>
                  <a:cubicBezTo>
                    <a:pt x="218" y="0"/>
                    <a:pt x="218" y="0"/>
                    <a:pt x="218" y="0"/>
                  </a:cubicBezTo>
                  <a:close/>
                  <a:moveTo>
                    <a:pt x="138" y="19"/>
                  </a:moveTo>
                  <a:cubicBezTo>
                    <a:pt x="206" y="19"/>
                    <a:pt x="206" y="19"/>
                    <a:pt x="206" y="19"/>
                  </a:cubicBezTo>
                  <a:cubicBezTo>
                    <a:pt x="210" y="19"/>
                    <a:pt x="214" y="20"/>
                    <a:pt x="217" y="22"/>
                  </a:cubicBezTo>
                  <a:cubicBezTo>
                    <a:pt x="217" y="22"/>
                    <a:pt x="217" y="22"/>
                    <a:pt x="217" y="22"/>
                  </a:cubicBezTo>
                  <a:cubicBezTo>
                    <a:pt x="220" y="25"/>
                    <a:pt x="222" y="29"/>
                    <a:pt x="222" y="33"/>
                  </a:cubicBezTo>
                  <a:cubicBezTo>
                    <a:pt x="222" y="51"/>
                    <a:pt x="222" y="51"/>
                    <a:pt x="222" y="51"/>
                  </a:cubicBezTo>
                  <a:cubicBezTo>
                    <a:pt x="222" y="55"/>
                    <a:pt x="220" y="58"/>
                    <a:pt x="217" y="61"/>
                  </a:cubicBezTo>
                  <a:cubicBezTo>
                    <a:pt x="217" y="61"/>
                    <a:pt x="217" y="61"/>
                    <a:pt x="217" y="61"/>
                  </a:cubicBezTo>
                  <a:cubicBezTo>
                    <a:pt x="214" y="63"/>
                    <a:pt x="210" y="65"/>
                    <a:pt x="206" y="65"/>
                  </a:cubicBezTo>
                  <a:cubicBezTo>
                    <a:pt x="138" y="65"/>
                    <a:pt x="138" y="65"/>
                    <a:pt x="138" y="65"/>
                  </a:cubicBezTo>
                  <a:cubicBezTo>
                    <a:pt x="134" y="65"/>
                    <a:pt x="130" y="63"/>
                    <a:pt x="127" y="61"/>
                  </a:cubicBezTo>
                  <a:cubicBezTo>
                    <a:pt x="127" y="61"/>
                    <a:pt x="127" y="61"/>
                    <a:pt x="127" y="61"/>
                  </a:cubicBezTo>
                  <a:cubicBezTo>
                    <a:pt x="124" y="58"/>
                    <a:pt x="122" y="55"/>
                    <a:pt x="122" y="51"/>
                  </a:cubicBezTo>
                  <a:cubicBezTo>
                    <a:pt x="122" y="33"/>
                    <a:pt x="122" y="33"/>
                    <a:pt x="122" y="33"/>
                  </a:cubicBezTo>
                  <a:cubicBezTo>
                    <a:pt x="122" y="29"/>
                    <a:pt x="124" y="25"/>
                    <a:pt x="127" y="22"/>
                  </a:cubicBezTo>
                  <a:cubicBezTo>
                    <a:pt x="127" y="22"/>
                    <a:pt x="127" y="22"/>
                    <a:pt x="127" y="22"/>
                  </a:cubicBezTo>
                  <a:cubicBezTo>
                    <a:pt x="130" y="20"/>
                    <a:pt x="134" y="19"/>
                    <a:pt x="138" y="19"/>
                  </a:cubicBezTo>
                  <a:close/>
                  <a:moveTo>
                    <a:pt x="344" y="243"/>
                  </a:moveTo>
                  <a:cubicBezTo>
                    <a:pt x="344" y="41"/>
                    <a:pt x="344" y="41"/>
                    <a:pt x="344" y="41"/>
                  </a:cubicBezTo>
                  <a:cubicBezTo>
                    <a:pt x="344" y="28"/>
                    <a:pt x="334" y="18"/>
                    <a:pt x="321" y="18"/>
                  </a:cubicBezTo>
                  <a:cubicBezTo>
                    <a:pt x="244" y="18"/>
                    <a:pt x="244" y="18"/>
                    <a:pt x="244" y="18"/>
                  </a:cubicBezTo>
                  <a:cubicBezTo>
                    <a:pt x="244" y="59"/>
                    <a:pt x="244" y="59"/>
                    <a:pt x="244" y="59"/>
                  </a:cubicBezTo>
                  <a:cubicBezTo>
                    <a:pt x="302" y="59"/>
                    <a:pt x="302" y="59"/>
                    <a:pt x="302" y="59"/>
                  </a:cubicBezTo>
                  <a:cubicBezTo>
                    <a:pt x="302" y="92"/>
                    <a:pt x="302" y="92"/>
                    <a:pt x="302" y="92"/>
                  </a:cubicBezTo>
                  <a:cubicBezTo>
                    <a:pt x="302" y="232"/>
                    <a:pt x="302" y="232"/>
                    <a:pt x="302" y="232"/>
                  </a:cubicBezTo>
                  <a:cubicBezTo>
                    <a:pt x="317" y="234"/>
                    <a:pt x="331" y="238"/>
                    <a:pt x="344" y="243"/>
                  </a:cubicBezTo>
                  <a:close/>
                  <a:moveTo>
                    <a:pt x="87" y="324"/>
                  </a:moveTo>
                  <a:cubicBezTo>
                    <a:pt x="141" y="324"/>
                    <a:pt x="141" y="324"/>
                    <a:pt x="141" y="324"/>
                  </a:cubicBezTo>
                  <a:cubicBezTo>
                    <a:pt x="139" y="330"/>
                    <a:pt x="136" y="336"/>
                    <a:pt x="134" y="343"/>
                  </a:cubicBezTo>
                  <a:cubicBezTo>
                    <a:pt x="87" y="343"/>
                    <a:pt x="87" y="343"/>
                    <a:pt x="87" y="343"/>
                  </a:cubicBezTo>
                  <a:cubicBezTo>
                    <a:pt x="82" y="343"/>
                    <a:pt x="77" y="339"/>
                    <a:pt x="77" y="333"/>
                  </a:cubicBezTo>
                  <a:cubicBezTo>
                    <a:pt x="77" y="333"/>
                    <a:pt x="77" y="333"/>
                    <a:pt x="77" y="333"/>
                  </a:cubicBezTo>
                  <a:cubicBezTo>
                    <a:pt x="77" y="328"/>
                    <a:pt x="82" y="324"/>
                    <a:pt x="87" y="324"/>
                  </a:cubicBezTo>
                  <a:close/>
                  <a:moveTo>
                    <a:pt x="162" y="290"/>
                  </a:moveTo>
                  <a:cubicBezTo>
                    <a:pt x="87" y="290"/>
                    <a:pt x="87" y="290"/>
                    <a:pt x="87" y="290"/>
                  </a:cubicBezTo>
                  <a:cubicBezTo>
                    <a:pt x="87" y="290"/>
                    <a:pt x="87" y="290"/>
                    <a:pt x="87" y="290"/>
                  </a:cubicBezTo>
                  <a:cubicBezTo>
                    <a:pt x="86" y="290"/>
                    <a:pt x="86" y="290"/>
                    <a:pt x="86" y="290"/>
                  </a:cubicBezTo>
                  <a:cubicBezTo>
                    <a:pt x="86" y="290"/>
                    <a:pt x="86" y="290"/>
                    <a:pt x="86" y="290"/>
                  </a:cubicBezTo>
                  <a:cubicBezTo>
                    <a:pt x="86" y="290"/>
                    <a:pt x="86" y="290"/>
                    <a:pt x="86" y="290"/>
                  </a:cubicBezTo>
                  <a:cubicBezTo>
                    <a:pt x="86" y="290"/>
                    <a:pt x="86" y="290"/>
                    <a:pt x="86" y="290"/>
                  </a:cubicBezTo>
                  <a:cubicBezTo>
                    <a:pt x="86" y="290"/>
                    <a:pt x="86" y="290"/>
                    <a:pt x="86" y="290"/>
                  </a:cubicBezTo>
                  <a:cubicBezTo>
                    <a:pt x="86" y="290"/>
                    <a:pt x="86" y="290"/>
                    <a:pt x="86" y="290"/>
                  </a:cubicBezTo>
                  <a:cubicBezTo>
                    <a:pt x="86" y="290"/>
                    <a:pt x="86" y="290"/>
                    <a:pt x="86" y="290"/>
                  </a:cubicBezTo>
                  <a:cubicBezTo>
                    <a:pt x="86" y="290"/>
                    <a:pt x="86" y="290"/>
                    <a:pt x="86" y="290"/>
                  </a:cubicBezTo>
                  <a:cubicBezTo>
                    <a:pt x="85" y="290"/>
                    <a:pt x="85" y="290"/>
                    <a:pt x="85" y="290"/>
                  </a:cubicBezTo>
                  <a:cubicBezTo>
                    <a:pt x="85" y="290"/>
                    <a:pt x="85" y="290"/>
                    <a:pt x="85" y="290"/>
                  </a:cubicBezTo>
                  <a:cubicBezTo>
                    <a:pt x="85" y="290"/>
                    <a:pt x="85" y="290"/>
                    <a:pt x="85" y="290"/>
                  </a:cubicBezTo>
                  <a:cubicBezTo>
                    <a:pt x="85" y="290"/>
                    <a:pt x="85" y="290"/>
                    <a:pt x="85" y="290"/>
                  </a:cubicBezTo>
                  <a:cubicBezTo>
                    <a:pt x="85" y="290"/>
                    <a:pt x="85" y="290"/>
                    <a:pt x="85" y="290"/>
                  </a:cubicBezTo>
                  <a:cubicBezTo>
                    <a:pt x="85" y="290"/>
                    <a:pt x="85" y="290"/>
                    <a:pt x="85" y="290"/>
                  </a:cubicBezTo>
                  <a:cubicBezTo>
                    <a:pt x="85" y="290"/>
                    <a:pt x="85" y="290"/>
                    <a:pt x="85" y="290"/>
                  </a:cubicBezTo>
                  <a:cubicBezTo>
                    <a:pt x="85" y="290"/>
                    <a:pt x="85" y="290"/>
                    <a:pt x="85" y="290"/>
                  </a:cubicBezTo>
                  <a:cubicBezTo>
                    <a:pt x="85" y="290"/>
                    <a:pt x="85" y="290"/>
                    <a:pt x="85" y="290"/>
                  </a:cubicBezTo>
                  <a:cubicBezTo>
                    <a:pt x="85" y="290"/>
                    <a:pt x="85" y="290"/>
                    <a:pt x="85" y="290"/>
                  </a:cubicBezTo>
                  <a:cubicBezTo>
                    <a:pt x="84" y="289"/>
                    <a:pt x="84" y="289"/>
                    <a:pt x="84" y="289"/>
                  </a:cubicBezTo>
                  <a:cubicBezTo>
                    <a:pt x="84" y="289"/>
                    <a:pt x="84" y="289"/>
                    <a:pt x="84" y="289"/>
                  </a:cubicBezTo>
                  <a:cubicBezTo>
                    <a:pt x="84" y="289"/>
                    <a:pt x="84" y="289"/>
                    <a:pt x="84" y="289"/>
                  </a:cubicBezTo>
                  <a:cubicBezTo>
                    <a:pt x="84" y="289"/>
                    <a:pt x="84" y="289"/>
                    <a:pt x="84" y="289"/>
                  </a:cubicBezTo>
                  <a:cubicBezTo>
                    <a:pt x="84" y="289"/>
                    <a:pt x="84" y="289"/>
                    <a:pt x="84" y="289"/>
                  </a:cubicBezTo>
                  <a:cubicBezTo>
                    <a:pt x="84" y="289"/>
                    <a:pt x="84" y="289"/>
                    <a:pt x="84" y="289"/>
                  </a:cubicBezTo>
                  <a:cubicBezTo>
                    <a:pt x="84" y="289"/>
                    <a:pt x="84" y="289"/>
                    <a:pt x="84" y="289"/>
                  </a:cubicBezTo>
                  <a:cubicBezTo>
                    <a:pt x="84" y="289"/>
                    <a:pt x="84" y="289"/>
                    <a:pt x="84" y="289"/>
                  </a:cubicBezTo>
                  <a:cubicBezTo>
                    <a:pt x="83" y="289"/>
                    <a:pt x="83" y="289"/>
                    <a:pt x="83" y="289"/>
                  </a:cubicBezTo>
                  <a:cubicBezTo>
                    <a:pt x="83" y="289"/>
                    <a:pt x="83" y="289"/>
                    <a:pt x="83" y="289"/>
                  </a:cubicBezTo>
                  <a:cubicBezTo>
                    <a:pt x="83" y="289"/>
                    <a:pt x="83" y="289"/>
                    <a:pt x="83" y="289"/>
                  </a:cubicBezTo>
                  <a:cubicBezTo>
                    <a:pt x="83" y="289"/>
                    <a:pt x="83" y="289"/>
                    <a:pt x="83" y="289"/>
                  </a:cubicBezTo>
                  <a:cubicBezTo>
                    <a:pt x="83" y="289"/>
                    <a:pt x="83" y="289"/>
                    <a:pt x="83" y="289"/>
                  </a:cubicBezTo>
                  <a:cubicBezTo>
                    <a:pt x="83" y="289"/>
                    <a:pt x="83" y="289"/>
                    <a:pt x="83" y="289"/>
                  </a:cubicBezTo>
                  <a:cubicBezTo>
                    <a:pt x="83" y="289"/>
                    <a:pt x="83" y="289"/>
                    <a:pt x="83" y="289"/>
                  </a:cubicBezTo>
                  <a:cubicBezTo>
                    <a:pt x="83" y="289"/>
                    <a:pt x="83" y="289"/>
                    <a:pt x="83" y="289"/>
                  </a:cubicBezTo>
                  <a:cubicBezTo>
                    <a:pt x="83" y="289"/>
                    <a:pt x="83" y="289"/>
                    <a:pt x="83" y="289"/>
                  </a:cubicBezTo>
                  <a:cubicBezTo>
                    <a:pt x="83" y="289"/>
                    <a:pt x="83" y="289"/>
                    <a:pt x="83" y="289"/>
                  </a:cubicBezTo>
                  <a:cubicBezTo>
                    <a:pt x="82" y="289"/>
                    <a:pt x="82" y="289"/>
                    <a:pt x="82" y="289"/>
                  </a:cubicBezTo>
                  <a:cubicBezTo>
                    <a:pt x="82" y="289"/>
                    <a:pt x="82" y="289"/>
                    <a:pt x="82" y="289"/>
                  </a:cubicBezTo>
                  <a:cubicBezTo>
                    <a:pt x="82" y="289"/>
                    <a:pt x="82" y="289"/>
                    <a:pt x="82" y="289"/>
                  </a:cubicBezTo>
                  <a:cubicBezTo>
                    <a:pt x="82" y="289"/>
                    <a:pt x="82" y="289"/>
                    <a:pt x="82" y="289"/>
                  </a:cubicBezTo>
                  <a:cubicBezTo>
                    <a:pt x="82" y="289"/>
                    <a:pt x="82" y="289"/>
                    <a:pt x="82" y="289"/>
                  </a:cubicBezTo>
                  <a:cubicBezTo>
                    <a:pt x="82" y="289"/>
                    <a:pt x="82" y="289"/>
                    <a:pt x="82" y="289"/>
                  </a:cubicBezTo>
                  <a:cubicBezTo>
                    <a:pt x="82" y="288"/>
                    <a:pt x="82" y="288"/>
                    <a:pt x="82" y="288"/>
                  </a:cubicBezTo>
                  <a:cubicBezTo>
                    <a:pt x="82" y="288"/>
                    <a:pt x="82" y="288"/>
                    <a:pt x="82" y="288"/>
                  </a:cubicBezTo>
                  <a:cubicBezTo>
                    <a:pt x="82" y="288"/>
                    <a:pt x="82" y="288"/>
                    <a:pt x="82" y="288"/>
                  </a:cubicBezTo>
                  <a:cubicBezTo>
                    <a:pt x="82" y="288"/>
                    <a:pt x="82" y="288"/>
                    <a:pt x="82" y="288"/>
                  </a:cubicBezTo>
                  <a:cubicBezTo>
                    <a:pt x="81" y="288"/>
                    <a:pt x="81" y="288"/>
                    <a:pt x="81" y="288"/>
                  </a:cubicBezTo>
                  <a:cubicBezTo>
                    <a:pt x="81" y="288"/>
                    <a:pt x="81" y="288"/>
                    <a:pt x="81" y="288"/>
                  </a:cubicBezTo>
                  <a:cubicBezTo>
                    <a:pt x="81" y="288"/>
                    <a:pt x="81" y="288"/>
                    <a:pt x="81" y="288"/>
                  </a:cubicBezTo>
                  <a:cubicBezTo>
                    <a:pt x="81" y="288"/>
                    <a:pt x="81" y="288"/>
                    <a:pt x="81" y="288"/>
                  </a:cubicBezTo>
                  <a:cubicBezTo>
                    <a:pt x="81" y="288"/>
                    <a:pt x="81" y="288"/>
                    <a:pt x="81" y="288"/>
                  </a:cubicBezTo>
                  <a:cubicBezTo>
                    <a:pt x="81" y="288"/>
                    <a:pt x="81" y="288"/>
                    <a:pt x="81" y="288"/>
                  </a:cubicBezTo>
                  <a:cubicBezTo>
                    <a:pt x="81" y="288"/>
                    <a:pt x="81" y="288"/>
                    <a:pt x="81" y="288"/>
                  </a:cubicBezTo>
                  <a:cubicBezTo>
                    <a:pt x="81" y="288"/>
                    <a:pt x="81" y="288"/>
                    <a:pt x="81" y="288"/>
                  </a:cubicBezTo>
                  <a:cubicBezTo>
                    <a:pt x="81" y="288"/>
                    <a:pt x="81" y="288"/>
                    <a:pt x="81" y="288"/>
                  </a:cubicBezTo>
                  <a:cubicBezTo>
                    <a:pt x="81" y="288"/>
                    <a:pt x="81" y="288"/>
                    <a:pt x="81" y="288"/>
                  </a:cubicBezTo>
                  <a:cubicBezTo>
                    <a:pt x="81" y="287"/>
                    <a:pt x="81" y="287"/>
                    <a:pt x="81" y="287"/>
                  </a:cubicBezTo>
                  <a:cubicBezTo>
                    <a:pt x="81" y="287"/>
                    <a:pt x="81" y="287"/>
                    <a:pt x="81" y="287"/>
                  </a:cubicBezTo>
                  <a:cubicBezTo>
                    <a:pt x="80" y="287"/>
                    <a:pt x="80" y="287"/>
                    <a:pt x="80" y="287"/>
                  </a:cubicBezTo>
                  <a:cubicBezTo>
                    <a:pt x="80" y="287"/>
                    <a:pt x="80" y="287"/>
                    <a:pt x="80" y="287"/>
                  </a:cubicBezTo>
                  <a:cubicBezTo>
                    <a:pt x="80" y="287"/>
                    <a:pt x="80" y="287"/>
                    <a:pt x="80" y="287"/>
                  </a:cubicBezTo>
                  <a:cubicBezTo>
                    <a:pt x="80" y="287"/>
                    <a:pt x="80" y="287"/>
                    <a:pt x="80" y="287"/>
                  </a:cubicBezTo>
                  <a:cubicBezTo>
                    <a:pt x="80" y="287"/>
                    <a:pt x="80" y="287"/>
                    <a:pt x="80" y="287"/>
                  </a:cubicBezTo>
                  <a:cubicBezTo>
                    <a:pt x="80" y="287"/>
                    <a:pt x="80" y="287"/>
                    <a:pt x="80" y="287"/>
                  </a:cubicBezTo>
                  <a:cubicBezTo>
                    <a:pt x="80" y="287"/>
                    <a:pt x="80" y="287"/>
                    <a:pt x="80" y="287"/>
                  </a:cubicBezTo>
                  <a:cubicBezTo>
                    <a:pt x="80" y="287"/>
                    <a:pt x="80" y="287"/>
                    <a:pt x="80" y="287"/>
                  </a:cubicBezTo>
                  <a:cubicBezTo>
                    <a:pt x="80" y="287"/>
                    <a:pt x="80" y="287"/>
                    <a:pt x="80" y="287"/>
                  </a:cubicBezTo>
                  <a:cubicBezTo>
                    <a:pt x="80" y="287"/>
                    <a:pt x="80" y="287"/>
                    <a:pt x="80" y="287"/>
                  </a:cubicBezTo>
                  <a:cubicBezTo>
                    <a:pt x="80" y="287"/>
                    <a:pt x="80" y="287"/>
                    <a:pt x="80" y="287"/>
                  </a:cubicBezTo>
                  <a:cubicBezTo>
                    <a:pt x="80" y="287"/>
                    <a:pt x="80" y="287"/>
                    <a:pt x="80" y="287"/>
                  </a:cubicBezTo>
                  <a:cubicBezTo>
                    <a:pt x="80" y="286"/>
                    <a:pt x="80" y="286"/>
                    <a:pt x="80" y="286"/>
                  </a:cubicBezTo>
                  <a:cubicBezTo>
                    <a:pt x="80" y="286"/>
                    <a:pt x="80" y="286"/>
                    <a:pt x="80" y="286"/>
                  </a:cubicBezTo>
                  <a:cubicBezTo>
                    <a:pt x="79" y="286"/>
                    <a:pt x="79" y="286"/>
                    <a:pt x="79" y="286"/>
                  </a:cubicBezTo>
                  <a:cubicBezTo>
                    <a:pt x="79" y="286"/>
                    <a:pt x="79" y="286"/>
                    <a:pt x="79" y="286"/>
                  </a:cubicBezTo>
                  <a:cubicBezTo>
                    <a:pt x="79" y="286"/>
                    <a:pt x="79" y="286"/>
                    <a:pt x="79" y="286"/>
                  </a:cubicBezTo>
                  <a:cubicBezTo>
                    <a:pt x="79" y="286"/>
                    <a:pt x="79" y="286"/>
                    <a:pt x="79" y="286"/>
                  </a:cubicBezTo>
                  <a:cubicBezTo>
                    <a:pt x="79" y="286"/>
                    <a:pt x="79" y="286"/>
                    <a:pt x="79" y="286"/>
                  </a:cubicBezTo>
                  <a:cubicBezTo>
                    <a:pt x="79" y="286"/>
                    <a:pt x="79" y="286"/>
                    <a:pt x="79" y="286"/>
                  </a:cubicBezTo>
                  <a:cubicBezTo>
                    <a:pt x="79" y="286"/>
                    <a:pt x="79" y="286"/>
                    <a:pt x="79" y="286"/>
                  </a:cubicBezTo>
                  <a:cubicBezTo>
                    <a:pt x="79" y="286"/>
                    <a:pt x="79" y="286"/>
                    <a:pt x="79" y="286"/>
                  </a:cubicBezTo>
                  <a:cubicBezTo>
                    <a:pt x="79" y="285"/>
                    <a:pt x="79" y="285"/>
                    <a:pt x="79" y="285"/>
                  </a:cubicBezTo>
                  <a:cubicBezTo>
                    <a:pt x="79" y="285"/>
                    <a:pt x="79" y="285"/>
                    <a:pt x="79" y="285"/>
                  </a:cubicBezTo>
                  <a:cubicBezTo>
                    <a:pt x="79" y="285"/>
                    <a:pt x="79" y="285"/>
                    <a:pt x="79" y="285"/>
                  </a:cubicBezTo>
                  <a:cubicBezTo>
                    <a:pt x="79" y="285"/>
                    <a:pt x="79" y="285"/>
                    <a:pt x="79" y="285"/>
                  </a:cubicBezTo>
                  <a:cubicBezTo>
                    <a:pt x="79" y="285"/>
                    <a:pt x="79" y="285"/>
                    <a:pt x="79" y="285"/>
                  </a:cubicBezTo>
                  <a:cubicBezTo>
                    <a:pt x="79" y="285"/>
                    <a:pt x="79" y="285"/>
                    <a:pt x="79" y="285"/>
                  </a:cubicBezTo>
                  <a:cubicBezTo>
                    <a:pt x="78" y="285"/>
                    <a:pt x="78" y="285"/>
                    <a:pt x="78" y="285"/>
                  </a:cubicBezTo>
                  <a:cubicBezTo>
                    <a:pt x="78" y="285"/>
                    <a:pt x="78" y="285"/>
                    <a:pt x="78" y="285"/>
                  </a:cubicBezTo>
                  <a:cubicBezTo>
                    <a:pt x="78" y="285"/>
                    <a:pt x="78" y="285"/>
                    <a:pt x="78" y="285"/>
                  </a:cubicBezTo>
                  <a:cubicBezTo>
                    <a:pt x="78" y="285"/>
                    <a:pt x="78" y="285"/>
                    <a:pt x="78" y="285"/>
                  </a:cubicBezTo>
                  <a:cubicBezTo>
                    <a:pt x="78" y="284"/>
                    <a:pt x="78" y="284"/>
                    <a:pt x="78" y="284"/>
                  </a:cubicBezTo>
                  <a:cubicBezTo>
                    <a:pt x="78" y="284"/>
                    <a:pt x="78" y="284"/>
                    <a:pt x="78" y="284"/>
                  </a:cubicBezTo>
                  <a:cubicBezTo>
                    <a:pt x="78" y="284"/>
                    <a:pt x="78" y="284"/>
                    <a:pt x="78" y="284"/>
                  </a:cubicBezTo>
                  <a:cubicBezTo>
                    <a:pt x="78" y="284"/>
                    <a:pt x="78" y="284"/>
                    <a:pt x="78" y="284"/>
                  </a:cubicBezTo>
                  <a:cubicBezTo>
                    <a:pt x="78" y="284"/>
                    <a:pt x="78" y="284"/>
                    <a:pt x="78" y="284"/>
                  </a:cubicBezTo>
                  <a:cubicBezTo>
                    <a:pt x="78" y="284"/>
                    <a:pt x="78" y="284"/>
                    <a:pt x="78" y="284"/>
                  </a:cubicBezTo>
                  <a:cubicBezTo>
                    <a:pt x="78" y="284"/>
                    <a:pt x="78" y="284"/>
                    <a:pt x="78" y="284"/>
                  </a:cubicBezTo>
                  <a:cubicBezTo>
                    <a:pt x="78" y="284"/>
                    <a:pt x="78" y="284"/>
                    <a:pt x="78" y="284"/>
                  </a:cubicBezTo>
                  <a:cubicBezTo>
                    <a:pt x="78" y="284"/>
                    <a:pt x="78" y="284"/>
                    <a:pt x="78" y="284"/>
                  </a:cubicBezTo>
                  <a:cubicBezTo>
                    <a:pt x="78" y="284"/>
                    <a:pt x="78" y="284"/>
                    <a:pt x="78" y="284"/>
                  </a:cubicBezTo>
                  <a:cubicBezTo>
                    <a:pt x="78" y="283"/>
                    <a:pt x="78" y="283"/>
                    <a:pt x="78" y="283"/>
                  </a:cubicBezTo>
                  <a:cubicBezTo>
                    <a:pt x="78" y="283"/>
                    <a:pt x="78" y="283"/>
                    <a:pt x="78" y="283"/>
                  </a:cubicBezTo>
                  <a:cubicBezTo>
                    <a:pt x="78" y="283"/>
                    <a:pt x="78" y="283"/>
                    <a:pt x="78" y="283"/>
                  </a:cubicBezTo>
                  <a:cubicBezTo>
                    <a:pt x="78" y="283"/>
                    <a:pt x="78" y="283"/>
                    <a:pt x="78" y="283"/>
                  </a:cubicBezTo>
                  <a:cubicBezTo>
                    <a:pt x="78" y="283"/>
                    <a:pt x="78" y="283"/>
                    <a:pt x="78" y="283"/>
                  </a:cubicBezTo>
                  <a:cubicBezTo>
                    <a:pt x="78" y="283"/>
                    <a:pt x="78" y="283"/>
                    <a:pt x="78" y="283"/>
                  </a:cubicBezTo>
                  <a:cubicBezTo>
                    <a:pt x="78" y="283"/>
                    <a:pt x="78" y="283"/>
                    <a:pt x="78" y="283"/>
                  </a:cubicBezTo>
                  <a:cubicBezTo>
                    <a:pt x="78" y="283"/>
                    <a:pt x="78" y="283"/>
                    <a:pt x="78" y="283"/>
                  </a:cubicBezTo>
                  <a:cubicBezTo>
                    <a:pt x="78" y="283"/>
                    <a:pt x="78" y="283"/>
                    <a:pt x="78" y="283"/>
                  </a:cubicBezTo>
                  <a:cubicBezTo>
                    <a:pt x="78" y="283"/>
                    <a:pt x="78" y="283"/>
                    <a:pt x="78" y="283"/>
                  </a:cubicBezTo>
                  <a:cubicBezTo>
                    <a:pt x="78" y="282"/>
                    <a:pt x="78" y="282"/>
                    <a:pt x="78" y="282"/>
                  </a:cubicBezTo>
                  <a:cubicBezTo>
                    <a:pt x="78" y="282"/>
                    <a:pt x="78" y="282"/>
                    <a:pt x="78" y="282"/>
                  </a:cubicBezTo>
                  <a:cubicBezTo>
                    <a:pt x="78" y="282"/>
                    <a:pt x="78" y="282"/>
                    <a:pt x="78" y="282"/>
                  </a:cubicBezTo>
                  <a:cubicBezTo>
                    <a:pt x="78" y="282"/>
                    <a:pt x="78" y="282"/>
                    <a:pt x="78" y="282"/>
                  </a:cubicBezTo>
                  <a:cubicBezTo>
                    <a:pt x="77" y="282"/>
                    <a:pt x="77" y="282"/>
                    <a:pt x="77" y="282"/>
                  </a:cubicBezTo>
                  <a:cubicBezTo>
                    <a:pt x="77" y="282"/>
                    <a:pt x="77" y="282"/>
                    <a:pt x="77" y="282"/>
                  </a:cubicBezTo>
                  <a:cubicBezTo>
                    <a:pt x="77" y="282"/>
                    <a:pt x="77" y="282"/>
                    <a:pt x="77" y="282"/>
                  </a:cubicBezTo>
                  <a:cubicBezTo>
                    <a:pt x="77" y="282"/>
                    <a:pt x="77" y="282"/>
                    <a:pt x="77" y="282"/>
                  </a:cubicBezTo>
                  <a:cubicBezTo>
                    <a:pt x="77" y="281"/>
                    <a:pt x="77" y="281"/>
                    <a:pt x="77" y="281"/>
                  </a:cubicBezTo>
                  <a:cubicBezTo>
                    <a:pt x="77" y="281"/>
                    <a:pt x="77" y="281"/>
                    <a:pt x="77" y="281"/>
                  </a:cubicBezTo>
                  <a:cubicBezTo>
                    <a:pt x="77" y="281"/>
                    <a:pt x="77" y="281"/>
                    <a:pt x="77" y="281"/>
                  </a:cubicBezTo>
                  <a:cubicBezTo>
                    <a:pt x="77" y="281"/>
                    <a:pt x="77" y="281"/>
                    <a:pt x="77" y="281"/>
                  </a:cubicBezTo>
                  <a:cubicBezTo>
                    <a:pt x="77" y="281"/>
                    <a:pt x="77" y="281"/>
                    <a:pt x="77" y="281"/>
                  </a:cubicBezTo>
                  <a:cubicBezTo>
                    <a:pt x="77" y="281"/>
                    <a:pt x="77" y="281"/>
                    <a:pt x="77" y="281"/>
                  </a:cubicBezTo>
                  <a:cubicBezTo>
                    <a:pt x="77" y="281"/>
                    <a:pt x="77" y="281"/>
                    <a:pt x="77" y="281"/>
                  </a:cubicBezTo>
                  <a:cubicBezTo>
                    <a:pt x="77" y="281"/>
                    <a:pt x="77" y="281"/>
                    <a:pt x="77" y="281"/>
                  </a:cubicBezTo>
                  <a:cubicBezTo>
                    <a:pt x="77" y="280"/>
                    <a:pt x="77" y="280"/>
                    <a:pt x="77" y="280"/>
                  </a:cubicBezTo>
                  <a:cubicBezTo>
                    <a:pt x="77" y="280"/>
                    <a:pt x="77" y="280"/>
                    <a:pt x="77" y="280"/>
                  </a:cubicBezTo>
                  <a:cubicBezTo>
                    <a:pt x="77" y="280"/>
                    <a:pt x="77" y="280"/>
                    <a:pt x="77" y="280"/>
                  </a:cubicBezTo>
                  <a:cubicBezTo>
                    <a:pt x="77" y="280"/>
                    <a:pt x="77" y="280"/>
                    <a:pt x="77" y="280"/>
                  </a:cubicBezTo>
                  <a:cubicBezTo>
                    <a:pt x="77" y="280"/>
                    <a:pt x="77" y="280"/>
                    <a:pt x="77" y="280"/>
                  </a:cubicBezTo>
                  <a:cubicBezTo>
                    <a:pt x="77" y="280"/>
                    <a:pt x="77" y="280"/>
                    <a:pt x="77" y="280"/>
                  </a:cubicBezTo>
                  <a:cubicBezTo>
                    <a:pt x="77" y="280"/>
                    <a:pt x="77" y="280"/>
                    <a:pt x="77" y="280"/>
                  </a:cubicBezTo>
                  <a:cubicBezTo>
                    <a:pt x="77" y="280"/>
                    <a:pt x="77" y="280"/>
                    <a:pt x="77" y="280"/>
                  </a:cubicBezTo>
                  <a:cubicBezTo>
                    <a:pt x="77" y="280"/>
                    <a:pt x="77" y="280"/>
                    <a:pt x="77" y="280"/>
                  </a:cubicBezTo>
                  <a:cubicBezTo>
                    <a:pt x="77" y="280"/>
                    <a:pt x="77" y="280"/>
                    <a:pt x="77" y="280"/>
                  </a:cubicBezTo>
                  <a:cubicBezTo>
                    <a:pt x="77" y="279"/>
                    <a:pt x="77" y="279"/>
                    <a:pt x="77" y="279"/>
                  </a:cubicBezTo>
                  <a:cubicBezTo>
                    <a:pt x="77" y="279"/>
                    <a:pt x="77" y="279"/>
                    <a:pt x="77" y="279"/>
                  </a:cubicBezTo>
                  <a:cubicBezTo>
                    <a:pt x="77" y="279"/>
                    <a:pt x="77" y="279"/>
                    <a:pt x="77" y="279"/>
                  </a:cubicBezTo>
                  <a:cubicBezTo>
                    <a:pt x="77" y="279"/>
                    <a:pt x="77" y="279"/>
                    <a:pt x="77" y="279"/>
                  </a:cubicBezTo>
                  <a:cubicBezTo>
                    <a:pt x="78" y="279"/>
                    <a:pt x="78" y="279"/>
                    <a:pt x="78" y="279"/>
                  </a:cubicBezTo>
                  <a:cubicBezTo>
                    <a:pt x="78" y="279"/>
                    <a:pt x="78" y="279"/>
                    <a:pt x="78" y="279"/>
                  </a:cubicBezTo>
                  <a:cubicBezTo>
                    <a:pt x="78" y="279"/>
                    <a:pt x="78" y="279"/>
                    <a:pt x="78" y="279"/>
                  </a:cubicBezTo>
                  <a:cubicBezTo>
                    <a:pt x="78" y="279"/>
                    <a:pt x="78" y="279"/>
                    <a:pt x="78" y="279"/>
                  </a:cubicBezTo>
                  <a:cubicBezTo>
                    <a:pt x="78" y="278"/>
                    <a:pt x="78" y="278"/>
                    <a:pt x="78" y="278"/>
                  </a:cubicBezTo>
                  <a:cubicBezTo>
                    <a:pt x="78" y="278"/>
                    <a:pt x="78" y="278"/>
                    <a:pt x="78" y="278"/>
                  </a:cubicBezTo>
                  <a:cubicBezTo>
                    <a:pt x="78" y="278"/>
                    <a:pt x="78" y="278"/>
                    <a:pt x="78" y="278"/>
                  </a:cubicBezTo>
                  <a:cubicBezTo>
                    <a:pt x="78" y="278"/>
                    <a:pt x="78" y="278"/>
                    <a:pt x="78" y="278"/>
                  </a:cubicBezTo>
                  <a:cubicBezTo>
                    <a:pt x="78" y="278"/>
                    <a:pt x="78" y="278"/>
                    <a:pt x="78" y="278"/>
                  </a:cubicBezTo>
                  <a:cubicBezTo>
                    <a:pt x="78" y="278"/>
                    <a:pt x="78" y="278"/>
                    <a:pt x="78" y="278"/>
                  </a:cubicBezTo>
                  <a:cubicBezTo>
                    <a:pt x="78" y="278"/>
                    <a:pt x="78" y="278"/>
                    <a:pt x="78" y="278"/>
                  </a:cubicBezTo>
                  <a:cubicBezTo>
                    <a:pt x="78" y="278"/>
                    <a:pt x="78" y="278"/>
                    <a:pt x="78" y="278"/>
                  </a:cubicBezTo>
                  <a:cubicBezTo>
                    <a:pt x="78" y="278"/>
                    <a:pt x="78" y="278"/>
                    <a:pt x="78" y="278"/>
                  </a:cubicBezTo>
                  <a:cubicBezTo>
                    <a:pt x="78" y="278"/>
                    <a:pt x="78" y="278"/>
                    <a:pt x="78" y="278"/>
                  </a:cubicBezTo>
                  <a:cubicBezTo>
                    <a:pt x="78" y="277"/>
                    <a:pt x="78" y="277"/>
                    <a:pt x="78" y="277"/>
                  </a:cubicBezTo>
                  <a:cubicBezTo>
                    <a:pt x="78" y="277"/>
                    <a:pt x="78" y="277"/>
                    <a:pt x="78" y="277"/>
                  </a:cubicBezTo>
                  <a:cubicBezTo>
                    <a:pt x="78" y="277"/>
                    <a:pt x="78" y="277"/>
                    <a:pt x="78" y="277"/>
                  </a:cubicBezTo>
                  <a:cubicBezTo>
                    <a:pt x="78" y="277"/>
                    <a:pt x="78" y="277"/>
                    <a:pt x="78" y="277"/>
                  </a:cubicBezTo>
                  <a:cubicBezTo>
                    <a:pt x="78" y="277"/>
                    <a:pt x="78" y="277"/>
                    <a:pt x="78" y="277"/>
                  </a:cubicBezTo>
                  <a:cubicBezTo>
                    <a:pt x="78" y="277"/>
                    <a:pt x="78" y="277"/>
                    <a:pt x="78" y="277"/>
                  </a:cubicBezTo>
                  <a:cubicBezTo>
                    <a:pt x="78" y="277"/>
                    <a:pt x="78" y="277"/>
                    <a:pt x="78" y="277"/>
                  </a:cubicBezTo>
                  <a:cubicBezTo>
                    <a:pt x="78" y="277"/>
                    <a:pt x="78" y="277"/>
                    <a:pt x="78" y="277"/>
                  </a:cubicBezTo>
                  <a:cubicBezTo>
                    <a:pt x="78" y="276"/>
                    <a:pt x="78" y="276"/>
                    <a:pt x="78" y="276"/>
                  </a:cubicBezTo>
                  <a:cubicBezTo>
                    <a:pt x="78" y="276"/>
                    <a:pt x="78" y="276"/>
                    <a:pt x="78" y="276"/>
                  </a:cubicBezTo>
                  <a:cubicBezTo>
                    <a:pt x="78" y="276"/>
                    <a:pt x="78" y="276"/>
                    <a:pt x="78" y="276"/>
                  </a:cubicBezTo>
                  <a:cubicBezTo>
                    <a:pt x="78" y="276"/>
                    <a:pt x="78" y="276"/>
                    <a:pt x="78" y="276"/>
                  </a:cubicBezTo>
                  <a:cubicBezTo>
                    <a:pt x="78" y="276"/>
                    <a:pt x="78" y="276"/>
                    <a:pt x="78" y="276"/>
                  </a:cubicBezTo>
                  <a:cubicBezTo>
                    <a:pt x="79" y="276"/>
                    <a:pt x="79" y="276"/>
                    <a:pt x="79" y="276"/>
                  </a:cubicBezTo>
                  <a:cubicBezTo>
                    <a:pt x="79" y="276"/>
                    <a:pt x="79" y="276"/>
                    <a:pt x="79" y="276"/>
                  </a:cubicBezTo>
                  <a:cubicBezTo>
                    <a:pt x="79" y="276"/>
                    <a:pt x="79" y="276"/>
                    <a:pt x="79" y="276"/>
                  </a:cubicBezTo>
                  <a:cubicBezTo>
                    <a:pt x="79" y="276"/>
                    <a:pt x="79" y="276"/>
                    <a:pt x="79" y="276"/>
                  </a:cubicBezTo>
                  <a:cubicBezTo>
                    <a:pt x="79" y="275"/>
                    <a:pt x="79" y="275"/>
                    <a:pt x="79" y="275"/>
                  </a:cubicBezTo>
                  <a:cubicBezTo>
                    <a:pt x="79" y="275"/>
                    <a:pt x="79" y="275"/>
                    <a:pt x="79" y="275"/>
                  </a:cubicBezTo>
                  <a:cubicBezTo>
                    <a:pt x="79" y="275"/>
                    <a:pt x="79" y="275"/>
                    <a:pt x="79" y="275"/>
                  </a:cubicBezTo>
                  <a:cubicBezTo>
                    <a:pt x="79" y="275"/>
                    <a:pt x="79" y="275"/>
                    <a:pt x="79" y="275"/>
                  </a:cubicBezTo>
                  <a:cubicBezTo>
                    <a:pt x="79" y="275"/>
                    <a:pt x="79" y="275"/>
                    <a:pt x="79" y="275"/>
                  </a:cubicBezTo>
                  <a:cubicBezTo>
                    <a:pt x="79" y="275"/>
                    <a:pt x="79" y="275"/>
                    <a:pt x="79" y="275"/>
                  </a:cubicBezTo>
                  <a:cubicBezTo>
                    <a:pt x="79" y="275"/>
                    <a:pt x="79" y="275"/>
                    <a:pt x="79" y="275"/>
                  </a:cubicBezTo>
                  <a:cubicBezTo>
                    <a:pt x="79" y="275"/>
                    <a:pt x="79" y="275"/>
                    <a:pt x="79" y="275"/>
                  </a:cubicBezTo>
                  <a:cubicBezTo>
                    <a:pt x="80" y="275"/>
                    <a:pt x="80" y="275"/>
                    <a:pt x="80" y="275"/>
                  </a:cubicBezTo>
                  <a:cubicBezTo>
                    <a:pt x="80" y="274"/>
                    <a:pt x="80" y="274"/>
                    <a:pt x="80" y="274"/>
                  </a:cubicBezTo>
                  <a:cubicBezTo>
                    <a:pt x="80" y="274"/>
                    <a:pt x="80" y="274"/>
                    <a:pt x="80" y="274"/>
                  </a:cubicBezTo>
                  <a:cubicBezTo>
                    <a:pt x="80" y="274"/>
                    <a:pt x="80" y="274"/>
                    <a:pt x="80" y="274"/>
                  </a:cubicBezTo>
                  <a:cubicBezTo>
                    <a:pt x="80" y="274"/>
                    <a:pt x="80" y="274"/>
                    <a:pt x="80" y="274"/>
                  </a:cubicBezTo>
                  <a:cubicBezTo>
                    <a:pt x="80" y="274"/>
                    <a:pt x="80" y="274"/>
                    <a:pt x="80" y="274"/>
                  </a:cubicBezTo>
                  <a:cubicBezTo>
                    <a:pt x="80" y="274"/>
                    <a:pt x="80" y="274"/>
                    <a:pt x="80" y="274"/>
                  </a:cubicBezTo>
                  <a:cubicBezTo>
                    <a:pt x="80" y="274"/>
                    <a:pt x="80" y="274"/>
                    <a:pt x="80" y="274"/>
                  </a:cubicBezTo>
                  <a:cubicBezTo>
                    <a:pt x="80" y="274"/>
                    <a:pt x="80" y="274"/>
                    <a:pt x="80" y="274"/>
                  </a:cubicBezTo>
                  <a:cubicBezTo>
                    <a:pt x="80" y="274"/>
                    <a:pt x="80" y="274"/>
                    <a:pt x="80" y="274"/>
                  </a:cubicBezTo>
                  <a:cubicBezTo>
                    <a:pt x="80" y="274"/>
                    <a:pt x="80" y="274"/>
                    <a:pt x="80" y="274"/>
                  </a:cubicBezTo>
                  <a:cubicBezTo>
                    <a:pt x="81" y="273"/>
                    <a:pt x="81" y="273"/>
                    <a:pt x="81" y="273"/>
                  </a:cubicBezTo>
                  <a:cubicBezTo>
                    <a:pt x="81" y="273"/>
                    <a:pt x="81" y="273"/>
                    <a:pt x="81" y="273"/>
                  </a:cubicBezTo>
                  <a:cubicBezTo>
                    <a:pt x="81" y="273"/>
                    <a:pt x="81" y="273"/>
                    <a:pt x="81" y="273"/>
                  </a:cubicBezTo>
                  <a:cubicBezTo>
                    <a:pt x="81" y="273"/>
                    <a:pt x="81" y="273"/>
                    <a:pt x="81" y="273"/>
                  </a:cubicBezTo>
                  <a:cubicBezTo>
                    <a:pt x="81" y="273"/>
                    <a:pt x="81" y="273"/>
                    <a:pt x="81" y="273"/>
                  </a:cubicBezTo>
                  <a:cubicBezTo>
                    <a:pt x="81" y="273"/>
                    <a:pt x="81" y="273"/>
                    <a:pt x="81" y="273"/>
                  </a:cubicBezTo>
                  <a:cubicBezTo>
                    <a:pt x="81" y="273"/>
                    <a:pt x="81" y="273"/>
                    <a:pt x="81" y="273"/>
                  </a:cubicBezTo>
                  <a:cubicBezTo>
                    <a:pt x="81" y="273"/>
                    <a:pt x="81" y="273"/>
                    <a:pt x="81" y="273"/>
                  </a:cubicBezTo>
                  <a:cubicBezTo>
                    <a:pt x="82" y="273"/>
                    <a:pt x="82" y="273"/>
                    <a:pt x="82" y="273"/>
                  </a:cubicBezTo>
                  <a:cubicBezTo>
                    <a:pt x="82" y="273"/>
                    <a:pt x="82" y="273"/>
                    <a:pt x="82" y="273"/>
                  </a:cubicBezTo>
                  <a:cubicBezTo>
                    <a:pt x="82" y="273"/>
                    <a:pt x="82" y="273"/>
                    <a:pt x="82" y="273"/>
                  </a:cubicBezTo>
                  <a:cubicBezTo>
                    <a:pt x="82" y="272"/>
                    <a:pt x="82" y="272"/>
                    <a:pt x="82" y="272"/>
                  </a:cubicBezTo>
                  <a:cubicBezTo>
                    <a:pt x="82" y="272"/>
                    <a:pt x="82" y="272"/>
                    <a:pt x="82" y="272"/>
                  </a:cubicBezTo>
                  <a:cubicBezTo>
                    <a:pt x="82" y="272"/>
                    <a:pt x="82" y="272"/>
                    <a:pt x="82" y="272"/>
                  </a:cubicBezTo>
                  <a:cubicBezTo>
                    <a:pt x="82" y="272"/>
                    <a:pt x="82" y="272"/>
                    <a:pt x="82" y="272"/>
                  </a:cubicBezTo>
                  <a:cubicBezTo>
                    <a:pt x="83" y="272"/>
                    <a:pt x="83" y="272"/>
                    <a:pt x="83" y="272"/>
                  </a:cubicBezTo>
                  <a:cubicBezTo>
                    <a:pt x="83" y="272"/>
                    <a:pt x="83" y="272"/>
                    <a:pt x="83" y="272"/>
                  </a:cubicBezTo>
                  <a:cubicBezTo>
                    <a:pt x="83" y="272"/>
                    <a:pt x="83" y="272"/>
                    <a:pt x="83" y="272"/>
                  </a:cubicBezTo>
                  <a:cubicBezTo>
                    <a:pt x="83" y="272"/>
                    <a:pt x="83" y="272"/>
                    <a:pt x="83" y="272"/>
                  </a:cubicBezTo>
                  <a:cubicBezTo>
                    <a:pt x="83" y="272"/>
                    <a:pt x="83" y="272"/>
                    <a:pt x="83" y="272"/>
                  </a:cubicBezTo>
                  <a:cubicBezTo>
                    <a:pt x="83" y="272"/>
                    <a:pt x="83" y="272"/>
                    <a:pt x="83" y="272"/>
                  </a:cubicBezTo>
                  <a:cubicBezTo>
                    <a:pt x="83" y="272"/>
                    <a:pt x="83" y="272"/>
                    <a:pt x="83" y="272"/>
                  </a:cubicBezTo>
                  <a:cubicBezTo>
                    <a:pt x="84" y="272"/>
                    <a:pt x="84" y="272"/>
                    <a:pt x="84" y="272"/>
                  </a:cubicBezTo>
                  <a:cubicBezTo>
                    <a:pt x="84" y="272"/>
                    <a:pt x="84" y="272"/>
                    <a:pt x="84" y="272"/>
                  </a:cubicBezTo>
                  <a:cubicBezTo>
                    <a:pt x="84" y="272"/>
                    <a:pt x="84" y="272"/>
                    <a:pt x="84" y="272"/>
                  </a:cubicBezTo>
                  <a:cubicBezTo>
                    <a:pt x="84" y="272"/>
                    <a:pt x="84" y="272"/>
                    <a:pt x="84" y="272"/>
                  </a:cubicBezTo>
                  <a:cubicBezTo>
                    <a:pt x="84" y="272"/>
                    <a:pt x="84" y="272"/>
                    <a:pt x="84" y="272"/>
                  </a:cubicBezTo>
                  <a:cubicBezTo>
                    <a:pt x="85" y="271"/>
                    <a:pt x="85" y="271"/>
                    <a:pt x="85" y="271"/>
                  </a:cubicBezTo>
                  <a:cubicBezTo>
                    <a:pt x="85" y="271"/>
                    <a:pt x="85" y="271"/>
                    <a:pt x="85" y="271"/>
                  </a:cubicBezTo>
                  <a:cubicBezTo>
                    <a:pt x="85" y="271"/>
                    <a:pt x="85" y="271"/>
                    <a:pt x="85" y="271"/>
                  </a:cubicBezTo>
                  <a:cubicBezTo>
                    <a:pt x="85" y="271"/>
                    <a:pt x="85" y="271"/>
                    <a:pt x="85" y="271"/>
                  </a:cubicBezTo>
                  <a:cubicBezTo>
                    <a:pt x="85" y="271"/>
                    <a:pt x="85" y="271"/>
                    <a:pt x="85" y="271"/>
                  </a:cubicBezTo>
                  <a:cubicBezTo>
                    <a:pt x="86" y="271"/>
                    <a:pt x="86" y="271"/>
                    <a:pt x="86" y="271"/>
                  </a:cubicBezTo>
                  <a:cubicBezTo>
                    <a:pt x="86" y="271"/>
                    <a:pt x="86" y="271"/>
                    <a:pt x="86" y="271"/>
                  </a:cubicBezTo>
                  <a:cubicBezTo>
                    <a:pt x="86" y="271"/>
                    <a:pt x="86" y="271"/>
                    <a:pt x="86" y="271"/>
                  </a:cubicBezTo>
                  <a:cubicBezTo>
                    <a:pt x="86" y="271"/>
                    <a:pt x="86" y="271"/>
                    <a:pt x="86" y="271"/>
                  </a:cubicBezTo>
                  <a:cubicBezTo>
                    <a:pt x="87" y="271"/>
                    <a:pt x="87" y="271"/>
                    <a:pt x="87" y="271"/>
                  </a:cubicBezTo>
                  <a:cubicBezTo>
                    <a:pt x="179" y="271"/>
                    <a:pt x="179" y="271"/>
                    <a:pt x="179" y="271"/>
                  </a:cubicBezTo>
                  <a:cubicBezTo>
                    <a:pt x="173" y="277"/>
                    <a:pt x="167" y="283"/>
                    <a:pt x="162" y="290"/>
                  </a:cubicBezTo>
                  <a:close/>
                  <a:moveTo>
                    <a:pt x="77" y="280"/>
                  </a:moveTo>
                  <a:cubicBezTo>
                    <a:pt x="77" y="280"/>
                    <a:pt x="77" y="280"/>
                    <a:pt x="77" y="280"/>
                  </a:cubicBezTo>
                  <a:close/>
                  <a:moveTo>
                    <a:pt x="87" y="218"/>
                  </a:moveTo>
                  <a:cubicBezTo>
                    <a:pt x="258" y="218"/>
                    <a:pt x="258" y="218"/>
                    <a:pt x="258" y="218"/>
                  </a:cubicBezTo>
                  <a:cubicBezTo>
                    <a:pt x="263" y="218"/>
                    <a:pt x="267" y="222"/>
                    <a:pt x="267" y="228"/>
                  </a:cubicBezTo>
                  <a:cubicBezTo>
                    <a:pt x="267" y="228"/>
                    <a:pt x="267" y="228"/>
                    <a:pt x="267" y="228"/>
                  </a:cubicBezTo>
                  <a:cubicBezTo>
                    <a:pt x="267" y="229"/>
                    <a:pt x="267" y="231"/>
                    <a:pt x="266" y="232"/>
                  </a:cubicBezTo>
                  <a:cubicBezTo>
                    <a:pt x="257" y="233"/>
                    <a:pt x="249" y="235"/>
                    <a:pt x="241" y="237"/>
                  </a:cubicBezTo>
                  <a:cubicBezTo>
                    <a:pt x="87" y="237"/>
                    <a:pt x="87" y="237"/>
                    <a:pt x="87" y="237"/>
                  </a:cubicBezTo>
                  <a:cubicBezTo>
                    <a:pt x="82" y="237"/>
                    <a:pt x="77" y="233"/>
                    <a:pt x="77" y="228"/>
                  </a:cubicBezTo>
                  <a:cubicBezTo>
                    <a:pt x="77" y="228"/>
                    <a:pt x="77" y="228"/>
                    <a:pt x="77" y="228"/>
                  </a:cubicBezTo>
                  <a:cubicBezTo>
                    <a:pt x="77" y="222"/>
                    <a:pt x="82" y="218"/>
                    <a:pt x="87" y="218"/>
                  </a:cubicBezTo>
                  <a:close/>
                  <a:moveTo>
                    <a:pt x="87" y="165"/>
                  </a:moveTo>
                  <a:cubicBezTo>
                    <a:pt x="258" y="165"/>
                    <a:pt x="258" y="165"/>
                    <a:pt x="258" y="165"/>
                  </a:cubicBezTo>
                  <a:cubicBezTo>
                    <a:pt x="263" y="165"/>
                    <a:pt x="267" y="170"/>
                    <a:pt x="267" y="175"/>
                  </a:cubicBezTo>
                  <a:cubicBezTo>
                    <a:pt x="267" y="175"/>
                    <a:pt x="267" y="175"/>
                    <a:pt x="267" y="175"/>
                  </a:cubicBezTo>
                  <a:cubicBezTo>
                    <a:pt x="267" y="180"/>
                    <a:pt x="263" y="184"/>
                    <a:pt x="258" y="184"/>
                  </a:cubicBezTo>
                  <a:cubicBezTo>
                    <a:pt x="87" y="184"/>
                    <a:pt x="87" y="184"/>
                    <a:pt x="87" y="184"/>
                  </a:cubicBezTo>
                  <a:cubicBezTo>
                    <a:pt x="82" y="184"/>
                    <a:pt x="77" y="180"/>
                    <a:pt x="77" y="175"/>
                  </a:cubicBezTo>
                  <a:cubicBezTo>
                    <a:pt x="77" y="175"/>
                    <a:pt x="77" y="175"/>
                    <a:pt x="77" y="175"/>
                  </a:cubicBezTo>
                  <a:cubicBezTo>
                    <a:pt x="77" y="170"/>
                    <a:pt x="82" y="165"/>
                    <a:pt x="87" y="165"/>
                  </a:cubicBezTo>
                  <a:close/>
                  <a:moveTo>
                    <a:pt x="87" y="115"/>
                  </a:moveTo>
                  <a:cubicBezTo>
                    <a:pt x="258" y="115"/>
                    <a:pt x="258" y="115"/>
                    <a:pt x="258" y="115"/>
                  </a:cubicBezTo>
                  <a:cubicBezTo>
                    <a:pt x="263" y="115"/>
                    <a:pt x="267" y="120"/>
                    <a:pt x="267" y="125"/>
                  </a:cubicBezTo>
                  <a:cubicBezTo>
                    <a:pt x="267" y="125"/>
                    <a:pt x="267" y="125"/>
                    <a:pt x="267" y="125"/>
                  </a:cubicBezTo>
                  <a:cubicBezTo>
                    <a:pt x="267" y="130"/>
                    <a:pt x="263" y="134"/>
                    <a:pt x="258" y="134"/>
                  </a:cubicBezTo>
                  <a:cubicBezTo>
                    <a:pt x="87" y="134"/>
                    <a:pt x="87" y="134"/>
                    <a:pt x="87" y="134"/>
                  </a:cubicBezTo>
                  <a:cubicBezTo>
                    <a:pt x="82" y="134"/>
                    <a:pt x="77" y="130"/>
                    <a:pt x="77" y="125"/>
                  </a:cubicBezTo>
                  <a:cubicBezTo>
                    <a:pt x="77" y="125"/>
                    <a:pt x="77" y="125"/>
                    <a:pt x="77" y="125"/>
                  </a:cubicBezTo>
                  <a:cubicBezTo>
                    <a:pt x="77" y="120"/>
                    <a:pt x="82" y="115"/>
                    <a:pt x="87" y="115"/>
                  </a:cubicBezTo>
                  <a:close/>
                  <a:moveTo>
                    <a:pt x="130" y="59"/>
                  </a:moveTo>
                  <a:cubicBezTo>
                    <a:pt x="130" y="33"/>
                    <a:pt x="130" y="33"/>
                    <a:pt x="130" y="33"/>
                  </a:cubicBezTo>
                  <a:cubicBezTo>
                    <a:pt x="130" y="31"/>
                    <a:pt x="131" y="29"/>
                    <a:pt x="132" y="28"/>
                  </a:cubicBezTo>
                  <a:cubicBezTo>
                    <a:pt x="132" y="28"/>
                    <a:pt x="132" y="28"/>
                    <a:pt x="132" y="28"/>
                  </a:cubicBezTo>
                  <a:cubicBezTo>
                    <a:pt x="134" y="27"/>
                    <a:pt x="136" y="26"/>
                    <a:pt x="138" y="26"/>
                  </a:cubicBezTo>
                  <a:cubicBezTo>
                    <a:pt x="206" y="26"/>
                    <a:pt x="206" y="26"/>
                    <a:pt x="206" y="26"/>
                  </a:cubicBezTo>
                  <a:cubicBezTo>
                    <a:pt x="208" y="26"/>
                    <a:pt x="211" y="27"/>
                    <a:pt x="212" y="28"/>
                  </a:cubicBezTo>
                  <a:cubicBezTo>
                    <a:pt x="212" y="28"/>
                    <a:pt x="212" y="28"/>
                    <a:pt x="212" y="28"/>
                  </a:cubicBezTo>
                  <a:cubicBezTo>
                    <a:pt x="214" y="29"/>
                    <a:pt x="215" y="31"/>
                    <a:pt x="215" y="33"/>
                  </a:cubicBezTo>
                  <a:cubicBezTo>
                    <a:pt x="215" y="59"/>
                    <a:pt x="215" y="59"/>
                    <a:pt x="215" y="59"/>
                  </a:cubicBezTo>
                  <a:lnTo>
                    <a:pt x="130" y="59"/>
                  </a:lnTo>
                  <a:close/>
                </a:path>
              </a:pathLst>
            </a:custGeom>
            <a:solidFill>
              <a:schemeClr val="bg1"/>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1" name="Rectangle 58"/>
            <p:cNvSpPr>
              <a:spLocks noChangeArrowheads="1"/>
            </p:cNvSpPr>
            <p:nvPr/>
          </p:nvSpPr>
          <p:spPr bwMode="auto">
            <a:xfrm rot="2700000">
              <a:off x="2655457" y="2650490"/>
              <a:ext cx="631043" cy="631043"/>
            </a:xfrm>
            <a:prstGeom prst="rect">
              <a:avLst/>
            </a:prstGeom>
            <a:solidFill>
              <a:schemeClr val="bg1"/>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endParaRPr lang="en-US" sz="1600" kern="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2" name="Rectangle 58"/>
            <p:cNvSpPr>
              <a:spLocks noChangeArrowheads="1"/>
            </p:cNvSpPr>
            <p:nvPr/>
          </p:nvSpPr>
          <p:spPr bwMode="auto">
            <a:xfrm rot="2700000">
              <a:off x="8987566" y="2650490"/>
              <a:ext cx="631043" cy="631043"/>
            </a:xfrm>
            <a:prstGeom prst="rect">
              <a:avLst/>
            </a:prstGeom>
            <a:solidFill>
              <a:schemeClr val="bg1"/>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endParaRPr lang="en-US" sz="1600" kern="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23" name="TextBox 76"/>
          <p:cNvSpPr txBox="1"/>
          <p:nvPr/>
        </p:nvSpPr>
        <p:spPr>
          <a:xfrm>
            <a:off x="1193683" y="3547049"/>
            <a:ext cx="2036467" cy="461665"/>
          </a:xfrm>
          <a:prstGeom prst="rect">
            <a:avLst/>
          </a:prstGeom>
          <a:noFill/>
          <a:effectLst/>
        </p:spPr>
        <p:txBody>
          <a:bodyPr wrap="square" rtlCol="0">
            <a:spAutoFit/>
          </a:bodyPr>
          <a:lstStyle/>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缺点</a:t>
            </a:r>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1</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4" name="TextBox 76"/>
          <p:cNvSpPr txBox="1"/>
          <p:nvPr/>
        </p:nvSpPr>
        <p:spPr>
          <a:xfrm>
            <a:off x="6251066" y="3538246"/>
            <a:ext cx="1957435" cy="461665"/>
          </a:xfrm>
          <a:prstGeom prst="rect">
            <a:avLst/>
          </a:prstGeom>
          <a:noFill/>
          <a:effectLst/>
        </p:spPr>
        <p:txBody>
          <a:bodyPr wrap="square" rtlCol="0">
            <a:spAutoFit/>
          </a:bodyPr>
          <a:lstStyle/>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缺点</a:t>
            </a:r>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2</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5" name="矩形 24"/>
          <p:cNvSpPr/>
          <p:nvPr/>
        </p:nvSpPr>
        <p:spPr>
          <a:xfrm>
            <a:off x="1240794" y="3893188"/>
            <a:ext cx="4339020" cy="2585323"/>
          </a:xfrm>
          <a:prstGeom prst="rect">
            <a:avLst/>
          </a:prstGeom>
        </p:spPr>
        <p:txBody>
          <a:bodyPr wrap="square">
            <a:spAutoFit/>
          </a:bodyPr>
          <a:lstStyle/>
          <a:p>
            <a:pPr>
              <a:lnSpc>
                <a:spcPct val="150000"/>
              </a:lnSpc>
            </a:pPr>
            <a:r>
              <a:rPr lang="zh-CN" altLang="zh-CN" sz="1800" dirty="0">
                <a:solidFill>
                  <a:srgbClr val="1369B2"/>
                </a:solidFill>
                <a:latin typeface="微软雅黑" panose="020B0503020204020204" pitchFamily="34" charset="-122"/>
                <a:ea typeface="微软雅黑" panose="020B0503020204020204" pitchFamily="34" charset="-122"/>
              </a:rPr>
              <a:t>不能提高测试的有效性</a:t>
            </a:r>
            <a:r>
              <a:rPr lang="zh-CN" altLang="en-US" sz="1800" dirty="0">
                <a:solidFill>
                  <a:srgbClr val="595959"/>
                </a:solidFill>
                <a:latin typeface="微软雅黑" panose="020B0503020204020204" pitchFamily="34" charset="-122"/>
                <a:ea typeface="微软雅黑" panose="020B0503020204020204" pitchFamily="34" charset="-122"/>
                <a:cs typeface="+mn-ea"/>
              </a:rPr>
              <a:t>。</a:t>
            </a:r>
            <a:r>
              <a:rPr lang="zh-CN" altLang="zh-CN" sz="1800" dirty="0">
                <a:solidFill>
                  <a:srgbClr val="595959"/>
                </a:solidFill>
                <a:latin typeface="微软雅黑" panose="020B0503020204020204" pitchFamily="34" charset="-122"/>
                <a:ea typeface="微软雅黑" panose="020B0503020204020204" pitchFamily="34" charset="-122"/>
                <a:cs typeface="+mn-ea"/>
              </a:rPr>
              <a:t>自动化测试的脚本是由代码编写而成，在测试过程中，</a:t>
            </a:r>
            <a:r>
              <a:rPr lang="zh-CN" altLang="zh-CN" sz="1800" dirty="0">
                <a:solidFill>
                  <a:srgbClr val="1369B2"/>
                </a:solidFill>
                <a:latin typeface="微软雅黑" panose="020B0503020204020204" pitchFamily="34" charset="-122"/>
                <a:ea typeface="微软雅黑" panose="020B0503020204020204" pitchFamily="34" charset="-122"/>
              </a:rPr>
              <a:t>脚本可能会出现异常或逻辑错误</a:t>
            </a:r>
            <a:r>
              <a:rPr lang="zh-CN" altLang="zh-CN" sz="1800" dirty="0">
                <a:solidFill>
                  <a:srgbClr val="595959"/>
                </a:solidFill>
                <a:latin typeface="微软雅黑" panose="020B0503020204020204" pitchFamily="34" charset="-122"/>
                <a:ea typeface="微软雅黑" panose="020B0503020204020204" pitchFamily="34" charset="-122"/>
                <a:cs typeface="+mn-ea"/>
              </a:rPr>
              <a:t>等情况，此时将无法提高测试的有效性。</a:t>
            </a:r>
            <a:r>
              <a:rPr lang="zh-CN" altLang="zh-CN" sz="1800" dirty="0">
                <a:solidFill>
                  <a:srgbClr val="1369B2"/>
                </a:solidFill>
                <a:latin typeface="微软雅黑" panose="020B0503020204020204" pitchFamily="34" charset="-122"/>
                <a:ea typeface="微软雅黑" panose="020B0503020204020204" pitchFamily="34" charset="-122"/>
              </a:rPr>
              <a:t>自动化测试工具</a:t>
            </a:r>
            <a:r>
              <a:rPr lang="zh-CN" altLang="zh-CN" sz="1800" dirty="0">
                <a:solidFill>
                  <a:srgbClr val="595959"/>
                </a:solidFill>
                <a:latin typeface="微软雅黑" panose="020B0503020204020204" pitchFamily="34" charset="-122"/>
                <a:ea typeface="微软雅黑" panose="020B0503020204020204" pitchFamily="34" charset="-122"/>
                <a:cs typeface="+mn-ea"/>
              </a:rPr>
              <a:t>本身也是一个</a:t>
            </a:r>
            <a:r>
              <a:rPr lang="zh-CN" altLang="zh-CN" sz="1800" dirty="0">
                <a:solidFill>
                  <a:srgbClr val="1369B2"/>
                </a:solidFill>
                <a:latin typeface="微软雅黑" panose="020B0503020204020204" pitchFamily="34" charset="-122"/>
                <a:ea typeface="微软雅黑" panose="020B0503020204020204" pitchFamily="34" charset="-122"/>
              </a:rPr>
              <a:t>产品</a:t>
            </a:r>
            <a:r>
              <a:rPr lang="zh-CN" altLang="zh-CN" sz="1800" dirty="0">
                <a:solidFill>
                  <a:srgbClr val="595959"/>
                </a:solidFill>
                <a:latin typeface="微软雅黑" panose="020B0503020204020204" pitchFamily="34" charset="-122"/>
                <a:ea typeface="微软雅黑" panose="020B0503020204020204" pitchFamily="34" charset="-122"/>
                <a:cs typeface="+mn-ea"/>
              </a:rPr>
              <a:t>，当它在不同的</a:t>
            </a:r>
            <a:r>
              <a:rPr lang="zh-CN" altLang="zh-CN" sz="1800" dirty="0">
                <a:solidFill>
                  <a:srgbClr val="1369B2"/>
                </a:solidFill>
                <a:latin typeface="微软雅黑" panose="020B0503020204020204" pitchFamily="34" charset="-122"/>
                <a:ea typeface="微软雅黑" panose="020B0503020204020204" pitchFamily="34" charset="-122"/>
              </a:rPr>
              <a:t>操作系统或平台上</a:t>
            </a:r>
            <a:r>
              <a:rPr lang="zh-CN" altLang="zh-CN" sz="1800" dirty="0">
                <a:solidFill>
                  <a:srgbClr val="595959"/>
                </a:solidFill>
                <a:latin typeface="微软雅黑" panose="020B0503020204020204" pitchFamily="34" charset="-122"/>
                <a:ea typeface="微软雅黑" panose="020B0503020204020204" pitchFamily="34" charset="-122"/>
                <a:cs typeface="+mn-ea"/>
              </a:rPr>
              <a:t>运行时也可能会出现缺陷</a:t>
            </a:r>
            <a:r>
              <a:rPr lang="zh-CN" altLang="en-US" sz="1800" dirty="0">
                <a:solidFill>
                  <a:srgbClr val="595959"/>
                </a:solidFill>
                <a:latin typeface="微软雅黑" panose="020B0503020204020204" pitchFamily="34" charset="-122"/>
                <a:ea typeface="微软雅黑" panose="020B0503020204020204" pitchFamily="34" charset="-122"/>
                <a:cs typeface="+mn-ea"/>
              </a:rPr>
              <a:t>。</a:t>
            </a:r>
          </a:p>
        </p:txBody>
      </p:sp>
      <p:sp>
        <p:nvSpPr>
          <p:cNvPr id="26" name="矩形 25"/>
          <p:cNvSpPr/>
          <p:nvPr/>
        </p:nvSpPr>
        <p:spPr>
          <a:xfrm>
            <a:off x="6251067" y="3893188"/>
            <a:ext cx="5100140" cy="2585323"/>
          </a:xfrm>
          <a:prstGeom prst="rect">
            <a:avLst/>
          </a:prstGeom>
        </p:spPr>
        <p:txBody>
          <a:bodyPr wrap="square">
            <a:spAutoFit/>
          </a:bodyPr>
          <a:lstStyle/>
          <a:p>
            <a:pPr>
              <a:lnSpc>
                <a:spcPct val="150000"/>
              </a:lnSpc>
            </a:pPr>
            <a:r>
              <a:rPr lang="zh-CN" altLang="zh-CN" sz="1800" dirty="0">
                <a:solidFill>
                  <a:srgbClr val="1369B2"/>
                </a:solidFill>
                <a:latin typeface="微软雅黑" panose="020B0503020204020204" pitchFamily="34" charset="-122"/>
                <a:ea typeface="微软雅黑" panose="020B0503020204020204" pitchFamily="34" charset="-122"/>
              </a:rPr>
              <a:t>发现的缺陷比人工测试少且不容易发现新的缺陷</a:t>
            </a:r>
            <a:r>
              <a:rPr lang="zh-CN" altLang="en-US" sz="1800" dirty="0">
                <a:solidFill>
                  <a:srgbClr val="595959"/>
                </a:solidFill>
                <a:latin typeface="微软雅黑" panose="020B0503020204020204" pitchFamily="34" charset="-122"/>
                <a:ea typeface="微软雅黑" panose="020B0503020204020204" pitchFamily="34" charset="-122"/>
                <a:cs typeface="+mn-ea"/>
              </a:rPr>
              <a:t>。</a:t>
            </a:r>
            <a:r>
              <a:rPr lang="zh-CN" altLang="zh-CN" sz="1800" dirty="0">
                <a:solidFill>
                  <a:srgbClr val="595959"/>
                </a:solidFill>
                <a:latin typeface="微软雅黑" panose="020B0503020204020204" pitchFamily="34" charset="-122"/>
                <a:ea typeface="微软雅黑" panose="020B0503020204020204" pitchFamily="34" charset="-122"/>
                <a:cs typeface="+mn-ea"/>
              </a:rPr>
              <a:t>自动化测试工具没有思维，</a:t>
            </a:r>
            <a:r>
              <a:rPr lang="zh-CN" altLang="zh-CN" sz="1800" dirty="0">
                <a:solidFill>
                  <a:srgbClr val="1369B2"/>
                </a:solidFill>
                <a:latin typeface="微软雅黑" panose="020B0503020204020204" pitchFamily="34" charset="-122"/>
                <a:ea typeface="微软雅黑" panose="020B0503020204020204" pitchFamily="34" charset="-122"/>
              </a:rPr>
              <a:t>无法进行主观判断</a:t>
            </a:r>
            <a:r>
              <a:rPr lang="zh-CN" altLang="zh-CN" sz="1800" dirty="0">
                <a:solidFill>
                  <a:srgbClr val="595959"/>
                </a:solidFill>
                <a:latin typeface="微软雅黑" panose="020B0503020204020204" pitchFamily="34" charset="-122"/>
                <a:ea typeface="微软雅黑" panose="020B0503020204020204" pitchFamily="34" charset="-122"/>
                <a:cs typeface="+mn-ea"/>
              </a:rPr>
              <a:t>，只能用于发现新版本的软件中是否出现旧版本的软件中出现过的缺陷，</a:t>
            </a:r>
            <a:r>
              <a:rPr lang="zh-CN" altLang="zh-CN" sz="1800" dirty="0">
                <a:solidFill>
                  <a:srgbClr val="1369B2"/>
                </a:solidFill>
                <a:latin typeface="微软雅黑" panose="020B0503020204020204" pitchFamily="34" charset="-122"/>
                <a:ea typeface="微软雅黑" panose="020B0503020204020204" pitchFamily="34" charset="-122"/>
              </a:rPr>
              <a:t>不易发现软件中的新缺陷</a:t>
            </a:r>
            <a:r>
              <a:rPr lang="zh-CN" altLang="zh-CN" sz="1800" dirty="0">
                <a:solidFill>
                  <a:srgbClr val="595959"/>
                </a:solidFill>
                <a:latin typeface="微软雅黑" panose="020B0503020204020204" pitchFamily="34" charset="-122"/>
                <a:ea typeface="微软雅黑" panose="020B0503020204020204" pitchFamily="34" charset="-122"/>
                <a:cs typeface="+mn-ea"/>
              </a:rPr>
              <a:t>，并且发现的缺陷数量比人工测试要少。自动化测试常用于</a:t>
            </a:r>
            <a:r>
              <a:rPr lang="zh-CN" altLang="zh-CN" sz="1800" dirty="0">
                <a:solidFill>
                  <a:srgbClr val="1369B2"/>
                </a:solidFill>
                <a:latin typeface="微软雅黑" panose="020B0503020204020204" pitchFamily="34" charset="-122"/>
                <a:ea typeface="微软雅黑" panose="020B0503020204020204" pitchFamily="34" charset="-122"/>
              </a:rPr>
              <a:t>缺陷预防</a:t>
            </a:r>
            <a:r>
              <a:rPr lang="zh-CN" altLang="zh-CN" sz="1800" dirty="0">
                <a:solidFill>
                  <a:srgbClr val="595959"/>
                </a:solidFill>
                <a:latin typeface="微软雅黑" panose="020B0503020204020204" pitchFamily="34" charset="-122"/>
                <a:ea typeface="微软雅黑" panose="020B0503020204020204" pitchFamily="34" charset="-122"/>
                <a:cs typeface="+mn-ea"/>
              </a:rPr>
              <a:t>而不是发现更多新缺陷。</a:t>
            </a:r>
          </a:p>
        </p:txBody>
      </p:sp>
      <p:sp>
        <p:nvSpPr>
          <p:cNvPr id="27" name="矩形 26"/>
          <p:cNvSpPr/>
          <p:nvPr/>
        </p:nvSpPr>
        <p:spPr>
          <a:xfrm>
            <a:off x="1114160" y="983404"/>
            <a:ext cx="2757038" cy="6480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bg1"/>
                </a:solidFill>
                <a:latin typeface="微软雅黑" panose="020B0503020204020204" pitchFamily="34" charset="-122"/>
                <a:ea typeface="微软雅黑" panose="020B0503020204020204" pitchFamily="34" charset="-122"/>
              </a:rPr>
              <a:t>自动化测试的缺点</a:t>
            </a:r>
          </a:p>
        </p:txBody>
      </p:sp>
      <p:sp>
        <p:nvSpPr>
          <p:cNvPr id="28"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6.1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自动化测试概述</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自动化测试</a:t>
            </a:r>
            <a:r>
              <a:rPr lang="zh-CN" altLang="en-US" sz="4800" b="1" dirty="0">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常见技术</a:t>
            </a:r>
            <a:endParaRPr lang="en-GB" altLang="zh-CN" sz="48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6.2</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6.2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自动化测试常见技术</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圆角矩形 9"/>
          <p:cNvSpPr/>
          <p:nvPr/>
        </p:nvSpPr>
        <p:spPr>
          <a:xfrm>
            <a:off x="1116718" y="997541"/>
            <a:ext cx="2880542" cy="664743"/>
          </a:xfrm>
          <a:prstGeom prst="roundRect">
            <a:avLst/>
          </a:prstGeom>
          <a:solidFill>
            <a:srgbClr val="1369B2"/>
          </a:solidFill>
        </p:spPr>
        <p:style>
          <a:lnRef idx="3">
            <a:schemeClr val="lt1"/>
          </a:lnRef>
          <a:fillRef idx="1">
            <a:schemeClr val="accent1"/>
          </a:fillRef>
          <a:effectRef idx="1">
            <a:schemeClr val="accent1"/>
          </a:effectRef>
          <a:fontRef idx="minor">
            <a:schemeClr val="lt1"/>
          </a:fontRef>
        </p:style>
        <p:txBody>
          <a:bodyPr rtlCol="0" anchor="ctr"/>
          <a:lstStyle/>
          <a:p>
            <a:pPr lvl="0" algn="ctr"/>
            <a:r>
              <a:rPr lang="en-US" altLang="zh-CN" dirty="0">
                <a:latin typeface="微软雅黑" panose="020B0503020204020204" pitchFamily="34" charset="-122"/>
                <a:ea typeface="微软雅黑" panose="020B0503020204020204" pitchFamily="34" charset="-122"/>
              </a:rPr>
              <a:t>1.</a:t>
            </a:r>
            <a:r>
              <a:rPr lang="zh-CN" altLang="zh-CN" dirty="0">
                <a:latin typeface="微软雅黑" panose="020B0503020204020204" pitchFamily="34" charset="-122"/>
                <a:ea typeface="微软雅黑" panose="020B0503020204020204" pitchFamily="34" charset="-122"/>
              </a:rPr>
              <a:t>录制与回放技术</a:t>
            </a:r>
          </a:p>
        </p:txBody>
      </p:sp>
      <p:sp>
        <p:nvSpPr>
          <p:cNvPr id="3" name="矩形 2"/>
          <p:cNvSpPr/>
          <p:nvPr/>
        </p:nvSpPr>
        <p:spPr>
          <a:xfrm>
            <a:off x="1109450" y="1989794"/>
            <a:ext cx="10018488" cy="2807948"/>
          </a:xfrm>
          <a:prstGeom prst="rect">
            <a:avLst/>
          </a:prstGeom>
        </p:spPr>
        <p:txBody>
          <a:bodyPr wrap="square">
            <a:spAutoFit/>
          </a:bodyPr>
          <a:lstStyle/>
          <a:p>
            <a:pPr>
              <a:lnSpc>
                <a:spcPct val="150000"/>
              </a:lnSpc>
            </a:pPr>
            <a:r>
              <a:rPr lang="zh-CN" altLang="zh-CN" sz="2000">
                <a:solidFill>
                  <a:srgbClr val="595959"/>
                </a:solidFill>
                <a:latin typeface="微软雅黑" panose="020B0503020204020204" pitchFamily="34" charset="-122"/>
                <a:ea typeface="微软雅黑" panose="020B0503020204020204" pitchFamily="34" charset="-122"/>
                <a:cs typeface="+mn-ea"/>
              </a:rPr>
              <a:t>录制是</a:t>
            </a:r>
            <a:r>
              <a:rPr lang="zh-CN" altLang="en-US" sz="2000">
                <a:solidFill>
                  <a:srgbClr val="595959"/>
                </a:solidFill>
                <a:latin typeface="微软雅黑" panose="020B0503020204020204" pitchFamily="34" charset="-122"/>
                <a:ea typeface="微软雅黑" panose="020B0503020204020204" pitchFamily="34" charset="-122"/>
                <a:cs typeface="+mn-ea"/>
              </a:rPr>
              <a:t>指</a:t>
            </a:r>
            <a:r>
              <a:rPr lang="zh-CN" altLang="zh-CN" sz="2000">
                <a:solidFill>
                  <a:srgbClr val="595959"/>
                </a:solidFill>
                <a:latin typeface="微软雅黑" panose="020B0503020204020204" pitchFamily="34" charset="-122"/>
                <a:ea typeface="微软雅黑" panose="020B0503020204020204" pitchFamily="34" charset="-122"/>
                <a:cs typeface="+mn-ea"/>
              </a:rPr>
              <a:t>先</a:t>
            </a:r>
            <a:r>
              <a:rPr lang="zh-CN" altLang="zh-CN" sz="2000" dirty="0">
                <a:solidFill>
                  <a:srgbClr val="595959"/>
                </a:solidFill>
                <a:latin typeface="微软雅黑" panose="020B0503020204020204" pitchFamily="34" charset="-122"/>
                <a:ea typeface="微软雅黑" panose="020B0503020204020204" pitchFamily="34" charset="-122"/>
                <a:cs typeface="+mn-ea"/>
              </a:rPr>
              <a:t>由测试人员对</a:t>
            </a:r>
            <a:r>
              <a:rPr lang="zh-CN" altLang="zh-CN" sz="2000" dirty="0">
                <a:solidFill>
                  <a:srgbClr val="0070C0"/>
                </a:solidFill>
                <a:latin typeface="微软雅黑" panose="020B0503020204020204" pitchFamily="34" charset="-122"/>
                <a:ea typeface="微软雅黑" panose="020B0503020204020204" pitchFamily="34" charset="-122"/>
                <a:cs typeface="+mn-ea"/>
              </a:rPr>
              <a:t>桌面应用程序</a:t>
            </a:r>
            <a:r>
              <a:rPr lang="zh-CN" altLang="zh-CN" sz="2000" dirty="0">
                <a:solidFill>
                  <a:srgbClr val="595959"/>
                </a:solidFill>
                <a:latin typeface="微软雅黑" panose="020B0503020204020204" pitchFamily="34" charset="-122"/>
                <a:ea typeface="微软雅黑" panose="020B0503020204020204" pitchFamily="34" charset="-122"/>
                <a:cs typeface="+mn-ea"/>
              </a:rPr>
              <a:t>或者</a:t>
            </a:r>
            <a:r>
              <a:rPr lang="en-US" altLang="zh-CN" sz="2000" dirty="0">
                <a:solidFill>
                  <a:srgbClr val="0070C0"/>
                </a:solidFill>
                <a:latin typeface="微软雅黑" panose="020B0503020204020204" pitchFamily="34" charset="-122"/>
                <a:ea typeface="微软雅黑" panose="020B0503020204020204" pitchFamily="34" charset="-122"/>
                <a:cs typeface="+mn-ea"/>
              </a:rPr>
              <a:t>Web</a:t>
            </a:r>
            <a:r>
              <a:rPr lang="zh-CN" altLang="zh-CN" sz="2000" dirty="0">
                <a:solidFill>
                  <a:srgbClr val="0070C0"/>
                </a:solidFill>
                <a:latin typeface="微软雅黑" panose="020B0503020204020204" pitchFamily="34" charset="-122"/>
                <a:ea typeface="微软雅黑" panose="020B0503020204020204" pitchFamily="34" charset="-122"/>
                <a:cs typeface="+mn-ea"/>
              </a:rPr>
              <a:t>页面的某一项功能</a:t>
            </a:r>
            <a:r>
              <a:rPr lang="zh-CN" altLang="zh-CN" sz="2000" dirty="0">
                <a:solidFill>
                  <a:srgbClr val="595959"/>
                </a:solidFill>
                <a:latin typeface="微软雅黑" panose="020B0503020204020204" pitchFamily="34" charset="-122"/>
                <a:ea typeface="微软雅黑" panose="020B0503020204020204" pitchFamily="34" charset="-122"/>
                <a:cs typeface="+mn-ea"/>
              </a:rPr>
              <a:t>完成一遍需要测试的流程，然后通过自动化测试工具记录测试流程中</a:t>
            </a:r>
            <a:r>
              <a:rPr lang="zh-CN" altLang="zh-CN" sz="2000" dirty="0">
                <a:solidFill>
                  <a:srgbClr val="0070C0"/>
                </a:solidFill>
                <a:latin typeface="微软雅黑" panose="020B0503020204020204" pitchFamily="34" charset="-122"/>
                <a:ea typeface="微软雅黑" panose="020B0503020204020204" pitchFamily="34" charset="-122"/>
                <a:cs typeface="+mn-ea"/>
              </a:rPr>
              <a:t>客户端和服务器之间的通信过程</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以及用户</a:t>
            </a:r>
            <a:r>
              <a:rPr lang="zh-CN" altLang="en-US" sz="2000">
                <a:solidFill>
                  <a:srgbClr val="595959"/>
                </a:solidFill>
                <a:latin typeface="微软雅黑" panose="020B0503020204020204" pitchFamily="34" charset="-122"/>
                <a:ea typeface="微软雅黑" panose="020B0503020204020204" pitchFamily="34" charset="-122"/>
                <a:cs typeface="+mn-ea"/>
              </a:rPr>
              <a:t>与</a:t>
            </a:r>
            <a:r>
              <a:rPr lang="zh-CN" altLang="zh-CN" sz="2000">
                <a:solidFill>
                  <a:srgbClr val="595959"/>
                </a:solidFill>
                <a:latin typeface="微软雅黑" panose="020B0503020204020204" pitchFamily="34" charset="-122"/>
                <a:ea typeface="微软雅黑" panose="020B0503020204020204" pitchFamily="34" charset="-122"/>
                <a:cs typeface="+mn-ea"/>
              </a:rPr>
              <a:t>应用程序</a:t>
            </a:r>
            <a:r>
              <a:rPr lang="zh-CN" altLang="zh-CN" sz="2000" dirty="0">
                <a:solidFill>
                  <a:srgbClr val="595959"/>
                </a:solidFill>
                <a:latin typeface="微软雅黑" panose="020B0503020204020204" pitchFamily="34" charset="-122"/>
                <a:ea typeface="微软雅黑" panose="020B0503020204020204" pitchFamily="34" charset="-122"/>
                <a:cs typeface="+mn-ea"/>
              </a:rPr>
              <a:t>交互时的操作行为，</a:t>
            </a:r>
            <a:r>
              <a:rPr lang="zh-CN" altLang="zh-CN" sz="2000" dirty="0">
                <a:solidFill>
                  <a:srgbClr val="0070C0"/>
                </a:solidFill>
                <a:latin typeface="微软雅黑" panose="020B0503020204020204" pitchFamily="34" charset="-122"/>
                <a:ea typeface="微软雅黑" panose="020B0503020204020204" pitchFamily="34" charset="-122"/>
                <a:cs typeface="+mn-ea"/>
              </a:rPr>
              <a:t>自动生成一个</a:t>
            </a:r>
            <a:r>
              <a:rPr lang="zh-CN" altLang="zh-CN" sz="2000">
                <a:solidFill>
                  <a:srgbClr val="0070C0"/>
                </a:solidFill>
                <a:latin typeface="微软雅黑" panose="020B0503020204020204" pitchFamily="34" charset="-122"/>
                <a:ea typeface="微软雅黑" panose="020B0503020204020204" pitchFamily="34" charset="-122"/>
                <a:cs typeface="+mn-ea"/>
              </a:rPr>
              <a:t>脚本</a:t>
            </a:r>
            <a:r>
              <a:rPr lang="zh-CN" altLang="zh-CN" sz="2000">
                <a:solidFill>
                  <a:srgbClr val="595959"/>
                </a:solidFill>
                <a:latin typeface="微软雅黑" panose="020B0503020204020204" pitchFamily="34" charset="-122"/>
                <a:ea typeface="微软雅黑" panose="020B0503020204020204" pitchFamily="34" charset="-122"/>
                <a:cs typeface="+mn-ea"/>
              </a:rPr>
              <a:t>。</a:t>
            </a:r>
            <a:endParaRPr lang="en-US" altLang="zh-CN" sz="200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200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zh-CN" altLang="zh-CN" sz="2000">
                <a:solidFill>
                  <a:srgbClr val="595959"/>
                </a:solidFill>
                <a:latin typeface="微软雅黑" panose="020B0503020204020204" pitchFamily="34" charset="-122"/>
                <a:ea typeface="微软雅黑" panose="020B0503020204020204" pitchFamily="34" charset="-122"/>
                <a:cs typeface="+mn-ea"/>
              </a:rPr>
              <a:t>在</a:t>
            </a:r>
            <a:r>
              <a:rPr lang="zh-CN" altLang="zh-CN" sz="2000" dirty="0">
                <a:solidFill>
                  <a:srgbClr val="595959"/>
                </a:solidFill>
                <a:latin typeface="微软雅黑" panose="020B0503020204020204" pitchFamily="34" charset="-122"/>
                <a:ea typeface="微软雅黑" panose="020B0503020204020204" pitchFamily="34" charset="-122"/>
                <a:cs typeface="+mn-ea"/>
              </a:rPr>
              <a:t>测试执行期间可以</a:t>
            </a:r>
            <a:r>
              <a:rPr lang="zh-CN" altLang="zh-CN" sz="2000" dirty="0">
                <a:solidFill>
                  <a:srgbClr val="0070C0"/>
                </a:solidFill>
                <a:latin typeface="微软雅黑" panose="020B0503020204020204" pitchFamily="34" charset="-122"/>
                <a:ea typeface="微软雅黑" panose="020B0503020204020204" pitchFamily="34" charset="-122"/>
                <a:cs typeface="+mn-ea"/>
              </a:rPr>
              <a:t>回放测试的流程</a:t>
            </a:r>
            <a:r>
              <a:rPr lang="zh-CN" altLang="zh-CN" sz="2000" dirty="0">
                <a:solidFill>
                  <a:srgbClr val="595959"/>
                </a:solidFill>
                <a:latin typeface="微软雅黑" panose="020B0503020204020204" pitchFamily="34" charset="-122"/>
                <a:ea typeface="微软雅黑" panose="020B0503020204020204" pitchFamily="34" charset="-122"/>
                <a:cs typeface="+mn-ea"/>
              </a:rPr>
              <a:t>，通过回放能够查看录制过程中存在的</a:t>
            </a:r>
            <a:r>
              <a:rPr lang="zh-CN" altLang="zh-CN" sz="2000" dirty="0">
                <a:solidFill>
                  <a:srgbClr val="0070C0"/>
                </a:solidFill>
                <a:latin typeface="微软雅黑" panose="020B0503020204020204" pitchFamily="34" charset="-122"/>
                <a:ea typeface="微软雅黑" panose="020B0503020204020204" pitchFamily="34" charset="-122"/>
                <a:cs typeface="+mn-ea"/>
              </a:rPr>
              <a:t>错误和</a:t>
            </a:r>
            <a:r>
              <a:rPr lang="zh-CN" altLang="zh-CN" sz="2000">
                <a:solidFill>
                  <a:srgbClr val="0070C0"/>
                </a:solidFill>
                <a:latin typeface="微软雅黑" panose="020B0503020204020204" pitchFamily="34" charset="-122"/>
                <a:ea typeface="微软雅黑" panose="020B0503020204020204" pitchFamily="34" charset="-122"/>
                <a:cs typeface="+mn-ea"/>
              </a:rPr>
              <a:t>不足</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en-US" sz="2000">
                <a:solidFill>
                  <a:srgbClr val="595959"/>
                </a:solidFill>
                <a:latin typeface="微软雅黑" panose="020B0503020204020204" pitchFamily="34" charset="-122"/>
                <a:ea typeface="微软雅黑" panose="020B0503020204020204" pitchFamily="34" charset="-122"/>
                <a:cs typeface="+mn-ea"/>
              </a:rPr>
              <a:t>例</a:t>
            </a:r>
            <a:r>
              <a:rPr lang="zh-CN" altLang="zh-CN" sz="2000">
                <a:solidFill>
                  <a:srgbClr val="595959"/>
                </a:solidFill>
                <a:latin typeface="微软雅黑" panose="020B0503020204020204" pitchFamily="34" charset="-122"/>
                <a:ea typeface="微软雅黑" panose="020B0503020204020204" pitchFamily="34" charset="-122"/>
                <a:cs typeface="+mn-ea"/>
              </a:rPr>
              <a:t>如</a:t>
            </a:r>
            <a:r>
              <a:rPr lang="zh-CN" altLang="zh-CN" sz="2000" dirty="0">
                <a:solidFill>
                  <a:srgbClr val="0070C0"/>
                </a:solidFill>
                <a:latin typeface="微软雅黑" panose="020B0503020204020204" pitchFamily="34" charset="-122"/>
                <a:ea typeface="微软雅黑" panose="020B0503020204020204" pitchFamily="34" charset="-122"/>
                <a:cs typeface="+mn-ea"/>
              </a:rPr>
              <a:t>图片刷新缓慢</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0070C0"/>
                </a:solidFill>
                <a:latin typeface="微软雅黑" panose="020B0503020204020204" pitchFamily="34" charset="-122"/>
                <a:ea typeface="微软雅黑" panose="020B0503020204020204" pitchFamily="34" charset="-122"/>
                <a:cs typeface="+mn-ea"/>
              </a:rPr>
              <a:t>URL</a:t>
            </a:r>
            <a:r>
              <a:rPr lang="zh-CN" altLang="zh-CN" sz="2000">
                <a:solidFill>
                  <a:srgbClr val="0070C0"/>
                </a:solidFill>
                <a:latin typeface="微软雅黑" panose="020B0503020204020204" pitchFamily="34" charset="-122"/>
                <a:ea typeface="微软雅黑" panose="020B0503020204020204" pitchFamily="34" charset="-122"/>
                <a:cs typeface="+mn-ea"/>
              </a:rPr>
              <a:t>无法</a:t>
            </a:r>
            <a:r>
              <a:rPr lang="zh-CN" altLang="en-US" sz="2000">
                <a:solidFill>
                  <a:srgbClr val="0070C0"/>
                </a:solidFill>
                <a:latin typeface="微软雅黑" panose="020B0503020204020204" pitchFamily="34" charset="-122"/>
                <a:ea typeface="微软雅黑" panose="020B0503020204020204" pitchFamily="34" charset="-122"/>
                <a:cs typeface="+mn-ea"/>
              </a:rPr>
              <a:t>访问</a:t>
            </a:r>
            <a:r>
              <a:rPr lang="zh-CN" altLang="zh-CN" sz="2000">
                <a:solidFill>
                  <a:srgbClr val="595959"/>
                </a:solidFill>
                <a:latin typeface="微软雅黑" panose="020B0503020204020204" pitchFamily="34" charset="-122"/>
                <a:ea typeface="微软雅黑" panose="020B0503020204020204" pitchFamily="34" charset="-122"/>
                <a:cs typeface="+mn-ea"/>
              </a:rPr>
              <a:t>等。</a:t>
            </a:r>
            <a:endParaRPr lang="en-US" altLang="zh-CN" sz="200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6.2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自动化测试常见技术</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原创设计师QQ598969553          _9"/>
          <p:cNvSpPr txBox="1"/>
          <p:nvPr/>
        </p:nvSpPr>
        <p:spPr>
          <a:xfrm>
            <a:off x="5155285" y="2133794"/>
            <a:ext cx="6337138" cy="2400657"/>
          </a:xfrm>
          <a:prstGeom prst="rect">
            <a:avLst/>
          </a:prstGeom>
          <a:noFill/>
        </p:spPr>
        <p:txBody>
          <a:bodyPr wrap="square" rtlCol="0">
            <a:spAutoFit/>
          </a:bodyPr>
          <a:lstStyle/>
          <a:p>
            <a:pPr defTabSz="1216660">
              <a:lnSpc>
                <a:spcPct val="150000"/>
              </a:lnSpc>
              <a:spcBef>
                <a:spcPct val="20000"/>
              </a:spcBef>
              <a:defRPr/>
            </a:pPr>
            <a:r>
              <a:rPr lang="zh-CN" altLang="zh-CN" sz="2000" dirty="0">
                <a:solidFill>
                  <a:srgbClr val="595959"/>
                </a:solidFill>
                <a:latin typeface="微软雅黑" panose="020B0503020204020204" pitchFamily="34" charset="-122"/>
                <a:ea typeface="微软雅黑" panose="020B0503020204020204" pitchFamily="34" charset="-122"/>
                <a:cs typeface="+mn-ea"/>
              </a:rPr>
              <a:t>在录制过程中，</a:t>
            </a:r>
            <a:r>
              <a:rPr lang="zh-CN" altLang="zh-CN" sz="2000" dirty="0">
                <a:solidFill>
                  <a:srgbClr val="1369B2"/>
                </a:solidFill>
                <a:latin typeface="微软雅黑" panose="020B0503020204020204" pitchFamily="34" charset="-122"/>
                <a:ea typeface="微软雅黑" panose="020B0503020204020204" pitchFamily="34" charset="-122"/>
                <a:cs typeface="+mn-ea"/>
              </a:rPr>
              <a:t>每一个测试过程都会生成单独的测试脚本</a:t>
            </a:r>
            <a:r>
              <a:rPr lang="zh-CN" altLang="zh-CN" sz="2000" dirty="0">
                <a:solidFill>
                  <a:srgbClr val="595959"/>
                </a:solidFill>
                <a:latin typeface="微软雅黑" panose="020B0503020204020204" pitchFamily="34" charset="-122"/>
                <a:ea typeface="微软雅黑" panose="020B0503020204020204" pitchFamily="34" charset="-122"/>
                <a:cs typeface="+mn-ea"/>
              </a:rPr>
              <a:t>，并且程序数据和脚本会混合在一起，使得</a:t>
            </a:r>
            <a:r>
              <a:rPr lang="zh-CN" altLang="zh-CN" sz="2000" dirty="0">
                <a:solidFill>
                  <a:srgbClr val="1369B2"/>
                </a:solidFill>
                <a:latin typeface="微软雅黑" panose="020B0503020204020204" pitchFamily="34" charset="-122"/>
                <a:ea typeface="微软雅黑" panose="020B0503020204020204" pitchFamily="34" charset="-122"/>
                <a:cs typeface="+mn-ea"/>
              </a:rPr>
              <a:t>维护成本很高</a:t>
            </a:r>
            <a:r>
              <a:rPr lang="zh-CN" altLang="zh-CN" sz="2000" dirty="0">
                <a:solidFill>
                  <a:srgbClr val="595959"/>
                </a:solidFill>
                <a:latin typeface="微软雅黑" panose="020B0503020204020204" pitchFamily="34" charset="-122"/>
                <a:ea typeface="微软雅黑" panose="020B0503020204020204" pitchFamily="34" charset="-122"/>
                <a:cs typeface="+mn-ea"/>
              </a:rPr>
              <a:t>。无论是简单的界面还是复杂的界面，一旦发生变化，测试人员都需要</a:t>
            </a:r>
            <a:r>
              <a:rPr lang="zh-CN" altLang="zh-CN" sz="2000" dirty="0">
                <a:solidFill>
                  <a:srgbClr val="1369B2"/>
                </a:solidFill>
                <a:latin typeface="微软雅黑" panose="020B0503020204020204" pitchFamily="34" charset="-122"/>
                <a:ea typeface="微软雅黑" panose="020B0503020204020204" pitchFamily="34" charset="-122"/>
                <a:cs typeface="+mn-ea"/>
              </a:rPr>
              <a:t>重新录制</a:t>
            </a:r>
            <a:r>
              <a:rPr lang="zh-CN" altLang="zh-CN" sz="2000" dirty="0">
                <a:solidFill>
                  <a:srgbClr val="595959"/>
                </a:solidFill>
                <a:latin typeface="微软雅黑" panose="020B0503020204020204" pitchFamily="34" charset="-122"/>
                <a:ea typeface="微软雅黑" panose="020B0503020204020204" pitchFamily="34" charset="-122"/>
                <a:cs typeface="+mn-ea"/>
              </a:rPr>
              <a:t>，使得</a:t>
            </a:r>
            <a:r>
              <a:rPr lang="zh-CN" altLang="zh-CN" sz="2000" dirty="0">
                <a:solidFill>
                  <a:srgbClr val="1369B2"/>
                </a:solidFill>
                <a:latin typeface="微软雅黑" panose="020B0503020204020204" pitchFamily="34" charset="-122"/>
                <a:ea typeface="微软雅黑" panose="020B0503020204020204" pitchFamily="34" charset="-122"/>
                <a:cs typeface="+mn-ea"/>
              </a:rPr>
              <a:t>脚本的可重复利用率降低</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p:txBody>
      </p:sp>
      <p:pic>
        <p:nvPicPr>
          <p:cNvPr id="6" name="图片 5"/>
          <p:cNvPicPr>
            <a:picLocks noChangeAspect="1"/>
          </p:cNvPicPr>
          <p:nvPr/>
        </p:nvPicPr>
        <p:blipFill>
          <a:blip r:embed="rId3"/>
          <a:stretch>
            <a:fillRect/>
          </a:stretch>
        </p:blipFill>
        <p:spPr>
          <a:xfrm>
            <a:off x="839386" y="1413456"/>
            <a:ext cx="3715858" cy="400615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6.2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自动化测试常见技术</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1116718" y="2421794"/>
            <a:ext cx="10018488" cy="1477328"/>
          </a:xfrm>
          <a:prstGeom prst="rect">
            <a:avLst/>
          </a:prstGeom>
        </p:spPr>
        <p:txBody>
          <a:bodyPr wrap="square">
            <a:spAutoFit/>
          </a:bodyPr>
          <a:lstStyle/>
          <a:p>
            <a:pPr>
              <a:lnSpc>
                <a:spcPct val="150000"/>
              </a:lnSpc>
            </a:pPr>
            <a:r>
              <a:rPr lang="en-US" altLang="zh-CN" sz="2000">
                <a:solidFill>
                  <a:srgbClr val="0070C0"/>
                </a:solidFill>
                <a:latin typeface="微软雅黑" panose="020B0503020204020204" pitchFamily="34" charset="-122"/>
                <a:ea typeface="微软雅黑" panose="020B0503020204020204" pitchFamily="34" charset="-122"/>
                <a:cs typeface="+mn-ea"/>
              </a:rPr>
              <a:t>脚本是测试计算机程序执行的指令集合</a:t>
            </a:r>
            <a:r>
              <a:rPr lang="en-US" altLang="zh-CN" sz="2000">
                <a:solidFill>
                  <a:srgbClr val="595959"/>
                </a:solidFill>
                <a:latin typeface="微软雅黑" panose="020B0503020204020204" pitchFamily="34" charset="-122"/>
                <a:ea typeface="微软雅黑" panose="020B0503020204020204" pitchFamily="34" charset="-122"/>
                <a:cs typeface="+mn-ea"/>
              </a:rPr>
              <a:t>。脚本可以用 </a:t>
            </a:r>
            <a:r>
              <a:rPr lang="en-US" altLang="zh-CN" sz="2000">
                <a:solidFill>
                  <a:srgbClr val="0070C0"/>
                </a:solidFill>
                <a:latin typeface="微软雅黑" panose="020B0503020204020204" pitchFamily="34" charset="-122"/>
                <a:ea typeface="微软雅黑" panose="020B0503020204020204" pitchFamily="34" charset="-122"/>
                <a:cs typeface="+mn-ea"/>
              </a:rPr>
              <a:t>JavaScript</a:t>
            </a:r>
            <a:r>
              <a:rPr lang="en-US" altLang="zh-CN"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0070C0"/>
                </a:solidFill>
                <a:latin typeface="微软雅黑" panose="020B0503020204020204" pitchFamily="34" charset="-122"/>
                <a:ea typeface="微软雅黑" panose="020B0503020204020204" pitchFamily="34" charset="-122"/>
                <a:cs typeface="+mn-ea"/>
              </a:rPr>
              <a:t>Python</a:t>
            </a:r>
            <a:r>
              <a:rPr lang="en-US" altLang="zh-CN"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0070C0"/>
                </a:solidFill>
                <a:latin typeface="微软雅黑" panose="020B0503020204020204" pitchFamily="34" charset="-122"/>
                <a:ea typeface="微软雅黑" panose="020B0503020204020204" pitchFamily="34" charset="-122"/>
                <a:cs typeface="+mn-ea"/>
              </a:rPr>
              <a:t>Java</a:t>
            </a:r>
            <a:r>
              <a:rPr lang="en-US" altLang="zh-CN" sz="2000">
                <a:solidFill>
                  <a:srgbClr val="595959"/>
                </a:solidFill>
                <a:latin typeface="微软雅黑" panose="020B0503020204020204" pitchFamily="34" charset="-122"/>
                <a:ea typeface="微软雅黑" panose="020B0503020204020204" pitchFamily="34" charset="-122"/>
                <a:cs typeface="+mn-ea"/>
              </a:rPr>
              <a:t> 等语言编写，如果要使用录制生成的脚本，则需要修改后再使用，这样可以</a:t>
            </a:r>
            <a:r>
              <a:rPr lang="en-US" altLang="zh-CN" sz="2000">
                <a:solidFill>
                  <a:srgbClr val="0070C0"/>
                </a:solidFill>
                <a:latin typeface="微软雅黑" panose="020B0503020204020204" pitchFamily="34" charset="-122"/>
                <a:ea typeface="微软雅黑" panose="020B0503020204020204" pitchFamily="34" charset="-122"/>
                <a:cs typeface="+mn-ea"/>
              </a:rPr>
              <a:t>减少测试人员编写脚本的工作量</a:t>
            </a:r>
            <a:r>
              <a:rPr lang="en-US" altLang="zh-CN" sz="200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6" name="圆角矩形 5"/>
          <p:cNvSpPr/>
          <p:nvPr/>
        </p:nvSpPr>
        <p:spPr>
          <a:xfrm>
            <a:off x="1116718" y="997541"/>
            <a:ext cx="2880542" cy="664743"/>
          </a:xfrm>
          <a:prstGeom prst="roundRect">
            <a:avLst/>
          </a:prstGeom>
          <a:solidFill>
            <a:srgbClr val="1369B2"/>
          </a:solidFill>
        </p:spPr>
        <p:style>
          <a:lnRef idx="3">
            <a:schemeClr val="lt1"/>
          </a:lnRef>
          <a:fillRef idx="1">
            <a:schemeClr val="accent1"/>
          </a:fillRef>
          <a:effectRef idx="1">
            <a:schemeClr val="accent1"/>
          </a:effectRef>
          <a:fontRef idx="minor">
            <a:schemeClr val="lt1"/>
          </a:fontRef>
        </p:style>
        <p:txBody>
          <a:bodyPr rtlCol="0" anchor="ctr"/>
          <a:lstStyle/>
          <a:p>
            <a:pPr lvl="0" algn="ctr"/>
            <a:r>
              <a:rPr lang="en-US" altLang="zh-CN">
                <a:latin typeface="微软雅黑" panose="020B0503020204020204" pitchFamily="34" charset="-122"/>
                <a:ea typeface="微软雅黑" panose="020B0503020204020204" pitchFamily="34" charset="-122"/>
              </a:rPr>
              <a:t>2.</a:t>
            </a:r>
            <a:r>
              <a:rPr lang="zh-CN" altLang="en-US">
                <a:latin typeface="微软雅黑" panose="020B0503020204020204" pitchFamily="34" charset="-122"/>
                <a:ea typeface="微软雅黑" panose="020B0503020204020204" pitchFamily="34" charset="-122"/>
              </a:rPr>
              <a:t>脚本</a:t>
            </a:r>
            <a:r>
              <a:rPr lang="zh-CN" altLang="zh-CN">
                <a:latin typeface="微软雅黑" panose="020B0503020204020204" pitchFamily="34" charset="-122"/>
                <a:ea typeface="微软雅黑" panose="020B0503020204020204" pitchFamily="34" charset="-122"/>
              </a:rPr>
              <a:t>技术</a:t>
            </a:r>
            <a:endParaRPr lang="zh-CN" altLang="zh-CN"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6.2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自动化测试常见技术</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0" name="MH_SubTitle_1"/>
          <p:cNvSpPr/>
          <p:nvPr>
            <p:custDataLst>
              <p:tags r:id="rId1"/>
            </p:custDataLst>
          </p:nvPr>
        </p:nvSpPr>
        <p:spPr>
          <a:xfrm>
            <a:off x="2420256" y="2048975"/>
            <a:ext cx="2600325" cy="511175"/>
          </a:xfrm>
          <a:custGeom>
            <a:avLst/>
            <a:gdLst>
              <a:gd name="connsiteX0" fmla="*/ 0 w 2286028"/>
              <a:gd name="connsiteY0" fmla="*/ 0 h 449944"/>
              <a:gd name="connsiteX1" fmla="*/ 2061028 w 2286028"/>
              <a:gd name="connsiteY1" fmla="*/ 0 h 449944"/>
              <a:gd name="connsiteX2" fmla="*/ 2286028 w 2286028"/>
              <a:gd name="connsiteY2" fmla="*/ 224972 h 449944"/>
              <a:gd name="connsiteX3" fmla="*/ 2061028 w 2286028"/>
              <a:gd name="connsiteY3" fmla="*/ 449944 h 449944"/>
              <a:gd name="connsiteX4" fmla="*/ 2061018 w 2286028"/>
              <a:gd name="connsiteY4" fmla="*/ 449943 h 449944"/>
              <a:gd name="connsiteX5" fmla="*/ 0 w 2286028"/>
              <a:gd name="connsiteY5" fmla="*/ 449943 h 449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6028" h="449944">
                <a:moveTo>
                  <a:pt x="0" y="0"/>
                </a:moveTo>
                <a:lnTo>
                  <a:pt x="2061028" y="0"/>
                </a:lnTo>
                <a:cubicBezTo>
                  <a:pt x="2185292" y="0"/>
                  <a:pt x="2286028" y="100723"/>
                  <a:pt x="2286028" y="224972"/>
                </a:cubicBezTo>
                <a:cubicBezTo>
                  <a:pt x="2286028" y="349221"/>
                  <a:pt x="2185292" y="449944"/>
                  <a:pt x="2061028" y="449944"/>
                </a:cubicBezTo>
                <a:lnTo>
                  <a:pt x="2061018" y="449943"/>
                </a:lnTo>
                <a:lnTo>
                  <a:pt x="0" y="449943"/>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solidFill>
                  <a:srgbClr val="FFFFFF"/>
                </a:solidFill>
                <a:latin typeface="微软雅黑" panose="020B0503020204020204" pitchFamily="34" charset="-122"/>
                <a:ea typeface="微软雅黑" panose="020B0503020204020204" pitchFamily="34" charset="-122"/>
              </a:rPr>
              <a:t>线性脚本</a:t>
            </a: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1" name="MH_Other_1"/>
          <p:cNvSpPr/>
          <p:nvPr>
            <p:custDataLst>
              <p:tags r:id="rId2"/>
            </p:custDataLst>
          </p:nvPr>
        </p:nvSpPr>
        <p:spPr>
          <a:xfrm>
            <a:off x="4539567" y="2089297"/>
            <a:ext cx="431800" cy="431800"/>
          </a:xfrm>
          <a:custGeom>
            <a:avLst/>
            <a:gdLst>
              <a:gd name="connsiteX0" fmla="*/ 162177 w 379914"/>
              <a:gd name="connsiteY0" fmla="*/ 97631 h 379866"/>
              <a:gd name="connsiteX1" fmla="*/ 219804 w 379914"/>
              <a:gd name="connsiteY1" fmla="*/ 189932 h 379866"/>
              <a:gd name="connsiteX2" fmla="*/ 162177 w 379914"/>
              <a:gd name="connsiteY2" fmla="*/ 282233 h 379866"/>
              <a:gd name="connsiteX3" fmla="*/ 198210 w 379914"/>
              <a:gd name="connsiteY3" fmla="*/ 282233 h 379866"/>
              <a:gd name="connsiteX4" fmla="*/ 255837 w 379914"/>
              <a:gd name="connsiteY4" fmla="*/ 189932 h 379866"/>
              <a:gd name="connsiteX5" fmla="*/ 198210 w 379914"/>
              <a:gd name="connsiteY5" fmla="*/ 97631 h 379866"/>
              <a:gd name="connsiteX6" fmla="*/ 189957 w 379914"/>
              <a:gd name="connsiteY6" fmla="*/ 0 h 379866"/>
              <a:gd name="connsiteX7" fmla="*/ 379914 w 379914"/>
              <a:gd name="connsiteY7" fmla="*/ 189933 h 379866"/>
              <a:gd name="connsiteX8" fmla="*/ 189957 w 379914"/>
              <a:gd name="connsiteY8" fmla="*/ 379866 h 379866"/>
              <a:gd name="connsiteX9" fmla="*/ 0 w 379914"/>
              <a:gd name="connsiteY9" fmla="*/ 189933 h 379866"/>
              <a:gd name="connsiteX10" fmla="*/ 189957 w 379914"/>
              <a:gd name="connsiteY10" fmla="*/ 0 h 37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914" h="379866">
                <a:moveTo>
                  <a:pt x="162177" y="97631"/>
                </a:moveTo>
                <a:lnTo>
                  <a:pt x="219804" y="189932"/>
                </a:lnTo>
                <a:lnTo>
                  <a:pt x="162177" y="282233"/>
                </a:lnTo>
                <a:lnTo>
                  <a:pt x="198210" y="282233"/>
                </a:lnTo>
                <a:lnTo>
                  <a:pt x="255837" y="189932"/>
                </a:lnTo>
                <a:lnTo>
                  <a:pt x="198210" y="97631"/>
                </a:lnTo>
                <a:close/>
                <a:moveTo>
                  <a:pt x="189957" y="0"/>
                </a:moveTo>
                <a:cubicBezTo>
                  <a:pt x="294867" y="0"/>
                  <a:pt x="379914" y="85036"/>
                  <a:pt x="379914" y="189933"/>
                </a:cubicBezTo>
                <a:cubicBezTo>
                  <a:pt x="379914" y="294830"/>
                  <a:pt x="294867" y="379866"/>
                  <a:pt x="189957" y="379866"/>
                </a:cubicBezTo>
                <a:cubicBezTo>
                  <a:pt x="85047" y="379866"/>
                  <a:pt x="0" y="294830"/>
                  <a:pt x="0" y="189933"/>
                </a:cubicBezTo>
                <a:cubicBezTo>
                  <a:pt x="0" y="85036"/>
                  <a:pt x="85047" y="0"/>
                  <a:pt x="189957"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600" b="0" i="0" u="none" strike="noStrike" kern="1200" cap="none" spc="0" normalizeH="0" baseline="0" noProof="0">
              <a:ln>
                <a:noFill/>
              </a:ln>
              <a:solidFill>
                <a:srgbClr val="84CBC5"/>
              </a:solidFill>
              <a:effectLst/>
              <a:uLnTx/>
              <a:uFillTx/>
              <a:latin typeface="微软雅黑" panose="020B0503020204020204" pitchFamily="34" charset="-122"/>
              <a:ea typeface="微软雅黑" panose="020B0503020204020204" pitchFamily="34" charset="-122"/>
              <a:cs typeface="+mn-lt"/>
            </a:endParaRPr>
          </a:p>
        </p:txBody>
      </p:sp>
      <p:sp>
        <p:nvSpPr>
          <p:cNvPr id="22" name="MH_Text_1"/>
          <p:cNvSpPr>
            <a:spLocks noChangeArrowheads="1"/>
          </p:cNvSpPr>
          <p:nvPr>
            <p:custDataLst>
              <p:tags r:id="rId3"/>
            </p:custDataLst>
          </p:nvPr>
        </p:nvSpPr>
        <p:spPr bwMode="auto">
          <a:xfrm>
            <a:off x="5079045" y="1647189"/>
            <a:ext cx="3094408" cy="136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defTabSz="914400">
              <a:defRPr/>
            </a:pPr>
            <a:r>
              <a:rPr lang="zh-CN" altLang="zh-CN" sz="1600" dirty="0">
                <a:solidFill>
                  <a:srgbClr val="595959"/>
                </a:solidFill>
                <a:latin typeface="微软雅黑" panose="020B0503020204020204" pitchFamily="34" charset="-122"/>
                <a:ea typeface="微软雅黑" panose="020B0503020204020204" pitchFamily="34" charset="-122"/>
                <a:cs typeface="+mn-ea"/>
              </a:rPr>
              <a:t>通过</a:t>
            </a:r>
            <a:r>
              <a:rPr lang="zh-CN" altLang="zh-CN" sz="1600" dirty="0">
                <a:solidFill>
                  <a:srgbClr val="0070C0"/>
                </a:solidFill>
                <a:latin typeface="微软雅黑" panose="020B0503020204020204" pitchFamily="34" charset="-122"/>
                <a:ea typeface="微软雅黑" panose="020B0503020204020204" pitchFamily="34" charset="-122"/>
                <a:cs typeface="+mn-ea"/>
              </a:rPr>
              <a:t>录制人工执行测试用例得到的脚本</a:t>
            </a:r>
            <a:r>
              <a:rPr lang="zh-CN" altLang="zh-CN" sz="1600" dirty="0">
                <a:solidFill>
                  <a:srgbClr val="595959"/>
                </a:solidFill>
                <a:latin typeface="微软雅黑" panose="020B0503020204020204" pitchFamily="34" charset="-122"/>
                <a:ea typeface="微软雅黑" panose="020B0503020204020204" pitchFamily="34" charset="-122"/>
                <a:cs typeface="+mn-ea"/>
              </a:rPr>
              <a:t>，包括鼠标点击事件、页面选择、数据输入等操作。线性脚本可以完整地进行回放。</a:t>
            </a:r>
          </a:p>
        </p:txBody>
      </p:sp>
      <p:sp>
        <p:nvSpPr>
          <p:cNvPr id="23" name="MH_SubTitle_2"/>
          <p:cNvSpPr/>
          <p:nvPr>
            <p:custDataLst>
              <p:tags r:id="rId4"/>
            </p:custDataLst>
          </p:nvPr>
        </p:nvSpPr>
        <p:spPr>
          <a:xfrm>
            <a:off x="2420256" y="3254521"/>
            <a:ext cx="2600325" cy="511175"/>
          </a:xfrm>
          <a:custGeom>
            <a:avLst/>
            <a:gdLst>
              <a:gd name="connsiteX0" fmla="*/ 0 w 2286028"/>
              <a:gd name="connsiteY0" fmla="*/ 0 h 449944"/>
              <a:gd name="connsiteX1" fmla="*/ 2061028 w 2286028"/>
              <a:gd name="connsiteY1" fmla="*/ 0 h 449944"/>
              <a:gd name="connsiteX2" fmla="*/ 2286028 w 2286028"/>
              <a:gd name="connsiteY2" fmla="*/ 224972 h 449944"/>
              <a:gd name="connsiteX3" fmla="*/ 2061028 w 2286028"/>
              <a:gd name="connsiteY3" fmla="*/ 449944 h 449944"/>
              <a:gd name="connsiteX4" fmla="*/ 2061018 w 2286028"/>
              <a:gd name="connsiteY4" fmla="*/ 449943 h 449944"/>
              <a:gd name="connsiteX5" fmla="*/ 0 w 2286028"/>
              <a:gd name="connsiteY5" fmla="*/ 449943 h 449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6028" h="449944">
                <a:moveTo>
                  <a:pt x="0" y="0"/>
                </a:moveTo>
                <a:lnTo>
                  <a:pt x="2061028" y="0"/>
                </a:lnTo>
                <a:cubicBezTo>
                  <a:pt x="2185292" y="0"/>
                  <a:pt x="2286028" y="100723"/>
                  <a:pt x="2286028" y="224972"/>
                </a:cubicBezTo>
                <a:cubicBezTo>
                  <a:pt x="2286028" y="349221"/>
                  <a:pt x="2185292" y="449944"/>
                  <a:pt x="2061028" y="449944"/>
                </a:cubicBezTo>
                <a:lnTo>
                  <a:pt x="2061018" y="449943"/>
                </a:lnTo>
                <a:lnTo>
                  <a:pt x="0" y="449943"/>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a:bodyPr>
          <a:lstStyle/>
          <a:p>
            <a:pPr lvl="0" algn="ctr">
              <a:spcBef>
                <a:spcPts val="0"/>
              </a:spcBef>
              <a:spcAft>
                <a:spcPts val="0"/>
              </a:spcAft>
              <a:buClrTx/>
              <a:buSzTx/>
              <a:buFontTx/>
              <a:defRPr/>
            </a:pPr>
            <a:r>
              <a:rPr lang="zh-CN" altLang="en-US" sz="2000" dirty="0">
                <a:solidFill>
                  <a:srgbClr val="FFFFFF"/>
                </a:solidFill>
                <a:latin typeface="微软雅黑" panose="020B0503020204020204" pitchFamily="34" charset="-122"/>
                <a:ea typeface="微软雅黑" panose="020B0503020204020204" pitchFamily="34" charset="-122"/>
                <a:sym typeface="+mn-ea"/>
              </a:rPr>
              <a:t>结构化脚本</a:t>
            </a:r>
            <a:endParaRPr lang="zh-CN" altLang="en-US" sz="2000" noProof="0" dirty="0">
              <a:ln>
                <a:noFill/>
              </a:ln>
              <a:solidFill>
                <a:srgbClr val="FFFFFF"/>
              </a:solidFill>
              <a:effectLst/>
              <a:uLnTx/>
              <a:uFillTx/>
              <a:latin typeface="微软雅黑" panose="020B0503020204020204" pitchFamily="34" charset="-122"/>
              <a:ea typeface="微软雅黑" panose="020B0503020204020204" pitchFamily="34" charset="-122"/>
              <a:sym typeface="+mn-ea"/>
            </a:endParaRPr>
          </a:p>
        </p:txBody>
      </p:sp>
      <p:sp>
        <p:nvSpPr>
          <p:cNvPr id="24" name="MH_Other_2"/>
          <p:cNvSpPr/>
          <p:nvPr>
            <p:custDataLst>
              <p:tags r:id="rId5"/>
            </p:custDataLst>
          </p:nvPr>
        </p:nvSpPr>
        <p:spPr>
          <a:xfrm>
            <a:off x="4539567" y="3294207"/>
            <a:ext cx="431800" cy="431800"/>
          </a:xfrm>
          <a:custGeom>
            <a:avLst/>
            <a:gdLst>
              <a:gd name="connsiteX0" fmla="*/ 162177 w 379914"/>
              <a:gd name="connsiteY0" fmla="*/ 97631 h 379866"/>
              <a:gd name="connsiteX1" fmla="*/ 219804 w 379914"/>
              <a:gd name="connsiteY1" fmla="*/ 189932 h 379866"/>
              <a:gd name="connsiteX2" fmla="*/ 162177 w 379914"/>
              <a:gd name="connsiteY2" fmla="*/ 282233 h 379866"/>
              <a:gd name="connsiteX3" fmla="*/ 198210 w 379914"/>
              <a:gd name="connsiteY3" fmla="*/ 282233 h 379866"/>
              <a:gd name="connsiteX4" fmla="*/ 255837 w 379914"/>
              <a:gd name="connsiteY4" fmla="*/ 189932 h 379866"/>
              <a:gd name="connsiteX5" fmla="*/ 198210 w 379914"/>
              <a:gd name="connsiteY5" fmla="*/ 97631 h 379866"/>
              <a:gd name="connsiteX6" fmla="*/ 189957 w 379914"/>
              <a:gd name="connsiteY6" fmla="*/ 0 h 379866"/>
              <a:gd name="connsiteX7" fmla="*/ 379914 w 379914"/>
              <a:gd name="connsiteY7" fmla="*/ 189933 h 379866"/>
              <a:gd name="connsiteX8" fmla="*/ 189957 w 379914"/>
              <a:gd name="connsiteY8" fmla="*/ 379866 h 379866"/>
              <a:gd name="connsiteX9" fmla="*/ 0 w 379914"/>
              <a:gd name="connsiteY9" fmla="*/ 189933 h 379866"/>
              <a:gd name="connsiteX10" fmla="*/ 189957 w 379914"/>
              <a:gd name="connsiteY10" fmla="*/ 0 h 37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914" h="379866">
                <a:moveTo>
                  <a:pt x="162177" y="97631"/>
                </a:moveTo>
                <a:lnTo>
                  <a:pt x="219804" y="189932"/>
                </a:lnTo>
                <a:lnTo>
                  <a:pt x="162177" y="282233"/>
                </a:lnTo>
                <a:lnTo>
                  <a:pt x="198210" y="282233"/>
                </a:lnTo>
                <a:lnTo>
                  <a:pt x="255837" y="189932"/>
                </a:lnTo>
                <a:lnTo>
                  <a:pt x="198210" y="97631"/>
                </a:lnTo>
                <a:close/>
                <a:moveTo>
                  <a:pt x="189957" y="0"/>
                </a:moveTo>
                <a:cubicBezTo>
                  <a:pt x="294867" y="0"/>
                  <a:pt x="379914" y="85036"/>
                  <a:pt x="379914" y="189933"/>
                </a:cubicBezTo>
                <a:cubicBezTo>
                  <a:pt x="379914" y="294830"/>
                  <a:pt x="294867" y="379866"/>
                  <a:pt x="189957" y="379866"/>
                </a:cubicBezTo>
                <a:cubicBezTo>
                  <a:pt x="85047" y="379866"/>
                  <a:pt x="0" y="294830"/>
                  <a:pt x="0" y="189933"/>
                </a:cubicBezTo>
                <a:cubicBezTo>
                  <a:pt x="0" y="85036"/>
                  <a:pt x="85047" y="0"/>
                  <a:pt x="189957"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600" b="0" i="0" u="none" strike="noStrike" kern="1200" cap="none" spc="0" normalizeH="0" baseline="0" noProof="0">
              <a:ln>
                <a:noFill/>
              </a:ln>
              <a:solidFill>
                <a:srgbClr val="84CBC5"/>
              </a:solidFill>
              <a:effectLst/>
              <a:uLnTx/>
              <a:uFillTx/>
              <a:latin typeface="微软雅黑" panose="020B0503020204020204" pitchFamily="34" charset="-122"/>
              <a:ea typeface="微软雅黑" panose="020B0503020204020204" pitchFamily="34" charset="-122"/>
              <a:cs typeface="+mn-lt"/>
            </a:endParaRPr>
          </a:p>
        </p:txBody>
      </p:sp>
      <p:sp>
        <p:nvSpPr>
          <p:cNvPr id="25" name="MH_Text_2"/>
          <p:cNvSpPr>
            <a:spLocks noChangeArrowheads="1"/>
          </p:cNvSpPr>
          <p:nvPr>
            <p:custDataLst>
              <p:tags r:id="rId6"/>
            </p:custDataLst>
          </p:nvPr>
        </p:nvSpPr>
        <p:spPr bwMode="auto">
          <a:xfrm>
            <a:off x="5100805" y="2954959"/>
            <a:ext cx="2904978" cy="1621473"/>
          </a:xfrm>
          <a:prstGeom prst="rect">
            <a:avLst/>
          </a:prstGeom>
          <a:noFill/>
          <a:ln>
            <a:noFill/>
          </a:ln>
          <a:extLst>
            <a:ext uri="{909E8E84-426E-40DD-AFC4-6F175D3DCCD1}">
              <a14:hiddenFill xmlns:a14="http://schemas.microsoft.com/office/drawing/2010/main">
                <a:solidFill>
                  <a:srgbClr val="FFFFFF"/>
                </a:solidFill>
              </a14:hiddenFill>
            </a:ext>
          </a:extLst>
        </p:spPr>
        <p:txBody>
          <a:bodyPr anchor="ctr">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zh-CN" sz="1600" dirty="0">
                <a:solidFill>
                  <a:srgbClr val="595959"/>
                </a:solidFill>
                <a:latin typeface="微软雅黑" panose="020B0503020204020204" pitchFamily="34" charset="-122"/>
                <a:ea typeface="微软雅黑" panose="020B0503020204020204" pitchFamily="34" charset="-122"/>
                <a:cs typeface="+mn-ea"/>
              </a:rPr>
              <a:t>结构化脚本类似于</a:t>
            </a:r>
            <a:r>
              <a:rPr lang="zh-CN" altLang="zh-CN" sz="1600" dirty="0">
                <a:solidFill>
                  <a:srgbClr val="0070C0"/>
                </a:solidFill>
                <a:latin typeface="微软雅黑" panose="020B0503020204020204" pitchFamily="34" charset="-122"/>
                <a:ea typeface="微软雅黑" panose="020B0503020204020204" pitchFamily="34" charset="-122"/>
              </a:rPr>
              <a:t>结构化程序设计</a:t>
            </a:r>
            <a:r>
              <a:rPr lang="zh-CN" altLang="zh-CN" sz="1600" dirty="0">
                <a:solidFill>
                  <a:srgbClr val="595959"/>
                </a:solidFill>
                <a:latin typeface="微软雅黑" panose="020B0503020204020204" pitchFamily="34" charset="-122"/>
                <a:ea typeface="微软雅黑" panose="020B0503020204020204" pitchFamily="34" charset="-122"/>
                <a:cs typeface="+mn-ea"/>
              </a:rPr>
              <a:t>，具有</a:t>
            </a:r>
            <a:r>
              <a:rPr lang="zh-CN" altLang="zh-CN" sz="1600" dirty="0">
                <a:solidFill>
                  <a:srgbClr val="0070C0"/>
                </a:solidFill>
                <a:latin typeface="微软雅黑" panose="020B0503020204020204" pitchFamily="34" charset="-122"/>
                <a:ea typeface="微软雅黑" panose="020B0503020204020204" pitchFamily="34" charset="-122"/>
              </a:rPr>
              <a:t>多种逻辑</a:t>
            </a:r>
            <a:r>
              <a:rPr lang="zh-CN" altLang="zh-CN" sz="1600">
                <a:solidFill>
                  <a:srgbClr val="0070C0"/>
                </a:solidFill>
                <a:latin typeface="微软雅黑" panose="020B0503020204020204" pitchFamily="34" charset="-122"/>
                <a:ea typeface="微软雅黑" panose="020B0503020204020204" pitchFamily="34" charset="-122"/>
              </a:rPr>
              <a:t>结构</a:t>
            </a:r>
            <a:r>
              <a:rPr lang="zh-CN" altLang="zh-CN" sz="1600">
                <a:solidFill>
                  <a:srgbClr val="595959"/>
                </a:solidFill>
                <a:latin typeface="微软雅黑" panose="020B0503020204020204" pitchFamily="34" charset="-122"/>
                <a:ea typeface="微软雅黑" panose="020B0503020204020204" pitchFamily="34" charset="-122"/>
                <a:cs typeface="+mn-ea"/>
              </a:rPr>
              <a:t>，</a:t>
            </a:r>
            <a:r>
              <a:rPr lang="zh-CN" altLang="en-US" sz="1600">
                <a:solidFill>
                  <a:srgbClr val="595959"/>
                </a:solidFill>
                <a:latin typeface="微软雅黑" panose="020B0503020204020204" pitchFamily="34" charset="-122"/>
                <a:ea typeface="微软雅黑" panose="020B0503020204020204" pitchFamily="34" charset="-122"/>
                <a:cs typeface="+mn-ea"/>
              </a:rPr>
              <a:t>例</a:t>
            </a:r>
            <a:r>
              <a:rPr lang="zh-CN" altLang="zh-CN" sz="1600">
                <a:solidFill>
                  <a:srgbClr val="595959"/>
                </a:solidFill>
                <a:latin typeface="微软雅黑" panose="020B0503020204020204" pitchFamily="34" charset="-122"/>
                <a:ea typeface="微软雅黑" panose="020B0503020204020204" pitchFamily="34" charset="-122"/>
                <a:cs typeface="+mn-ea"/>
              </a:rPr>
              <a:t>如</a:t>
            </a:r>
            <a:r>
              <a:rPr lang="zh-CN" altLang="zh-CN" sz="1600" dirty="0">
                <a:solidFill>
                  <a:srgbClr val="0070C0"/>
                </a:solidFill>
                <a:latin typeface="微软雅黑" panose="020B0503020204020204" pitchFamily="34" charset="-122"/>
                <a:ea typeface="微软雅黑" panose="020B0503020204020204" pitchFamily="34" charset="-122"/>
              </a:rPr>
              <a:t>顺序</a:t>
            </a:r>
            <a:r>
              <a:rPr lang="zh-CN" altLang="zh-CN" sz="1600" dirty="0">
                <a:solidFill>
                  <a:srgbClr val="595959"/>
                </a:solidFill>
                <a:latin typeface="微软雅黑" panose="020B0503020204020204" pitchFamily="34" charset="-122"/>
                <a:ea typeface="微软雅黑" panose="020B0503020204020204" pitchFamily="34" charset="-122"/>
                <a:cs typeface="+mn-ea"/>
              </a:rPr>
              <a:t>、</a:t>
            </a:r>
            <a:r>
              <a:rPr lang="zh-CN" altLang="zh-CN" sz="1600" dirty="0">
                <a:solidFill>
                  <a:srgbClr val="0070C0"/>
                </a:solidFill>
                <a:latin typeface="微软雅黑" panose="020B0503020204020204" pitchFamily="34" charset="-122"/>
                <a:ea typeface="微软雅黑" panose="020B0503020204020204" pitchFamily="34" charset="-122"/>
              </a:rPr>
              <a:t>分支</a:t>
            </a:r>
            <a:r>
              <a:rPr lang="zh-CN" altLang="zh-CN" sz="1600" dirty="0">
                <a:solidFill>
                  <a:srgbClr val="595959"/>
                </a:solidFill>
                <a:latin typeface="微软雅黑" panose="020B0503020204020204" pitchFamily="34" charset="-122"/>
                <a:ea typeface="微软雅黑" panose="020B0503020204020204" pitchFamily="34" charset="-122"/>
                <a:cs typeface="+mn-ea"/>
              </a:rPr>
              <a:t>、</a:t>
            </a:r>
            <a:r>
              <a:rPr lang="zh-CN" altLang="zh-CN" sz="1600" dirty="0">
                <a:solidFill>
                  <a:srgbClr val="0070C0"/>
                </a:solidFill>
                <a:latin typeface="微软雅黑" panose="020B0503020204020204" pitchFamily="34" charset="-122"/>
                <a:ea typeface="微软雅黑" panose="020B0503020204020204" pitchFamily="34" charset="-122"/>
              </a:rPr>
              <a:t>循环</a:t>
            </a:r>
            <a:r>
              <a:rPr lang="zh-CN" altLang="zh-CN" sz="1600" dirty="0">
                <a:solidFill>
                  <a:srgbClr val="595959"/>
                </a:solidFill>
                <a:latin typeface="微软雅黑" panose="020B0503020204020204" pitchFamily="34" charset="-122"/>
                <a:ea typeface="微软雅黑" panose="020B0503020204020204" pitchFamily="34" charset="-122"/>
                <a:cs typeface="+mn-ea"/>
              </a:rPr>
              <a:t>等，并且它还具有函数调用功能。结构化脚本可以灵活地测试各种复杂功能。</a:t>
            </a:r>
          </a:p>
        </p:txBody>
      </p:sp>
      <p:sp>
        <p:nvSpPr>
          <p:cNvPr id="26" name="MH_SubTitle_3"/>
          <p:cNvSpPr/>
          <p:nvPr>
            <p:custDataLst>
              <p:tags r:id="rId7"/>
            </p:custDataLst>
          </p:nvPr>
        </p:nvSpPr>
        <p:spPr>
          <a:xfrm>
            <a:off x="2420256" y="4574619"/>
            <a:ext cx="2600325" cy="511175"/>
          </a:xfrm>
          <a:custGeom>
            <a:avLst/>
            <a:gdLst>
              <a:gd name="connsiteX0" fmla="*/ 0 w 2286028"/>
              <a:gd name="connsiteY0" fmla="*/ 0 h 449944"/>
              <a:gd name="connsiteX1" fmla="*/ 2061028 w 2286028"/>
              <a:gd name="connsiteY1" fmla="*/ 0 h 449944"/>
              <a:gd name="connsiteX2" fmla="*/ 2286028 w 2286028"/>
              <a:gd name="connsiteY2" fmla="*/ 224972 h 449944"/>
              <a:gd name="connsiteX3" fmla="*/ 2061028 w 2286028"/>
              <a:gd name="connsiteY3" fmla="*/ 449944 h 449944"/>
              <a:gd name="connsiteX4" fmla="*/ 2061018 w 2286028"/>
              <a:gd name="connsiteY4" fmla="*/ 449943 h 449944"/>
              <a:gd name="connsiteX5" fmla="*/ 0 w 2286028"/>
              <a:gd name="connsiteY5" fmla="*/ 449943 h 449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6028" h="449944">
                <a:moveTo>
                  <a:pt x="0" y="0"/>
                </a:moveTo>
                <a:lnTo>
                  <a:pt x="2061028" y="0"/>
                </a:lnTo>
                <a:cubicBezTo>
                  <a:pt x="2185292" y="0"/>
                  <a:pt x="2286028" y="100723"/>
                  <a:pt x="2286028" y="224972"/>
                </a:cubicBezTo>
                <a:cubicBezTo>
                  <a:pt x="2286028" y="349221"/>
                  <a:pt x="2185292" y="449944"/>
                  <a:pt x="2061028" y="449944"/>
                </a:cubicBezTo>
                <a:lnTo>
                  <a:pt x="2061018" y="449943"/>
                </a:lnTo>
                <a:lnTo>
                  <a:pt x="0" y="449943"/>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a:bodyPr>
          <a:lstStyle/>
          <a:p>
            <a:pPr lvl="0" algn="ctr">
              <a:spcBef>
                <a:spcPts val="0"/>
              </a:spcBef>
              <a:spcAft>
                <a:spcPts val="0"/>
              </a:spcAft>
              <a:buClrTx/>
              <a:buSzTx/>
              <a:buFontTx/>
              <a:defRPr/>
            </a:pPr>
            <a:r>
              <a:rPr lang="en-US" altLang="zh-CN" sz="2000" noProof="0" dirty="0">
                <a:ln>
                  <a:noFill/>
                </a:ln>
                <a:solidFill>
                  <a:srgbClr val="FFFFFF"/>
                </a:solidFill>
                <a:effectLst/>
                <a:uLnTx/>
                <a:uFillTx/>
                <a:latin typeface="微软雅黑" panose="020B0503020204020204" pitchFamily="34" charset="-122"/>
                <a:ea typeface="微软雅黑" panose="020B0503020204020204" pitchFamily="34" charset="-122"/>
                <a:sym typeface="+mn-ea"/>
              </a:rPr>
              <a:t> </a:t>
            </a:r>
            <a:r>
              <a:rPr lang="zh-CN" altLang="en-US" sz="2000" dirty="0">
                <a:solidFill>
                  <a:srgbClr val="FFFFFF"/>
                </a:solidFill>
                <a:latin typeface="微软雅黑" panose="020B0503020204020204" pitchFamily="34" charset="-122"/>
                <a:ea typeface="微软雅黑" panose="020B0503020204020204" pitchFamily="34" charset="-122"/>
                <a:sym typeface="+mn-ea"/>
              </a:rPr>
              <a:t>共享脚本</a:t>
            </a:r>
            <a:endParaRPr lang="zh-CN" altLang="en-US" sz="2000" noProof="0" dirty="0">
              <a:ln>
                <a:noFill/>
              </a:ln>
              <a:solidFill>
                <a:srgbClr val="FFFFFF"/>
              </a:solidFill>
              <a:effectLst/>
              <a:uLnTx/>
              <a:uFillTx/>
              <a:latin typeface="微软雅黑" panose="020B0503020204020204" pitchFamily="34" charset="-122"/>
              <a:ea typeface="微软雅黑" panose="020B0503020204020204" pitchFamily="34" charset="-122"/>
              <a:sym typeface="+mn-ea"/>
            </a:endParaRPr>
          </a:p>
        </p:txBody>
      </p:sp>
      <p:sp>
        <p:nvSpPr>
          <p:cNvPr id="27" name="MH_Other_3"/>
          <p:cNvSpPr/>
          <p:nvPr>
            <p:custDataLst>
              <p:tags r:id="rId8"/>
            </p:custDataLst>
          </p:nvPr>
        </p:nvSpPr>
        <p:spPr>
          <a:xfrm>
            <a:off x="4539567" y="4586463"/>
            <a:ext cx="431800" cy="431800"/>
          </a:xfrm>
          <a:custGeom>
            <a:avLst/>
            <a:gdLst>
              <a:gd name="connsiteX0" fmla="*/ 162177 w 379914"/>
              <a:gd name="connsiteY0" fmla="*/ 97631 h 379866"/>
              <a:gd name="connsiteX1" fmla="*/ 219804 w 379914"/>
              <a:gd name="connsiteY1" fmla="*/ 189932 h 379866"/>
              <a:gd name="connsiteX2" fmla="*/ 162177 w 379914"/>
              <a:gd name="connsiteY2" fmla="*/ 282233 h 379866"/>
              <a:gd name="connsiteX3" fmla="*/ 198210 w 379914"/>
              <a:gd name="connsiteY3" fmla="*/ 282233 h 379866"/>
              <a:gd name="connsiteX4" fmla="*/ 255837 w 379914"/>
              <a:gd name="connsiteY4" fmla="*/ 189932 h 379866"/>
              <a:gd name="connsiteX5" fmla="*/ 198210 w 379914"/>
              <a:gd name="connsiteY5" fmla="*/ 97631 h 379866"/>
              <a:gd name="connsiteX6" fmla="*/ 189957 w 379914"/>
              <a:gd name="connsiteY6" fmla="*/ 0 h 379866"/>
              <a:gd name="connsiteX7" fmla="*/ 379914 w 379914"/>
              <a:gd name="connsiteY7" fmla="*/ 189933 h 379866"/>
              <a:gd name="connsiteX8" fmla="*/ 189957 w 379914"/>
              <a:gd name="connsiteY8" fmla="*/ 379866 h 379866"/>
              <a:gd name="connsiteX9" fmla="*/ 0 w 379914"/>
              <a:gd name="connsiteY9" fmla="*/ 189933 h 379866"/>
              <a:gd name="connsiteX10" fmla="*/ 189957 w 379914"/>
              <a:gd name="connsiteY10" fmla="*/ 0 h 37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914" h="379866">
                <a:moveTo>
                  <a:pt x="162177" y="97631"/>
                </a:moveTo>
                <a:lnTo>
                  <a:pt x="219804" y="189932"/>
                </a:lnTo>
                <a:lnTo>
                  <a:pt x="162177" y="282233"/>
                </a:lnTo>
                <a:lnTo>
                  <a:pt x="198210" y="282233"/>
                </a:lnTo>
                <a:lnTo>
                  <a:pt x="255837" y="189932"/>
                </a:lnTo>
                <a:lnTo>
                  <a:pt x="198210" y="97631"/>
                </a:lnTo>
                <a:close/>
                <a:moveTo>
                  <a:pt x="189957" y="0"/>
                </a:moveTo>
                <a:cubicBezTo>
                  <a:pt x="294867" y="0"/>
                  <a:pt x="379914" y="85036"/>
                  <a:pt x="379914" y="189933"/>
                </a:cubicBezTo>
                <a:cubicBezTo>
                  <a:pt x="379914" y="294830"/>
                  <a:pt x="294867" y="379866"/>
                  <a:pt x="189957" y="379866"/>
                </a:cubicBezTo>
                <a:cubicBezTo>
                  <a:pt x="85047" y="379866"/>
                  <a:pt x="0" y="294830"/>
                  <a:pt x="0" y="189933"/>
                </a:cubicBezTo>
                <a:cubicBezTo>
                  <a:pt x="0" y="85036"/>
                  <a:pt x="85047" y="0"/>
                  <a:pt x="189957"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600" b="0" i="0" u="none" strike="noStrike" kern="1200" cap="none" spc="0" normalizeH="0" baseline="0" noProof="0">
              <a:ln>
                <a:noFill/>
              </a:ln>
              <a:solidFill>
                <a:srgbClr val="84CBC5"/>
              </a:solidFill>
              <a:effectLst/>
              <a:uLnTx/>
              <a:uFillTx/>
              <a:latin typeface="微软雅黑" panose="020B0503020204020204" pitchFamily="34" charset="-122"/>
              <a:ea typeface="微软雅黑" panose="020B0503020204020204" pitchFamily="34" charset="-122"/>
              <a:cs typeface="+mn-lt"/>
            </a:endParaRPr>
          </a:p>
        </p:txBody>
      </p:sp>
      <p:sp>
        <p:nvSpPr>
          <p:cNvPr id="28" name="MH_Text_3"/>
          <p:cNvSpPr>
            <a:spLocks noChangeArrowheads="1"/>
          </p:cNvSpPr>
          <p:nvPr>
            <p:custDataLst>
              <p:tags r:id="rId9"/>
            </p:custDataLst>
          </p:nvPr>
        </p:nvSpPr>
        <p:spPr bwMode="auto">
          <a:xfrm>
            <a:off x="5112092" y="4403268"/>
            <a:ext cx="2904975" cy="709612"/>
          </a:xfrm>
          <a:prstGeom prst="rect">
            <a:avLst/>
          </a:prstGeom>
          <a:noFill/>
          <a:ln>
            <a:noFill/>
          </a:ln>
          <a:extLst>
            <a:ext uri="{909E8E84-426E-40DD-AFC4-6F175D3DCCD1}">
              <a14:hiddenFill xmlns:a14="http://schemas.microsoft.com/office/drawing/2010/main">
                <a:solidFill>
                  <a:srgbClr val="FFFFFF"/>
                </a:solidFill>
              </a14:hiddenFill>
            </a:ext>
          </a:extLst>
        </p:spPr>
        <p:txBody>
          <a:bodyPr anchor="ctr">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algn="l">
              <a:lnSpc>
                <a:spcPts val="1800"/>
              </a:lnSpc>
              <a:spcBef>
                <a:spcPts val="0"/>
              </a:spcBef>
              <a:spcAft>
                <a:spcPts val="0"/>
              </a:spcAft>
              <a:buClrTx/>
              <a:buSzTx/>
              <a:buFontTx/>
              <a:defRPr/>
            </a:pP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29" name="MH_Title_1"/>
          <p:cNvSpPr/>
          <p:nvPr>
            <p:custDataLst>
              <p:tags r:id="rId10"/>
            </p:custDataLst>
          </p:nvPr>
        </p:nvSpPr>
        <p:spPr>
          <a:xfrm>
            <a:off x="1653232" y="2392840"/>
            <a:ext cx="498260" cy="2417757"/>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500" b="1" i="0" u="none" strike="noStrike" kern="1200" cap="none" spc="10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rPr>
              <a:t>常用的</a:t>
            </a:r>
            <a:r>
              <a:rPr kumimoji="0" lang="en-US" altLang="zh-CN" sz="1500" b="1" i="0" u="none" strike="noStrike" kern="1200" cap="none" spc="10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rPr>
              <a:t>3</a:t>
            </a:r>
            <a:r>
              <a:rPr kumimoji="0" lang="zh-CN" altLang="en-US" sz="1500" b="1" i="0" u="none" strike="noStrike" kern="1200" cap="none" spc="10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rPr>
              <a:t>种脚本技术</a:t>
            </a:r>
          </a:p>
        </p:txBody>
      </p:sp>
      <p:cxnSp>
        <p:nvCxnSpPr>
          <p:cNvPr id="30" name="PA_直接连接符 2"/>
          <p:cNvCxnSpPr/>
          <p:nvPr>
            <p:custDataLst>
              <p:tags r:id="rId11"/>
            </p:custDataLst>
          </p:nvPr>
        </p:nvCxnSpPr>
        <p:spPr>
          <a:xfrm>
            <a:off x="1632486" y="2079038"/>
            <a:ext cx="0" cy="3045363"/>
          </a:xfrm>
          <a:prstGeom prst="line">
            <a:avLst/>
          </a:prstGeom>
          <a:ln>
            <a:solidFill>
              <a:srgbClr val="6BAFE1"/>
            </a:solidFill>
          </a:ln>
        </p:spPr>
        <p:style>
          <a:lnRef idx="1">
            <a:schemeClr val="accent1"/>
          </a:lnRef>
          <a:fillRef idx="0">
            <a:schemeClr val="accent1"/>
          </a:fillRef>
          <a:effectRef idx="0">
            <a:schemeClr val="accent1"/>
          </a:effectRef>
          <a:fontRef idx="minor">
            <a:schemeClr val="tx1"/>
          </a:fontRef>
        </p:style>
      </p:cxnSp>
      <p:cxnSp>
        <p:nvCxnSpPr>
          <p:cNvPr id="32" name="PA_直接连接符 2"/>
          <p:cNvCxnSpPr/>
          <p:nvPr>
            <p:custDataLst>
              <p:tags r:id="rId12"/>
            </p:custDataLst>
          </p:nvPr>
        </p:nvCxnSpPr>
        <p:spPr>
          <a:xfrm>
            <a:off x="2151492" y="2079036"/>
            <a:ext cx="0" cy="3045363"/>
          </a:xfrm>
          <a:prstGeom prst="line">
            <a:avLst/>
          </a:prstGeom>
          <a:ln>
            <a:solidFill>
              <a:srgbClr val="6BAFE1"/>
            </a:solidFill>
            <a:prstDash val="dash"/>
          </a:ln>
        </p:spPr>
        <p:style>
          <a:lnRef idx="1">
            <a:schemeClr val="accent1"/>
          </a:lnRef>
          <a:fillRef idx="0">
            <a:schemeClr val="accent1"/>
          </a:fillRef>
          <a:effectRef idx="0">
            <a:schemeClr val="accent1"/>
          </a:effectRef>
          <a:fontRef idx="minor">
            <a:schemeClr val="tx1"/>
          </a:fontRef>
        </p:style>
      </p:cxnSp>
      <p:cxnSp>
        <p:nvCxnSpPr>
          <p:cNvPr id="33" name="PA_StraightArrowConnector 4"/>
          <p:cNvCxnSpPr/>
          <p:nvPr>
            <p:custDataLst>
              <p:tags r:id="rId13"/>
            </p:custDataLst>
          </p:nvPr>
        </p:nvCxnSpPr>
        <p:spPr>
          <a:xfrm>
            <a:off x="8017071" y="2304562"/>
            <a:ext cx="979659" cy="0"/>
          </a:xfrm>
          <a:prstGeom prst="straightConnector1">
            <a:avLst/>
          </a:prstGeom>
          <a:ln w="12700">
            <a:solidFill>
              <a:srgbClr val="014076"/>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4" name="PA_StraightArrowConnector 4"/>
          <p:cNvCxnSpPr/>
          <p:nvPr>
            <p:custDataLst>
              <p:tags r:id="rId14"/>
            </p:custDataLst>
          </p:nvPr>
        </p:nvCxnSpPr>
        <p:spPr>
          <a:xfrm>
            <a:off x="8017070" y="3554358"/>
            <a:ext cx="979659" cy="0"/>
          </a:xfrm>
          <a:prstGeom prst="straightConnector1">
            <a:avLst/>
          </a:prstGeom>
          <a:ln w="12700">
            <a:solidFill>
              <a:srgbClr val="014076"/>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5" name="PA_StraightArrowConnector 4"/>
          <p:cNvCxnSpPr/>
          <p:nvPr>
            <p:custDataLst>
              <p:tags r:id="rId15"/>
            </p:custDataLst>
          </p:nvPr>
        </p:nvCxnSpPr>
        <p:spPr>
          <a:xfrm>
            <a:off x="8017067" y="4810597"/>
            <a:ext cx="979659" cy="0"/>
          </a:xfrm>
          <a:prstGeom prst="straightConnector1">
            <a:avLst/>
          </a:prstGeom>
          <a:ln w="12700">
            <a:solidFill>
              <a:srgbClr val="014076"/>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6" name="arrow-on-target_68291"/>
          <p:cNvSpPr>
            <a:spLocks noChangeAspect="1"/>
          </p:cNvSpPr>
          <p:nvPr/>
        </p:nvSpPr>
        <p:spPr bwMode="auto">
          <a:xfrm>
            <a:off x="9340674" y="4514714"/>
            <a:ext cx="609685" cy="609685"/>
          </a:xfrm>
          <a:custGeom>
            <a:avLst/>
            <a:gdLst>
              <a:gd name="connsiteX0" fmla="*/ 157638 w 338138"/>
              <a:gd name="connsiteY0" fmla="*/ 144463 h 338138"/>
              <a:gd name="connsiteX1" fmla="*/ 165544 w 338138"/>
              <a:gd name="connsiteY1" fmla="*/ 148443 h 338138"/>
              <a:gd name="connsiteX2" fmla="*/ 249865 w 338138"/>
              <a:gd name="connsiteY2" fmla="*/ 233341 h 338138"/>
              <a:gd name="connsiteX3" fmla="*/ 280167 w 338138"/>
              <a:gd name="connsiteY3" fmla="*/ 232015 h 338138"/>
              <a:gd name="connsiteX4" fmla="*/ 286755 w 338138"/>
              <a:gd name="connsiteY4" fmla="*/ 234668 h 338138"/>
              <a:gd name="connsiteX5" fmla="*/ 335503 w 338138"/>
              <a:gd name="connsiteY5" fmla="*/ 283750 h 338138"/>
              <a:gd name="connsiteX6" fmla="*/ 338138 w 338138"/>
              <a:gd name="connsiteY6" fmla="*/ 293036 h 338138"/>
              <a:gd name="connsiteX7" fmla="*/ 330233 w 338138"/>
              <a:gd name="connsiteY7" fmla="*/ 298342 h 338138"/>
              <a:gd name="connsiteX8" fmla="*/ 311788 w 338138"/>
              <a:gd name="connsiteY8" fmla="*/ 303648 h 338138"/>
              <a:gd name="connsiteX9" fmla="*/ 303883 w 338138"/>
              <a:gd name="connsiteY9" fmla="*/ 310281 h 338138"/>
              <a:gd name="connsiteX10" fmla="*/ 299930 w 338138"/>
              <a:gd name="connsiteY10" fmla="*/ 331505 h 338138"/>
              <a:gd name="connsiteX11" fmla="*/ 293343 w 338138"/>
              <a:gd name="connsiteY11" fmla="*/ 338138 h 338138"/>
              <a:gd name="connsiteX12" fmla="*/ 290708 w 338138"/>
              <a:gd name="connsiteY12" fmla="*/ 338138 h 338138"/>
              <a:gd name="connsiteX13" fmla="*/ 284120 w 338138"/>
              <a:gd name="connsiteY13" fmla="*/ 335485 h 338138"/>
              <a:gd name="connsiteX14" fmla="*/ 235372 w 338138"/>
              <a:gd name="connsiteY14" fmla="*/ 286403 h 338138"/>
              <a:gd name="connsiteX15" fmla="*/ 232737 w 338138"/>
              <a:gd name="connsiteY15" fmla="*/ 279770 h 338138"/>
              <a:gd name="connsiteX16" fmla="*/ 234054 w 338138"/>
              <a:gd name="connsiteY16" fmla="*/ 249260 h 338138"/>
              <a:gd name="connsiteX17" fmla="*/ 149733 w 338138"/>
              <a:gd name="connsiteY17" fmla="*/ 164361 h 338138"/>
              <a:gd name="connsiteX18" fmla="*/ 149733 w 338138"/>
              <a:gd name="connsiteY18" fmla="*/ 148443 h 338138"/>
              <a:gd name="connsiteX19" fmla="*/ 157638 w 338138"/>
              <a:gd name="connsiteY19" fmla="*/ 144463 h 338138"/>
              <a:gd name="connsiteX20" fmla="*/ 145922 w 338138"/>
              <a:gd name="connsiteY20" fmla="*/ 120650 h 338138"/>
              <a:gd name="connsiteX21" fmla="*/ 169863 w 338138"/>
              <a:gd name="connsiteY21" fmla="*/ 137383 h 338138"/>
              <a:gd name="connsiteX22" fmla="*/ 157893 w 338138"/>
              <a:gd name="connsiteY22" fmla="*/ 133522 h 338138"/>
              <a:gd name="connsiteX23" fmla="*/ 141931 w 338138"/>
              <a:gd name="connsiteY23" fmla="*/ 141245 h 338138"/>
              <a:gd name="connsiteX24" fmla="*/ 137941 w 338138"/>
              <a:gd name="connsiteY24" fmla="*/ 168275 h 338138"/>
              <a:gd name="connsiteX25" fmla="*/ 120650 w 338138"/>
              <a:gd name="connsiteY25" fmla="*/ 145106 h 338138"/>
              <a:gd name="connsiteX26" fmla="*/ 145922 w 338138"/>
              <a:gd name="connsiteY26" fmla="*/ 120650 h 338138"/>
              <a:gd name="connsiteX27" fmla="*/ 146051 w 338138"/>
              <a:gd name="connsiteY27" fmla="*/ 60325 h 338138"/>
              <a:gd name="connsiteX28" fmla="*/ 230188 w 338138"/>
              <a:gd name="connsiteY28" fmla="*/ 145257 h 338138"/>
              <a:gd name="connsiteX29" fmla="*/ 219671 w 338138"/>
              <a:gd name="connsiteY29" fmla="*/ 186395 h 338138"/>
              <a:gd name="connsiteX30" fmla="*/ 193378 w 338138"/>
              <a:gd name="connsiteY30" fmla="*/ 161181 h 338138"/>
              <a:gd name="connsiteX31" fmla="*/ 196007 w 338138"/>
              <a:gd name="connsiteY31" fmla="*/ 145257 h 338138"/>
              <a:gd name="connsiteX32" fmla="*/ 146051 w 338138"/>
              <a:gd name="connsiteY32" fmla="*/ 94828 h 338138"/>
              <a:gd name="connsiteX33" fmla="*/ 96094 w 338138"/>
              <a:gd name="connsiteY33" fmla="*/ 145257 h 338138"/>
              <a:gd name="connsiteX34" fmla="*/ 146051 w 338138"/>
              <a:gd name="connsiteY34" fmla="*/ 195685 h 338138"/>
              <a:gd name="connsiteX35" fmla="*/ 161827 w 338138"/>
              <a:gd name="connsiteY35" fmla="*/ 193031 h 338138"/>
              <a:gd name="connsiteX36" fmla="*/ 188119 w 338138"/>
              <a:gd name="connsiteY36" fmla="*/ 219572 h 338138"/>
              <a:gd name="connsiteX37" fmla="*/ 146051 w 338138"/>
              <a:gd name="connsiteY37" fmla="*/ 230188 h 338138"/>
              <a:gd name="connsiteX38" fmla="*/ 61913 w 338138"/>
              <a:gd name="connsiteY38" fmla="*/ 145257 h 338138"/>
              <a:gd name="connsiteX39" fmla="*/ 146051 w 338138"/>
              <a:gd name="connsiteY39" fmla="*/ 60325 h 338138"/>
              <a:gd name="connsiteX40" fmla="*/ 145257 w 338138"/>
              <a:gd name="connsiteY40" fmla="*/ 0 h 338138"/>
              <a:gd name="connsiteX41" fmla="*/ 290513 w 338138"/>
              <a:gd name="connsiteY41" fmla="*/ 145257 h 338138"/>
              <a:gd name="connsiteX42" fmla="*/ 269385 w 338138"/>
              <a:gd name="connsiteY42" fmla="*/ 221846 h 338138"/>
              <a:gd name="connsiteX43" fmla="*/ 254859 w 338138"/>
              <a:gd name="connsiteY43" fmla="*/ 221846 h 338138"/>
              <a:gd name="connsiteX44" fmla="*/ 239013 w 338138"/>
              <a:gd name="connsiteY44" fmla="*/ 206000 h 338138"/>
              <a:gd name="connsiteX45" fmla="*/ 256180 w 338138"/>
              <a:gd name="connsiteY45" fmla="*/ 145257 h 338138"/>
              <a:gd name="connsiteX46" fmla="*/ 145257 w 338138"/>
              <a:gd name="connsiteY46" fmla="*/ 34333 h 338138"/>
              <a:gd name="connsiteX47" fmla="*/ 34333 w 338138"/>
              <a:gd name="connsiteY47" fmla="*/ 145257 h 338138"/>
              <a:gd name="connsiteX48" fmla="*/ 145257 w 338138"/>
              <a:gd name="connsiteY48" fmla="*/ 256180 h 338138"/>
              <a:gd name="connsiteX49" fmla="*/ 206000 w 338138"/>
              <a:gd name="connsiteY49" fmla="*/ 239013 h 338138"/>
              <a:gd name="connsiteX50" fmla="*/ 221847 w 338138"/>
              <a:gd name="connsiteY50" fmla="*/ 254859 h 338138"/>
              <a:gd name="connsiteX51" fmla="*/ 221847 w 338138"/>
              <a:gd name="connsiteY51" fmla="*/ 269385 h 338138"/>
              <a:gd name="connsiteX52" fmla="*/ 145257 w 338138"/>
              <a:gd name="connsiteY52" fmla="*/ 290513 h 338138"/>
              <a:gd name="connsiteX53" fmla="*/ 0 w 338138"/>
              <a:gd name="connsiteY53" fmla="*/ 145257 h 338138"/>
              <a:gd name="connsiteX54" fmla="*/ 145257 w 338138"/>
              <a:gd name="connsiteY54"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38138" h="338138">
                <a:moveTo>
                  <a:pt x="157638" y="144463"/>
                </a:moveTo>
                <a:cubicBezTo>
                  <a:pt x="160273" y="144463"/>
                  <a:pt x="162908" y="145790"/>
                  <a:pt x="165544" y="148443"/>
                </a:cubicBezTo>
                <a:cubicBezTo>
                  <a:pt x="165544" y="148443"/>
                  <a:pt x="165544" y="148443"/>
                  <a:pt x="249865" y="233341"/>
                </a:cubicBezTo>
                <a:cubicBezTo>
                  <a:pt x="249865" y="233341"/>
                  <a:pt x="249865" y="233341"/>
                  <a:pt x="280167" y="232015"/>
                </a:cubicBezTo>
                <a:cubicBezTo>
                  <a:pt x="282803" y="232015"/>
                  <a:pt x="285438" y="233341"/>
                  <a:pt x="286755" y="234668"/>
                </a:cubicBezTo>
                <a:cubicBezTo>
                  <a:pt x="286755" y="234668"/>
                  <a:pt x="286755" y="234668"/>
                  <a:pt x="335503" y="283750"/>
                </a:cubicBezTo>
                <a:cubicBezTo>
                  <a:pt x="338138" y="286403"/>
                  <a:pt x="338138" y="289056"/>
                  <a:pt x="338138" y="293036"/>
                </a:cubicBezTo>
                <a:cubicBezTo>
                  <a:pt x="336821" y="295689"/>
                  <a:pt x="334186" y="298342"/>
                  <a:pt x="330233" y="298342"/>
                </a:cubicBezTo>
                <a:cubicBezTo>
                  <a:pt x="330233" y="298342"/>
                  <a:pt x="330233" y="298342"/>
                  <a:pt x="311788" y="303648"/>
                </a:cubicBezTo>
                <a:cubicBezTo>
                  <a:pt x="307835" y="303648"/>
                  <a:pt x="305200" y="306301"/>
                  <a:pt x="303883" y="310281"/>
                </a:cubicBezTo>
                <a:cubicBezTo>
                  <a:pt x="303883" y="310281"/>
                  <a:pt x="303883" y="310281"/>
                  <a:pt x="299930" y="331505"/>
                </a:cubicBezTo>
                <a:cubicBezTo>
                  <a:pt x="298613" y="334158"/>
                  <a:pt x="295978" y="336812"/>
                  <a:pt x="293343" y="338138"/>
                </a:cubicBezTo>
                <a:cubicBezTo>
                  <a:pt x="292025" y="338138"/>
                  <a:pt x="292025" y="338138"/>
                  <a:pt x="290708" y="338138"/>
                </a:cubicBezTo>
                <a:cubicBezTo>
                  <a:pt x="288073" y="338138"/>
                  <a:pt x="285438" y="336812"/>
                  <a:pt x="284120" y="335485"/>
                </a:cubicBezTo>
                <a:cubicBezTo>
                  <a:pt x="284120" y="335485"/>
                  <a:pt x="284120" y="335485"/>
                  <a:pt x="235372" y="286403"/>
                </a:cubicBezTo>
                <a:cubicBezTo>
                  <a:pt x="232737" y="283750"/>
                  <a:pt x="232737" y="281097"/>
                  <a:pt x="232737" y="279770"/>
                </a:cubicBezTo>
                <a:cubicBezTo>
                  <a:pt x="232737" y="279770"/>
                  <a:pt x="232737" y="279770"/>
                  <a:pt x="234054" y="249260"/>
                </a:cubicBezTo>
                <a:cubicBezTo>
                  <a:pt x="234054" y="249260"/>
                  <a:pt x="234054" y="249260"/>
                  <a:pt x="149733" y="164361"/>
                </a:cubicBezTo>
                <a:cubicBezTo>
                  <a:pt x="144463" y="159055"/>
                  <a:pt x="144463" y="152422"/>
                  <a:pt x="149733" y="148443"/>
                </a:cubicBezTo>
                <a:cubicBezTo>
                  <a:pt x="151051" y="145790"/>
                  <a:pt x="155003" y="144463"/>
                  <a:pt x="157638" y="144463"/>
                </a:cubicBezTo>
                <a:close/>
                <a:moveTo>
                  <a:pt x="145922" y="120650"/>
                </a:moveTo>
                <a:cubicBezTo>
                  <a:pt x="157893" y="120650"/>
                  <a:pt x="167203" y="128373"/>
                  <a:pt x="169863" y="137383"/>
                </a:cubicBezTo>
                <a:cubicBezTo>
                  <a:pt x="167203" y="134809"/>
                  <a:pt x="161883" y="133522"/>
                  <a:pt x="157893" y="133522"/>
                </a:cubicBezTo>
                <a:cubicBezTo>
                  <a:pt x="151242" y="133522"/>
                  <a:pt x="145922" y="136096"/>
                  <a:pt x="141931" y="141245"/>
                </a:cubicBezTo>
                <a:cubicBezTo>
                  <a:pt x="133951" y="147680"/>
                  <a:pt x="132620" y="160552"/>
                  <a:pt x="137941" y="168275"/>
                </a:cubicBezTo>
                <a:cubicBezTo>
                  <a:pt x="128630" y="165701"/>
                  <a:pt x="120650" y="156691"/>
                  <a:pt x="120650" y="145106"/>
                </a:cubicBezTo>
                <a:cubicBezTo>
                  <a:pt x="120650" y="132234"/>
                  <a:pt x="132620" y="120650"/>
                  <a:pt x="145922" y="120650"/>
                </a:cubicBezTo>
                <a:close/>
                <a:moveTo>
                  <a:pt x="146051" y="60325"/>
                </a:moveTo>
                <a:cubicBezTo>
                  <a:pt x="192063" y="60325"/>
                  <a:pt x="230188" y="98810"/>
                  <a:pt x="230188" y="145257"/>
                </a:cubicBezTo>
                <a:cubicBezTo>
                  <a:pt x="230188" y="159854"/>
                  <a:pt x="226244" y="174452"/>
                  <a:pt x="219671" y="186395"/>
                </a:cubicBezTo>
                <a:lnTo>
                  <a:pt x="193378" y="161181"/>
                </a:lnTo>
                <a:cubicBezTo>
                  <a:pt x="196007" y="155873"/>
                  <a:pt x="196007" y="150565"/>
                  <a:pt x="196007" y="145257"/>
                </a:cubicBezTo>
                <a:cubicBezTo>
                  <a:pt x="196007" y="117388"/>
                  <a:pt x="173658" y="94828"/>
                  <a:pt x="146051" y="94828"/>
                </a:cubicBezTo>
                <a:cubicBezTo>
                  <a:pt x="118443" y="94828"/>
                  <a:pt x="96094" y="117388"/>
                  <a:pt x="96094" y="145257"/>
                </a:cubicBezTo>
                <a:cubicBezTo>
                  <a:pt x="96094" y="173125"/>
                  <a:pt x="118443" y="195685"/>
                  <a:pt x="146051" y="195685"/>
                </a:cubicBezTo>
                <a:cubicBezTo>
                  <a:pt x="151309" y="195685"/>
                  <a:pt x="156568" y="194358"/>
                  <a:pt x="161827" y="193031"/>
                </a:cubicBezTo>
                <a:cubicBezTo>
                  <a:pt x="161827" y="193031"/>
                  <a:pt x="161827" y="193031"/>
                  <a:pt x="188119" y="219572"/>
                </a:cubicBezTo>
                <a:cubicBezTo>
                  <a:pt x="174973" y="226207"/>
                  <a:pt x="161827" y="230188"/>
                  <a:pt x="146051" y="230188"/>
                </a:cubicBezTo>
                <a:cubicBezTo>
                  <a:pt x="100038" y="230188"/>
                  <a:pt x="61913" y="191703"/>
                  <a:pt x="61913" y="145257"/>
                </a:cubicBezTo>
                <a:cubicBezTo>
                  <a:pt x="61913" y="98810"/>
                  <a:pt x="100038" y="60325"/>
                  <a:pt x="146051" y="60325"/>
                </a:cubicBezTo>
                <a:close/>
                <a:moveTo>
                  <a:pt x="145257" y="0"/>
                </a:moveTo>
                <a:cubicBezTo>
                  <a:pt x="225808" y="0"/>
                  <a:pt x="290513" y="64705"/>
                  <a:pt x="290513" y="145257"/>
                </a:cubicBezTo>
                <a:cubicBezTo>
                  <a:pt x="290513" y="172987"/>
                  <a:pt x="282590" y="199398"/>
                  <a:pt x="269385" y="221846"/>
                </a:cubicBezTo>
                <a:cubicBezTo>
                  <a:pt x="269385" y="221846"/>
                  <a:pt x="269385" y="221846"/>
                  <a:pt x="254859" y="221846"/>
                </a:cubicBezTo>
                <a:cubicBezTo>
                  <a:pt x="254859" y="221846"/>
                  <a:pt x="254859" y="221846"/>
                  <a:pt x="239013" y="206000"/>
                </a:cubicBezTo>
                <a:cubicBezTo>
                  <a:pt x="249577" y="188833"/>
                  <a:pt x="256180" y="167705"/>
                  <a:pt x="256180" y="145257"/>
                </a:cubicBezTo>
                <a:cubicBezTo>
                  <a:pt x="256180" y="84513"/>
                  <a:pt x="207321" y="34333"/>
                  <a:pt x="145257" y="34333"/>
                </a:cubicBezTo>
                <a:cubicBezTo>
                  <a:pt x="84513" y="34333"/>
                  <a:pt x="34333" y="84513"/>
                  <a:pt x="34333" y="145257"/>
                </a:cubicBezTo>
                <a:cubicBezTo>
                  <a:pt x="34333" y="207321"/>
                  <a:pt x="84513" y="256180"/>
                  <a:pt x="145257" y="256180"/>
                </a:cubicBezTo>
                <a:cubicBezTo>
                  <a:pt x="167705" y="256180"/>
                  <a:pt x="188834" y="249577"/>
                  <a:pt x="206000" y="239013"/>
                </a:cubicBezTo>
                <a:cubicBezTo>
                  <a:pt x="206000" y="239013"/>
                  <a:pt x="206000" y="239013"/>
                  <a:pt x="221847" y="254859"/>
                </a:cubicBezTo>
                <a:cubicBezTo>
                  <a:pt x="221847" y="254859"/>
                  <a:pt x="221847" y="254859"/>
                  <a:pt x="221847" y="269385"/>
                </a:cubicBezTo>
                <a:cubicBezTo>
                  <a:pt x="199398" y="282590"/>
                  <a:pt x="172988" y="290513"/>
                  <a:pt x="145257" y="290513"/>
                </a:cubicBezTo>
                <a:cubicBezTo>
                  <a:pt x="64705" y="290513"/>
                  <a:pt x="0" y="225808"/>
                  <a:pt x="0" y="145257"/>
                </a:cubicBezTo>
                <a:cubicBezTo>
                  <a:pt x="0" y="64705"/>
                  <a:pt x="64705" y="0"/>
                  <a:pt x="145257" y="0"/>
                </a:cubicBezTo>
                <a:close/>
              </a:path>
            </a:pathLst>
          </a:custGeom>
          <a:solidFill>
            <a:srgbClr val="0070C0"/>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lt"/>
            </a:endParaRPr>
          </a:p>
        </p:txBody>
      </p:sp>
      <p:sp>
        <p:nvSpPr>
          <p:cNvPr id="37" name="computer-service_78951"/>
          <p:cNvSpPr>
            <a:spLocks noChangeAspect="1"/>
          </p:cNvSpPr>
          <p:nvPr/>
        </p:nvSpPr>
        <p:spPr bwMode="auto">
          <a:xfrm>
            <a:off x="9340674" y="1955239"/>
            <a:ext cx="609685" cy="565858"/>
          </a:xfrm>
          <a:custGeom>
            <a:avLst/>
            <a:gdLst>
              <a:gd name="connsiteX0" fmla="*/ 288132 w 338138"/>
              <a:gd name="connsiteY0" fmla="*/ 223343 h 313831"/>
              <a:gd name="connsiteX1" fmla="*/ 279400 w 338138"/>
              <a:gd name="connsiteY1" fmla="*/ 231281 h 313831"/>
              <a:gd name="connsiteX2" fmla="*/ 288132 w 338138"/>
              <a:gd name="connsiteY2" fmla="*/ 239219 h 313831"/>
              <a:gd name="connsiteX3" fmla="*/ 296864 w 338138"/>
              <a:gd name="connsiteY3" fmla="*/ 231281 h 313831"/>
              <a:gd name="connsiteX4" fmla="*/ 288132 w 338138"/>
              <a:gd name="connsiteY4" fmla="*/ 223343 h 313831"/>
              <a:gd name="connsiteX5" fmla="*/ 261938 w 338138"/>
              <a:gd name="connsiteY5" fmla="*/ 223343 h 313831"/>
              <a:gd name="connsiteX6" fmla="*/ 254000 w 338138"/>
              <a:gd name="connsiteY6" fmla="*/ 231281 h 313831"/>
              <a:gd name="connsiteX7" fmla="*/ 261938 w 338138"/>
              <a:gd name="connsiteY7" fmla="*/ 239219 h 313831"/>
              <a:gd name="connsiteX8" fmla="*/ 269876 w 338138"/>
              <a:gd name="connsiteY8" fmla="*/ 231281 h 313831"/>
              <a:gd name="connsiteX9" fmla="*/ 261938 w 338138"/>
              <a:gd name="connsiteY9" fmla="*/ 223343 h 313831"/>
              <a:gd name="connsiteX10" fmla="*/ 116535 w 338138"/>
              <a:gd name="connsiteY10" fmla="*/ 45543 h 313831"/>
              <a:gd name="connsiteX11" fmla="*/ 141773 w 338138"/>
              <a:gd name="connsiteY11" fmla="*/ 88073 h 313831"/>
              <a:gd name="connsiteX12" fmla="*/ 108565 w 338138"/>
              <a:gd name="connsiteY12" fmla="*/ 102693 h 313831"/>
              <a:gd name="connsiteX13" fmla="*/ 87312 w 338138"/>
              <a:gd name="connsiteY13" fmla="*/ 74783 h 313831"/>
              <a:gd name="connsiteX14" fmla="*/ 116535 w 338138"/>
              <a:gd name="connsiteY14" fmla="*/ 45543 h 313831"/>
              <a:gd name="connsiteX15" fmla="*/ 254349 w 338138"/>
              <a:gd name="connsiteY15" fmla="*/ 30428 h 313831"/>
              <a:gd name="connsiteX16" fmla="*/ 275361 w 338138"/>
              <a:gd name="connsiteY16" fmla="*/ 48787 h 313831"/>
              <a:gd name="connsiteX17" fmla="*/ 255662 w 338138"/>
              <a:gd name="connsiteY17" fmla="*/ 85507 h 313831"/>
              <a:gd name="connsiteX18" fmla="*/ 266168 w 338138"/>
              <a:gd name="connsiteY18" fmla="*/ 89441 h 313831"/>
              <a:gd name="connsiteX19" fmla="*/ 289806 w 338138"/>
              <a:gd name="connsiteY19" fmla="*/ 80261 h 313831"/>
              <a:gd name="connsiteX20" fmla="*/ 287180 w 338138"/>
              <a:gd name="connsiteY20" fmla="*/ 109113 h 313831"/>
              <a:gd name="connsiteX21" fmla="*/ 225458 w 338138"/>
              <a:gd name="connsiteY21" fmla="*/ 111735 h 313831"/>
              <a:gd name="connsiteX22" fmla="*/ 92823 w 338138"/>
              <a:gd name="connsiteY22" fmla="*/ 166815 h 313831"/>
              <a:gd name="connsiteX23" fmla="*/ 75751 w 338138"/>
              <a:gd name="connsiteY23" fmla="*/ 127472 h 313831"/>
              <a:gd name="connsiteX24" fmla="*/ 208386 w 338138"/>
              <a:gd name="connsiteY24" fmla="*/ 72393 h 313831"/>
              <a:gd name="connsiteX25" fmla="*/ 242530 w 338138"/>
              <a:gd name="connsiteY25" fmla="*/ 33050 h 313831"/>
              <a:gd name="connsiteX26" fmla="*/ 254349 w 338138"/>
              <a:gd name="connsiteY26" fmla="*/ 30428 h 313831"/>
              <a:gd name="connsiteX27" fmla="*/ 186871 w 338138"/>
              <a:gd name="connsiteY27" fmla="*/ 24906 h 313831"/>
              <a:gd name="connsiteX28" fmla="*/ 231775 w 338138"/>
              <a:gd name="connsiteY28" fmla="*/ 24906 h 313831"/>
              <a:gd name="connsiteX29" fmla="*/ 207282 w 338138"/>
              <a:gd name="connsiteY29" fmla="*/ 48190 h 313831"/>
              <a:gd name="connsiteX30" fmla="*/ 201839 w 338138"/>
              <a:gd name="connsiteY30" fmla="*/ 59831 h 313831"/>
              <a:gd name="connsiteX31" fmla="*/ 184150 w 338138"/>
              <a:gd name="connsiteY31" fmla="*/ 45603 h 313831"/>
              <a:gd name="connsiteX32" fmla="*/ 186871 w 338138"/>
              <a:gd name="connsiteY32" fmla="*/ 24906 h 313831"/>
              <a:gd name="connsiteX33" fmla="*/ 18492 w 338138"/>
              <a:gd name="connsiteY33" fmla="*/ 24906 h 313831"/>
              <a:gd name="connsiteX34" fmla="*/ 43588 w 338138"/>
              <a:gd name="connsiteY34" fmla="*/ 24906 h 313831"/>
              <a:gd name="connsiteX35" fmla="*/ 46230 w 338138"/>
              <a:gd name="connsiteY35" fmla="*/ 46015 h 313831"/>
              <a:gd name="connsiteX36" fmla="*/ 29059 w 338138"/>
              <a:gd name="connsiteY36" fmla="*/ 63166 h 313831"/>
              <a:gd name="connsiteX37" fmla="*/ 31700 w 338138"/>
              <a:gd name="connsiteY37" fmla="*/ 96148 h 313831"/>
              <a:gd name="connsiteX38" fmla="*/ 31700 w 338138"/>
              <a:gd name="connsiteY38" fmla="*/ 206969 h 313831"/>
              <a:gd name="connsiteX39" fmla="*/ 39626 w 338138"/>
              <a:gd name="connsiteY39" fmla="*/ 214884 h 313831"/>
              <a:gd name="connsiteX40" fmla="*/ 298512 w 338138"/>
              <a:gd name="connsiteY40" fmla="*/ 214884 h 313831"/>
              <a:gd name="connsiteX41" fmla="*/ 306438 w 338138"/>
              <a:gd name="connsiteY41" fmla="*/ 206969 h 313831"/>
              <a:gd name="connsiteX42" fmla="*/ 306438 w 338138"/>
              <a:gd name="connsiteY42" fmla="*/ 104064 h 313831"/>
              <a:gd name="connsiteX43" fmla="*/ 306438 w 338138"/>
              <a:gd name="connsiteY43" fmla="*/ 77678 h 313831"/>
              <a:gd name="connsiteX44" fmla="*/ 274737 w 338138"/>
              <a:gd name="connsiteY44" fmla="*/ 61846 h 313831"/>
              <a:gd name="connsiteX45" fmla="*/ 281341 w 338138"/>
              <a:gd name="connsiteY45" fmla="*/ 59208 h 313831"/>
              <a:gd name="connsiteX46" fmla="*/ 280021 w 338138"/>
              <a:gd name="connsiteY46" fmla="*/ 24906 h 313831"/>
              <a:gd name="connsiteX47" fmla="*/ 319646 w 338138"/>
              <a:gd name="connsiteY47" fmla="*/ 24906 h 313831"/>
              <a:gd name="connsiteX48" fmla="*/ 338138 w 338138"/>
              <a:gd name="connsiteY48" fmla="*/ 43376 h 313831"/>
              <a:gd name="connsiteX49" fmla="*/ 338138 w 338138"/>
              <a:gd name="connsiteY49" fmla="*/ 234674 h 313831"/>
              <a:gd name="connsiteX50" fmla="*/ 319646 w 338138"/>
              <a:gd name="connsiteY50" fmla="*/ 251825 h 313831"/>
              <a:gd name="connsiteX51" fmla="*/ 200769 w 338138"/>
              <a:gd name="connsiteY51" fmla="*/ 251825 h 313831"/>
              <a:gd name="connsiteX52" fmla="*/ 216620 w 338138"/>
              <a:gd name="connsiteY52" fmla="*/ 290084 h 313831"/>
              <a:gd name="connsiteX53" fmla="*/ 224545 w 338138"/>
              <a:gd name="connsiteY53" fmla="*/ 290084 h 313831"/>
              <a:gd name="connsiteX54" fmla="*/ 235112 w 338138"/>
              <a:gd name="connsiteY54" fmla="*/ 301958 h 313831"/>
              <a:gd name="connsiteX55" fmla="*/ 224545 w 338138"/>
              <a:gd name="connsiteY55" fmla="*/ 313831 h 313831"/>
              <a:gd name="connsiteX56" fmla="*/ 113593 w 338138"/>
              <a:gd name="connsiteY56" fmla="*/ 313831 h 313831"/>
              <a:gd name="connsiteX57" fmla="*/ 103026 w 338138"/>
              <a:gd name="connsiteY57" fmla="*/ 301958 h 313831"/>
              <a:gd name="connsiteX58" fmla="*/ 113593 w 338138"/>
              <a:gd name="connsiteY58" fmla="*/ 290084 h 313831"/>
              <a:gd name="connsiteX59" fmla="*/ 121518 w 338138"/>
              <a:gd name="connsiteY59" fmla="*/ 290084 h 313831"/>
              <a:gd name="connsiteX60" fmla="*/ 137369 w 338138"/>
              <a:gd name="connsiteY60" fmla="*/ 251825 h 313831"/>
              <a:gd name="connsiteX61" fmla="*/ 18492 w 338138"/>
              <a:gd name="connsiteY61" fmla="*/ 251825 h 313831"/>
              <a:gd name="connsiteX62" fmla="*/ 0 w 338138"/>
              <a:gd name="connsiteY62" fmla="*/ 234674 h 313831"/>
              <a:gd name="connsiteX63" fmla="*/ 0 w 338138"/>
              <a:gd name="connsiteY63" fmla="*/ 43376 h 313831"/>
              <a:gd name="connsiteX64" fmla="*/ 18492 w 338138"/>
              <a:gd name="connsiteY64" fmla="*/ 24906 h 313831"/>
              <a:gd name="connsiteX65" fmla="*/ 109666 w 338138"/>
              <a:gd name="connsiteY65" fmla="*/ 1 h 313831"/>
              <a:gd name="connsiteX66" fmla="*/ 126932 w 338138"/>
              <a:gd name="connsiteY66" fmla="*/ 267 h 313831"/>
              <a:gd name="connsiteX67" fmla="*/ 133580 w 338138"/>
              <a:gd name="connsiteY67" fmla="*/ 18637 h 313831"/>
              <a:gd name="connsiteX68" fmla="*/ 144218 w 338138"/>
              <a:gd name="connsiteY68" fmla="*/ 22573 h 313831"/>
              <a:gd name="connsiteX69" fmla="*/ 177460 w 338138"/>
              <a:gd name="connsiteY69" fmla="*/ 29134 h 313831"/>
              <a:gd name="connsiteX70" fmla="*/ 168152 w 338138"/>
              <a:gd name="connsiteY70" fmla="*/ 47504 h 313831"/>
              <a:gd name="connsiteX71" fmla="*/ 173471 w 338138"/>
              <a:gd name="connsiteY71" fmla="*/ 58001 h 313831"/>
              <a:gd name="connsiteX72" fmla="*/ 192087 w 338138"/>
              <a:gd name="connsiteY72" fmla="*/ 67186 h 313831"/>
              <a:gd name="connsiteX73" fmla="*/ 154855 w 338138"/>
              <a:gd name="connsiteY73" fmla="*/ 82931 h 313831"/>
              <a:gd name="connsiteX74" fmla="*/ 116294 w 338138"/>
              <a:gd name="connsiteY74" fmla="*/ 35695 h 313831"/>
              <a:gd name="connsiteX75" fmla="*/ 76403 w 338138"/>
              <a:gd name="connsiteY75" fmla="*/ 75059 h 313831"/>
              <a:gd name="connsiteX76" fmla="*/ 93689 w 338138"/>
              <a:gd name="connsiteY76" fmla="*/ 107862 h 313831"/>
              <a:gd name="connsiteX77" fmla="*/ 59117 w 338138"/>
              <a:gd name="connsiteY77" fmla="*/ 124919 h 313831"/>
              <a:gd name="connsiteX78" fmla="*/ 63106 w 338138"/>
              <a:gd name="connsiteY78" fmla="*/ 102613 h 313831"/>
              <a:gd name="connsiteX79" fmla="*/ 59117 w 338138"/>
              <a:gd name="connsiteY79" fmla="*/ 92116 h 313831"/>
              <a:gd name="connsiteX80" fmla="*/ 40501 w 338138"/>
              <a:gd name="connsiteY80" fmla="*/ 63249 h 313831"/>
              <a:gd name="connsiteX81" fmla="*/ 59117 w 338138"/>
              <a:gd name="connsiteY81" fmla="*/ 58001 h 313831"/>
              <a:gd name="connsiteX82" fmla="*/ 63106 w 338138"/>
              <a:gd name="connsiteY82" fmla="*/ 47504 h 313831"/>
              <a:gd name="connsiteX83" fmla="*/ 69755 w 338138"/>
              <a:gd name="connsiteY83" fmla="*/ 14700 h 313831"/>
              <a:gd name="connsiteX84" fmla="*/ 88370 w 338138"/>
              <a:gd name="connsiteY84" fmla="*/ 22573 h 313831"/>
              <a:gd name="connsiteX85" fmla="*/ 99008 w 338138"/>
              <a:gd name="connsiteY85" fmla="*/ 18637 h 313831"/>
              <a:gd name="connsiteX86" fmla="*/ 109666 w 338138"/>
              <a:gd name="connsiteY86" fmla="*/ 1 h 313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338138" h="313831">
                <a:moveTo>
                  <a:pt x="288132" y="223343"/>
                </a:moveTo>
                <a:cubicBezTo>
                  <a:pt x="283309" y="223343"/>
                  <a:pt x="279400" y="226897"/>
                  <a:pt x="279400" y="231281"/>
                </a:cubicBezTo>
                <a:cubicBezTo>
                  <a:pt x="279400" y="235665"/>
                  <a:pt x="283309" y="239219"/>
                  <a:pt x="288132" y="239219"/>
                </a:cubicBezTo>
                <a:cubicBezTo>
                  <a:pt x="292955" y="239219"/>
                  <a:pt x="296864" y="235665"/>
                  <a:pt x="296864" y="231281"/>
                </a:cubicBezTo>
                <a:cubicBezTo>
                  <a:pt x="296864" y="226897"/>
                  <a:pt x="292955" y="223343"/>
                  <a:pt x="288132" y="223343"/>
                </a:cubicBezTo>
                <a:close/>
                <a:moveTo>
                  <a:pt x="261938" y="223343"/>
                </a:moveTo>
                <a:cubicBezTo>
                  <a:pt x="257554" y="223343"/>
                  <a:pt x="254000" y="226897"/>
                  <a:pt x="254000" y="231281"/>
                </a:cubicBezTo>
                <a:cubicBezTo>
                  <a:pt x="254000" y="235665"/>
                  <a:pt x="257554" y="239219"/>
                  <a:pt x="261938" y="239219"/>
                </a:cubicBezTo>
                <a:cubicBezTo>
                  <a:pt x="266322" y="239219"/>
                  <a:pt x="269876" y="235665"/>
                  <a:pt x="269876" y="231281"/>
                </a:cubicBezTo>
                <a:cubicBezTo>
                  <a:pt x="269876" y="226897"/>
                  <a:pt x="266322" y="223343"/>
                  <a:pt x="261938" y="223343"/>
                </a:cubicBezTo>
                <a:close/>
                <a:moveTo>
                  <a:pt x="116535" y="45543"/>
                </a:moveTo>
                <a:cubicBezTo>
                  <a:pt x="137788" y="45543"/>
                  <a:pt x="152400" y="68137"/>
                  <a:pt x="141773" y="88073"/>
                </a:cubicBezTo>
                <a:cubicBezTo>
                  <a:pt x="141773" y="88073"/>
                  <a:pt x="141773" y="88073"/>
                  <a:pt x="108565" y="102693"/>
                </a:cubicBezTo>
                <a:cubicBezTo>
                  <a:pt x="96610" y="98706"/>
                  <a:pt x="87312" y="88073"/>
                  <a:pt x="87312" y="74783"/>
                </a:cubicBezTo>
                <a:cubicBezTo>
                  <a:pt x="87312" y="58834"/>
                  <a:pt x="100595" y="45543"/>
                  <a:pt x="116535" y="45543"/>
                </a:cubicBezTo>
                <a:close/>
                <a:moveTo>
                  <a:pt x="254349" y="30428"/>
                </a:moveTo>
                <a:cubicBezTo>
                  <a:pt x="271421" y="26493"/>
                  <a:pt x="284553" y="44853"/>
                  <a:pt x="275361" y="48787"/>
                </a:cubicBezTo>
                <a:cubicBezTo>
                  <a:pt x="242530" y="63213"/>
                  <a:pt x="243843" y="57967"/>
                  <a:pt x="255662" y="85507"/>
                </a:cubicBezTo>
                <a:cubicBezTo>
                  <a:pt x="256976" y="89441"/>
                  <a:pt x="262228" y="92064"/>
                  <a:pt x="266168" y="89441"/>
                </a:cubicBezTo>
                <a:cubicBezTo>
                  <a:pt x="266168" y="89441"/>
                  <a:pt x="266168" y="89441"/>
                  <a:pt x="289806" y="80261"/>
                </a:cubicBezTo>
                <a:cubicBezTo>
                  <a:pt x="297685" y="76327"/>
                  <a:pt x="301625" y="99933"/>
                  <a:pt x="287180" y="109113"/>
                </a:cubicBezTo>
                <a:cubicBezTo>
                  <a:pt x="260915" y="124850"/>
                  <a:pt x="259602" y="123538"/>
                  <a:pt x="225458" y="111735"/>
                </a:cubicBezTo>
                <a:cubicBezTo>
                  <a:pt x="225458" y="111735"/>
                  <a:pt x="225458" y="111735"/>
                  <a:pt x="92823" y="166815"/>
                </a:cubicBezTo>
                <a:cubicBezTo>
                  <a:pt x="66559" y="177306"/>
                  <a:pt x="50800" y="137964"/>
                  <a:pt x="75751" y="127472"/>
                </a:cubicBezTo>
                <a:cubicBezTo>
                  <a:pt x="75751" y="127472"/>
                  <a:pt x="75751" y="127472"/>
                  <a:pt x="208386" y="72393"/>
                </a:cubicBezTo>
                <a:cubicBezTo>
                  <a:pt x="217579" y="54033"/>
                  <a:pt x="222832" y="38296"/>
                  <a:pt x="242530" y="33050"/>
                </a:cubicBezTo>
                <a:cubicBezTo>
                  <a:pt x="242530" y="33050"/>
                  <a:pt x="242530" y="33050"/>
                  <a:pt x="254349" y="30428"/>
                </a:cubicBezTo>
                <a:close/>
                <a:moveTo>
                  <a:pt x="186871" y="24906"/>
                </a:moveTo>
                <a:cubicBezTo>
                  <a:pt x="186871" y="24906"/>
                  <a:pt x="186871" y="24906"/>
                  <a:pt x="231775" y="24906"/>
                </a:cubicBezTo>
                <a:cubicBezTo>
                  <a:pt x="220889" y="30080"/>
                  <a:pt x="212725" y="37841"/>
                  <a:pt x="207282" y="48190"/>
                </a:cubicBezTo>
                <a:cubicBezTo>
                  <a:pt x="207282" y="48190"/>
                  <a:pt x="207282" y="48190"/>
                  <a:pt x="201839" y="59831"/>
                </a:cubicBezTo>
                <a:cubicBezTo>
                  <a:pt x="200479" y="52070"/>
                  <a:pt x="193675" y="45603"/>
                  <a:pt x="184150" y="45603"/>
                </a:cubicBezTo>
                <a:cubicBezTo>
                  <a:pt x="190954" y="39135"/>
                  <a:pt x="190954" y="31374"/>
                  <a:pt x="186871" y="24906"/>
                </a:cubicBezTo>
                <a:close/>
                <a:moveTo>
                  <a:pt x="18492" y="24906"/>
                </a:moveTo>
                <a:cubicBezTo>
                  <a:pt x="18492" y="24906"/>
                  <a:pt x="18492" y="24906"/>
                  <a:pt x="43588" y="24906"/>
                </a:cubicBezTo>
                <a:cubicBezTo>
                  <a:pt x="39626" y="32822"/>
                  <a:pt x="40946" y="40738"/>
                  <a:pt x="46230" y="46015"/>
                </a:cubicBezTo>
                <a:cubicBezTo>
                  <a:pt x="36984" y="46015"/>
                  <a:pt x="29059" y="53931"/>
                  <a:pt x="29059" y="63166"/>
                </a:cubicBezTo>
                <a:cubicBezTo>
                  <a:pt x="29059" y="82955"/>
                  <a:pt x="27738" y="89552"/>
                  <a:pt x="31700" y="96148"/>
                </a:cubicBezTo>
                <a:cubicBezTo>
                  <a:pt x="31700" y="96148"/>
                  <a:pt x="31700" y="96148"/>
                  <a:pt x="31700" y="206969"/>
                </a:cubicBezTo>
                <a:cubicBezTo>
                  <a:pt x="31700" y="210926"/>
                  <a:pt x="35663" y="214884"/>
                  <a:pt x="39626" y="214884"/>
                </a:cubicBezTo>
                <a:cubicBezTo>
                  <a:pt x="39626" y="214884"/>
                  <a:pt x="39626" y="214884"/>
                  <a:pt x="298512" y="214884"/>
                </a:cubicBezTo>
                <a:cubicBezTo>
                  <a:pt x="302475" y="214884"/>
                  <a:pt x="306438" y="210926"/>
                  <a:pt x="306438" y="206969"/>
                </a:cubicBezTo>
                <a:cubicBezTo>
                  <a:pt x="306438" y="206969"/>
                  <a:pt x="306438" y="206969"/>
                  <a:pt x="306438" y="104064"/>
                </a:cubicBezTo>
                <a:cubicBezTo>
                  <a:pt x="309079" y="96148"/>
                  <a:pt x="310400" y="86913"/>
                  <a:pt x="306438" y="77678"/>
                </a:cubicBezTo>
                <a:cubicBezTo>
                  <a:pt x="306438" y="59208"/>
                  <a:pt x="306438" y="61846"/>
                  <a:pt x="274737" y="61846"/>
                </a:cubicBezTo>
                <a:cubicBezTo>
                  <a:pt x="274737" y="61846"/>
                  <a:pt x="274737" y="61846"/>
                  <a:pt x="281341" y="59208"/>
                </a:cubicBezTo>
                <a:cubicBezTo>
                  <a:pt x="293229" y="53931"/>
                  <a:pt x="294550" y="38099"/>
                  <a:pt x="280021" y="24906"/>
                </a:cubicBezTo>
                <a:cubicBezTo>
                  <a:pt x="280021" y="24906"/>
                  <a:pt x="280021" y="24906"/>
                  <a:pt x="319646" y="24906"/>
                </a:cubicBezTo>
                <a:cubicBezTo>
                  <a:pt x="330213" y="24906"/>
                  <a:pt x="338138" y="34141"/>
                  <a:pt x="338138" y="43376"/>
                </a:cubicBezTo>
                <a:cubicBezTo>
                  <a:pt x="338138" y="43376"/>
                  <a:pt x="338138" y="43376"/>
                  <a:pt x="338138" y="234674"/>
                </a:cubicBezTo>
                <a:cubicBezTo>
                  <a:pt x="338138" y="243909"/>
                  <a:pt x="330213" y="251825"/>
                  <a:pt x="319646" y="251825"/>
                </a:cubicBezTo>
                <a:cubicBezTo>
                  <a:pt x="319646" y="251825"/>
                  <a:pt x="319646" y="251825"/>
                  <a:pt x="200769" y="251825"/>
                </a:cubicBezTo>
                <a:cubicBezTo>
                  <a:pt x="200769" y="251825"/>
                  <a:pt x="200769" y="251825"/>
                  <a:pt x="216620" y="290084"/>
                </a:cubicBezTo>
                <a:cubicBezTo>
                  <a:pt x="216620" y="290084"/>
                  <a:pt x="216620" y="290084"/>
                  <a:pt x="224545" y="290084"/>
                </a:cubicBezTo>
                <a:cubicBezTo>
                  <a:pt x="229828" y="290084"/>
                  <a:pt x="235112" y="295361"/>
                  <a:pt x="235112" y="301958"/>
                </a:cubicBezTo>
                <a:cubicBezTo>
                  <a:pt x="235112" y="308554"/>
                  <a:pt x="229828" y="313831"/>
                  <a:pt x="224545" y="313831"/>
                </a:cubicBezTo>
                <a:cubicBezTo>
                  <a:pt x="224545" y="313831"/>
                  <a:pt x="224545" y="313831"/>
                  <a:pt x="113593" y="313831"/>
                </a:cubicBezTo>
                <a:cubicBezTo>
                  <a:pt x="108310" y="313831"/>
                  <a:pt x="103026" y="308554"/>
                  <a:pt x="103026" y="301958"/>
                </a:cubicBezTo>
                <a:cubicBezTo>
                  <a:pt x="103026" y="295361"/>
                  <a:pt x="108310" y="290084"/>
                  <a:pt x="113593" y="290084"/>
                </a:cubicBezTo>
                <a:cubicBezTo>
                  <a:pt x="113593" y="290084"/>
                  <a:pt x="113593" y="290084"/>
                  <a:pt x="121518" y="290084"/>
                </a:cubicBezTo>
                <a:cubicBezTo>
                  <a:pt x="121518" y="290084"/>
                  <a:pt x="121518" y="290084"/>
                  <a:pt x="137369" y="251825"/>
                </a:cubicBezTo>
                <a:cubicBezTo>
                  <a:pt x="137369" y="251825"/>
                  <a:pt x="137369" y="251825"/>
                  <a:pt x="18492" y="251825"/>
                </a:cubicBezTo>
                <a:cubicBezTo>
                  <a:pt x="7925" y="251825"/>
                  <a:pt x="0" y="243909"/>
                  <a:pt x="0" y="234674"/>
                </a:cubicBezTo>
                <a:cubicBezTo>
                  <a:pt x="0" y="234674"/>
                  <a:pt x="0" y="234674"/>
                  <a:pt x="0" y="43376"/>
                </a:cubicBezTo>
                <a:cubicBezTo>
                  <a:pt x="0" y="34141"/>
                  <a:pt x="7925" y="24906"/>
                  <a:pt x="18492" y="24906"/>
                </a:cubicBezTo>
                <a:close/>
                <a:moveTo>
                  <a:pt x="109666" y="1"/>
                </a:moveTo>
                <a:cubicBezTo>
                  <a:pt x="113718" y="21"/>
                  <a:pt x="119286" y="267"/>
                  <a:pt x="126932" y="267"/>
                </a:cubicBezTo>
                <a:cubicBezTo>
                  <a:pt x="134910" y="267"/>
                  <a:pt x="133580" y="10764"/>
                  <a:pt x="133580" y="18637"/>
                </a:cubicBezTo>
                <a:cubicBezTo>
                  <a:pt x="137569" y="19949"/>
                  <a:pt x="140229" y="21261"/>
                  <a:pt x="144218" y="22573"/>
                </a:cubicBezTo>
                <a:cubicBezTo>
                  <a:pt x="158845" y="6828"/>
                  <a:pt x="154855" y="8140"/>
                  <a:pt x="177460" y="29134"/>
                </a:cubicBezTo>
                <a:cubicBezTo>
                  <a:pt x="182779" y="35695"/>
                  <a:pt x="174801" y="40943"/>
                  <a:pt x="168152" y="47504"/>
                </a:cubicBezTo>
                <a:cubicBezTo>
                  <a:pt x="170812" y="50128"/>
                  <a:pt x="172142" y="54065"/>
                  <a:pt x="173471" y="58001"/>
                </a:cubicBezTo>
                <a:cubicBezTo>
                  <a:pt x="188098" y="58001"/>
                  <a:pt x="192087" y="55377"/>
                  <a:pt x="192087" y="67186"/>
                </a:cubicBezTo>
                <a:cubicBezTo>
                  <a:pt x="192087" y="67186"/>
                  <a:pt x="192087" y="67186"/>
                  <a:pt x="154855" y="82931"/>
                </a:cubicBezTo>
                <a:cubicBezTo>
                  <a:pt x="160174" y="58001"/>
                  <a:pt x="140229" y="35695"/>
                  <a:pt x="116294" y="35695"/>
                </a:cubicBezTo>
                <a:cubicBezTo>
                  <a:pt x="93689" y="35695"/>
                  <a:pt x="76403" y="52753"/>
                  <a:pt x="76403" y="75059"/>
                </a:cubicBezTo>
                <a:cubicBezTo>
                  <a:pt x="76403" y="88180"/>
                  <a:pt x="83052" y="101301"/>
                  <a:pt x="93689" y="107862"/>
                </a:cubicBezTo>
                <a:cubicBezTo>
                  <a:pt x="73744" y="117047"/>
                  <a:pt x="67095" y="118359"/>
                  <a:pt x="59117" y="124919"/>
                </a:cubicBezTo>
                <a:cubicBezTo>
                  <a:pt x="48479" y="114422"/>
                  <a:pt x="49809" y="115734"/>
                  <a:pt x="63106" y="102613"/>
                </a:cubicBezTo>
                <a:cubicBezTo>
                  <a:pt x="61776" y="98677"/>
                  <a:pt x="60447" y="96053"/>
                  <a:pt x="59117" y="92116"/>
                </a:cubicBezTo>
                <a:cubicBezTo>
                  <a:pt x="36512" y="92116"/>
                  <a:pt x="40501" y="94740"/>
                  <a:pt x="40501" y="63249"/>
                </a:cubicBezTo>
                <a:cubicBezTo>
                  <a:pt x="40501" y="55377"/>
                  <a:pt x="51139" y="58001"/>
                  <a:pt x="59117" y="58001"/>
                </a:cubicBezTo>
                <a:cubicBezTo>
                  <a:pt x="60447" y="54065"/>
                  <a:pt x="61776" y="50128"/>
                  <a:pt x="63106" y="47504"/>
                </a:cubicBezTo>
                <a:cubicBezTo>
                  <a:pt x="47150" y="31759"/>
                  <a:pt x="48479" y="35695"/>
                  <a:pt x="69755" y="14700"/>
                </a:cubicBezTo>
                <a:cubicBezTo>
                  <a:pt x="76403" y="8140"/>
                  <a:pt x="81722" y="17325"/>
                  <a:pt x="88370" y="22573"/>
                </a:cubicBezTo>
                <a:cubicBezTo>
                  <a:pt x="91030" y="21261"/>
                  <a:pt x="95019" y="19949"/>
                  <a:pt x="99008" y="18637"/>
                </a:cubicBezTo>
                <a:cubicBezTo>
                  <a:pt x="99008" y="1907"/>
                  <a:pt x="97512" y="-61"/>
                  <a:pt x="109666" y="1"/>
                </a:cubicBezTo>
                <a:close/>
              </a:path>
            </a:pathLst>
          </a:custGeom>
          <a:solidFill>
            <a:srgbClr val="0070C0"/>
          </a:solidFill>
          <a:ln>
            <a:noFill/>
          </a:ln>
        </p:spPr>
      </p:sp>
      <p:sp>
        <p:nvSpPr>
          <p:cNvPr id="38" name="graph_134483"/>
          <p:cNvSpPr>
            <a:spLocks noChangeAspect="1"/>
          </p:cNvSpPr>
          <p:nvPr/>
        </p:nvSpPr>
        <p:spPr bwMode="auto">
          <a:xfrm>
            <a:off x="9340674" y="3162906"/>
            <a:ext cx="609685" cy="555432"/>
          </a:xfrm>
          <a:custGeom>
            <a:avLst/>
            <a:gdLst>
              <a:gd name="connsiteX0" fmla="*/ 260506 w 331788"/>
              <a:gd name="connsiteY0" fmla="*/ 76839 h 302264"/>
              <a:gd name="connsiteX1" fmla="*/ 326604 w 331788"/>
              <a:gd name="connsiteY1" fmla="*/ 76839 h 302264"/>
              <a:gd name="connsiteX2" fmla="*/ 326604 w 331788"/>
              <a:gd name="connsiteY2" fmla="*/ 291959 h 302264"/>
              <a:gd name="connsiteX3" fmla="*/ 331788 w 331788"/>
              <a:gd name="connsiteY3" fmla="*/ 297111 h 302264"/>
              <a:gd name="connsiteX4" fmla="*/ 326604 w 331788"/>
              <a:gd name="connsiteY4" fmla="*/ 302264 h 302264"/>
              <a:gd name="connsiteX5" fmla="*/ 5184 w 331788"/>
              <a:gd name="connsiteY5" fmla="*/ 302264 h 302264"/>
              <a:gd name="connsiteX6" fmla="*/ 0 w 331788"/>
              <a:gd name="connsiteY6" fmla="*/ 297111 h 302264"/>
              <a:gd name="connsiteX7" fmla="*/ 5184 w 331788"/>
              <a:gd name="connsiteY7" fmla="*/ 291959 h 302264"/>
              <a:gd name="connsiteX8" fmla="*/ 11664 w 331788"/>
              <a:gd name="connsiteY8" fmla="*/ 291959 h 302264"/>
              <a:gd name="connsiteX9" fmla="*/ 11664 w 331788"/>
              <a:gd name="connsiteY9" fmla="*/ 214670 h 302264"/>
              <a:gd name="connsiteX10" fmla="*/ 77763 w 331788"/>
              <a:gd name="connsiteY10" fmla="*/ 214670 h 302264"/>
              <a:gd name="connsiteX11" fmla="*/ 77763 w 331788"/>
              <a:gd name="connsiteY11" fmla="*/ 291959 h 302264"/>
              <a:gd name="connsiteX12" fmla="*/ 94612 w 331788"/>
              <a:gd name="connsiteY12" fmla="*/ 291959 h 302264"/>
              <a:gd name="connsiteX13" fmla="*/ 94612 w 331788"/>
              <a:gd name="connsiteY13" fmla="*/ 165721 h 302264"/>
              <a:gd name="connsiteX14" fmla="*/ 160710 w 331788"/>
              <a:gd name="connsiteY14" fmla="*/ 165721 h 302264"/>
              <a:gd name="connsiteX15" fmla="*/ 160710 w 331788"/>
              <a:gd name="connsiteY15" fmla="*/ 291959 h 302264"/>
              <a:gd name="connsiteX16" fmla="*/ 177559 w 331788"/>
              <a:gd name="connsiteY16" fmla="*/ 291959 h 302264"/>
              <a:gd name="connsiteX17" fmla="*/ 177559 w 331788"/>
              <a:gd name="connsiteY17" fmla="*/ 121924 h 302264"/>
              <a:gd name="connsiteX18" fmla="*/ 243657 w 331788"/>
              <a:gd name="connsiteY18" fmla="*/ 121924 h 302264"/>
              <a:gd name="connsiteX19" fmla="*/ 243657 w 331788"/>
              <a:gd name="connsiteY19" fmla="*/ 291959 h 302264"/>
              <a:gd name="connsiteX20" fmla="*/ 260506 w 331788"/>
              <a:gd name="connsiteY20" fmla="*/ 291959 h 302264"/>
              <a:gd name="connsiteX21" fmla="*/ 260506 w 331788"/>
              <a:gd name="connsiteY21" fmla="*/ 76839 h 302264"/>
              <a:gd name="connsiteX22" fmla="*/ 212230 w 331788"/>
              <a:gd name="connsiteY22" fmla="*/ 334 h 302264"/>
              <a:gd name="connsiteX23" fmla="*/ 259954 w 331788"/>
              <a:gd name="connsiteY23" fmla="*/ 4179 h 302264"/>
              <a:gd name="connsiteX24" fmla="*/ 261244 w 331788"/>
              <a:gd name="connsiteY24" fmla="*/ 5460 h 302264"/>
              <a:gd name="connsiteX25" fmla="*/ 262534 w 331788"/>
              <a:gd name="connsiteY25" fmla="*/ 5460 h 302264"/>
              <a:gd name="connsiteX26" fmla="*/ 263823 w 331788"/>
              <a:gd name="connsiteY26" fmla="*/ 6742 h 302264"/>
              <a:gd name="connsiteX27" fmla="*/ 263823 w 331788"/>
              <a:gd name="connsiteY27" fmla="*/ 8024 h 302264"/>
              <a:gd name="connsiteX28" fmla="*/ 265113 w 331788"/>
              <a:gd name="connsiteY28" fmla="*/ 8024 h 302264"/>
              <a:gd name="connsiteX29" fmla="*/ 265113 w 331788"/>
              <a:gd name="connsiteY29" fmla="*/ 9305 h 302264"/>
              <a:gd name="connsiteX30" fmla="*/ 265113 w 331788"/>
              <a:gd name="connsiteY30" fmla="*/ 10587 h 302264"/>
              <a:gd name="connsiteX31" fmla="*/ 265113 w 331788"/>
              <a:gd name="connsiteY31" fmla="*/ 11869 h 302264"/>
              <a:gd name="connsiteX32" fmla="*/ 263823 w 331788"/>
              <a:gd name="connsiteY32" fmla="*/ 11869 h 302264"/>
              <a:gd name="connsiteX33" fmla="*/ 244476 w 331788"/>
              <a:gd name="connsiteY33" fmla="*/ 55445 h 302264"/>
              <a:gd name="connsiteX34" fmla="*/ 239316 w 331788"/>
              <a:gd name="connsiteY34" fmla="*/ 58008 h 302264"/>
              <a:gd name="connsiteX35" fmla="*/ 238026 w 331788"/>
              <a:gd name="connsiteY35" fmla="*/ 58008 h 302264"/>
              <a:gd name="connsiteX36" fmla="*/ 234157 w 331788"/>
              <a:gd name="connsiteY36" fmla="*/ 50318 h 302264"/>
              <a:gd name="connsiteX37" fmla="*/ 247055 w 331788"/>
              <a:gd name="connsiteY37" fmla="*/ 23403 h 302264"/>
              <a:gd name="connsiteX38" fmla="*/ 47129 w 331788"/>
              <a:gd name="connsiteY38" fmla="*/ 137470 h 302264"/>
              <a:gd name="connsiteX39" fmla="*/ 44549 w 331788"/>
              <a:gd name="connsiteY39" fmla="*/ 138752 h 302264"/>
              <a:gd name="connsiteX40" fmla="*/ 40680 w 331788"/>
              <a:gd name="connsiteY40" fmla="*/ 136189 h 302264"/>
              <a:gd name="connsiteX41" fmla="*/ 41970 w 331788"/>
              <a:gd name="connsiteY41" fmla="*/ 128499 h 302264"/>
              <a:gd name="connsiteX42" fmla="*/ 241896 w 331788"/>
              <a:gd name="connsiteY42" fmla="*/ 13150 h 302264"/>
              <a:gd name="connsiteX43" fmla="*/ 212230 w 331788"/>
              <a:gd name="connsiteY43" fmla="*/ 10587 h 302264"/>
              <a:gd name="connsiteX44" fmla="*/ 207070 w 331788"/>
              <a:gd name="connsiteY44" fmla="*/ 5460 h 302264"/>
              <a:gd name="connsiteX45" fmla="*/ 212230 w 331788"/>
              <a:gd name="connsiteY45" fmla="*/ 334 h 302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31788" h="302264">
                <a:moveTo>
                  <a:pt x="260506" y="76839"/>
                </a:moveTo>
                <a:cubicBezTo>
                  <a:pt x="260506" y="76839"/>
                  <a:pt x="260506" y="76839"/>
                  <a:pt x="326604" y="76839"/>
                </a:cubicBezTo>
                <a:cubicBezTo>
                  <a:pt x="326604" y="76839"/>
                  <a:pt x="326604" y="76839"/>
                  <a:pt x="326604" y="291959"/>
                </a:cubicBezTo>
                <a:cubicBezTo>
                  <a:pt x="329196" y="291959"/>
                  <a:pt x="331788" y="294535"/>
                  <a:pt x="331788" y="297111"/>
                </a:cubicBezTo>
                <a:cubicBezTo>
                  <a:pt x="331788" y="299688"/>
                  <a:pt x="329196" y="302264"/>
                  <a:pt x="326604" y="302264"/>
                </a:cubicBezTo>
                <a:cubicBezTo>
                  <a:pt x="326604" y="302264"/>
                  <a:pt x="326604" y="302264"/>
                  <a:pt x="5184" y="302264"/>
                </a:cubicBezTo>
                <a:cubicBezTo>
                  <a:pt x="2592" y="302264"/>
                  <a:pt x="0" y="299688"/>
                  <a:pt x="0" y="297111"/>
                </a:cubicBezTo>
                <a:cubicBezTo>
                  <a:pt x="0" y="294535"/>
                  <a:pt x="2592" y="291959"/>
                  <a:pt x="5184" y="291959"/>
                </a:cubicBezTo>
                <a:cubicBezTo>
                  <a:pt x="5184" y="291959"/>
                  <a:pt x="5184" y="291959"/>
                  <a:pt x="11664" y="291959"/>
                </a:cubicBezTo>
                <a:cubicBezTo>
                  <a:pt x="11664" y="291959"/>
                  <a:pt x="11664" y="291959"/>
                  <a:pt x="11664" y="214670"/>
                </a:cubicBezTo>
                <a:cubicBezTo>
                  <a:pt x="11664" y="214670"/>
                  <a:pt x="11664" y="214670"/>
                  <a:pt x="77763" y="214670"/>
                </a:cubicBezTo>
                <a:cubicBezTo>
                  <a:pt x="77763" y="214670"/>
                  <a:pt x="77763" y="214670"/>
                  <a:pt x="77763" y="291959"/>
                </a:cubicBezTo>
                <a:cubicBezTo>
                  <a:pt x="77763" y="291959"/>
                  <a:pt x="77763" y="291959"/>
                  <a:pt x="94612" y="291959"/>
                </a:cubicBezTo>
                <a:cubicBezTo>
                  <a:pt x="94612" y="291959"/>
                  <a:pt x="94612" y="291959"/>
                  <a:pt x="94612" y="165721"/>
                </a:cubicBezTo>
                <a:cubicBezTo>
                  <a:pt x="94612" y="165721"/>
                  <a:pt x="94612" y="165721"/>
                  <a:pt x="160710" y="165721"/>
                </a:cubicBezTo>
                <a:cubicBezTo>
                  <a:pt x="160710" y="165721"/>
                  <a:pt x="160710" y="165721"/>
                  <a:pt x="160710" y="291959"/>
                </a:cubicBezTo>
                <a:cubicBezTo>
                  <a:pt x="160710" y="291959"/>
                  <a:pt x="160710" y="291959"/>
                  <a:pt x="177559" y="291959"/>
                </a:cubicBezTo>
                <a:cubicBezTo>
                  <a:pt x="177559" y="291959"/>
                  <a:pt x="177559" y="291959"/>
                  <a:pt x="177559" y="121924"/>
                </a:cubicBezTo>
                <a:cubicBezTo>
                  <a:pt x="177559" y="121924"/>
                  <a:pt x="177559" y="121924"/>
                  <a:pt x="243657" y="121924"/>
                </a:cubicBezTo>
                <a:cubicBezTo>
                  <a:pt x="243657" y="121924"/>
                  <a:pt x="243657" y="121924"/>
                  <a:pt x="243657" y="291959"/>
                </a:cubicBezTo>
                <a:cubicBezTo>
                  <a:pt x="243657" y="291959"/>
                  <a:pt x="243657" y="291959"/>
                  <a:pt x="260506" y="291959"/>
                </a:cubicBezTo>
                <a:cubicBezTo>
                  <a:pt x="260506" y="291959"/>
                  <a:pt x="260506" y="291959"/>
                  <a:pt x="260506" y="76839"/>
                </a:cubicBezTo>
                <a:close/>
                <a:moveTo>
                  <a:pt x="212230" y="334"/>
                </a:moveTo>
                <a:cubicBezTo>
                  <a:pt x="212230" y="334"/>
                  <a:pt x="212230" y="334"/>
                  <a:pt x="259954" y="4179"/>
                </a:cubicBezTo>
                <a:cubicBezTo>
                  <a:pt x="259954" y="4179"/>
                  <a:pt x="261244" y="4179"/>
                  <a:pt x="261244" y="5460"/>
                </a:cubicBezTo>
                <a:cubicBezTo>
                  <a:pt x="262534" y="5460"/>
                  <a:pt x="262534" y="5460"/>
                  <a:pt x="262534" y="5460"/>
                </a:cubicBezTo>
                <a:cubicBezTo>
                  <a:pt x="262534" y="5460"/>
                  <a:pt x="263823" y="6742"/>
                  <a:pt x="263823" y="6742"/>
                </a:cubicBezTo>
                <a:cubicBezTo>
                  <a:pt x="263823" y="6742"/>
                  <a:pt x="263823" y="8024"/>
                  <a:pt x="263823" y="8024"/>
                </a:cubicBezTo>
                <a:cubicBezTo>
                  <a:pt x="263823" y="8024"/>
                  <a:pt x="265113" y="8024"/>
                  <a:pt x="265113" y="8024"/>
                </a:cubicBezTo>
                <a:cubicBezTo>
                  <a:pt x="265113" y="8024"/>
                  <a:pt x="265113" y="8024"/>
                  <a:pt x="265113" y="9305"/>
                </a:cubicBezTo>
                <a:cubicBezTo>
                  <a:pt x="265113" y="9305"/>
                  <a:pt x="265113" y="10587"/>
                  <a:pt x="265113" y="10587"/>
                </a:cubicBezTo>
                <a:cubicBezTo>
                  <a:pt x="265113" y="10587"/>
                  <a:pt x="265113" y="11869"/>
                  <a:pt x="265113" y="11869"/>
                </a:cubicBezTo>
                <a:cubicBezTo>
                  <a:pt x="263823" y="11869"/>
                  <a:pt x="263823" y="11869"/>
                  <a:pt x="263823" y="11869"/>
                </a:cubicBezTo>
                <a:cubicBezTo>
                  <a:pt x="263823" y="11869"/>
                  <a:pt x="263823" y="11869"/>
                  <a:pt x="244476" y="55445"/>
                </a:cubicBezTo>
                <a:cubicBezTo>
                  <a:pt x="244476" y="56726"/>
                  <a:pt x="241896" y="58008"/>
                  <a:pt x="239316" y="58008"/>
                </a:cubicBezTo>
                <a:cubicBezTo>
                  <a:pt x="239316" y="58008"/>
                  <a:pt x="238026" y="58008"/>
                  <a:pt x="238026" y="58008"/>
                </a:cubicBezTo>
                <a:cubicBezTo>
                  <a:pt x="234157" y="56726"/>
                  <a:pt x="232867" y="52881"/>
                  <a:pt x="234157" y="50318"/>
                </a:cubicBezTo>
                <a:cubicBezTo>
                  <a:pt x="234157" y="50318"/>
                  <a:pt x="234157" y="50318"/>
                  <a:pt x="247055" y="23403"/>
                </a:cubicBezTo>
                <a:cubicBezTo>
                  <a:pt x="247055" y="23403"/>
                  <a:pt x="247055" y="23403"/>
                  <a:pt x="47129" y="137470"/>
                </a:cubicBezTo>
                <a:cubicBezTo>
                  <a:pt x="47129" y="138752"/>
                  <a:pt x="45839" y="138752"/>
                  <a:pt x="44549" y="138752"/>
                </a:cubicBezTo>
                <a:cubicBezTo>
                  <a:pt x="43260" y="138752"/>
                  <a:pt x="40680" y="137470"/>
                  <a:pt x="40680" y="136189"/>
                </a:cubicBezTo>
                <a:cubicBezTo>
                  <a:pt x="38100" y="133625"/>
                  <a:pt x="39390" y="129780"/>
                  <a:pt x="41970" y="128499"/>
                </a:cubicBezTo>
                <a:cubicBezTo>
                  <a:pt x="41970" y="128499"/>
                  <a:pt x="41970" y="128499"/>
                  <a:pt x="241896" y="13150"/>
                </a:cubicBezTo>
                <a:cubicBezTo>
                  <a:pt x="241896" y="13150"/>
                  <a:pt x="241896" y="13150"/>
                  <a:pt x="212230" y="10587"/>
                </a:cubicBezTo>
                <a:cubicBezTo>
                  <a:pt x="208360" y="10587"/>
                  <a:pt x="207070" y="8024"/>
                  <a:pt x="207070" y="5460"/>
                </a:cubicBezTo>
                <a:cubicBezTo>
                  <a:pt x="207070" y="1615"/>
                  <a:pt x="209650" y="-948"/>
                  <a:pt x="212230" y="334"/>
                </a:cubicBezTo>
                <a:close/>
              </a:path>
            </a:pathLst>
          </a:custGeom>
          <a:solidFill>
            <a:srgbClr val="0070C0"/>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lt"/>
            </a:endParaRPr>
          </a:p>
        </p:txBody>
      </p:sp>
      <p:sp>
        <p:nvSpPr>
          <p:cNvPr id="4" name="矩形 3"/>
          <p:cNvSpPr/>
          <p:nvPr/>
        </p:nvSpPr>
        <p:spPr>
          <a:xfrm>
            <a:off x="5112092" y="4587410"/>
            <a:ext cx="2923739" cy="1323439"/>
          </a:xfrm>
          <a:prstGeom prst="rect">
            <a:avLst/>
          </a:prstGeom>
        </p:spPr>
        <p:txBody>
          <a:bodyPr wrap="square">
            <a:spAutoFit/>
          </a:bodyPr>
          <a:lstStyle/>
          <a:p>
            <a:r>
              <a:rPr lang="zh-CN" altLang="zh-CN" sz="1600" dirty="0">
                <a:solidFill>
                  <a:srgbClr val="595959"/>
                </a:solidFill>
                <a:latin typeface="微软雅黑" panose="020B0503020204020204" pitchFamily="34" charset="-122"/>
                <a:ea typeface="微软雅黑" panose="020B0503020204020204" pitchFamily="34" charset="-122"/>
                <a:cs typeface="+mn-ea"/>
              </a:rPr>
              <a:t>在自动化测试中，一个脚本可以调用其他脚本进行测试，这些</a:t>
            </a:r>
            <a:r>
              <a:rPr lang="zh-CN" altLang="zh-CN" sz="1600" dirty="0">
                <a:solidFill>
                  <a:srgbClr val="0070C0"/>
                </a:solidFill>
                <a:latin typeface="微软雅黑" panose="020B0503020204020204" pitchFamily="34" charset="-122"/>
                <a:ea typeface="微软雅黑" panose="020B0503020204020204" pitchFamily="34" charset="-122"/>
              </a:rPr>
              <a:t>被调用的脚本</a:t>
            </a:r>
            <a:r>
              <a:rPr lang="zh-CN" altLang="zh-CN" sz="1600" dirty="0">
                <a:solidFill>
                  <a:srgbClr val="595959"/>
                </a:solidFill>
                <a:latin typeface="微软雅黑" panose="020B0503020204020204" pitchFamily="34" charset="-122"/>
                <a:ea typeface="微软雅黑" panose="020B0503020204020204" pitchFamily="34" charset="-122"/>
                <a:cs typeface="+mn-ea"/>
              </a:rPr>
              <a:t>就是</a:t>
            </a:r>
            <a:r>
              <a:rPr lang="zh-CN" altLang="zh-CN" sz="1600" dirty="0">
                <a:solidFill>
                  <a:srgbClr val="0070C0"/>
                </a:solidFill>
                <a:latin typeface="微软雅黑" panose="020B0503020204020204" pitchFamily="34" charset="-122"/>
                <a:ea typeface="微软雅黑" panose="020B0503020204020204" pitchFamily="34" charset="-122"/>
              </a:rPr>
              <a:t>共享脚本</a:t>
            </a:r>
            <a:r>
              <a:rPr lang="zh-CN" altLang="zh-CN" sz="1600" dirty="0">
                <a:solidFill>
                  <a:srgbClr val="595959"/>
                </a:solidFill>
                <a:latin typeface="微软雅黑" panose="020B0503020204020204" pitchFamily="34" charset="-122"/>
                <a:ea typeface="微软雅黑" panose="020B0503020204020204" pitchFamily="34" charset="-122"/>
                <a:cs typeface="+mn-ea"/>
              </a:rPr>
              <a:t>。共享脚本可以</a:t>
            </a:r>
            <a:r>
              <a:rPr lang="zh-CN" altLang="zh-CN" sz="1600" dirty="0">
                <a:solidFill>
                  <a:srgbClr val="0070C0"/>
                </a:solidFill>
                <a:latin typeface="微软雅黑" panose="020B0503020204020204" pitchFamily="34" charset="-122"/>
                <a:ea typeface="微软雅黑" panose="020B0503020204020204" pitchFamily="34" charset="-122"/>
              </a:rPr>
              <a:t>使脚本被多个测试用例共享</a:t>
            </a:r>
            <a:r>
              <a:rPr lang="zh-CN" altLang="zh-CN" sz="1600" dirty="0">
                <a:solidFill>
                  <a:srgbClr val="595959"/>
                </a:solidFill>
                <a:latin typeface="微软雅黑" panose="020B0503020204020204" pitchFamily="34" charset="-122"/>
                <a:ea typeface="微软雅黑" panose="020B0503020204020204" pitchFamily="34" charset="-122"/>
                <a:cs typeface="+mn-ea"/>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6.2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自动化测试常见技术</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6.2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自动化测试常见技术</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 name="矩形 7"/>
          <p:cNvSpPr/>
          <p:nvPr/>
        </p:nvSpPr>
        <p:spPr>
          <a:xfrm>
            <a:off x="1143691" y="2133794"/>
            <a:ext cx="10135515" cy="1938992"/>
          </a:xfrm>
          <a:prstGeom prst="rect">
            <a:avLst/>
          </a:prstGeom>
        </p:spPr>
        <p:txBody>
          <a:bodyPr wrap="square">
            <a:spAutoFit/>
          </a:bodyPr>
          <a:lstStyle/>
          <a:p>
            <a:pPr>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数据驱动是指从</a:t>
            </a:r>
            <a:r>
              <a:rPr lang="en-US" altLang="zh-CN" sz="2000">
                <a:solidFill>
                  <a:srgbClr val="0070C0"/>
                </a:solidFill>
                <a:latin typeface="微软雅黑" panose="020B0503020204020204" pitchFamily="34" charset="-122"/>
                <a:ea typeface="微软雅黑" panose="020B0503020204020204" pitchFamily="34" charset="-122"/>
                <a:cs typeface="+mn-ea"/>
              </a:rPr>
              <a:t>数据文件</a:t>
            </a:r>
            <a:r>
              <a:rPr lang="en-US" altLang="zh-CN" sz="2000">
                <a:solidFill>
                  <a:srgbClr val="595959"/>
                </a:solidFill>
                <a:latin typeface="微软雅黑" panose="020B0503020204020204" pitchFamily="34" charset="-122"/>
                <a:ea typeface="微软雅黑" panose="020B0503020204020204" pitchFamily="34" charset="-122"/>
                <a:cs typeface="+mn-ea"/>
              </a:rPr>
              <a:t>中</a:t>
            </a:r>
            <a:r>
              <a:rPr lang="en-US" altLang="zh-CN" sz="2000">
                <a:solidFill>
                  <a:srgbClr val="0070C0"/>
                </a:solidFill>
                <a:latin typeface="微软雅黑" panose="020B0503020204020204" pitchFamily="34" charset="-122"/>
                <a:ea typeface="微软雅黑" panose="020B0503020204020204" pitchFamily="34" charset="-122"/>
                <a:cs typeface="+mn-ea"/>
              </a:rPr>
              <a:t>读取输入数据</a:t>
            </a:r>
            <a:r>
              <a:rPr lang="en-US" altLang="zh-CN" sz="2000">
                <a:solidFill>
                  <a:srgbClr val="595959"/>
                </a:solidFill>
                <a:latin typeface="微软雅黑" panose="020B0503020204020204" pitchFamily="34" charset="-122"/>
                <a:ea typeface="微软雅黑" panose="020B0503020204020204" pitchFamily="34" charset="-122"/>
                <a:cs typeface="+mn-ea"/>
              </a:rPr>
              <a:t>并将数据以</a:t>
            </a:r>
            <a:r>
              <a:rPr lang="en-US" altLang="zh-CN" sz="2000">
                <a:solidFill>
                  <a:srgbClr val="0070C0"/>
                </a:solidFill>
                <a:latin typeface="微软雅黑" panose="020B0503020204020204" pitchFamily="34" charset="-122"/>
                <a:ea typeface="微软雅黑" panose="020B0503020204020204" pitchFamily="34" charset="-122"/>
                <a:cs typeface="+mn-ea"/>
              </a:rPr>
              <a:t>参数</a:t>
            </a:r>
            <a:r>
              <a:rPr lang="en-US" altLang="zh-CN" sz="2000">
                <a:solidFill>
                  <a:srgbClr val="595959"/>
                </a:solidFill>
                <a:latin typeface="微软雅黑" panose="020B0503020204020204" pitchFamily="34" charset="-122"/>
                <a:ea typeface="微软雅黑" panose="020B0503020204020204" pitchFamily="34" charset="-122"/>
                <a:cs typeface="+mn-ea"/>
              </a:rPr>
              <a:t>的形式</a:t>
            </a:r>
            <a:r>
              <a:rPr lang="en-US" altLang="zh-CN" sz="2000">
                <a:solidFill>
                  <a:srgbClr val="0070C0"/>
                </a:solidFill>
                <a:latin typeface="微软雅黑" panose="020B0503020204020204" pitchFamily="34" charset="-122"/>
                <a:ea typeface="微软雅黑" panose="020B0503020204020204" pitchFamily="34" charset="-122"/>
                <a:cs typeface="+mn-ea"/>
              </a:rPr>
              <a:t>输入脚本测试</a:t>
            </a:r>
            <a:r>
              <a:rPr lang="en-US" altLang="zh-CN" sz="2000">
                <a:solidFill>
                  <a:srgbClr val="595959"/>
                </a:solidFill>
                <a:latin typeface="微软雅黑" panose="020B0503020204020204" pitchFamily="34" charset="-122"/>
                <a:ea typeface="微软雅黑" panose="020B0503020204020204" pitchFamily="34" charset="-122"/>
                <a:cs typeface="+mn-ea"/>
              </a:rPr>
              <a:t>，不同的测试用例使用不同类型的数据文件。数据驱动技术</a:t>
            </a:r>
            <a:r>
              <a:rPr lang="en-US" altLang="zh-CN" sz="2000">
                <a:solidFill>
                  <a:srgbClr val="0070C0"/>
                </a:solidFill>
                <a:latin typeface="微软雅黑" panose="020B0503020204020204" pitchFamily="34" charset="-122"/>
                <a:ea typeface="微软雅黑" panose="020B0503020204020204" pitchFamily="34" charset="-122"/>
                <a:cs typeface="+mn-ea"/>
              </a:rPr>
              <a:t>实现了数据和脚本分离</a:t>
            </a:r>
            <a:r>
              <a:rPr lang="en-US" altLang="zh-CN" sz="2000">
                <a:solidFill>
                  <a:srgbClr val="595959"/>
                </a:solidFill>
                <a:latin typeface="微软雅黑" panose="020B0503020204020204" pitchFamily="34" charset="-122"/>
                <a:ea typeface="微软雅黑" panose="020B0503020204020204" pitchFamily="34" charset="-122"/>
                <a:cs typeface="+mn-ea"/>
              </a:rPr>
              <a:t>，相较于录制与回放测试技术，数据驱动技术极大地</a:t>
            </a:r>
            <a:r>
              <a:rPr lang="en-US" altLang="zh-CN" sz="2000">
                <a:solidFill>
                  <a:srgbClr val="0070C0"/>
                </a:solidFill>
                <a:latin typeface="微软雅黑" panose="020B0503020204020204" pitchFamily="34" charset="-122"/>
                <a:ea typeface="微软雅黑" panose="020B0503020204020204" pitchFamily="34" charset="-122"/>
                <a:cs typeface="+mn-ea"/>
              </a:rPr>
              <a:t>提高了脚本利用率和可维护性</a:t>
            </a:r>
            <a:r>
              <a:rPr lang="en-US" altLang="zh-CN" sz="2000">
                <a:solidFill>
                  <a:srgbClr val="595959"/>
                </a:solidFill>
                <a:latin typeface="微软雅黑" panose="020B0503020204020204" pitchFamily="34" charset="-122"/>
                <a:ea typeface="微软雅黑" panose="020B0503020204020204" pitchFamily="34" charset="-122"/>
                <a:cs typeface="+mn-ea"/>
              </a:rPr>
              <a:t>，但是</a:t>
            </a:r>
            <a:r>
              <a:rPr lang="en-US" altLang="zh-CN" sz="2000">
                <a:solidFill>
                  <a:srgbClr val="0070C0"/>
                </a:solidFill>
                <a:latin typeface="微软雅黑" panose="020B0503020204020204" pitchFamily="34" charset="-122"/>
                <a:ea typeface="微软雅黑" panose="020B0503020204020204" pitchFamily="34" charset="-122"/>
                <a:cs typeface="+mn-ea"/>
              </a:rPr>
              <a:t>界面变化较大的项目不适合使用数据驱动技术</a:t>
            </a:r>
            <a:r>
              <a:rPr lang="en-US" altLang="zh-CN" sz="200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0" name="圆角矩形 9"/>
          <p:cNvSpPr/>
          <p:nvPr/>
        </p:nvSpPr>
        <p:spPr>
          <a:xfrm>
            <a:off x="1116718" y="997541"/>
            <a:ext cx="2880542" cy="664743"/>
          </a:xfrm>
          <a:prstGeom prst="roundRect">
            <a:avLst/>
          </a:prstGeom>
          <a:solidFill>
            <a:srgbClr val="1369B2"/>
          </a:solidFill>
        </p:spPr>
        <p:style>
          <a:lnRef idx="3">
            <a:schemeClr val="lt1"/>
          </a:lnRef>
          <a:fillRef idx="1">
            <a:schemeClr val="accent1"/>
          </a:fillRef>
          <a:effectRef idx="1">
            <a:schemeClr val="accent1"/>
          </a:effectRef>
          <a:fontRef idx="minor">
            <a:schemeClr val="lt1"/>
          </a:fontRef>
        </p:style>
        <p:txBody>
          <a:bodyPr rtlCol="0" anchor="ctr"/>
          <a:lstStyle/>
          <a:p>
            <a:pPr lvl="0" algn="ctr"/>
            <a:r>
              <a:rPr lang="en-US" altLang="zh-CN">
                <a:latin typeface="微软雅黑" panose="020B0503020204020204" pitchFamily="34" charset="-122"/>
                <a:ea typeface="微软雅黑" panose="020B0503020204020204" pitchFamily="34" charset="-122"/>
              </a:rPr>
              <a:t>3.</a:t>
            </a:r>
            <a:r>
              <a:rPr lang="zh-CN" altLang="en-US">
                <a:latin typeface="微软雅黑" panose="020B0503020204020204" pitchFamily="34" charset="-122"/>
                <a:ea typeface="微软雅黑" panose="020B0503020204020204" pitchFamily="34" charset="-122"/>
              </a:rPr>
              <a:t>数据驱动</a:t>
            </a:r>
            <a:r>
              <a:rPr lang="zh-CN" altLang="zh-CN">
                <a:latin typeface="微软雅黑" panose="020B0503020204020204" pitchFamily="34" charset="-122"/>
                <a:ea typeface="微软雅黑" panose="020B0503020204020204" pitchFamily="34" charset="-122"/>
              </a:rPr>
              <a:t>技术</a:t>
            </a:r>
            <a:endParaRPr lang="zh-CN" altLang="zh-CN"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6.2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自动化测试常见技术</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矩形 6"/>
          <p:cNvSpPr/>
          <p:nvPr/>
        </p:nvSpPr>
        <p:spPr>
          <a:xfrm>
            <a:off x="3795594" y="1644656"/>
            <a:ext cx="6803390" cy="1641925"/>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endParaRPr lang="zh-CN" altLang="en-US" sz="2400">
              <a:latin typeface="微软雅黑" panose="020B0503020204020204" pitchFamily="34" charset="-122"/>
              <a:ea typeface="微软雅黑" panose="020B0503020204020204" pitchFamily="34" charset="-122"/>
              <a:cs typeface="+mn-ea"/>
              <a:sym typeface="+mn-lt"/>
            </a:endParaRPr>
          </a:p>
        </p:txBody>
      </p:sp>
      <p:sp>
        <p:nvSpPr>
          <p:cNvPr id="29" name="矩形 28"/>
          <p:cNvSpPr/>
          <p:nvPr/>
        </p:nvSpPr>
        <p:spPr>
          <a:xfrm>
            <a:off x="4871206" y="1426962"/>
            <a:ext cx="4686911" cy="43662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r>
              <a:rPr lang="zh-CN" altLang="en-US" sz="1865" dirty="0">
                <a:latin typeface="微软雅黑" panose="020B0503020204020204" pitchFamily="34" charset="-122"/>
                <a:ea typeface="微软雅黑" panose="020B0503020204020204" pitchFamily="34" charset="-122"/>
                <a:cs typeface="+mn-ea"/>
                <a:sym typeface="+mn-lt"/>
              </a:rPr>
              <a:t>关键字驱动</a:t>
            </a:r>
          </a:p>
        </p:txBody>
      </p:sp>
      <p:sp>
        <p:nvSpPr>
          <p:cNvPr id="30" name="六边形 29"/>
          <p:cNvSpPr/>
          <p:nvPr/>
        </p:nvSpPr>
        <p:spPr>
          <a:xfrm>
            <a:off x="1288222" y="2677073"/>
            <a:ext cx="1587263" cy="1368152"/>
          </a:xfrm>
          <a:prstGeom prst="hexag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r>
              <a:rPr lang="zh-CN" altLang="zh-CN" sz="2000" b="1" dirty="0">
                <a:latin typeface="微软雅黑" panose="020B0503020204020204" pitchFamily="34" charset="-122"/>
                <a:ea typeface="微软雅黑" panose="020B0503020204020204" pitchFamily="34" charset="-122"/>
                <a:cs typeface="+mn-ea"/>
              </a:rPr>
              <a:t>常见的数据驱动技术</a:t>
            </a:r>
            <a:endParaRPr lang="zh-CN" altLang="en-US" sz="2000" b="1" dirty="0">
              <a:latin typeface="微软雅黑" panose="020B0503020204020204" pitchFamily="34" charset="-122"/>
              <a:ea typeface="微软雅黑" panose="020B0503020204020204" pitchFamily="34" charset="-122"/>
              <a:cs typeface="+mn-ea"/>
              <a:sym typeface="+mn-lt"/>
            </a:endParaRPr>
          </a:p>
        </p:txBody>
      </p:sp>
      <p:cxnSp>
        <p:nvCxnSpPr>
          <p:cNvPr id="16" name="直接箭头连接符 15"/>
          <p:cNvCxnSpPr/>
          <p:nvPr/>
        </p:nvCxnSpPr>
        <p:spPr>
          <a:xfrm flipV="1">
            <a:off x="2696642" y="2600239"/>
            <a:ext cx="1052830" cy="436880"/>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a:off x="2696642" y="3748046"/>
            <a:ext cx="1052830" cy="580390"/>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17" name="TextBox 33"/>
          <p:cNvSpPr txBox="1"/>
          <p:nvPr/>
        </p:nvSpPr>
        <p:spPr>
          <a:xfrm>
            <a:off x="4120696" y="1913896"/>
            <a:ext cx="6367142" cy="1372685"/>
          </a:xfrm>
          <a:prstGeom prst="rect">
            <a:avLst/>
          </a:prstGeom>
          <a:noFill/>
        </p:spPr>
        <p:txBody>
          <a:bodyPr wrap="square" lIns="91445" tIns="45721" rIns="91445" bIns="45721" rtlCol="0">
            <a:spAutoFit/>
          </a:bodyPr>
          <a:lstStyle/>
          <a:p>
            <a:pPr>
              <a:lnSpc>
                <a:spcPct val="130000"/>
              </a:lnSpc>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关键</a:t>
            </a: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mn-ea"/>
              </a:rPr>
              <a:t>字驱动是</a:t>
            </a:r>
            <a:r>
              <a:rPr lang="zh-CN" altLang="zh-CN" sz="1600">
                <a:solidFill>
                  <a:srgbClr val="0070C0"/>
                </a:solidFill>
                <a:latin typeface="微软雅黑" panose="020B0503020204020204" pitchFamily="34" charset="-122"/>
                <a:ea typeface="微软雅黑" panose="020B0503020204020204" pitchFamily="34" charset="-122"/>
                <a:cs typeface="+mn-ea"/>
              </a:rPr>
              <a:t>数据驱动</a:t>
            </a:r>
            <a:r>
              <a:rPr lang="zh-CN" altLang="zh-CN" sz="1600" dirty="0">
                <a:solidFill>
                  <a:srgbClr val="0070C0"/>
                </a:solidFill>
                <a:latin typeface="微软雅黑" panose="020B0503020204020204" pitchFamily="34" charset="-122"/>
                <a:ea typeface="微软雅黑" panose="020B0503020204020204" pitchFamily="34" charset="-122"/>
                <a:cs typeface="+mn-ea"/>
              </a:rPr>
              <a:t>的改进</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，它</a:t>
            </a:r>
            <a:r>
              <a:rPr lang="zh-CN" altLang="zh-CN" sz="1600" dirty="0">
                <a:solidFill>
                  <a:srgbClr val="0070C0"/>
                </a:solidFill>
                <a:latin typeface="微软雅黑" panose="020B0503020204020204" pitchFamily="34" charset="-122"/>
                <a:ea typeface="微软雅黑" panose="020B0503020204020204" pitchFamily="34" charset="-122"/>
                <a:cs typeface="+mn-ea"/>
              </a:rPr>
              <a:t>将数据与脚本分离</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zh-CN" altLang="zh-CN" sz="1600" dirty="0">
                <a:solidFill>
                  <a:srgbClr val="0070C0"/>
                </a:solidFill>
                <a:latin typeface="微软雅黑" panose="020B0503020204020204" pitchFamily="34" charset="-122"/>
                <a:ea typeface="微软雅黑" panose="020B0503020204020204" pitchFamily="34" charset="-122"/>
                <a:cs typeface="+mn-ea"/>
              </a:rPr>
              <a:t>界面元素与内部对象分离</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zh-CN" altLang="zh-CN" sz="1600" dirty="0">
                <a:solidFill>
                  <a:srgbClr val="0070C0"/>
                </a:solidFill>
                <a:latin typeface="微软雅黑" panose="020B0503020204020204" pitchFamily="34" charset="-122"/>
                <a:ea typeface="微软雅黑" panose="020B0503020204020204" pitchFamily="34" charset="-122"/>
                <a:cs typeface="+mn-ea"/>
              </a:rPr>
              <a:t>测试过程与实现细节分离</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。关键字驱动的测试逻辑为按照关键字进行分解得到数据文件，常用的关键字主要包括</a:t>
            </a:r>
            <a:r>
              <a:rPr lang="zh-CN" altLang="zh-CN" sz="1600" dirty="0">
                <a:solidFill>
                  <a:srgbClr val="0070C0"/>
                </a:solidFill>
                <a:latin typeface="微软雅黑" panose="020B0503020204020204" pitchFamily="34" charset="-122"/>
                <a:ea typeface="微软雅黑" panose="020B0503020204020204" pitchFamily="34" charset="-122"/>
                <a:cs typeface="+mn-ea"/>
              </a:rPr>
              <a:t>被操作对象、操作和值</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p>
        </p:txBody>
      </p:sp>
      <p:sp>
        <p:nvSpPr>
          <p:cNvPr id="38" name="矩形 37"/>
          <p:cNvSpPr/>
          <p:nvPr/>
        </p:nvSpPr>
        <p:spPr>
          <a:xfrm>
            <a:off x="3753684" y="3743452"/>
            <a:ext cx="6803390" cy="1630341"/>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endParaRPr lang="zh-CN" altLang="en-US" sz="2400">
              <a:latin typeface="微软雅黑" panose="020B0503020204020204" pitchFamily="34" charset="-122"/>
              <a:ea typeface="微软雅黑" panose="020B0503020204020204" pitchFamily="34" charset="-122"/>
              <a:cs typeface="+mn-ea"/>
              <a:sym typeface="+mn-lt"/>
            </a:endParaRPr>
          </a:p>
        </p:txBody>
      </p:sp>
      <p:sp>
        <p:nvSpPr>
          <p:cNvPr id="39" name="矩形 38"/>
          <p:cNvSpPr/>
          <p:nvPr/>
        </p:nvSpPr>
        <p:spPr>
          <a:xfrm>
            <a:off x="4829296" y="3536196"/>
            <a:ext cx="4686911" cy="43662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5" tIns="45721" rIns="91445" bIns="45721" numCol="1" spcCol="0" rtlCol="0" fromWordArt="0" anchor="ctr" anchorCtr="0" forceAA="0" compatLnSpc="1">
            <a:noAutofit/>
          </a:bodyPr>
          <a:lstStyle/>
          <a:p>
            <a:pPr lvl="0" algn="ctr"/>
            <a:r>
              <a:rPr lang="zh-CN" altLang="en-US" sz="1865" dirty="0">
                <a:latin typeface="微软雅黑" panose="020B0503020204020204" pitchFamily="34" charset="-122"/>
                <a:ea typeface="微软雅黑" panose="020B0503020204020204" pitchFamily="34" charset="-122"/>
                <a:cs typeface="+mn-ea"/>
                <a:sym typeface="+mn-lt"/>
              </a:rPr>
              <a:t>行为驱动</a:t>
            </a:r>
          </a:p>
        </p:txBody>
      </p:sp>
      <p:sp>
        <p:nvSpPr>
          <p:cNvPr id="40" name="TextBox 39"/>
          <p:cNvSpPr txBox="1"/>
          <p:nvPr/>
        </p:nvSpPr>
        <p:spPr>
          <a:xfrm>
            <a:off x="4120696" y="3976191"/>
            <a:ext cx="6627184" cy="1372685"/>
          </a:xfrm>
          <a:prstGeom prst="rect">
            <a:avLst/>
          </a:prstGeom>
          <a:noFill/>
        </p:spPr>
        <p:txBody>
          <a:bodyPr wrap="square" lIns="91445" tIns="45721" rIns="91445" bIns="45721" rtlCol="0">
            <a:spAutoFit/>
          </a:bodyPr>
          <a:lstStyle/>
          <a:p>
            <a:pPr>
              <a:lnSpc>
                <a:spcPct val="130000"/>
              </a:lnSpc>
            </a:pP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mn-ea"/>
              </a:rPr>
              <a:t>行为驱动是指</a:t>
            </a:r>
            <a:r>
              <a:rPr lang="zh-CN" altLang="zh-CN" sz="1600">
                <a:solidFill>
                  <a:srgbClr val="0070C0"/>
                </a:solidFill>
                <a:latin typeface="微软雅黑" panose="020B0503020204020204" pitchFamily="34" charset="-122"/>
                <a:ea typeface="微软雅黑" panose="020B0503020204020204" pitchFamily="34" charset="-122"/>
                <a:cs typeface="+mn-ea"/>
              </a:rPr>
              <a:t>根据</a:t>
            </a:r>
            <a:r>
              <a:rPr lang="zh-CN" altLang="zh-CN" sz="1600" dirty="0">
                <a:solidFill>
                  <a:srgbClr val="0070C0"/>
                </a:solidFill>
                <a:latin typeface="微软雅黑" panose="020B0503020204020204" pitchFamily="34" charset="-122"/>
                <a:ea typeface="微软雅黑" panose="020B0503020204020204" pitchFamily="34" charset="-122"/>
                <a:cs typeface="+mn-ea"/>
              </a:rPr>
              <a:t>不同的测试场景设计不同的测试用例</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，它需要</a:t>
            </a:r>
            <a:r>
              <a:rPr lang="zh-CN" altLang="zh-CN" sz="1600" dirty="0">
                <a:solidFill>
                  <a:srgbClr val="0070C0"/>
                </a:solidFill>
                <a:latin typeface="微软雅黑" panose="020B0503020204020204" pitchFamily="34" charset="-122"/>
                <a:ea typeface="微软雅黑" panose="020B0503020204020204" pitchFamily="34" charset="-122"/>
                <a:cs typeface="+mn-ea"/>
              </a:rPr>
              <a:t>开发人员</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zh-CN" altLang="zh-CN" sz="1600" dirty="0">
                <a:solidFill>
                  <a:srgbClr val="0070C0"/>
                </a:solidFill>
                <a:latin typeface="微软雅黑" panose="020B0503020204020204" pitchFamily="34" charset="-122"/>
                <a:ea typeface="微软雅黑" panose="020B0503020204020204" pitchFamily="34" charset="-122"/>
                <a:cs typeface="+mn-ea"/>
              </a:rPr>
              <a:t>测试人员</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zh-CN" altLang="zh-CN" sz="1600" dirty="0">
                <a:solidFill>
                  <a:srgbClr val="0070C0"/>
                </a:solidFill>
                <a:latin typeface="微软雅黑" panose="020B0503020204020204" pitchFamily="34" charset="-122"/>
                <a:ea typeface="微软雅黑" panose="020B0503020204020204" pitchFamily="34" charset="-122"/>
                <a:cs typeface="+mn-ea"/>
              </a:rPr>
              <a:t>产品业务分析人员</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等协作完成。行为驱动测试是基于</a:t>
            </a:r>
            <a:r>
              <a:rPr lang="zh-CN" altLang="zh-CN" sz="1600" dirty="0">
                <a:solidFill>
                  <a:srgbClr val="0070C0"/>
                </a:solidFill>
                <a:latin typeface="微软雅黑" panose="020B0503020204020204" pitchFamily="34" charset="-122"/>
                <a:ea typeface="微软雅黑" panose="020B0503020204020204" pitchFamily="34" charset="-122"/>
                <a:cs typeface="+mn-ea"/>
              </a:rPr>
              <a:t>当前项目的业务需求</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zh-CN" altLang="zh-CN" sz="1600" dirty="0">
                <a:solidFill>
                  <a:srgbClr val="0070C0"/>
                </a:solidFill>
                <a:latin typeface="微软雅黑" panose="020B0503020204020204" pitchFamily="34" charset="-122"/>
                <a:ea typeface="微软雅黑" panose="020B0503020204020204" pitchFamily="34" charset="-122"/>
                <a:cs typeface="+mn-ea"/>
              </a:rPr>
              <a:t>数据处理</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zh-CN" altLang="zh-CN" sz="1600" dirty="0">
                <a:solidFill>
                  <a:srgbClr val="0070C0"/>
                </a:solidFill>
                <a:latin typeface="微软雅黑" panose="020B0503020204020204" pitchFamily="34" charset="-122"/>
                <a:ea typeface="微软雅黑" panose="020B0503020204020204" pitchFamily="34" charset="-122"/>
                <a:cs typeface="+mn-ea"/>
              </a:rPr>
              <a:t>中间层</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进行的协作测试，它注重的是</a:t>
            </a:r>
            <a:r>
              <a:rPr lang="zh-CN" altLang="zh-CN" sz="1600" dirty="0">
                <a:solidFill>
                  <a:srgbClr val="0070C0"/>
                </a:solidFill>
                <a:latin typeface="微软雅黑" panose="020B0503020204020204" pitchFamily="34" charset="-122"/>
                <a:ea typeface="微软雅黑" panose="020B0503020204020204" pitchFamily="34" charset="-122"/>
                <a:cs typeface="+mn-ea"/>
              </a:rPr>
              <a:t>测试软件的内部运作变化</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，从而</a:t>
            </a:r>
            <a:r>
              <a:rPr lang="zh-CN" altLang="zh-CN" sz="1600" dirty="0">
                <a:solidFill>
                  <a:srgbClr val="0070C0"/>
                </a:solidFill>
                <a:latin typeface="微软雅黑" panose="020B0503020204020204" pitchFamily="34" charset="-122"/>
                <a:ea typeface="微软雅黑" panose="020B0503020204020204" pitchFamily="34" charset="-122"/>
                <a:cs typeface="+mn-ea"/>
              </a:rPr>
              <a:t>解决</a:t>
            </a:r>
            <a:r>
              <a:rPr lang="zh-CN" altLang="zh-CN" sz="1600">
                <a:solidFill>
                  <a:srgbClr val="0070C0"/>
                </a:solidFill>
                <a:latin typeface="微软雅黑" panose="020B0503020204020204" pitchFamily="34" charset="-122"/>
                <a:ea typeface="微软雅黑" panose="020B0503020204020204" pitchFamily="34" charset="-122"/>
                <a:cs typeface="+mn-ea"/>
              </a:rPr>
              <a:t>单元测试中的</a:t>
            </a:r>
            <a:r>
              <a:rPr lang="zh-CN" altLang="zh-CN" sz="1600" dirty="0">
                <a:solidFill>
                  <a:srgbClr val="0070C0"/>
                </a:solidFill>
                <a:latin typeface="微软雅黑" panose="020B0503020204020204" pitchFamily="34" charset="-122"/>
                <a:ea typeface="微软雅黑" panose="020B0503020204020204" pitchFamily="34" charset="-122"/>
                <a:cs typeface="+mn-ea"/>
              </a:rPr>
              <a:t>细节问题</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23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a:solidFill>
                  <a:srgbClr val="595959"/>
                </a:solidFill>
                <a:latin typeface="微软雅黑" panose="020B0503020204020204" pitchFamily="34" charset="-122"/>
                <a:ea typeface="微软雅黑" panose="020B0503020204020204" pitchFamily="34" charset="-122"/>
                <a:cs typeface="+mn-ea"/>
                <a:sym typeface="+mn-lt"/>
              </a:rPr>
              <a:t>6.4.1 Selenium</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元素</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定位方法</a:t>
            </a:r>
          </a:p>
        </p:txBody>
      </p:sp>
      <p:sp>
        <p:nvSpPr>
          <p:cNvPr id="10" name="原创设计师QQ598969553          _9"/>
          <p:cNvSpPr txBox="1"/>
          <p:nvPr/>
        </p:nvSpPr>
        <p:spPr>
          <a:xfrm>
            <a:off x="5015206" y="1751614"/>
            <a:ext cx="6337138" cy="3323987"/>
          </a:xfrm>
          <a:prstGeom prst="rect">
            <a:avLst/>
          </a:prstGeom>
          <a:noFill/>
        </p:spPr>
        <p:txBody>
          <a:bodyPr wrap="square" rtlCol="0">
            <a:spAutoFit/>
          </a:bodyPr>
          <a:lstStyle/>
          <a:p>
            <a:pPr>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通过 Selenium 来自动操作 Web 页面时，首先需要定位页面中要操作的对象，例如，要模拟用户在百度网站的输入框中输入一段文字内容，必须先定位到该输入框，然后才能输入文字内容。输入框可以称为页面中的元素， 常见的页面元素还有</a:t>
            </a:r>
            <a:r>
              <a:rPr lang="en-US" altLang="zh-CN" sz="2000">
                <a:solidFill>
                  <a:srgbClr val="1369B2"/>
                </a:solidFill>
                <a:latin typeface="微软雅黑" panose="020B0503020204020204" pitchFamily="34" charset="-122"/>
                <a:ea typeface="微软雅黑" panose="020B0503020204020204" pitchFamily="34" charset="-122"/>
                <a:cs typeface="+mn-ea"/>
              </a:rPr>
              <a:t>按钮</a:t>
            </a:r>
            <a:r>
              <a:rPr lang="en-US" altLang="zh-CN"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1369B2"/>
                </a:solidFill>
                <a:latin typeface="微软雅黑" panose="020B0503020204020204" pitchFamily="34" charset="-122"/>
                <a:ea typeface="微软雅黑" panose="020B0503020204020204" pitchFamily="34" charset="-122"/>
                <a:cs typeface="+mn-ea"/>
              </a:rPr>
              <a:t>单选框</a:t>
            </a:r>
            <a:r>
              <a:rPr lang="en-US" altLang="zh-CN"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1369B2"/>
                </a:solidFill>
                <a:latin typeface="微软雅黑" panose="020B0503020204020204" pitchFamily="34" charset="-122"/>
                <a:ea typeface="微软雅黑" panose="020B0503020204020204" pitchFamily="34" charset="-122"/>
                <a:cs typeface="+mn-ea"/>
              </a:rPr>
              <a:t>复选框</a:t>
            </a:r>
            <a:r>
              <a:rPr lang="en-US" altLang="zh-CN"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1369B2"/>
                </a:solidFill>
                <a:latin typeface="微软雅黑" panose="020B0503020204020204" pitchFamily="34" charset="-122"/>
                <a:ea typeface="微软雅黑" panose="020B0503020204020204" pitchFamily="34" charset="-122"/>
                <a:cs typeface="+mn-ea"/>
              </a:rPr>
              <a:t>超链接</a:t>
            </a:r>
            <a:r>
              <a:rPr lang="en-US" altLang="zh-CN" sz="2000">
                <a:solidFill>
                  <a:srgbClr val="595959"/>
                </a:solidFill>
                <a:latin typeface="微软雅黑" panose="020B0503020204020204" pitchFamily="34" charset="-122"/>
                <a:ea typeface="微软雅黑" panose="020B0503020204020204" pitchFamily="34" charset="-122"/>
                <a:cs typeface="+mn-ea"/>
              </a:rPr>
              <a:t>等。每个元素都有很多</a:t>
            </a:r>
            <a:r>
              <a:rPr lang="en-US" altLang="zh-CN" sz="2000">
                <a:solidFill>
                  <a:srgbClr val="1369B2"/>
                </a:solidFill>
                <a:latin typeface="微软雅黑" panose="020B0503020204020204" pitchFamily="34" charset="-122"/>
                <a:ea typeface="微软雅黑" panose="020B0503020204020204" pitchFamily="34" charset="-122"/>
                <a:cs typeface="+mn-ea"/>
              </a:rPr>
              <a:t>属性</a:t>
            </a:r>
            <a:r>
              <a:rPr lang="en-US" altLang="zh-CN" sz="2000">
                <a:solidFill>
                  <a:srgbClr val="595959"/>
                </a:solidFill>
                <a:latin typeface="微软雅黑" panose="020B0503020204020204" pitchFamily="34" charset="-122"/>
                <a:ea typeface="微软雅黑" panose="020B0503020204020204" pitchFamily="34" charset="-122"/>
                <a:cs typeface="+mn-ea"/>
              </a:rPr>
              <a:t>，例如  </a:t>
            </a:r>
            <a:r>
              <a:rPr lang="en-US" altLang="zh-CN" sz="2000">
                <a:solidFill>
                  <a:srgbClr val="1369B2"/>
                </a:solidFill>
                <a:latin typeface="微软雅黑" panose="020B0503020204020204" pitchFamily="34" charset="-122"/>
                <a:ea typeface="微软雅黑" panose="020B0503020204020204" pitchFamily="34" charset="-122"/>
                <a:cs typeface="+mn-ea"/>
              </a:rPr>
              <a:t>id</a:t>
            </a:r>
            <a:r>
              <a:rPr lang="en-US" altLang="zh-CN"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1369B2"/>
                </a:solidFill>
                <a:latin typeface="微软雅黑" panose="020B0503020204020204" pitchFamily="34" charset="-122"/>
                <a:ea typeface="微软雅黑" panose="020B0503020204020204" pitchFamily="34" charset="-122"/>
                <a:cs typeface="+mn-ea"/>
              </a:rPr>
              <a:t>name</a:t>
            </a:r>
            <a:r>
              <a:rPr lang="en-US" altLang="zh-CN"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1369B2"/>
                </a:solidFill>
                <a:latin typeface="微软雅黑" panose="020B0503020204020204" pitchFamily="34" charset="-122"/>
                <a:ea typeface="微软雅黑" panose="020B0503020204020204" pitchFamily="34" charset="-122"/>
                <a:cs typeface="+mn-ea"/>
              </a:rPr>
              <a:t>class</a:t>
            </a:r>
            <a:r>
              <a:rPr lang="en-US" altLang="zh-CN" sz="2000">
                <a:solidFill>
                  <a:srgbClr val="595959"/>
                </a:solidFill>
                <a:latin typeface="微软雅黑" panose="020B0503020204020204" pitchFamily="34" charset="-122"/>
                <a:ea typeface="微软雅黑" panose="020B0503020204020204" pitchFamily="34" charset="-122"/>
                <a:cs typeface="+mn-ea"/>
              </a:rPr>
              <a:t>   等，并且每个属性都有</a:t>
            </a:r>
            <a:r>
              <a:rPr lang="en-US" altLang="zh-CN" sz="2000">
                <a:solidFill>
                  <a:srgbClr val="1369B2"/>
                </a:solidFill>
                <a:latin typeface="微软雅黑" panose="020B0503020204020204" pitchFamily="34" charset="-122"/>
                <a:ea typeface="微软雅黑" panose="020B0503020204020204" pitchFamily="34" charset="-122"/>
                <a:cs typeface="+mn-ea"/>
              </a:rPr>
              <a:t>属性值</a:t>
            </a:r>
            <a:r>
              <a:rPr lang="en-US" altLang="zh-CN" sz="200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pic>
        <p:nvPicPr>
          <p:cNvPr id="6" name="图片 5"/>
          <p:cNvPicPr>
            <a:picLocks noChangeAspect="1"/>
          </p:cNvPicPr>
          <p:nvPr/>
        </p:nvPicPr>
        <p:blipFill>
          <a:blip r:embed="rId3"/>
          <a:stretch>
            <a:fillRect/>
          </a:stretch>
        </p:blipFill>
        <p:spPr>
          <a:xfrm>
            <a:off x="839386" y="1413456"/>
            <a:ext cx="3715858" cy="400615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23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a:solidFill>
                  <a:srgbClr val="595959"/>
                </a:solidFill>
                <a:latin typeface="微软雅黑" panose="020B0503020204020204" pitchFamily="34" charset="-122"/>
                <a:ea typeface="微软雅黑" panose="020B0503020204020204" pitchFamily="34" charset="-122"/>
                <a:cs typeface="+mn-ea"/>
                <a:sym typeface="+mn-lt"/>
              </a:rPr>
              <a:t>6.4.1 Selenium</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元素</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定位方法</a:t>
            </a:r>
          </a:p>
        </p:txBody>
      </p:sp>
      <p:sp>
        <p:nvSpPr>
          <p:cNvPr id="10" name="原创设计师QQ598969553          _9"/>
          <p:cNvSpPr txBox="1"/>
          <p:nvPr/>
        </p:nvSpPr>
        <p:spPr>
          <a:xfrm>
            <a:off x="5015206" y="1751614"/>
            <a:ext cx="6337138" cy="3323987"/>
          </a:xfrm>
          <a:prstGeom prst="rect">
            <a:avLst/>
          </a:prstGeom>
          <a:noFill/>
        </p:spPr>
        <p:txBody>
          <a:bodyPr wrap="square" rtlCol="0">
            <a:spAutoFit/>
          </a:bodyPr>
          <a:lstStyle/>
          <a:p>
            <a:pPr>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Selenium</a:t>
            </a:r>
            <a:r>
              <a:rPr lang="zh-CN" altLang="zh-CN" sz="2000">
                <a:solidFill>
                  <a:srgbClr val="595959"/>
                </a:solidFill>
                <a:latin typeface="微软雅黑" panose="020B0503020204020204" pitchFamily="34" charset="-122"/>
                <a:ea typeface="微软雅黑" panose="020B0503020204020204" pitchFamily="34" charset="-122"/>
                <a:cs typeface="+mn-ea"/>
              </a:rPr>
              <a:t>提供</a:t>
            </a:r>
            <a:r>
              <a:rPr lang="zh-CN" altLang="zh-CN" sz="2000" dirty="0">
                <a:solidFill>
                  <a:srgbClr val="595959"/>
                </a:solidFill>
                <a:latin typeface="微软雅黑" panose="020B0503020204020204" pitchFamily="34" charset="-122"/>
                <a:ea typeface="微软雅黑" panose="020B0503020204020204" pitchFamily="34" charset="-122"/>
                <a:cs typeface="+mn-ea"/>
              </a:rPr>
              <a:t>了用于</a:t>
            </a:r>
            <a:r>
              <a:rPr lang="zh-CN" altLang="zh-CN" sz="2000" dirty="0">
                <a:solidFill>
                  <a:srgbClr val="1369B2"/>
                </a:solidFill>
                <a:latin typeface="微软雅黑" panose="020B0503020204020204" pitchFamily="34" charset="-122"/>
                <a:ea typeface="微软雅黑" panose="020B0503020204020204" pitchFamily="34" charset="-122"/>
                <a:cs typeface="+mn-ea"/>
              </a:rPr>
              <a:t>实现</a:t>
            </a:r>
            <a:r>
              <a:rPr lang="en-US" altLang="zh-CN" sz="2000" dirty="0">
                <a:solidFill>
                  <a:srgbClr val="1369B2"/>
                </a:solidFill>
                <a:latin typeface="微软雅黑" panose="020B0503020204020204" pitchFamily="34" charset="-122"/>
                <a:ea typeface="微软雅黑" panose="020B0503020204020204" pitchFamily="34" charset="-122"/>
                <a:cs typeface="+mn-ea"/>
              </a:rPr>
              <a:t>Web</a:t>
            </a:r>
            <a:r>
              <a:rPr lang="zh-CN" altLang="zh-CN" sz="2000" dirty="0">
                <a:solidFill>
                  <a:srgbClr val="1369B2"/>
                </a:solidFill>
                <a:latin typeface="微软雅黑" panose="020B0503020204020204" pitchFamily="34" charset="-122"/>
                <a:ea typeface="微软雅黑" panose="020B0503020204020204" pitchFamily="34" charset="-122"/>
                <a:cs typeface="+mn-ea"/>
              </a:rPr>
              <a:t>自动化测试的第三方类库</a:t>
            </a:r>
            <a:r>
              <a:rPr lang="en-US" altLang="zh-CN" sz="2000" dirty="0" err="1">
                <a:solidFill>
                  <a:srgbClr val="1369B2"/>
                </a:solidFill>
                <a:latin typeface="微软雅黑" panose="020B0503020204020204" pitchFamily="34" charset="-122"/>
                <a:ea typeface="微软雅黑" panose="020B0503020204020204" pitchFamily="34" charset="-122"/>
                <a:cs typeface="+mn-ea"/>
              </a:rPr>
              <a:t>webdriver</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该库提供</a:t>
            </a:r>
            <a:r>
              <a:rPr lang="zh-CN" altLang="zh-CN" sz="2000" dirty="0">
                <a:solidFill>
                  <a:srgbClr val="595959"/>
                </a:solidFill>
                <a:latin typeface="微软雅黑" panose="020B0503020204020204" pitchFamily="34" charset="-122"/>
                <a:ea typeface="微软雅黑" panose="020B0503020204020204" pitchFamily="34" charset="-122"/>
                <a:cs typeface="+mn-ea"/>
              </a:rPr>
              <a:t>了</a:t>
            </a:r>
            <a:r>
              <a:rPr lang="zh-CN" altLang="zh-CN" sz="2000">
                <a:solidFill>
                  <a:srgbClr val="1369B2"/>
                </a:solidFill>
                <a:latin typeface="微软雅黑" panose="020B0503020204020204" pitchFamily="34" charset="-122"/>
                <a:ea typeface="微软雅黑" panose="020B0503020204020204" pitchFamily="34" charset="-122"/>
                <a:cs typeface="+mn-ea"/>
              </a:rPr>
              <a:t>元素定位方法</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元素操作方法</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cs typeface="+mn-ea"/>
              </a:rPr>
              <a:t>键盘操作</a:t>
            </a:r>
            <a:r>
              <a:rPr lang="zh-CN" altLang="zh-CN" sz="2000">
                <a:solidFill>
                  <a:srgbClr val="1369B2"/>
                </a:solidFill>
                <a:latin typeface="微软雅黑" panose="020B0503020204020204" pitchFamily="34" charset="-122"/>
                <a:ea typeface="微软雅黑" panose="020B0503020204020204" pitchFamily="34" charset="-122"/>
                <a:cs typeface="+mn-ea"/>
              </a:rPr>
              <a:t>方法</a:t>
            </a:r>
            <a:r>
              <a:rPr lang="zh-CN" altLang="zh-CN" sz="2000">
                <a:solidFill>
                  <a:srgbClr val="595959"/>
                </a:solidFill>
                <a:latin typeface="微软雅黑" panose="020B0503020204020204" pitchFamily="34" charset="-122"/>
                <a:ea typeface="微软雅黑" panose="020B0503020204020204" pitchFamily="34" charset="-122"/>
                <a:cs typeface="+mn-ea"/>
              </a:rPr>
              <a:t>等</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测试</a:t>
            </a:r>
            <a:r>
              <a:rPr lang="zh-CN" altLang="zh-CN" sz="2000" dirty="0">
                <a:solidFill>
                  <a:srgbClr val="595959"/>
                </a:solidFill>
                <a:latin typeface="微软雅黑" panose="020B0503020204020204" pitchFamily="34" charset="-122"/>
                <a:ea typeface="微软雅黑" panose="020B0503020204020204" pitchFamily="34" charset="-122"/>
                <a:cs typeface="+mn-ea"/>
              </a:rPr>
              <a:t>人员在编写自动化测试脚本时，</a:t>
            </a:r>
            <a:r>
              <a:rPr lang="zh-CN" altLang="zh-CN" sz="2000">
                <a:solidFill>
                  <a:srgbClr val="595959"/>
                </a:solidFill>
                <a:latin typeface="微软雅黑" panose="020B0503020204020204" pitchFamily="34" charset="-122"/>
                <a:ea typeface="微软雅黑" panose="020B0503020204020204" pitchFamily="34" charset="-122"/>
                <a:cs typeface="+mn-ea"/>
              </a:rPr>
              <a:t>可以调用</a:t>
            </a:r>
            <a:r>
              <a:rPr lang="en-US" altLang="zh-CN" sz="2000">
                <a:solidFill>
                  <a:srgbClr val="595959"/>
                </a:solidFill>
                <a:latin typeface="微软雅黑" panose="020B0503020204020204" pitchFamily="34" charset="-122"/>
                <a:ea typeface="微软雅黑" panose="020B0503020204020204" pitchFamily="34" charset="-122"/>
                <a:cs typeface="+mn-ea"/>
              </a:rPr>
              <a:t>Selenium</a:t>
            </a:r>
            <a:r>
              <a:rPr lang="zh-CN" altLang="zh-CN" sz="2000">
                <a:solidFill>
                  <a:srgbClr val="595959"/>
                </a:solidFill>
                <a:latin typeface="微软雅黑" panose="020B0503020204020204" pitchFamily="34" charset="-122"/>
                <a:ea typeface="微软雅黑" panose="020B0503020204020204" pitchFamily="34" charset="-122"/>
                <a:cs typeface="+mn-ea"/>
              </a:rPr>
              <a:t>元素</a:t>
            </a:r>
            <a:r>
              <a:rPr lang="zh-CN" altLang="zh-CN" sz="2000" dirty="0">
                <a:solidFill>
                  <a:srgbClr val="595959"/>
                </a:solidFill>
                <a:latin typeface="微软雅黑" panose="020B0503020204020204" pitchFamily="34" charset="-122"/>
                <a:ea typeface="微软雅黑" panose="020B0503020204020204" pitchFamily="34" charset="-122"/>
                <a:cs typeface="+mn-ea"/>
              </a:rPr>
              <a:t>定位方法，将每个元素属性的值作为参数传递到元素定位方法中即可实现自动</a:t>
            </a:r>
            <a:r>
              <a:rPr lang="zh-CN" altLang="zh-CN" sz="2000">
                <a:solidFill>
                  <a:srgbClr val="595959"/>
                </a:solidFill>
                <a:latin typeface="微软雅黑" panose="020B0503020204020204" pitchFamily="34" charset="-122"/>
                <a:ea typeface="微软雅黑" panose="020B0503020204020204" pitchFamily="34" charset="-122"/>
                <a:cs typeface="+mn-ea"/>
              </a:rPr>
              <a:t>定位。</a:t>
            </a:r>
            <a:r>
              <a:rPr lang="en-US" altLang="zh-CN" sz="2000">
                <a:solidFill>
                  <a:srgbClr val="595959"/>
                </a:solidFill>
                <a:latin typeface="微软雅黑" panose="020B0503020204020204" pitchFamily="34" charset="-122"/>
                <a:ea typeface="微软雅黑" panose="020B0503020204020204" pitchFamily="34" charset="-122"/>
                <a:cs typeface="+mn-ea"/>
              </a:rPr>
              <a:t>Selenium</a:t>
            </a:r>
            <a:r>
              <a:rPr lang="zh-CN" altLang="zh-CN" sz="2000">
                <a:solidFill>
                  <a:srgbClr val="595959"/>
                </a:solidFill>
                <a:latin typeface="微软雅黑" panose="020B0503020204020204" pitchFamily="34" charset="-122"/>
                <a:ea typeface="微软雅黑" panose="020B0503020204020204" pitchFamily="34" charset="-122"/>
                <a:cs typeface="+mn-ea"/>
              </a:rPr>
              <a:t>的</a:t>
            </a:r>
            <a:r>
              <a:rPr lang="en-US" altLang="zh-CN" sz="2000">
                <a:solidFill>
                  <a:srgbClr val="595959"/>
                </a:solidFill>
                <a:latin typeface="微软雅黑" panose="020B0503020204020204" pitchFamily="34" charset="-122"/>
                <a:ea typeface="微软雅黑" panose="020B0503020204020204" pitchFamily="34" charset="-122"/>
                <a:cs typeface="+mn-ea"/>
              </a:rPr>
              <a:t>WebDriver</a:t>
            </a:r>
            <a:r>
              <a:rPr lang="zh-CN" altLang="zh-CN" sz="2000">
                <a:solidFill>
                  <a:srgbClr val="595959"/>
                </a:solidFill>
                <a:latin typeface="微软雅黑" panose="020B0503020204020204" pitchFamily="34" charset="-122"/>
                <a:ea typeface="微软雅黑" panose="020B0503020204020204" pitchFamily="34" charset="-122"/>
                <a:cs typeface="+mn-ea"/>
              </a:rPr>
              <a:t>分别</a:t>
            </a:r>
            <a:r>
              <a:rPr lang="zh-CN" altLang="zh-CN" sz="2000" dirty="0">
                <a:solidFill>
                  <a:srgbClr val="595959"/>
                </a:solidFill>
                <a:latin typeface="微软雅黑" panose="020B0503020204020204" pitchFamily="34" charset="-122"/>
                <a:ea typeface="微软雅黑" panose="020B0503020204020204" pitchFamily="34" charset="-122"/>
                <a:cs typeface="+mn-ea"/>
              </a:rPr>
              <a:t>提供了</a:t>
            </a:r>
            <a:r>
              <a:rPr lang="zh-CN" altLang="zh-CN" sz="2000" dirty="0">
                <a:solidFill>
                  <a:srgbClr val="1369B2"/>
                </a:solidFill>
                <a:latin typeface="微软雅黑" panose="020B0503020204020204" pitchFamily="34" charset="-122"/>
                <a:ea typeface="微软雅黑" panose="020B0503020204020204" pitchFamily="34" charset="-122"/>
                <a:cs typeface="+mn-ea"/>
              </a:rPr>
              <a:t>单个元素</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cs typeface="+mn-ea"/>
              </a:rPr>
              <a:t>一组元素的定位</a:t>
            </a:r>
            <a:r>
              <a:rPr lang="zh-CN" altLang="zh-CN" sz="2000" dirty="0">
                <a:solidFill>
                  <a:srgbClr val="595959"/>
                </a:solidFill>
                <a:latin typeface="微软雅黑" panose="020B0503020204020204" pitchFamily="34" charset="-122"/>
                <a:ea typeface="微软雅黑" panose="020B0503020204020204" pitchFamily="34" charset="-122"/>
                <a:cs typeface="+mn-ea"/>
              </a:rPr>
              <a:t>方法</a:t>
            </a:r>
            <a:r>
              <a:rPr lang="zh-CN" altLang="en-US"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6" name="图片 5"/>
          <p:cNvPicPr>
            <a:picLocks noChangeAspect="1"/>
          </p:cNvPicPr>
          <p:nvPr/>
        </p:nvPicPr>
        <p:blipFill>
          <a:blip r:embed="rId3"/>
          <a:stretch>
            <a:fillRect/>
          </a:stretch>
        </p:blipFill>
        <p:spPr>
          <a:xfrm>
            <a:off x="839386" y="1413456"/>
            <a:ext cx="3715858" cy="400615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23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a:solidFill>
                  <a:srgbClr val="595959"/>
                </a:solidFill>
                <a:latin typeface="微软雅黑" panose="020B0503020204020204" pitchFamily="34" charset="-122"/>
                <a:ea typeface="微软雅黑" panose="020B0503020204020204" pitchFamily="34" charset="-122"/>
                <a:cs typeface="+mn-ea"/>
                <a:sym typeface="+mn-lt"/>
              </a:rPr>
              <a:t>6.4.1 Selenium</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元素</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定位方法</a:t>
            </a:r>
          </a:p>
        </p:txBody>
      </p:sp>
      <p:graphicFrame>
        <p:nvGraphicFramePr>
          <p:cNvPr id="5" name="表格 4"/>
          <p:cNvGraphicFramePr/>
          <p:nvPr>
            <p:custDataLst>
              <p:tags r:id="rId1"/>
            </p:custDataLst>
          </p:nvPr>
        </p:nvGraphicFramePr>
        <p:xfrm>
          <a:off x="1143690" y="2272943"/>
          <a:ext cx="10207516" cy="3342682"/>
        </p:xfrm>
        <a:graphic>
          <a:graphicData uri="http://schemas.openxmlformats.org/drawingml/2006/table">
            <a:tbl>
              <a:tblPr firstRow="1" bandRow="1">
                <a:tableStyleId>{5C22544A-7EE6-4342-B048-85BDC9FD1C3A}</a:tableStyleId>
              </a:tblPr>
              <a:tblGrid>
                <a:gridCol w="4519516">
                  <a:extLst>
                    <a:ext uri="{9D8B030D-6E8A-4147-A177-3AD203B41FA5}">
                      <a16:colId xmlns:a16="http://schemas.microsoft.com/office/drawing/2014/main" val="20000"/>
                    </a:ext>
                  </a:extLst>
                </a:gridCol>
                <a:gridCol w="5688000">
                  <a:extLst>
                    <a:ext uri="{9D8B030D-6E8A-4147-A177-3AD203B41FA5}">
                      <a16:colId xmlns:a16="http://schemas.microsoft.com/office/drawing/2014/main" val="20001"/>
                    </a:ext>
                  </a:extLst>
                </a:gridCol>
              </a:tblGrid>
              <a:tr h="550966">
                <a:tc>
                  <a:txBody>
                    <a:bodyPr/>
                    <a:lstStyle/>
                    <a:p>
                      <a:pPr algn="ctr">
                        <a:lnSpc>
                          <a:spcPct val="90000"/>
                        </a:lnSpc>
                        <a:buNone/>
                      </a:pPr>
                      <a:r>
                        <a:rPr lang="zh-CN" altLang="en-US" sz="1800" b="1" dirty="0">
                          <a:latin typeface="微软雅黑" panose="020B0503020204020204" pitchFamily="34" charset="-122"/>
                          <a:ea typeface="微软雅黑" panose="020B0503020204020204" pitchFamily="34" charset="-122"/>
                        </a:rPr>
                        <a:t>方法</a:t>
                      </a:r>
                    </a:p>
                  </a:txBody>
                  <a:tcPr anchor="ctr"/>
                </a:tc>
                <a:tc>
                  <a:txBody>
                    <a:bodyPr/>
                    <a:lstStyle/>
                    <a:p>
                      <a:pPr algn="ctr">
                        <a:lnSpc>
                          <a:spcPct val="90000"/>
                        </a:lnSpc>
                        <a:buNone/>
                      </a:pPr>
                      <a:r>
                        <a:rPr lang="zh-CN" altLang="en-US" sz="1800" dirty="0">
                          <a:latin typeface="微软雅黑" panose="020B0503020204020204" pitchFamily="34" charset="-122"/>
                          <a:ea typeface="微软雅黑" panose="020B0503020204020204" pitchFamily="34" charset="-122"/>
                        </a:rPr>
                        <a:t>说明</a:t>
                      </a:r>
                    </a:p>
                  </a:txBody>
                  <a:tcPr anchor="ctr"/>
                </a:tc>
                <a:extLst>
                  <a:ext uri="{0D108BD9-81ED-4DB2-BD59-A6C34878D82A}">
                    <a16:rowId xmlns:a16="http://schemas.microsoft.com/office/drawing/2014/main" val="10000"/>
                  </a:ext>
                </a:extLst>
              </a:tr>
              <a:tr h="655471">
                <a:tc>
                  <a:txBody>
                    <a:bodyPr/>
                    <a:lstStyle/>
                    <a:p>
                      <a:pPr marL="0" algn="l" defTabSz="1219200" rtl="0" eaLnBrk="1" latinLnBrk="0" hangingPunct="1">
                        <a:lnSpc>
                          <a:spcPct val="115000"/>
                        </a:lnSpc>
                        <a:spcAft>
                          <a:spcPts val="0"/>
                        </a:spcAft>
                      </a:pPr>
                      <a:r>
                        <a:rPr lang="en-US" altLang="zh-CN" sz="1800" kern="1200" dirty="0" err="1">
                          <a:solidFill>
                            <a:srgbClr val="595959"/>
                          </a:solidFill>
                          <a:latin typeface="微软雅黑" panose="020B0503020204020204" pitchFamily="34" charset="-122"/>
                          <a:ea typeface="微软雅黑" panose="020B0503020204020204" pitchFamily="34" charset="-122"/>
                          <a:cs typeface="+mn-ea"/>
                        </a:rPr>
                        <a:t>find_element_by_id</a:t>
                      </a:r>
                      <a:r>
                        <a:rPr lang="en-US" altLang="zh-CN" sz="1800" kern="1200" dirty="0">
                          <a:solidFill>
                            <a:srgbClr val="595959"/>
                          </a:solidFill>
                          <a:latin typeface="微软雅黑" panose="020B0503020204020204" pitchFamily="34" charset="-122"/>
                          <a:ea typeface="微软雅黑" panose="020B0503020204020204" pitchFamily="34" charset="-122"/>
                          <a:cs typeface="+mn-ea"/>
                        </a:rPr>
                        <a:t>(id_)</a:t>
                      </a:r>
                      <a:endParaRPr lang="zh-CN" altLang="zh-CN" sz="1800" kern="1200" dirty="0">
                        <a:solidFill>
                          <a:srgbClr val="595959"/>
                        </a:solidFill>
                        <a:latin typeface="微软雅黑" panose="020B0503020204020204" pitchFamily="34" charset="-122"/>
                        <a:ea typeface="微软雅黑" panose="020B0503020204020204" pitchFamily="34" charset="-122"/>
                        <a:cs typeface="+mn-ea"/>
                      </a:endParaRPr>
                    </a:p>
                  </a:txBody>
                  <a:tcPr anchor="ctr"/>
                </a:tc>
                <a:tc>
                  <a:txBody>
                    <a:bodyPr/>
                    <a:lstStyle/>
                    <a:p>
                      <a:pPr marL="0" algn="l" defTabSz="1219200" rtl="0" eaLnBrk="1" latinLnBrk="0" hangingPunct="1">
                        <a:lnSpc>
                          <a:spcPct val="115000"/>
                        </a:lnSpc>
                        <a:spcAft>
                          <a:spcPts val="0"/>
                        </a:spcAft>
                        <a:buNone/>
                      </a:pPr>
                      <a:r>
                        <a:rPr lang="zh-CN" altLang="zh-CN" sz="1800" kern="1200" dirty="0">
                          <a:solidFill>
                            <a:srgbClr val="595959"/>
                          </a:solidFill>
                          <a:latin typeface="微软雅黑" panose="020B0503020204020204" pitchFamily="34" charset="-122"/>
                          <a:ea typeface="微软雅黑" panose="020B0503020204020204" pitchFamily="34" charset="-122"/>
                          <a:cs typeface="+mn-ea"/>
                        </a:rPr>
                        <a:t>表示通过元素的</a:t>
                      </a:r>
                      <a:r>
                        <a:rPr lang="en-US" altLang="zh-CN" sz="1800" kern="1200" dirty="0">
                          <a:solidFill>
                            <a:srgbClr val="595959"/>
                          </a:solidFill>
                          <a:latin typeface="微软雅黑" panose="020B0503020204020204" pitchFamily="34" charset="-122"/>
                          <a:ea typeface="微软雅黑" panose="020B0503020204020204" pitchFamily="34" charset="-122"/>
                          <a:cs typeface="+mn-ea"/>
                        </a:rPr>
                        <a:t>id</a:t>
                      </a:r>
                      <a:r>
                        <a:rPr lang="zh-CN" altLang="zh-CN" sz="1800" kern="1200" dirty="0">
                          <a:solidFill>
                            <a:srgbClr val="595959"/>
                          </a:solidFill>
                          <a:latin typeface="微软雅黑" panose="020B0503020204020204" pitchFamily="34" charset="-122"/>
                          <a:ea typeface="微软雅黑" panose="020B0503020204020204" pitchFamily="34" charset="-122"/>
                          <a:cs typeface="+mn-ea"/>
                        </a:rPr>
                        <a:t>属性值定位元素，该方法中的参数</a:t>
                      </a:r>
                      <a:r>
                        <a:rPr lang="en-US" altLang="zh-CN" sz="1800" kern="1200" dirty="0">
                          <a:solidFill>
                            <a:srgbClr val="595959"/>
                          </a:solidFill>
                          <a:latin typeface="微软雅黑" panose="020B0503020204020204" pitchFamily="34" charset="-122"/>
                          <a:ea typeface="微软雅黑" panose="020B0503020204020204" pitchFamily="34" charset="-122"/>
                          <a:cs typeface="+mn-ea"/>
                        </a:rPr>
                        <a:t>id_</a:t>
                      </a:r>
                      <a:r>
                        <a:rPr lang="zh-CN" altLang="zh-CN" sz="1800" kern="1200" dirty="0">
                          <a:solidFill>
                            <a:srgbClr val="595959"/>
                          </a:solidFill>
                          <a:latin typeface="微软雅黑" panose="020B0503020204020204" pitchFamily="34" charset="-122"/>
                          <a:ea typeface="微软雅黑" panose="020B0503020204020204" pitchFamily="34" charset="-122"/>
                          <a:cs typeface="+mn-ea"/>
                        </a:rPr>
                        <a:t>表示元素在</a:t>
                      </a:r>
                      <a:r>
                        <a:rPr lang="en-US" altLang="zh-CN" sz="1800" kern="1200" dirty="0">
                          <a:solidFill>
                            <a:srgbClr val="595959"/>
                          </a:solidFill>
                          <a:latin typeface="微软雅黑" panose="020B0503020204020204" pitchFamily="34" charset="-122"/>
                          <a:ea typeface="微软雅黑" panose="020B0503020204020204" pitchFamily="34" charset="-122"/>
                          <a:cs typeface="+mn-ea"/>
                        </a:rPr>
                        <a:t>HTML</a:t>
                      </a:r>
                      <a:r>
                        <a:rPr lang="zh-CN" altLang="zh-CN" sz="1800" kern="1200" dirty="0">
                          <a:solidFill>
                            <a:srgbClr val="595959"/>
                          </a:solidFill>
                          <a:latin typeface="微软雅黑" panose="020B0503020204020204" pitchFamily="34" charset="-122"/>
                          <a:ea typeface="微软雅黑" panose="020B0503020204020204" pitchFamily="34" charset="-122"/>
                          <a:cs typeface="+mn-ea"/>
                        </a:rPr>
                        <a:t>页面中的</a:t>
                      </a:r>
                      <a:r>
                        <a:rPr lang="en-US" altLang="zh-CN" sz="1800" kern="1200" dirty="0">
                          <a:solidFill>
                            <a:srgbClr val="595959"/>
                          </a:solidFill>
                          <a:latin typeface="微软雅黑" panose="020B0503020204020204" pitchFamily="34" charset="-122"/>
                          <a:ea typeface="微软雅黑" panose="020B0503020204020204" pitchFamily="34" charset="-122"/>
                          <a:cs typeface="+mn-ea"/>
                        </a:rPr>
                        <a:t>id</a:t>
                      </a:r>
                      <a:r>
                        <a:rPr lang="zh-CN" altLang="zh-CN" sz="1800" kern="1200" dirty="0">
                          <a:solidFill>
                            <a:srgbClr val="595959"/>
                          </a:solidFill>
                          <a:latin typeface="微软雅黑" panose="020B0503020204020204" pitchFamily="34" charset="-122"/>
                          <a:ea typeface="微软雅黑" panose="020B0503020204020204" pitchFamily="34" charset="-122"/>
                          <a:cs typeface="+mn-ea"/>
                        </a:rPr>
                        <a:t>属性值</a:t>
                      </a:r>
                    </a:p>
                  </a:txBody>
                  <a:tcPr anchor="ctr"/>
                </a:tc>
                <a:extLst>
                  <a:ext uri="{0D108BD9-81ED-4DB2-BD59-A6C34878D82A}">
                    <a16:rowId xmlns:a16="http://schemas.microsoft.com/office/drawing/2014/main" val="10001"/>
                  </a:ext>
                </a:extLst>
              </a:tr>
              <a:tr h="655471">
                <a:tc>
                  <a:txBody>
                    <a:bodyPr/>
                    <a:lstStyle/>
                    <a:p>
                      <a:pPr marL="0" algn="l" defTabSz="1219200" rtl="0" eaLnBrk="1" latinLnBrk="0" hangingPunct="1">
                        <a:lnSpc>
                          <a:spcPct val="115000"/>
                        </a:lnSpc>
                        <a:spcAft>
                          <a:spcPts val="0"/>
                        </a:spcAft>
                      </a:pPr>
                      <a:r>
                        <a:rPr lang="en-US" altLang="zh-CN" sz="1800" kern="1200" dirty="0" err="1">
                          <a:solidFill>
                            <a:srgbClr val="595959"/>
                          </a:solidFill>
                          <a:latin typeface="微软雅黑" panose="020B0503020204020204" pitchFamily="34" charset="-122"/>
                          <a:ea typeface="微软雅黑" panose="020B0503020204020204" pitchFamily="34" charset="-122"/>
                          <a:cs typeface="+mn-ea"/>
                        </a:rPr>
                        <a:t>find_element_by_name</a:t>
                      </a:r>
                      <a:r>
                        <a:rPr lang="en-US" altLang="zh-CN" sz="1800" kern="1200" dirty="0">
                          <a:solidFill>
                            <a:srgbClr val="595959"/>
                          </a:solidFill>
                          <a:latin typeface="微软雅黑" panose="020B0503020204020204" pitchFamily="34" charset="-122"/>
                          <a:ea typeface="微软雅黑" panose="020B0503020204020204" pitchFamily="34" charset="-122"/>
                          <a:cs typeface="+mn-ea"/>
                        </a:rPr>
                        <a:t>(name)</a:t>
                      </a:r>
                      <a:endParaRPr lang="zh-CN" altLang="zh-CN" sz="1800" kern="1200" dirty="0">
                        <a:solidFill>
                          <a:srgbClr val="595959"/>
                        </a:solidFill>
                        <a:latin typeface="微软雅黑" panose="020B0503020204020204" pitchFamily="34" charset="-122"/>
                        <a:ea typeface="微软雅黑" panose="020B0503020204020204" pitchFamily="34" charset="-122"/>
                        <a:cs typeface="+mn-ea"/>
                      </a:endParaRPr>
                    </a:p>
                  </a:txBody>
                  <a:tcPr anchor="ctr"/>
                </a:tc>
                <a:tc>
                  <a:txBody>
                    <a:bodyPr/>
                    <a:lstStyle/>
                    <a:p>
                      <a:pPr marL="0" algn="l" defTabSz="1219200" rtl="0" eaLnBrk="1" latinLnBrk="0" hangingPunct="1">
                        <a:lnSpc>
                          <a:spcPct val="115000"/>
                        </a:lnSpc>
                        <a:spcAft>
                          <a:spcPts val="0"/>
                        </a:spcAft>
                        <a:buNone/>
                      </a:pPr>
                      <a:r>
                        <a:rPr lang="zh-CN" altLang="zh-CN" sz="1800" kern="1200" dirty="0">
                          <a:solidFill>
                            <a:srgbClr val="595959"/>
                          </a:solidFill>
                          <a:latin typeface="微软雅黑" panose="020B0503020204020204" pitchFamily="34" charset="-122"/>
                          <a:ea typeface="微软雅黑" panose="020B0503020204020204" pitchFamily="34" charset="-122"/>
                          <a:cs typeface="+mn-ea"/>
                        </a:rPr>
                        <a:t>表示通过元素的</a:t>
                      </a:r>
                      <a:r>
                        <a:rPr lang="en-US" altLang="zh-CN" sz="1800" kern="1200" dirty="0">
                          <a:solidFill>
                            <a:srgbClr val="595959"/>
                          </a:solidFill>
                          <a:latin typeface="微软雅黑" panose="020B0503020204020204" pitchFamily="34" charset="-122"/>
                          <a:ea typeface="微软雅黑" panose="020B0503020204020204" pitchFamily="34" charset="-122"/>
                          <a:cs typeface="+mn-ea"/>
                        </a:rPr>
                        <a:t>name</a:t>
                      </a:r>
                      <a:r>
                        <a:rPr lang="zh-CN" altLang="zh-CN" sz="1800" kern="1200" dirty="0">
                          <a:solidFill>
                            <a:srgbClr val="595959"/>
                          </a:solidFill>
                          <a:latin typeface="微软雅黑" panose="020B0503020204020204" pitchFamily="34" charset="-122"/>
                          <a:ea typeface="微软雅黑" panose="020B0503020204020204" pitchFamily="34" charset="-122"/>
                          <a:cs typeface="+mn-ea"/>
                        </a:rPr>
                        <a:t>属性值定位元素，该方法中的参数</a:t>
                      </a:r>
                      <a:r>
                        <a:rPr lang="en-US" altLang="zh-CN" sz="1800" kern="1200" dirty="0">
                          <a:solidFill>
                            <a:srgbClr val="595959"/>
                          </a:solidFill>
                          <a:latin typeface="微软雅黑" panose="020B0503020204020204" pitchFamily="34" charset="-122"/>
                          <a:ea typeface="微软雅黑" panose="020B0503020204020204" pitchFamily="34" charset="-122"/>
                          <a:cs typeface="+mn-ea"/>
                        </a:rPr>
                        <a:t>name</a:t>
                      </a:r>
                      <a:r>
                        <a:rPr lang="zh-CN" altLang="zh-CN" sz="1800" kern="1200" dirty="0">
                          <a:solidFill>
                            <a:srgbClr val="595959"/>
                          </a:solidFill>
                          <a:latin typeface="微软雅黑" panose="020B0503020204020204" pitchFamily="34" charset="-122"/>
                          <a:ea typeface="微软雅黑" panose="020B0503020204020204" pitchFamily="34" charset="-122"/>
                          <a:cs typeface="+mn-ea"/>
                        </a:rPr>
                        <a:t>表示元素在</a:t>
                      </a:r>
                      <a:r>
                        <a:rPr lang="en-US" altLang="zh-CN" sz="1800" kern="1200" dirty="0">
                          <a:solidFill>
                            <a:srgbClr val="595959"/>
                          </a:solidFill>
                          <a:latin typeface="微软雅黑" panose="020B0503020204020204" pitchFamily="34" charset="-122"/>
                          <a:ea typeface="微软雅黑" panose="020B0503020204020204" pitchFamily="34" charset="-122"/>
                          <a:cs typeface="+mn-ea"/>
                        </a:rPr>
                        <a:t>HTML</a:t>
                      </a:r>
                      <a:r>
                        <a:rPr lang="zh-CN" altLang="zh-CN" sz="1800" kern="1200" dirty="0">
                          <a:solidFill>
                            <a:srgbClr val="595959"/>
                          </a:solidFill>
                          <a:latin typeface="微软雅黑" panose="020B0503020204020204" pitchFamily="34" charset="-122"/>
                          <a:ea typeface="微软雅黑" panose="020B0503020204020204" pitchFamily="34" charset="-122"/>
                          <a:cs typeface="+mn-ea"/>
                        </a:rPr>
                        <a:t>页面中的</a:t>
                      </a:r>
                      <a:r>
                        <a:rPr lang="en-US" altLang="zh-CN" sz="1800" kern="1200" dirty="0">
                          <a:solidFill>
                            <a:srgbClr val="595959"/>
                          </a:solidFill>
                          <a:latin typeface="微软雅黑" panose="020B0503020204020204" pitchFamily="34" charset="-122"/>
                          <a:ea typeface="微软雅黑" panose="020B0503020204020204" pitchFamily="34" charset="-122"/>
                          <a:cs typeface="+mn-ea"/>
                        </a:rPr>
                        <a:t>name</a:t>
                      </a:r>
                      <a:r>
                        <a:rPr lang="zh-CN" altLang="zh-CN" sz="1800" kern="1200" dirty="0">
                          <a:solidFill>
                            <a:srgbClr val="595959"/>
                          </a:solidFill>
                          <a:latin typeface="微软雅黑" panose="020B0503020204020204" pitchFamily="34" charset="-122"/>
                          <a:ea typeface="微软雅黑" panose="020B0503020204020204" pitchFamily="34" charset="-122"/>
                          <a:cs typeface="+mn-ea"/>
                        </a:rPr>
                        <a:t>属性值</a:t>
                      </a:r>
                    </a:p>
                  </a:txBody>
                  <a:tcPr anchor="ctr"/>
                </a:tc>
                <a:extLst>
                  <a:ext uri="{0D108BD9-81ED-4DB2-BD59-A6C34878D82A}">
                    <a16:rowId xmlns:a16="http://schemas.microsoft.com/office/drawing/2014/main" val="10002"/>
                  </a:ext>
                </a:extLst>
              </a:tr>
              <a:tr h="655471">
                <a:tc>
                  <a:txBody>
                    <a:bodyPr/>
                    <a:lstStyle/>
                    <a:p>
                      <a:pPr marL="0" algn="l" defTabSz="1219200" rtl="0" eaLnBrk="1" latinLnBrk="0" hangingPunct="1">
                        <a:lnSpc>
                          <a:spcPct val="115000"/>
                        </a:lnSpc>
                        <a:spcAft>
                          <a:spcPts val="0"/>
                        </a:spcAft>
                      </a:pPr>
                      <a:r>
                        <a:rPr lang="en-US" altLang="zh-CN" sz="1800" kern="1200" dirty="0" err="1">
                          <a:solidFill>
                            <a:srgbClr val="595959"/>
                          </a:solidFill>
                          <a:latin typeface="微软雅黑" panose="020B0503020204020204" pitchFamily="34" charset="-122"/>
                          <a:ea typeface="微软雅黑" panose="020B0503020204020204" pitchFamily="34" charset="-122"/>
                          <a:cs typeface="+mn-ea"/>
                        </a:rPr>
                        <a:t>find_element_by_class_name</a:t>
                      </a:r>
                      <a:r>
                        <a:rPr lang="en-US" altLang="zh-CN" sz="1800" kern="1200" dirty="0">
                          <a:solidFill>
                            <a:srgbClr val="595959"/>
                          </a:solidFill>
                          <a:latin typeface="微软雅黑" panose="020B0503020204020204" pitchFamily="34" charset="-122"/>
                          <a:ea typeface="微软雅黑" panose="020B0503020204020204" pitchFamily="34" charset="-122"/>
                          <a:cs typeface="+mn-ea"/>
                        </a:rPr>
                        <a:t>(name)</a:t>
                      </a:r>
                      <a:endParaRPr lang="zh-CN" altLang="zh-CN" sz="1800" kern="1200" dirty="0">
                        <a:solidFill>
                          <a:srgbClr val="595959"/>
                        </a:solidFill>
                        <a:latin typeface="微软雅黑" panose="020B0503020204020204" pitchFamily="34" charset="-122"/>
                        <a:ea typeface="微软雅黑" panose="020B0503020204020204" pitchFamily="34" charset="-122"/>
                        <a:cs typeface="+mn-ea"/>
                      </a:endParaRPr>
                    </a:p>
                  </a:txBody>
                  <a:tcPr anchor="ctr"/>
                </a:tc>
                <a:tc>
                  <a:txBody>
                    <a:bodyPr/>
                    <a:lstStyle/>
                    <a:p>
                      <a:pPr marL="0" algn="l" defTabSz="1219200" rtl="0" eaLnBrk="1" latinLnBrk="0" hangingPunct="1">
                        <a:lnSpc>
                          <a:spcPct val="115000"/>
                        </a:lnSpc>
                        <a:spcAft>
                          <a:spcPts val="0"/>
                        </a:spcAft>
                        <a:buNone/>
                      </a:pPr>
                      <a:r>
                        <a:rPr lang="zh-CN" altLang="zh-CN" sz="1800" kern="1200" dirty="0">
                          <a:solidFill>
                            <a:srgbClr val="595959"/>
                          </a:solidFill>
                          <a:latin typeface="微软雅黑" panose="020B0503020204020204" pitchFamily="34" charset="-122"/>
                          <a:ea typeface="微软雅黑" panose="020B0503020204020204" pitchFamily="34" charset="-122"/>
                          <a:cs typeface="+mn-ea"/>
                        </a:rPr>
                        <a:t>表示通过元素的</a:t>
                      </a:r>
                      <a:r>
                        <a:rPr lang="en-US" altLang="zh-CN" sz="1800" kern="1200" dirty="0">
                          <a:solidFill>
                            <a:srgbClr val="595959"/>
                          </a:solidFill>
                          <a:latin typeface="微软雅黑" panose="020B0503020204020204" pitchFamily="34" charset="-122"/>
                          <a:ea typeface="微软雅黑" panose="020B0503020204020204" pitchFamily="34" charset="-122"/>
                          <a:cs typeface="+mn-ea"/>
                        </a:rPr>
                        <a:t>class</a:t>
                      </a:r>
                      <a:r>
                        <a:rPr lang="zh-CN" altLang="zh-CN" sz="1800" kern="1200" dirty="0">
                          <a:solidFill>
                            <a:srgbClr val="595959"/>
                          </a:solidFill>
                          <a:latin typeface="微软雅黑" panose="020B0503020204020204" pitchFamily="34" charset="-122"/>
                          <a:ea typeface="微软雅黑" panose="020B0503020204020204" pitchFamily="34" charset="-122"/>
                          <a:cs typeface="+mn-ea"/>
                        </a:rPr>
                        <a:t>属性值定位元素，该方法中的参数</a:t>
                      </a:r>
                      <a:r>
                        <a:rPr lang="en-US" altLang="zh-CN" sz="1800" kern="1200" dirty="0">
                          <a:solidFill>
                            <a:srgbClr val="595959"/>
                          </a:solidFill>
                          <a:latin typeface="微软雅黑" panose="020B0503020204020204" pitchFamily="34" charset="-122"/>
                          <a:ea typeface="微软雅黑" panose="020B0503020204020204" pitchFamily="34" charset="-122"/>
                          <a:cs typeface="+mn-ea"/>
                        </a:rPr>
                        <a:t>name</a:t>
                      </a:r>
                      <a:r>
                        <a:rPr lang="zh-CN" altLang="zh-CN" sz="1800" kern="1200" dirty="0">
                          <a:solidFill>
                            <a:srgbClr val="595959"/>
                          </a:solidFill>
                          <a:latin typeface="微软雅黑" panose="020B0503020204020204" pitchFamily="34" charset="-122"/>
                          <a:ea typeface="微软雅黑" panose="020B0503020204020204" pitchFamily="34" charset="-122"/>
                          <a:cs typeface="+mn-ea"/>
                        </a:rPr>
                        <a:t>表示元素在</a:t>
                      </a:r>
                      <a:r>
                        <a:rPr lang="en-US" altLang="zh-CN" sz="1800" kern="1200" dirty="0">
                          <a:solidFill>
                            <a:srgbClr val="595959"/>
                          </a:solidFill>
                          <a:latin typeface="微软雅黑" panose="020B0503020204020204" pitchFamily="34" charset="-122"/>
                          <a:ea typeface="微软雅黑" panose="020B0503020204020204" pitchFamily="34" charset="-122"/>
                          <a:cs typeface="+mn-ea"/>
                        </a:rPr>
                        <a:t>HTML</a:t>
                      </a:r>
                      <a:r>
                        <a:rPr lang="zh-CN" altLang="zh-CN" sz="1800" kern="1200" dirty="0">
                          <a:solidFill>
                            <a:srgbClr val="595959"/>
                          </a:solidFill>
                          <a:latin typeface="微软雅黑" panose="020B0503020204020204" pitchFamily="34" charset="-122"/>
                          <a:ea typeface="微软雅黑" panose="020B0503020204020204" pitchFamily="34" charset="-122"/>
                          <a:cs typeface="+mn-ea"/>
                        </a:rPr>
                        <a:t>页面中的</a:t>
                      </a:r>
                      <a:r>
                        <a:rPr lang="en-US" altLang="zh-CN" sz="1800" kern="1200" dirty="0">
                          <a:solidFill>
                            <a:srgbClr val="595959"/>
                          </a:solidFill>
                          <a:latin typeface="微软雅黑" panose="020B0503020204020204" pitchFamily="34" charset="-122"/>
                          <a:ea typeface="微软雅黑" panose="020B0503020204020204" pitchFamily="34" charset="-122"/>
                          <a:cs typeface="+mn-ea"/>
                        </a:rPr>
                        <a:t>class</a:t>
                      </a:r>
                      <a:r>
                        <a:rPr lang="zh-CN" altLang="zh-CN" sz="1800" kern="1200" dirty="0">
                          <a:solidFill>
                            <a:srgbClr val="595959"/>
                          </a:solidFill>
                          <a:latin typeface="微软雅黑" panose="020B0503020204020204" pitchFamily="34" charset="-122"/>
                          <a:ea typeface="微软雅黑" panose="020B0503020204020204" pitchFamily="34" charset="-122"/>
                          <a:cs typeface="+mn-ea"/>
                        </a:rPr>
                        <a:t>属性值</a:t>
                      </a:r>
                    </a:p>
                  </a:txBody>
                  <a:tcPr anchor="ctr"/>
                </a:tc>
                <a:extLst>
                  <a:ext uri="{0D108BD9-81ED-4DB2-BD59-A6C34878D82A}">
                    <a16:rowId xmlns:a16="http://schemas.microsoft.com/office/drawing/2014/main" val="10003"/>
                  </a:ext>
                </a:extLst>
              </a:tr>
              <a:tr h="655471">
                <a:tc>
                  <a:txBody>
                    <a:bodyPr/>
                    <a:lstStyle/>
                    <a:p>
                      <a:pPr marL="0" algn="l" defTabSz="1219200" rtl="0" eaLnBrk="1" latinLnBrk="0" hangingPunct="1">
                        <a:lnSpc>
                          <a:spcPct val="115000"/>
                        </a:lnSpc>
                        <a:spcAft>
                          <a:spcPts val="0"/>
                        </a:spcAft>
                      </a:pPr>
                      <a:r>
                        <a:rPr lang="en-US" altLang="zh-CN" sz="1800" kern="1200" dirty="0" err="1">
                          <a:solidFill>
                            <a:srgbClr val="595959"/>
                          </a:solidFill>
                          <a:latin typeface="微软雅黑" panose="020B0503020204020204" pitchFamily="34" charset="-122"/>
                          <a:ea typeface="微软雅黑" panose="020B0503020204020204" pitchFamily="34" charset="-122"/>
                          <a:cs typeface="+mn-ea"/>
                        </a:rPr>
                        <a:t>find_element_by_tag_name</a:t>
                      </a:r>
                      <a:r>
                        <a:rPr lang="en-US" altLang="zh-CN" sz="1800" kern="1200" dirty="0">
                          <a:solidFill>
                            <a:srgbClr val="595959"/>
                          </a:solidFill>
                          <a:latin typeface="微软雅黑" panose="020B0503020204020204" pitchFamily="34" charset="-122"/>
                          <a:ea typeface="微软雅黑" panose="020B0503020204020204" pitchFamily="34" charset="-122"/>
                          <a:cs typeface="+mn-ea"/>
                        </a:rPr>
                        <a:t>(name)</a:t>
                      </a:r>
                      <a:endParaRPr lang="zh-CN" altLang="zh-CN" sz="1800" kern="1200" dirty="0">
                        <a:solidFill>
                          <a:srgbClr val="595959"/>
                        </a:solidFill>
                        <a:latin typeface="微软雅黑" panose="020B0503020204020204" pitchFamily="34" charset="-122"/>
                        <a:ea typeface="微软雅黑" panose="020B0503020204020204" pitchFamily="34" charset="-122"/>
                        <a:cs typeface="+mn-ea"/>
                      </a:endParaRPr>
                    </a:p>
                  </a:txBody>
                  <a:tcPr anchor="ctr"/>
                </a:tc>
                <a:tc>
                  <a:txBody>
                    <a:bodyPr/>
                    <a:lstStyle/>
                    <a:p>
                      <a:pPr marL="0" algn="l" defTabSz="1219200" rtl="0" eaLnBrk="1" latinLnBrk="0" hangingPunct="1">
                        <a:lnSpc>
                          <a:spcPct val="115000"/>
                        </a:lnSpc>
                        <a:spcAft>
                          <a:spcPts val="0"/>
                        </a:spcAft>
                        <a:buNone/>
                      </a:pPr>
                      <a:r>
                        <a:rPr lang="zh-CN" altLang="zh-CN" sz="1800" kern="1200" dirty="0">
                          <a:solidFill>
                            <a:srgbClr val="595959"/>
                          </a:solidFill>
                          <a:latin typeface="微软雅黑" panose="020B0503020204020204" pitchFamily="34" charset="-122"/>
                          <a:ea typeface="微软雅黑" panose="020B0503020204020204" pitchFamily="34" charset="-122"/>
                          <a:cs typeface="+mn-ea"/>
                        </a:rPr>
                        <a:t>表示通过元素</a:t>
                      </a:r>
                      <a:r>
                        <a:rPr lang="zh-CN" altLang="zh-CN" sz="1800" kern="1200">
                          <a:solidFill>
                            <a:srgbClr val="595959"/>
                          </a:solidFill>
                          <a:latin typeface="微软雅黑" panose="020B0503020204020204" pitchFamily="34" charset="-122"/>
                          <a:ea typeface="微软雅黑" panose="020B0503020204020204" pitchFamily="34" charset="-122"/>
                          <a:cs typeface="+mn-ea"/>
                        </a:rPr>
                        <a:t>的</a:t>
                      </a:r>
                      <a:r>
                        <a:rPr lang="en-US" altLang="zh-CN" sz="1800" kern="1200">
                          <a:solidFill>
                            <a:srgbClr val="595959"/>
                          </a:solidFill>
                          <a:latin typeface="微软雅黑" panose="020B0503020204020204" pitchFamily="34" charset="-122"/>
                          <a:ea typeface="微软雅黑" panose="020B0503020204020204" pitchFamily="34" charset="-122"/>
                          <a:cs typeface="+mn-ea"/>
                        </a:rPr>
                        <a:t>tag_name</a:t>
                      </a:r>
                      <a:r>
                        <a:rPr lang="zh-CN" altLang="zh-CN" sz="1800" kern="1200" dirty="0">
                          <a:solidFill>
                            <a:srgbClr val="595959"/>
                          </a:solidFill>
                          <a:latin typeface="微软雅黑" panose="020B0503020204020204" pitchFamily="34" charset="-122"/>
                          <a:ea typeface="微软雅黑" panose="020B0503020204020204" pitchFamily="34" charset="-122"/>
                          <a:cs typeface="+mn-ea"/>
                        </a:rPr>
                        <a:t>（标签名）定位元素，该方法中的参数</a:t>
                      </a:r>
                      <a:r>
                        <a:rPr lang="en-US" altLang="zh-CN" sz="1800" kern="1200" dirty="0">
                          <a:solidFill>
                            <a:srgbClr val="595959"/>
                          </a:solidFill>
                          <a:latin typeface="微软雅黑" panose="020B0503020204020204" pitchFamily="34" charset="-122"/>
                          <a:ea typeface="微软雅黑" panose="020B0503020204020204" pitchFamily="34" charset="-122"/>
                          <a:cs typeface="+mn-ea"/>
                        </a:rPr>
                        <a:t>name</a:t>
                      </a:r>
                      <a:r>
                        <a:rPr lang="zh-CN" altLang="zh-CN" sz="1800" kern="1200" dirty="0">
                          <a:solidFill>
                            <a:srgbClr val="595959"/>
                          </a:solidFill>
                          <a:latin typeface="微软雅黑" panose="020B0503020204020204" pitchFamily="34" charset="-122"/>
                          <a:ea typeface="微软雅黑" panose="020B0503020204020204" pitchFamily="34" charset="-122"/>
                          <a:cs typeface="+mn-ea"/>
                        </a:rPr>
                        <a:t>表示元素在</a:t>
                      </a:r>
                      <a:r>
                        <a:rPr lang="en-US" altLang="zh-CN" sz="1800" kern="1200" dirty="0">
                          <a:solidFill>
                            <a:srgbClr val="595959"/>
                          </a:solidFill>
                          <a:latin typeface="微软雅黑" panose="020B0503020204020204" pitchFamily="34" charset="-122"/>
                          <a:ea typeface="微软雅黑" panose="020B0503020204020204" pitchFamily="34" charset="-122"/>
                          <a:cs typeface="+mn-ea"/>
                        </a:rPr>
                        <a:t>HTML</a:t>
                      </a:r>
                      <a:r>
                        <a:rPr lang="zh-CN" altLang="zh-CN" sz="1800" kern="1200" dirty="0">
                          <a:solidFill>
                            <a:srgbClr val="595959"/>
                          </a:solidFill>
                          <a:latin typeface="微软雅黑" panose="020B0503020204020204" pitchFamily="34" charset="-122"/>
                          <a:ea typeface="微软雅黑" panose="020B0503020204020204" pitchFamily="34" charset="-122"/>
                          <a:cs typeface="+mn-ea"/>
                        </a:rPr>
                        <a:t>页面的标签名</a:t>
                      </a:r>
                    </a:p>
                  </a:txBody>
                  <a:tcPr anchor="ctr"/>
                </a:tc>
                <a:extLst>
                  <a:ext uri="{0D108BD9-81ED-4DB2-BD59-A6C34878D82A}">
                    <a16:rowId xmlns:a16="http://schemas.microsoft.com/office/drawing/2014/main" val="10004"/>
                  </a:ext>
                </a:extLst>
              </a:tr>
            </a:tbl>
          </a:graphicData>
        </a:graphic>
      </p:graphicFrame>
      <p:sp>
        <p:nvSpPr>
          <p:cNvPr id="2" name="矩形 1"/>
          <p:cNvSpPr/>
          <p:nvPr/>
        </p:nvSpPr>
        <p:spPr>
          <a:xfrm>
            <a:off x="1133998" y="1629794"/>
            <a:ext cx="3518912" cy="400110"/>
          </a:xfrm>
          <a:prstGeom prst="rect">
            <a:avLst/>
          </a:prstGeom>
        </p:spPr>
        <p:txBody>
          <a:bodyPr wrap="none">
            <a:spAutoFit/>
          </a:bodyPr>
          <a:lstStyle/>
          <a:p>
            <a:r>
              <a:rPr lang="zh-CN" altLang="zh-CN" sz="2000" dirty="0">
                <a:solidFill>
                  <a:srgbClr val="1369B2"/>
                </a:solidFill>
                <a:latin typeface="微软雅黑" panose="020B0503020204020204" pitchFamily="34" charset="-122"/>
                <a:ea typeface="微软雅黑" panose="020B0503020204020204" pitchFamily="34" charset="-122"/>
                <a:cs typeface="+mn-ea"/>
              </a:rPr>
              <a:t>单个元素的定位方法</a:t>
            </a:r>
            <a:r>
              <a:rPr lang="zh-CN" altLang="en-US" sz="2000" dirty="0">
                <a:solidFill>
                  <a:srgbClr val="595959"/>
                </a:solidFill>
                <a:latin typeface="微软雅黑" panose="020B0503020204020204" pitchFamily="34" charset="-122"/>
                <a:ea typeface="微软雅黑" panose="020B0503020204020204" pitchFamily="34" charset="-122"/>
                <a:cs typeface="+mn-ea"/>
              </a:rPr>
              <a:t>如下表。</a:t>
            </a:r>
          </a:p>
        </p:txBody>
      </p:sp>
      <p:sp>
        <p:nvSpPr>
          <p:cNvPr id="3" name="矩形 2"/>
          <p:cNvSpPr/>
          <p:nvPr/>
        </p:nvSpPr>
        <p:spPr>
          <a:xfrm>
            <a:off x="1143690" y="1115053"/>
            <a:ext cx="2725426" cy="400110"/>
          </a:xfrm>
          <a:prstGeom prst="rect">
            <a:avLst/>
          </a:prstGeom>
        </p:spPr>
        <p:txBody>
          <a:bodyPr wrap="none">
            <a:spAutoFit/>
          </a:bodyPr>
          <a:lstStyle/>
          <a:p>
            <a:pPr lvl="0"/>
            <a:r>
              <a:rPr lang="en-US" altLang="zh-CN" sz="2000" b="1" dirty="0">
                <a:solidFill>
                  <a:srgbClr val="595959"/>
                </a:solidFill>
                <a:latin typeface="微软雅黑" panose="020B0503020204020204" pitchFamily="34" charset="-122"/>
                <a:ea typeface="微软雅黑" panose="020B0503020204020204" pitchFamily="34" charset="-122"/>
                <a:cs typeface="+mn-ea"/>
              </a:rPr>
              <a:t>1.</a:t>
            </a:r>
            <a:r>
              <a:rPr lang="zh-CN" altLang="zh-CN" sz="2000" b="1" dirty="0">
                <a:solidFill>
                  <a:srgbClr val="595959"/>
                </a:solidFill>
                <a:latin typeface="微软雅黑" panose="020B0503020204020204" pitchFamily="34" charset="-122"/>
                <a:ea typeface="微软雅黑" panose="020B0503020204020204" pitchFamily="34" charset="-122"/>
                <a:cs typeface="+mn-ea"/>
              </a:rPr>
              <a:t>单个元素的定位方法</a:t>
            </a:r>
          </a:p>
        </p:txBody>
      </p:sp>
    </p:spTree>
  </p:cSld>
  <p:clrMapOvr>
    <a:masterClrMapping/>
  </p:clrMapOvr>
  <mc:AlternateContent xmlns:mc="http://schemas.openxmlformats.org/markup-compatibility/2006" xmlns:p14="http://schemas.microsoft.com/office/powerpoint/2010/main">
    <mc:Choice Requires="p14">
      <p:transition p14:dur="10" advTm="3000"/>
    </mc:Choice>
    <mc:Fallback xmlns="">
      <p:transition advTm="300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23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a:solidFill>
                  <a:srgbClr val="595959"/>
                </a:solidFill>
                <a:latin typeface="微软雅黑" panose="020B0503020204020204" pitchFamily="34" charset="-122"/>
                <a:ea typeface="微软雅黑" panose="020B0503020204020204" pitchFamily="34" charset="-122"/>
                <a:cs typeface="+mn-ea"/>
                <a:sym typeface="+mn-lt"/>
              </a:rPr>
              <a:t>6.4.1 Selenium</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元素</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定位方法</a:t>
            </a:r>
          </a:p>
        </p:txBody>
      </p:sp>
      <p:graphicFrame>
        <p:nvGraphicFramePr>
          <p:cNvPr id="5" name="表格 4"/>
          <p:cNvGraphicFramePr/>
          <p:nvPr>
            <p:custDataLst>
              <p:tags r:id="rId1"/>
            </p:custDataLst>
          </p:nvPr>
        </p:nvGraphicFramePr>
        <p:xfrm>
          <a:off x="1055206" y="2277794"/>
          <a:ext cx="10224000" cy="3356859"/>
        </p:xfrm>
        <a:graphic>
          <a:graphicData uri="http://schemas.openxmlformats.org/drawingml/2006/table">
            <a:tbl>
              <a:tblPr firstRow="1" bandRow="1">
                <a:tableStyleId>{5C22544A-7EE6-4342-B048-85BDC9FD1C3A}</a:tableStyleId>
              </a:tblPr>
              <a:tblGrid>
                <a:gridCol w="4839479">
                  <a:extLst>
                    <a:ext uri="{9D8B030D-6E8A-4147-A177-3AD203B41FA5}">
                      <a16:colId xmlns:a16="http://schemas.microsoft.com/office/drawing/2014/main" val="20000"/>
                    </a:ext>
                  </a:extLst>
                </a:gridCol>
                <a:gridCol w="5384521">
                  <a:extLst>
                    <a:ext uri="{9D8B030D-6E8A-4147-A177-3AD203B41FA5}">
                      <a16:colId xmlns:a16="http://schemas.microsoft.com/office/drawing/2014/main" val="20001"/>
                    </a:ext>
                  </a:extLst>
                </a:gridCol>
              </a:tblGrid>
              <a:tr h="565143">
                <a:tc>
                  <a:txBody>
                    <a:bodyPr/>
                    <a:lstStyle/>
                    <a:p>
                      <a:pPr algn="ctr">
                        <a:lnSpc>
                          <a:spcPct val="90000"/>
                        </a:lnSpc>
                        <a:buNone/>
                      </a:pPr>
                      <a:r>
                        <a:rPr lang="zh-CN" altLang="en-US" sz="1800" b="1" dirty="0">
                          <a:latin typeface="微软雅黑" panose="020B0503020204020204" pitchFamily="34" charset="-122"/>
                          <a:ea typeface="微软雅黑" panose="020B0503020204020204" pitchFamily="34" charset="-122"/>
                        </a:rPr>
                        <a:t>方法</a:t>
                      </a:r>
                    </a:p>
                  </a:txBody>
                  <a:tcPr anchor="ctr"/>
                </a:tc>
                <a:tc>
                  <a:txBody>
                    <a:bodyPr/>
                    <a:lstStyle/>
                    <a:p>
                      <a:pPr algn="ctr">
                        <a:lnSpc>
                          <a:spcPct val="90000"/>
                        </a:lnSpc>
                        <a:buNone/>
                      </a:pPr>
                      <a:r>
                        <a:rPr lang="zh-CN" altLang="en-US" sz="1800" dirty="0">
                          <a:latin typeface="微软雅黑" panose="020B0503020204020204" pitchFamily="34" charset="-122"/>
                          <a:ea typeface="微软雅黑" panose="020B0503020204020204" pitchFamily="34" charset="-122"/>
                        </a:rPr>
                        <a:t>说明</a:t>
                      </a:r>
                    </a:p>
                  </a:txBody>
                  <a:tcPr anchor="ctr"/>
                </a:tc>
                <a:extLst>
                  <a:ext uri="{0D108BD9-81ED-4DB2-BD59-A6C34878D82A}">
                    <a16:rowId xmlns:a16="http://schemas.microsoft.com/office/drawing/2014/main" val="10000"/>
                  </a:ext>
                </a:extLst>
              </a:tr>
              <a:tr h="595400">
                <a:tc>
                  <a:txBody>
                    <a:bodyPr/>
                    <a:lstStyle/>
                    <a:p>
                      <a:pPr marL="0" marR="0" indent="0" algn="l" defTabSz="1219200" rtl="0" eaLnBrk="1" fontAlgn="auto" latinLnBrk="0" hangingPunct="1">
                        <a:lnSpc>
                          <a:spcPct val="115000"/>
                        </a:lnSpc>
                        <a:spcBef>
                          <a:spcPts val="0"/>
                        </a:spcBef>
                        <a:spcAft>
                          <a:spcPts val="0"/>
                        </a:spcAft>
                        <a:buClrTx/>
                        <a:buSzTx/>
                        <a:buFontTx/>
                        <a:buNone/>
                        <a:defRPr/>
                      </a:pPr>
                      <a:r>
                        <a:rPr lang="en-US" altLang="zh-CN" sz="1800" kern="1200" dirty="0" err="1">
                          <a:solidFill>
                            <a:srgbClr val="595959"/>
                          </a:solidFill>
                          <a:latin typeface="微软雅黑" panose="020B0503020204020204" pitchFamily="34" charset="-122"/>
                          <a:ea typeface="微软雅黑" panose="020B0503020204020204" pitchFamily="34" charset="-122"/>
                          <a:cs typeface="+mn-ea"/>
                        </a:rPr>
                        <a:t>find_element_by_link_text</a:t>
                      </a:r>
                      <a:r>
                        <a:rPr lang="en-US" altLang="zh-CN" sz="1800" kern="1200" dirty="0">
                          <a:solidFill>
                            <a:srgbClr val="595959"/>
                          </a:solidFill>
                          <a:latin typeface="微软雅黑" panose="020B0503020204020204" pitchFamily="34" charset="-122"/>
                          <a:ea typeface="微软雅黑" panose="020B0503020204020204" pitchFamily="34" charset="-122"/>
                          <a:cs typeface="+mn-ea"/>
                        </a:rPr>
                        <a:t>(text)</a:t>
                      </a:r>
                      <a:endParaRPr lang="zh-CN" altLang="zh-CN" sz="1800" kern="1200" dirty="0">
                        <a:solidFill>
                          <a:srgbClr val="595959"/>
                        </a:solidFill>
                        <a:latin typeface="微软雅黑" panose="020B0503020204020204" pitchFamily="34" charset="-122"/>
                        <a:ea typeface="微软雅黑" panose="020B0503020204020204" pitchFamily="34" charset="-122"/>
                        <a:cs typeface="+mn-ea"/>
                      </a:endParaRPr>
                    </a:p>
                  </a:txBody>
                  <a:tcPr anchor="ctr"/>
                </a:tc>
                <a:tc>
                  <a:txBody>
                    <a:bodyPr/>
                    <a:lstStyle/>
                    <a:p>
                      <a:pPr marL="0" marR="0" indent="0" algn="l" defTabSz="1219200" rtl="0" eaLnBrk="1" fontAlgn="auto" latinLnBrk="0" hangingPunct="1">
                        <a:lnSpc>
                          <a:spcPct val="115000"/>
                        </a:lnSpc>
                        <a:spcBef>
                          <a:spcPts val="0"/>
                        </a:spcBef>
                        <a:spcAft>
                          <a:spcPts val="0"/>
                        </a:spcAft>
                        <a:buClrTx/>
                        <a:buSzTx/>
                        <a:buFontTx/>
                        <a:buNone/>
                        <a:defRPr/>
                      </a:pPr>
                      <a:r>
                        <a:rPr lang="zh-CN" altLang="zh-CN" sz="1800" kern="1200" dirty="0">
                          <a:solidFill>
                            <a:srgbClr val="595959"/>
                          </a:solidFill>
                          <a:latin typeface="微软雅黑" panose="020B0503020204020204" pitchFamily="34" charset="-122"/>
                          <a:ea typeface="微软雅黑" panose="020B0503020204020204" pitchFamily="34" charset="-122"/>
                          <a:cs typeface="+mn-ea"/>
                        </a:rPr>
                        <a:t>表示通过超链接的全部文本内容定位元素，该方法中的参数</a:t>
                      </a:r>
                      <a:r>
                        <a:rPr lang="en-US" altLang="zh-CN" sz="1800" kern="1200" dirty="0">
                          <a:solidFill>
                            <a:srgbClr val="595959"/>
                          </a:solidFill>
                          <a:latin typeface="微软雅黑" panose="020B0503020204020204" pitchFamily="34" charset="-122"/>
                          <a:ea typeface="微软雅黑" panose="020B0503020204020204" pitchFamily="34" charset="-122"/>
                          <a:cs typeface="+mn-ea"/>
                        </a:rPr>
                        <a:t>text</a:t>
                      </a:r>
                      <a:r>
                        <a:rPr lang="zh-CN" altLang="zh-CN" sz="1800" kern="1200" dirty="0">
                          <a:solidFill>
                            <a:srgbClr val="595959"/>
                          </a:solidFill>
                          <a:latin typeface="微软雅黑" panose="020B0503020204020204" pitchFamily="34" charset="-122"/>
                          <a:ea typeface="微软雅黑" panose="020B0503020204020204" pitchFamily="34" charset="-122"/>
                          <a:cs typeface="+mn-ea"/>
                        </a:rPr>
                        <a:t>表示超链接的全部文本内容</a:t>
                      </a:r>
                    </a:p>
                  </a:txBody>
                  <a:tcPr anchor="ctr"/>
                </a:tc>
                <a:extLst>
                  <a:ext uri="{0D108BD9-81ED-4DB2-BD59-A6C34878D82A}">
                    <a16:rowId xmlns:a16="http://schemas.microsoft.com/office/drawing/2014/main" val="10001"/>
                  </a:ext>
                </a:extLst>
              </a:tr>
              <a:tr h="595400">
                <a:tc>
                  <a:txBody>
                    <a:bodyPr/>
                    <a:lstStyle/>
                    <a:p>
                      <a:pPr marL="0" marR="0" indent="0" algn="l" defTabSz="1219200" rtl="0" eaLnBrk="1" fontAlgn="auto" latinLnBrk="0" hangingPunct="1">
                        <a:lnSpc>
                          <a:spcPct val="115000"/>
                        </a:lnSpc>
                        <a:spcBef>
                          <a:spcPts val="0"/>
                        </a:spcBef>
                        <a:spcAft>
                          <a:spcPts val="0"/>
                        </a:spcAft>
                        <a:buClrTx/>
                        <a:buSzTx/>
                        <a:buFontTx/>
                        <a:buNone/>
                        <a:defRPr/>
                      </a:pPr>
                      <a:r>
                        <a:rPr lang="en-US" altLang="zh-CN" sz="1800" kern="1200" dirty="0" err="1">
                          <a:solidFill>
                            <a:srgbClr val="595959"/>
                          </a:solidFill>
                          <a:latin typeface="微软雅黑" panose="020B0503020204020204" pitchFamily="34" charset="-122"/>
                          <a:ea typeface="微软雅黑" panose="020B0503020204020204" pitchFamily="34" charset="-122"/>
                          <a:cs typeface="+mn-ea"/>
                        </a:rPr>
                        <a:t>find_element_by_partial_link_text</a:t>
                      </a:r>
                      <a:r>
                        <a:rPr lang="en-US" altLang="zh-CN" sz="1800" kern="1200" dirty="0">
                          <a:solidFill>
                            <a:srgbClr val="595959"/>
                          </a:solidFill>
                          <a:latin typeface="微软雅黑" panose="020B0503020204020204" pitchFamily="34" charset="-122"/>
                          <a:ea typeface="微软雅黑" panose="020B0503020204020204" pitchFamily="34" charset="-122"/>
                          <a:cs typeface="+mn-ea"/>
                        </a:rPr>
                        <a:t>(text)</a:t>
                      </a:r>
                      <a:endParaRPr lang="zh-CN" altLang="zh-CN" sz="1800" kern="1200" dirty="0">
                        <a:solidFill>
                          <a:srgbClr val="595959"/>
                        </a:solidFill>
                        <a:latin typeface="微软雅黑" panose="020B0503020204020204" pitchFamily="34" charset="-122"/>
                        <a:ea typeface="微软雅黑" panose="020B0503020204020204" pitchFamily="34" charset="-122"/>
                        <a:cs typeface="+mn-ea"/>
                      </a:endParaRPr>
                    </a:p>
                  </a:txBody>
                  <a:tcPr anchor="ctr"/>
                </a:tc>
                <a:tc>
                  <a:txBody>
                    <a:bodyPr/>
                    <a:lstStyle/>
                    <a:p>
                      <a:pPr marL="0" marR="0" indent="0" algn="l" defTabSz="1219200" rtl="0" eaLnBrk="1" fontAlgn="auto" latinLnBrk="0" hangingPunct="1">
                        <a:lnSpc>
                          <a:spcPct val="115000"/>
                        </a:lnSpc>
                        <a:spcBef>
                          <a:spcPts val="0"/>
                        </a:spcBef>
                        <a:spcAft>
                          <a:spcPts val="0"/>
                        </a:spcAft>
                        <a:buClrTx/>
                        <a:buSzTx/>
                        <a:buFontTx/>
                        <a:buNone/>
                        <a:defRPr/>
                      </a:pPr>
                      <a:r>
                        <a:rPr lang="zh-CN" altLang="zh-CN" sz="1800" kern="1200" dirty="0">
                          <a:solidFill>
                            <a:srgbClr val="595959"/>
                          </a:solidFill>
                          <a:latin typeface="微软雅黑" panose="020B0503020204020204" pitchFamily="34" charset="-122"/>
                          <a:ea typeface="微软雅黑" panose="020B0503020204020204" pitchFamily="34" charset="-122"/>
                          <a:cs typeface="+mn-ea"/>
                        </a:rPr>
                        <a:t>表示通过超链接的一部分文本内容定位</a:t>
                      </a:r>
                      <a:r>
                        <a:rPr lang="zh-CN" altLang="zh-CN" sz="1800" kern="1200">
                          <a:solidFill>
                            <a:srgbClr val="595959"/>
                          </a:solidFill>
                          <a:latin typeface="微软雅黑" panose="020B0503020204020204" pitchFamily="34" charset="-122"/>
                          <a:ea typeface="微软雅黑" panose="020B0503020204020204" pitchFamily="34" charset="-122"/>
                          <a:cs typeface="+mn-ea"/>
                        </a:rPr>
                        <a:t>元素，</a:t>
                      </a:r>
                      <a:r>
                        <a:rPr lang="zh-CN" altLang="en-US" sz="1800" kern="1200">
                          <a:solidFill>
                            <a:srgbClr val="595959"/>
                          </a:solidFill>
                          <a:latin typeface="微软雅黑" panose="020B0503020204020204" pitchFamily="34" charset="-122"/>
                          <a:ea typeface="微软雅黑" panose="020B0503020204020204" pitchFamily="34" charset="-122"/>
                          <a:cs typeface="+mn-ea"/>
                        </a:rPr>
                        <a:t>该</a:t>
                      </a:r>
                      <a:r>
                        <a:rPr lang="zh-CN" altLang="zh-CN" sz="1800" kern="1200">
                          <a:solidFill>
                            <a:srgbClr val="595959"/>
                          </a:solidFill>
                          <a:latin typeface="微软雅黑" panose="020B0503020204020204" pitchFamily="34" charset="-122"/>
                          <a:ea typeface="微软雅黑" panose="020B0503020204020204" pitchFamily="34" charset="-122"/>
                          <a:cs typeface="+mn-ea"/>
                        </a:rPr>
                        <a:t>方法</a:t>
                      </a:r>
                      <a:r>
                        <a:rPr lang="zh-CN" altLang="zh-CN" sz="1800" kern="1200" dirty="0">
                          <a:solidFill>
                            <a:srgbClr val="595959"/>
                          </a:solidFill>
                          <a:latin typeface="微软雅黑" panose="020B0503020204020204" pitchFamily="34" charset="-122"/>
                          <a:ea typeface="微软雅黑" panose="020B0503020204020204" pitchFamily="34" charset="-122"/>
                          <a:cs typeface="+mn-ea"/>
                        </a:rPr>
                        <a:t>中的参数</a:t>
                      </a:r>
                      <a:r>
                        <a:rPr lang="en-US" altLang="zh-CN" sz="1800" kern="1200" dirty="0">
                          <a:solidFill>
                            <a:srgbClr val="595959"/>
                          </a:solidFill>
                          <a:latin typeface="微软雅黑" panose="020B0503020204020204" pitchFamily="34" charset="-122"/>
                          <a:ea typeface="微软雅黑" panose="020B0503020204020204" pitchFamily="34" charset="-122"/>
                          <a:cs typeface="+mn-ea"/>
                        </a:rPr>
                        <a:t>text</a:t>
                      </a:r>
                      <a:r>
                        <a:rPr lang="zh-CN" altLang="zh-CN" sz="1800" kern="1200" dirty="0">
                          <a:solidFill>
                            <a:srgbClr val="595959"/>
                          </a:solidFill>
                          <a:latin typeface="微软雅黑" panose="020B0503020204020204" pitchFamily="34" charset="-122"/>
                          <a:ea typeface="微软雅黑" panose="020B0503020204020204" pitchFamily="34" charset="-122"/>
                          <a:cs typeface="+mn-ea"/>
                        </a:rPr>
                        <a:t>表示超链接文本的部分或全部内容</a:t>
                      </a:r>
                    </a:p>
                  </a:txBody>
                  <a:tcPr anchor="ctr"/>
                </a:tc>
                <a:extLst>
                  <a:ext uri="{0D108BD9-81ED-4DB2-BD59-A6C34878D82A}">
                    <a16:rowId xmlns:a16="http://schemas.microsoft.com/office/drawing/2014/main" val="10002"/>
                  </a:ext>
                </a:extLst>
              </a:tr>
              <a:tr h="591806">
                <a:tc>
                  <a:txBody>
                    <a:bodyPr/>
                    <a:lstStyle/>
                    <a:p>
                      <a:pPr marL="0" marR="0" indent="0" algn="l" defTabSz="1219200" rtl="0" eaLnBrk="1" fontAlgn="auto" latinLnBrk="0" hangingPunct="1">
                        <a:lnSpc>
                          <a:spcPct val="115000"/>
                        </a:lnSpc>
                        <a:spcBef>
                          <a:spcPts val="0"/>
                        </a:spcBef>
                        <a:spcAft>
                          <a:spcPts val="0"/>
                        </a:spcAft>
                        <a:buClrTx/>
                        <a:buSzTx/>
                        <a:buFontTx/>
                        <a:buNone/>
                        <a:defRPr/>
                      </a:pPr>
                      <a:r>
                        <a:rPr lang="en-US" altLang="zh-CN" sz="1800" kern="1200" dirty="0" err="1">
                          <a:solidFill>
                            <a:srgbClr val="595959"/>
                          </a:solidFill>
                          <a:latin typeface="微软雅黑" panose="020B0503020204020204" pitchFamily="34" charset="-122"/>
                          <a:ea typeface="微软雅黑" panose="020B0503020204020204" pitchFamily="34" charset="-122"/>
                          <a:cs typeface="+mn-ea"/>
                        </a:rPr>
                        <a:t>find_element_by_xpath</a:t>
                      </a:r>
                      <a:r>
                        <a:rPr lang="en-US" altLang="zh-CN" sz="1800" kern="1200" dirty="0">
                          <a:solidFill>
                            <a:srgbClr val="595959"/>
                          </a:solidFill>
                          <a:latin typeface="微软雅黑" panose="020B0503020204020204" pitchFamily="34" charset="-122"/>
                          <a:ea typeface="微软雅黑" panose="020B0503020204020204" pitchFamily="34" charset="-122"/>
                          <a:cs typeface="+mn-ea"/>
                        </a:rPr>
                        <a:t>(</a:t>
                      </a:r>
                      <a:r>
                        <a:rPr lang="en-US" altLang="zh-CN" sz="1800" kern="1200" dirty="0" err="1">
                          <a:solidFill>
                            <a:srgbClr val="595959"/>
                          </a:solidFill>
                          <a:latin typeface="微软雅黑" panose="020B0503020204020204" pitchFamily="34" charset="-122"/>
                          <a:ea typeface="微软雅黑" panose="020B0503020204020204" pitchFamily="34" charset="-122"/>
                          <a:cs typeface="+mn-ea"/>
                        </a:rPr>
                        <a:t>xpath</a:t>
                      </a:r>
                      <a:r>
                        <a:rPr lang="en-US" altLang="zh-CN" sz="1800" kern="1200" dirty="0">
                          <a:solidFill>
                            <a:srgbClr val="595959"/>
                          </a:solidFill>
                          <a:latin typeface="微软雅黑" panose="020B0503020204020204" pitchFamily="34" charset="-122"/>
                          <a:ea typeface="微软雅黑" panose="020B0503020204020204" pitchFamily="34" charset="-122"/>
                          <a:cs typeface="+mn-ea"/>
                        </a:rPr>
                        <a:t>)</a:t>
                      </a:r>
                      <a:endParaRPr lang="zh-CN" altLang="zh-CN" sz="1800" kern="1200" dirty="0">
                        <a:solidFill>
                          <a:srgbClr val="595959"/>
                        </a:solidFill>
                        <a:latin typeface="微软雅黑" panose="020B0503020204020204" pitchFamily="34" charset="-122"/>
                        <a:ea typeface="微软雅黑" panose="020B0503020204020204" pitchFamily="34" charset="-122"/>
                        <a:cs typeface="+mn-ea"/>
                      </a:endParaRPr>
                    </a:p>
                  </a:txBody>
                  <a:tcPr anchor="ctr"/>
                </a:tc>
                <a:tc>
                  <a:txBody>
                    <a:bodyPr/>
                    <a:lstStyle/>
                    <a:p>
                      <a:pPr marL="0" marR="0" indent="0" algn="l" defTabSz="1219200" rtl="0" eaLnBrk="1" fontAlgn="auto" latinLnBrk="0" hangingPunct="1">
                        <a:lnSpc>
                          <a:spcPct val="115000"/>
                        </a:lnSpc>
                        <a:spcBef>
                          <a:spcPts val="0"/>
                        </a:spcBef>
                        <a:spcAft>
                          <a:spcPts val="0"/>
                        </a:spcAft>
                        <a:buClrTx/>
                        <a:buSzTx/>
                        <a:buFontTx/>
                        <a:buNone/>
                        <a:defRPr/>
                      </a:pPr>
                      <a:r>
                        <a:rPr lang="zh-CN" altLang="zh-CN" sz="1800" kern="1200" dirty="0">
                          <a:solidFill>
                            <a:srgbClr val="595959"/>
                          </a:solidFill>
                          <a:latin typeface="微软雅黑" panose="020B0503020204020204" pitchFamily="34" charset="-122"/>
                          <a:ea typeface="微软雅黑" panose="020B0503020204020204" pitchFamily="34" charset="-122"/>
                          <a:cs typeface="+mn-ea"/>
                        </a:rPr>
                        <a:t>表示通过元素的路径定位元素，该方法中的参数</a:t>
                      </a:r>
                      <a:r>
                        <a:rPr lang="en-US" altLang="zh-CN" sz="1800" kern="1200" dirty="0" err="1">
                          <a:solidFill>
                            <a:srgbClr val="595959"/>
                          </a:solidFill>
                          <a:latin typeface="微软雅黑" panose="020B0503020204020204" pitchFamily="34" charset="-122"/>
                          <a:ea typeface="微软雅黑" panose="020B0503020204020204" pitchFamily="34" charset="-122"/>
                          <a:cs typeface="+mn-ea"/>
                        </a:rPr>
                        <a:t>xpath</a:t>
                      </a:r>
                      <a:r>
                        <a:rPr lang="zh-CN" altLang="zh-CN" sz="1800" kern="1200" dirty="0">
                          <a:solidFill>
                            <a:srgbClr val="595959"/>
                          </a:solidFill>
                          <a:latin typeface="微软雅黑" panose="020B0503020204020204" pitchFamily="34" charset="-122"/>
                          <a:ea typeface="微软雅黑" panose="020B0503020204020204" pitchFamily="34" charset="-122"/>
                          <a:cs typeface="+mn-ea"/>
                        </a:rPr>
                        <a:t>表示元素路径</a:t>
                      </a:r>
                    </a:p>
                  </a:txBody>
                  <a:tcPr anchor="ctr"/>
                </a:tc>
                <a:extLst>
                  <a:ext uri="{0D108BD9-81ED-4DB2-BD59-A6C34878D82A}">
                    <a16:rowId xmlns:a16="http://schemas.microsoft.com/office/drawing/2014/main" val="10003"/>
                  </a:ext>
                </a:extLst>
              </a:tr>
              <a:tr h="595400">
                <a:tc>
                  <a:txBody>
                    <a:bodyPr/>
                    <a:lstStyle/>
                    <a:p>
                      <a:pPr marL="0" marR="0" indent="0" algn="l" defTabSz="1219200" rtl="0" eaLnBrk="1" fontAlgn="auto" latinLnBrk="0" hangingPunct="1">
                        <a:lnSpc>
                          <a:spcPct val="115000"/>
                        </a:lnSpc>
                        <a:spcBef>
                          <a:spcPts val="0"/>
                        </a:spcBef>
                        <a:spcAft>
                          <a:spcPts val="0"/>
                        </a:spcAft>
                        <a:buClrTx/>
                        <a:buSzTx/>
                        <a:buFontTx/>
                        <a:buNone/>
                        <a:defRPr/>
                      </a:pPr>
                      <a:r>
                        <a:rPr lang="en-US" altLang="zh-CN" sz="1800" kern="1200" dirty="0" err="1">
                          <a:solidFill>
                            <a:srgbClr val="595959"/>
                          </a:solidFill>
                          <a:latin typeface="微软雅黑" panose="020B0503020204020204" pitchFamily="34" charset="-122"/>
                          <a:ea typeface="微软雅黑" panose="020B0503020204020204" pitchFamily="34" charset="-122"/>
                          <a:cs typeface="+mn-ea"/>
                        </a:rPr>
                        <a:t>find_element_by_css_selector</a:t>
                      </a:r>
                      <a:r>
                        <a:rPr lang="en-US" altLang="zh-CN" sz="1800" kern="1200" dirty="0">
                          <a:solidFill>
                            <a:srgbClr val="595959"/>
                          </a:solidFill>
                          <a:latin typeface="微软雅黑" panose="020B0503020204020204" pitchFamily="34" charset="-122"/>
                          <a:ea typeface="微软雅黑" panose="020B0503020204020204" pitchFamily="34" charset="-122"/>
                          <a:cs typeface="+mn-ea"/>
                        </a:rPr>
                        <a:t>(</a:t>
                      </a:r>
                      <a:r>
                        <a:rPr lang="en-US" altLang="zh-CN" sz="1800" kern="1200" dirty="0" err="1">
                          <a:solidFill>
                            <a:srgbClr val="595959"/>
                          </a:solidFill>
                          <a:latin typeface="微软雅黑" panose="020B0503020204020204" pitchFamily="34" charset="-122"/>
                          <a:ea typeface="微软雅黑" panose="020B0503020204020204" pitchFamily="34" charset="-122"/>
                          <a:cs typeface="+mn-ea"/>
                        </a:rPr>
                        <a:t>css_selector</a:t>
                      </a:r>
                      <a:r>
                        <a:rPr lang="en-US" altLang="zh-CN" sz="1800" kern="1200" dirty="0">
                          <a:solidFill>
                            <a:srgbClr val="595959"/>
                          </a:solidFill>
                          <a:latin typeface="微软雅黑" panose="020B0503020204020204" pitchFamily="34" charset="-122"/>
                          <a:ea typeface="微软雅黑" panose="020B0503020204020204" pitchFamily="34" charset="-122"/>
                          <a:cs typeface="+mn-ea"/>
                        </a:rPr>
                        <a:t>)</a:t>
                      </a:r>
                      <a:endParaRPr lang="zh-CN" altLang="zh-CN" sz="1800" kern="1200" dirty="0">
                        <a:solidFill>
                          <a:srgbClr val="595959"/>
                        </a:solidFill>
                        <a:latin typeface="微软雅黑" panose="020B0503020204020204" pitchFamily="34" charset="-122"/>
                        <a:ea typeface="微软雅黑" panose="020B0503020204020204" pitchFamily="34" charset="-122"/>
                        <a:cs typeface="+mn-ea"/>
                      </a:endParaRPr>
                    </a:p>
                  </a:txBody>
                  <a:tcPr anchor="ctr"/>
                </a:tc>
                <a:tc>
                  <a:txBody>
                    <a:bodyPr/>
                    <a:lstStyle/>
                    <a:p>
                      <a:pPr marL="0" marR="0" indent="0" algn="l" defTabSz="1219200" rtl="0" eaLnBrk="1" fontAlgn="auto" latinLnBrk="0" hangingPunct="1">
                        <a:lnSpc>
                          <a:spcPct val="115000"/>
                        </a:lnSpc>
                        <a:spcBef>
                          <a:spcPts val="0"/>
                        </a:spcBef>
                        <a:spcAft>
                          <a:spcPts val="0"/>
                        </a:spcAft>
                        <a:buClrTx/>
                        <a:buSzTx/>
                        <a:buFontTx/>
                        <a:buNone/>
                        <a:defRPr/>
                      </a:pPr>
                      <a:r>
                        <a:rPr lang="zh-CN" altLang="zh-CN" sz="1800" kern="1200" dirty="0">
                          <a:solidFill>
                            <a:srgbClr val="595959"/>
                          </a:solidFill>
                          <a:latin typeface="微软雅黑" panose="020B0503020204020204" pitchFamily="34" charset="-122"/>
                          <a:ea typeface="微软雅黑" panose="020B0503020204020204" pitchFamily="34" charset="-122"/>
                          <a:cs typeface="+mn-ea"/>
                        </a:rPr>
                        <a:t>表示通过</a:t>
                      </a:r>
                      <a:r>
                        <a:rPr lang="zh-CN" altLang="zh-CN" sz="1800" kern="1200">
                          <a:solidFill>
                            <a:srgbClr val="595959"/>
                          </a:solidFill>
                          <a:latin typeface="微软雅黑" panose="020B0503020204020204" pitchFamily="34" charset="-122"/>
                          <a:ea typeface="微软雅黑" panose="020B0503020204020204" pitchFamily="34" charset="-122"/>
                          <a:cs typeface="+mn-ea"/>
                        </a:rPr>
                        <a:t>元素的</a:t>
                      </a:r>
                      <a:r>
                        <a:rPr lang="en-US" altLang="zh-CN" sz="1800" kern="1200">
                          <a:solidFill>
                            <a:srgbClr val="595959"/>
                          </a:solidFill>
                          <a:latin typeface="微软雅黑" panose="020B0503020204020204" pitchFamily="34" charset="-122"/>
                          <a:ea typeface="微软雅黑" panose="020B0503020204020204" pitchFamily="34" charset="-122"/>
                          <a:cs typeface="+mn-ea"/>
                        </a:rPr>
                        <a:t>CSS</a:t>
                      </a:r>
                      <a:r>
                        <a:rPr lang="zh-CN" altLang="zh-CN" sz="1800" kern="1200">
                          <a:solidFill>
                            <a:srgbClr val="595959"/>
                          </a:solidFill>
                          <a:latin typeface="微软雅黑" panose="020B0503020204020204" pitchFamily="34" charset="-122"/>
                          <a:ea typeface="微软雅黑" panose="020B0503020204020204" pitchFamily="34" charset="-122"/>
                          <a:cs typeface="+mn-ea"/>
                        </a:rPr>
                        <a:t>选择</a:t>
                      </a:r>
                      <a:r>
                        <a:rPr lang="zh-CN" altLang="zh-CN" sz="1800" kern="1200" dirty="0">
                          <a:solidFill>
                            <a:srgbClr val="595959"/>
                          </a:solidFill>
                          <a:latin typeface="微软雅黑" panose="020B0503020204020204" pitchFamily="34" charset="-122"/>
                          <a:ea typeface="微软雅黑" panose="020B0503020204020204" pitchFamily="34" charset="-122"/>
                          <a:cs typeface="+mn-ea"/>
                        </a:rPr>
                        <a:t>器定位元素，该方法中的参数</a:t>
                      </a:r>
                      <a:r>
                        <a:rPr lang="en-US" altLang="zh-CN" sz="1800" kern="1200" dirty="0" err="1">
                          <a:solidFill>
                            <a:srgbClr val="595959"/>
                          </a:solidFill>
                          <a:latin typeface="微软雅黑" panose="020B0503020204020204" pitchFamily="34" charset="-122"/>
                          <a:ea typeface="微软雅黑" panose="020B0503020204020204" pitchFamily="34" charset="-122"/>
                          <a:cs typeface="+mn-ea"/>
                        </a:rPr>
                        <a:t>css_selector</a:t>
                      </a:r>
                      <a:r>
                        <a:rPr lang="zh-CN" altLang="zh-CN" sz="1800" kern="1200" dirty="0">
                          <a:solidFill>
                            <a:srgbClr val="595959"/>
                          </a:solidFill>
                          <a:latin typeface="微软雅黑" panose="020B0503020204020204" pitchFamily="34" charset="-122"/>
                          <a:ea typeface="微软雅黑" panose="020B0503020204020204" pitchFamily="34" charset="-122"/>
                          <a:cs typeface="+mn-ea"/>
                        </a:rPr>
                        <a:t>表示选择器</a:t>
                      </a:r>
                    </a:p>
                  </a:txBody>
                  <a:tcPr anchor="ct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10" advTm="3000"/>
    </mc:Choice>
    <mc:Fallback xmlns="">
      <p:transition advTm="300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23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a:solidFill>
                  <a:srgbClr val="595959"/>
                </a:solidFill>
                <a:latin typeface="微软雅黑" panose="020B0503020204020204" pitchFamily="34" charset="-122"/>
                <a:ea typeface="微软雅黑" panose="020B0503020204020204" pitchFamily="34" charset="-122"/>
                <a:cs typeface="+mn-ea"/>
                <a:sym typeface="+mn-lt"/>
              </a:rPr>
              <a:t>6.4.1 Selenium</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元素</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定位方法</a:t>
            </a:r>
          </a:p>
        </p:txBody>
      </p:sp>
      <p:sp>
        <p:nvSpPr>
          <p:cNvPr id="10" name="原创设计师QQ598969553          _9"/>
          <p:cNvSpPr txBox="1"/>
          <p:nvPr/>
        </p:nvSpPr>
        <p:spPr>
          <a:xfrm>
            <a:off x="5155285" y="2277794"/>
            <a:ext cx="6337138" cy="2862322"/>
          </a:xfrm>
          <a:prstGeom prst="rect">
            <a:avLst/>
          </a:prstGeom>
          <a:noFill/>
        </p:spPr>
        <p:txBody>
          <a:bodyPr wrap="square" rtlCol="0">
            <a:spAutoFit/>
          </a:bodyPr>
          <a:lstStyle/>
          <a:p>
            <a:pPr>
              <a:lnSpc>
                <a:spcPct val="150000"/>
              </a:lnSpc>
            </a:pPr>
            <a:r>
              <a:rPr lang="zh-CN" altLang="en-US" sz="2000">
                <a:solidFill>
                  <a:srgbClr val="595959"/>
                </a:solidFill>
                <a:latin typeface="微软雅黑" panose="020B0503020204020204" pitchFamily="34" charset="-122"/>
                <a:ea typeface="微软雅黑" panose="020B0503020204020204" pitchFamily="34" charset="-122"/>
                <a:cs typeface="+mn-ea"/>
              </a:rPr>
              <a:t>需要说明</a:t>
            </a:r>
            <a:r>
              <a:rPr lang="zh-CN" altLang="zh-CN" sz="2000">
                <a:solidFill>
                  <a:srgbClr val="595959"/>
                </a:solidFill>
                <a:latin typeface="微软雅黑" panose="020B0503020204020204" pitchFamily="34" charset="-122"/>
                <a:ea typeface="微软雅黑" panose="020B0503020204020204" pitchFamily="34" charset="-122"/>
                <a:cs typeface="+mn-ea"/>
              </a:rPr>
              <a:t>的</a:t>
            </a:r>
            <a:r>
              <a:rPr lang="zh-CN" altLang="zh-CN" sz="2000" dirty="0">
                <a:solidFill>
                  <a:srgbClr val="595959"/>
                </a:solidFill>
                <a:latin typeface="微软雅黑" panose="020B0503020204020204" pitchFamily="34" charset="-122"/>
                <a:ea typeface="微软雅黑" panose="020B0503020204020204" pitchFamily="34" charset="-122"/>
                <a:cs typeface="+mn-ea"/>
              </a:rPr>
              <a:t>是，</a:t>
            </a:r>
            <a:r>
              <a:rPr lang="en-US" altLang="zh-CN" sz="2000" dirty="0">
                <a:solidFill>
                  <a:srgbClr val="1369B2"/>
                </a:solidFill>
                <a:latin typeface="微软雅黑" panose="020B0503020204020204" pitchFamily="34" charset="-122"/>
                <a:ea typeface="微软雅黑" panose="020B0503020204020204" pitchFamily="34" charset="-122"/>
                <a:cs typeface="+mn-ea"/>
              </a:rPr>
              <a:t>Web</a:t>
            </a:r>
            <a:r>
              <a:rPr lang="zh-CN" altLang="zh-CN" sz="2000">
                <a:solidFill>
                  <a:srgbClr val="1369B2"/>
                </a:solidFill>
                <a:latin typeface="微软雅黑" panose="020B0503020204020204" pitchFamily="34" charset="-122"/>
                <a:ea typeface="微软雅黑" panose="020B0503020204020204" pitchFamily="34" charset="-122"/>
                <a:cs typeface="+mn-ea"/>
              </a:rPr>
              <a:t>页面</a:t>
            </a:r>
            <a:r>
              <a:rPr lang="zh-CN" altLang="zh-CN" sz="2000">
                <a:solidFill>
                  <a:srgbClr val="595959"/>
                </a:solidFill>
                <a:latin typeface="微软雅黑" panose="020B0503020204020204" pitchFamily="34" charset="-122"/>
                <a:ea typeface="微软雅黑" panose="020B0503020204020204" pitchFamily="34" charset="-122"/>
                <a:cs typeface="+mn-ea"/>
              </a:rPr>
              <a:t>通常由</a:t>
            </a:r>
            <a:r>
              <a:rPr lang="zh-CN" altLang="zh-CN" sz="2000" dirty="0">
                <a:solidFill>
                  <a:srgbClr val="1369B2"/>
                </a:solidFill>
                <a:latin typeface="微软雅黑" panose="020B0503020204020204" pitchFamily="34" charset="-122"/>
                <a:ea typeface="微软雅黑" panose="020B0503020204020204" pitchFamily="34" charset="-122"/>
                <a:cs typeface="+mn-ea"/>
              </a:rPr>
              <a:t>多种不同的标签组成</a:t>
            </a:r>
            <a:r>
              <a:rPr lang="zh-CN" altLang="zh-CN" sz="2000" dirty="0">
                <a:solidFill>
                  <a:srgbClr val="595959"/>
                </a:solidFill>
                <a:latin typeface="微软雅黑" panose="020B0503020204020204" pitchFamily="34" charset="-122"/>
                <a:ea typeface="微软雅黑" panose="020B0503020204020204" pitchFamily="34" charset="-122"/>
                <a:cs typeface="+mn-ea"/>
              </a:rPr>
              <a:t>，每种标签可能在</a:t>
            </a:r>
            <a:r>
              <a:rPr lang="zh-CN" altLang="zh-CN" sz="2000">
                <a:solidFill>
                  <a:srgbClr val="595959"/>
                </a:solidFill>
                <a:latin typeface="微软雅黑" panose="020B0503020204020204" pitchFamily="34" charset="-122"/>
                <a:ea typeface="微软雅黑" panose="020B0503020204020204" pitchFamily="34" charset="-122"/>
                <a:cs typeface="+mn-ea"/>
              </a:rPr>
              <a:t>页面中存在</a:t>
            </a:r>
            <a:r>
              <a:rPr lang="zh-CN" altLang="zh-CN" sz="2000" dirty="0">
                <a:solidFill>
                  <a:srgbClr val="595959"/>
                </a:solidFill>
                <a:latin typeface="微软雅黑" panose="020B0503020204020204" pitchFamily="34" charset="-122"/>
                <a:ea typeface="微软雅黑" panose="020B0503020204020204" pitchFamily="34" charset="-122"/>
                <a:cs typeface="+mn-ea"/>
              </a:rPr>
              <a:t>多个。如果定位到多个相同</a:t>
            </a:r>
            <a:r>
              <a:rPr lang="zh-CN" altLang="zh-CN" sz="2000">
                <a:solidFill>
                  <a:srgbClr val="595959"/>
                </a:solidFill>
                <a:latin typeface="微软雅黑" panose="020B0503020204020204" pitchFamily="34" charset="-122"/>
                <a:ea typeface="微软雅黑" panose="020B0503020204020204" pitchFamily="34" charset="-122"/>
                <a:cs typeface="+mn-ea"/>
              </a:rPr>
              <a:t>的标签，</a:t>
            </a:r>
            <a:r>
              <a:rPr lang="zh-CN" altLang="zh-CN" sz="2000" dirty="0">
                <a:solidFill>
                  <a:srgbClr val="595959"/>
                </a:solidFill>
                <a:latin typeface="微软雅黑" panose="020B0503020204020204" pitchFamily="34" charset="-122"/>
                <a:ea typeface="微软雅黑" panose="020B0503020204020204" pitchFamily="34" charset="-122"/>
                <a:cs typeface="+mn-ea"/>
              </a:rPr>
              <a:t>则程序</a:t>
            </a:r>
            <a:r>
              <a:rPr lang="zh-CN" altLang="zh-CN" sz="2000" dirty="0">
                <a:solidFill>
                  <a:srgbClr val="1369B2"/>
                </a:solidFill>
                <a:latin typeface="微软雅黑" panose="020B0503020204020204" pitchFamily="34" charset="-122"/>
                <a:ea typeface="微软雅黑" panose="020B0503020204020204" pitchFamily="34" charset="-122"/>
                <a:cs typeface="+mn-ea"/>
              </a:rPr>
              <a:t>默认只会定位第一个标签</a:t>
            </a:r>
            <a:r>
              <a:rPr lang="zh-CN" altLang="zh-CN" sz="2000" dirty="0">
                <a:solidFill>
                  <a:srgbClr val="595959"/>
                </a:solidFill>
                <a:latin typeface="微软雅黑" panose="020B0503020204020204" pitchFamily="34" charset="-122"/>
                <a:ea typeface="微软雅黑" panose="020B0503020204020204" pitchFamily="34" charset="-122"/>
                <a:cs typeface="+mn-ea"/>
              </a:rPr>
              <a:t>（在页面中从上到下排列后的第一个标签），在</a:t>
            </a:r>
            <a:r>
              <a:rPr lang="zh-CN" altLang="zh-CN" sz="2000">
                <a:solidFill>
                  <a:srgbClr val="595959"/>
                </a:solidFill>
                <a:latin typeface="微软雅黑" panose="020B0503020204020204" pitchFamily="34" charset="-122"/>
                <a:ea typeface="微软雅黑" panose="020B0503020204020204" pitchFamily="34" charset="-122"/>
                <a:cs typeface="+mn-ea"/>
              </a:rPr>
              <a:t>使用</a:t>
            </a:r>
            <a:r>
              <a:rPr lang="en-US" altLang="zh-CN" sz="2000">
                <a:solidFill>
                  <a:srgbClr val="1369B2"/>
                </a:solidFill>
                <a:latin typeface="微软雅黑" panose="020B0503020204020204" pitchFamily="34" charset="-122"/>
                <a:ea typeface="微软雅黑" panose="020B0503020204020204" pitchFamily="34" charset="-122"/>
                <a:cs typeface="+mn-ea"/>
              </a:rPr>
              <a:t>tag_name</a:t>
            </a:r>
            <a:r>
              <a:rPr lang="zh-CN" altLang="zh-CN" sz="2000" dirty="0">
                <a:solidFill>
                  <a:srgbClr val="595959"/>
                </a:solidFill>
                <a:latin typeface="微软雅黑" panose="020B0503020204020204" pitchFamily="34" charset="-122"/>
                <a:ea typeface="微软雅黑" panose="020B0503020204020204" pitchFamily="34" charset="-122"/>
                <a:cs typeface="+mn-ea"/>
              </a:rPr>
              <a:t>定位元素时，会无法精准定位每个元素，一般很少使用</a:t>
            </a:r>
            <a:r>
              <a:rPr lang="en-US" altLang="zh-CN" sz="2000" dirty="0" err="1">
                <a:solidFill>
                  <a:srgbClr val="1369B2"/>
                </a:solidFill>
                <a:latin typeface="微软雅黑" panose="020B0503020204020204" pitchFamily="34" charset="-122"/>
                <a:ea typeface="微软雅黑" panose="020B0503020204020204" pitchFamily="34" charset="-122"/>
                <a:cs typeface="+mn-ea"/>
              </a:rPr>
              <a:t>find_element_by_tag_name</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方法定位元素。</a:t>
            </a:r>
          </a:p>
        </p:txBody>
      </p:sp>
      <p:pic>
        <p:nvPicPr>
          <p:cNvPr id="6" name="图片 5"/>
          <p:cNvPicPr>
            <a:picLocks noChangeAspect="1"/>
          </p:cNvPicPr>
          <p:nvPr/>
        </p:nvPicPr>
        <p:blipFill>
          <a:blip r:embed="rId3"/>
          <a:stretch>
            <a:fillRect/>
          </a:stretch>
        </p:blipFill>
        <p:spPr>
          <a:xfrm>
            <a:off x="839386" y="1413456"/>
            <a:ext cx="3715858" cy="400615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30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a:solidFill>
                  <a:srgbClr val="595959"/>
                </a:solidFill>
                <a:latin typeface="微软雅黑" panose="020B0503020204020204" pitchFamily="34" charset="-122"/>
                <a:ea typeface="微软雅黑" panose="020B0503020204020204" pitchFamily="34" charset="-122"/>
                <a:cs typeface="+mn-ea"/>
                <a:sym typeface="+mn-lt"/>
              </a:rPr>
              <a:t>6.4.1 Selenium</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元素</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定位方法</a:t>
            </a:r>
          </a:p>
        </p:txBody>
      </p:sp>
      <p:sp>
        <p:nvSpPr>
          <p:cNvPr id="10" name="原创设计师QQ598969553          _9"/>
          <p:cNvSpPr txBox="1"/>
          <p:nvPr/>
        </p:nvSpPr>
        <p:spPr>
          <a:xfrm>
            <a:off x="911206" y="1629794"/>
            <a:ext cx="7128000" cy="2400657"/>
          </a:xfrm>
          <a:prstGeom prst="rect">
            <a:avLst/>
          </a:prstGeom>
          <a:noFill/>
        </p:spPr>
        <p:txBody>
          <a:bodyPr wrap="square" rtlCol="0">
            <a:spAutoFit/>
          </a:bodyPr>
          <a:lstStyle/>
          <a:p>
            <a:pPr>
              <a:lnSpc>
                <a:spcPct val="150000"/>
              </a:lnSpc>
            </a:pPr>
            <a:r>
              <a:rPr lang="zh-CN" altLang="zh-CN" sz="2000">
                <a:solidFill>
                  <a:srgbClr val="595959"/>
                </a:solidFill>
                <a:latin typeface="微软雅黑" panose="020B0503020204020204" pitchFamily="34" charset="-122"/>
                <a:ea typeface="微软雅黑" panose="020B0503020204020204" pitchFamily="34" charset="-122"/>
                <a:cs typeface="+mn-ea"/>
              </a:rPr>
              <a:t>在</a:t>
            </a:r>
            <a:r>
              <a:rPr lang="en-US" altLang="zh-CN" sz="2000">
                <a:solidFill>
                  <a:srgbClr val="595959"/>
                </a:solidFill>
                <a:latin typeface="微软雅黑" panose="020B0503020204020204" pitchFamily="34" charset="-122"/>
                <a:ea typeface="微软雅黑" panose="020B0503020204020204" pitchFamily="34" charset="-122"/>
                <a:cs typeface="+mn-ea"/>
              </a:rPr>
              <a:t>CSS</a:t>
            </a:r>
            <a:r>
              <a:rPr lang="zh-CN" altLang="zh-CN" sz="2000">
                <a:solidFill>
                  <a:srgbClr val="595959"/>
                </a:solidFill>
                <a:latin typeface="微软雅黑" panose="020B0503020204020204" pitchFamily="34" charset="-122"/>
                <a:ea typeface="微软雅黑" panose="020B0503020204020204" pitchFamily="34" charset="-122"/>
                <a:cs typeface="+mn-ea"/>
              </a:rPr>
              <a:t>选择</a:t>
            </a:r>
            <a:r>
              <a:rPr lang="zh-CN" altLang="zh-CN" sz="2000" dirty="0">
                <a:solidFill>
                  <a:srgbClr val="595959"/>
                </a:solidFill>
                <a:latin typeface="微软雅黑" panose="020B0503020204020204" pitchFamily="34" charset="-122"/>
                <a:ea typeface="微软雅黑" panose="020B0503020204020204" pitchFamily="34" charset="-122"/>
                <a:cs typeface="+mn-ea"/>
              </a:rPr>
              <a:t>器中，常用的选择器包括</a:t>
            </a:r>
            <a:r>
              <a:rPr lang="en-US" altLang="zh-CN" sz="2000" dirty="0">
                <a:solidFill>
                  <a:srgbClr val="1369B2"/>
                </a:solidFill>
                <a:latin typeface="微软雅黑" panose="020B0503020204020204" pitchFamily="34" charset="-122"/>
                <a:ea typeface="微软雅黑" panose="020B0503020204020204" pitchFamily="34" charset="-122"/>
                <a:cs typeface="+mn-ea"/>
              </a:rPr>
              <a:t>id</a:t>
            </a:r>
            <a:r>
              <a:rPr lang="zh-CN" altLang="zh-CN" sz="2000" dirty="0">
                <a:solidFill>
                  <a:srgbClr val="1369B2"/>
                </a:solidFill>
                <a:latin typeface="微软雅黑" panose="020B0503020204020204" pitchFamily="34" charset="-122"/>
                <a:ea typeface="微软雅黑" panose="020B0503020204020204" pitchFamily="34" charset="-122"/>
                <a:cs typeface="+mn-ea"/>
              </a:rPr>
              <a:t>选择器</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class</a:t>
            </a:r>
            <a:r>
              <a:rPr lang="zh-CN" altLang="zh-CN" sz="2000" dirty="0">
                <a:solidFill>
                  <a:srgbClr val="1369B2"/>
                </a:solidFill>
                <a:latin typeface="微软雅黑" panose="020B0503020204020204" pitchFamily="34" charset="-122"/>
                <a:ea typeface="微软雅黑" panose="020B0503020204020204" pitchFamily="34" charset="-122"/>
                <a:cs typeface="+mn-ea"/>
              </a:rPr>
              <a:t>选择器</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元素选择器、属性选择器</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cs typeface="+mn-ea"/>
              </a:rPr>
              <a:t>层级选择</a:t>
            </a:r>
            <a:r>
              <a:rPr lang="zh-CN" altLang="zh-CN" sz="2000">
                <a:solidFill>
                  <a:srgbClr val="1369B2"/>
                </a:solidFill>
                <a:latin typeface="微软雅黑" panose="020B0503020204020204" pitchFamily="34" charset="-122"/>
                <a:ea typeface="微软雅黑" panose="020B0503020204020204" pitchFamily="34" charset="-122"/>
                <a:cs typeface="+mn-ea"/>
              </a:rPr>
              <a:t>器</a:t>
            </a:r>
            <a:r>
              <a:rPr lang="zh-CN" altLang="zh-CN" sz="2000">
                <a:solidFill>
                  <a:srgbClr val="595959"/>
                </a:solidFill>
                <a:latin typeface="微软雅黑" panose="020B0503020204020204" pitchFamily="34" charset="-122"/>
                <a:ea typeface="微软雅黑" panose="020B0503020204020204" pitchFamily="34" charset="-122"/>
                <a:cs typeface="+mn-ea"/>
              </a:rPr>
              <a:t>等</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例如</a:t>
            </a:r>
            <a:r>
              <a:rPr lang="zh-CN" altLang="zh-CN" sz="2000" dirty="0">
                <a:solidFill>
                  <a:srgbClr val="595959"/>
                </a:solidFill>
                <a:latin typeface="微软雅黑" panose="020B0503020204020204" pitchFamily="34" charset="-122"/>
                <a:ea typeface="微软雅黑" panose="020B0503020204020204" pitchFamily="34" charset="-122"/>
                <a:cs typeface="+mn-ea"/>
              </a:rPr>
              <a:t>，在调用</a:t>
            </a:r>
            <a:r>
              <a:rPr lang="en-US" altLang="zh-CN" sz="2000" dirty="0" err="1">
                <a:solidFill>
                  <a:srgbClr val="1369B2"/>
                </a:solidFill>
                <a:latin typeface="微软雅黑" panose="020B0503020204020204" pitchFamily="34" charset="-122"/>
                <a:ea typeface="微软雅黑" panose="020B0503020204020204" pitchFamily="34" charset="-122"/>
                <a:cs typeface="+mn-ea"/>
              </a:rPr>
              <a:t>find_element_by_css_selector</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方法定位</a:t>
            </a:r>
            <a:r>
              <a:rPr lang="en-US" altLang="zh-CN" sz="2000" dirty="0">
                <a:solidFill>
                  <a:srgbClr val="595959"/>
                </a:solidFill>
                <a:latin typeface="微软雅黑" panose="020B0503020204020204" pitchFamily="34" charset="-122"/>
                <a:ea typeface="微软雅黑" panose="020B0503020204020204" pitchFamily="34" charset="-122"/>
                <a:cs typeface="+mn-ea"/>
              </a:rPr>
              <a:t>Web</a:t>
            </a:r>
            <a:r>
              <a:rPr lang="zh-CN" altLang="zh-CN" sz="2000" dirty="0">
                <a:solidFill>
                  <a:srgbClr val="595959"/>
                </a:solidFill>
                <a:latin typeface="微软雅黑" panose="020B0503020204020204" pitchFamily="34" charset="-122"/>
                <a:ea typeface="微软雅黑" panose="020B0503020204020204" pitchFamily="34" charset="-122"/>
                <a:cs typeface="+mn-ea"/>
              </a:rPr>
              <a:t>页面中的元素时，如果使用</a:t>
            </a:r>
            <a:r>
              <a:rPr lang="en-US" altLang="zh-CN" sz="2000" dirty="0">
                <a:solidFill>
                  <a:srgbClr val="1369B2"/>
                </a:solidFill>
                <a:latin typeface="微软雅黑" panose="020B0503020204020204" pitchFamily="34" charset="-122"/>
                <a:ea typeface="微软雅黑" panose="020B0503020204020204" pitchFamily="34" charset="-122"/>
                <a:cs typeface="+mn-ea"/>
              </a:rPr>
              <a:t>id</a:t>
            </a:r>
            <a:r>
              <a:rPr lang="zh-CN" altLang="zh-CN" sz="2000" dirty="0">
                <a:solidFill>
                  <a:srgbClr val="1369B2"/>
                </a:solidFill>
                <a:latin typeface="微软雅黑" panose="020B0503020204020204" pitchFamily="34" charset="-122"/>
                <a:ea typeface="微软雅黑" panose="020B0503020204020204" pitchFamily="34" charset="-122"/>
                <a:cs typeface="+mn-ea"/>
              </a:rPr>
              <a:t>选择器</a:t>
            </a:r>
            <a:r>
              <a:rPr lang="zh-CN" altLang="zh-CN" sz="2000" dirty="0">
                <a:solidFill>
                  <a:srgbClr val="595959"/>
                </a:solidFill>
                <a:latin typeface="微软雅黑" panose="020B0503020204020204" pitchFamily="34" charset="-122"/>
                <a:ea typeface="微软雅黑" panose="020B0503020204020204" pitchFamily="34" charset="-122"/>
                <a:cs typeface="+mn-ea"/>
              </a:rPr>
              <a:t>，则该方法中的参数写为</a:t>
            </a:r>
            <a:r>
              <a:rPr lang="en-US" altLang="zh-CN" sz="2000" dirty="0">
                <a:solidFill>
                  <a:srgbClr val="1369B2"/>
                </a:solidFill>
                <a:latin typeface="微软雅黑" panose="020B0503020204020204" pitchFamily="34" charset="-122"/>
                <a:ea typeface="微软雅黑" panose="020B0503020204020204" pitchFamily="34" charset="-122"/>
                <a:cs typeface="+mn-ea"/>
              </a:rPr>
              <a:t>#id</a:t>
            </a:r>
            <a:r>
              <a:rPr lang="zh-CN" altLang="zh-CN" sz="2000" dirty="0">
                <a:solidFill>
                  <a:srgbClr val="595959"/>
                </a:solidFill>
                <a:latin typeface="微软雅黑" panose="020B0503020204020204" pitchFamily="34" charset="-122"/>
                <a:ea typeface="微软雅黑" panose="020B0503020204020204" pitchFamily="34" charset="-122"/>
                <a:cs typeface="+mn-ea"/>
              </a:rPr>
              <a:t>；如果使用</a:t>
            </a:r>
            <a:r>
              <a:rPr lang="en-US" altLang="zh-CN" sz="2000" dirty="0" err="1">
                <a:solidFill>
                  <a:srgbClr val="1369B2"/>
                </a:solidFill>
                <a:latin typeface="微软雅黑" panose="020B0503020204020204" pitchFamily="34" charset="-122"/>
                <a:ea typeface="微软雅黑" panose="020B0503020204020204" pitchFamily="34" charset="-122"/>
                <a:cs typeface="+mn-ea"/>
              </a:rPr>
              <a:t>css</a:t>
            </a:r>
            <a:r>
              <a:rPr lang="zh-CN" altLang="zh-CN" sz="2000" dirty="0">
                <a:solidFill>
                  <a:srgbClr val="1369B2"/>
                </a:solidFill>
                <a:latin typeface="微软雅黑" panose="020B0503020204020204" pitchFamily="34" charset="-122"/>
                <a:ea typeface="微软雅黑" panose="020B0503020204020204" pitchFamily="34" charset="-122"/>
                <a:cs typeface="+mn-ea"/>
              </a:rPr>
              <a:t>选择器</a:t>
            </a:r>
            <a:r>
              <a:rPr lang="zh-CN" altLang="zh-CN" sz="2000" dirty="0">
                <a:solidFill>
                  <a:srgbClr val="595959"/>
                </a:solidFill>
                <a:latin typeface="微软雅黑" panose="020B0503020204020204" pitchFamily="34" charset="-122"/>
                <a:ea typeface="微软雅黑" panose="020B0503020204020204" pitchFamily="34" charset="-122"/>
                <a:cs typeface="+mn-ea"/>
              </a:rPr>
              <a:t>，则该方法中的参数写为</a:t>
            </a:r>
            <a:r>
              <a:rPr lang="en-US" altLang="zh-CN" sz="2000" dirty="0">
                <a:solidFill>
                  <a:srgbClr val="1369B2"/>
                </a:solidFill>
                <a:latin typeface="微软雅黑" panose="020B0503020204020204" pitchFamily="34" charset="-122"/>
                <a:ea typeface="微软雅黑" panose="020B0503020204020204" pitchFamily="34" charset="-122"/>
                <a:cs typeface="+mn-ea"/>
              </a:rPr>
              <a:t>.class</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p:txBody>
      </p:sp>
      <p:pic>
        <p:nvPicPr>
          <p:cNvPr id="6" name="Picture 2" descr="C:\Users\admin\Desktop\QQ截图20201109163646.png"/>
          <p:cNvPicPr>
            <a:picLocks noChangeAspect="1" noChangeArrowheads="1"/>
          </p:cNvPicPr>
          <p:nvPr/>
        </p:nvPicPr>
        <p:blipFill rotWithShape="1">
          <a:blip r:embed="rId3">
            <a:extLst>
              <a:ext uri="{28A0092B-C50C-407E-A947-70E740481C1C}">
                <a14:useLocalDpi xmlns:a14="http://schemas.microsoft.com/office/drawing/2010/main" val="0"/>
              </a:ext>
            </a:extLst>
          </a:blip>
          <a:srcRect r="5516"/>
          <a:stretch>
            <a:fillRect/>
          </a:stretch>
        </p:blipFill>
        <p:spPr bwMode="auto">
          <a:xfrm flipH="1">
            <a:off x="8458200" y="2103928"/>
            <a:ext cx="2946548" cy="34861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23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a:solidFill>
                  <a:srgbClr val="595959"/>
                </a:solidFill>
                <a:latin typeface="微软雅黑" panose="020B0503020204020204" pitchFamily="34" charset="-122"/>
                <a:ea typeface="微软雅黑" panose="020B0503020204020204" pitchFamily="34" charset="-122"/>
                <a:cs typeface="+mn-ea"/>
                <a:sym typeface="+mn-lt"/>
              </a:rPr>
              <a:t>6.4.1 Selenium</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元素</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定位方法</a:t>
            </a:r>
          </a:p>
        </p:txBody>
      </p:sp>
      <p:sp>
        <p:nvSpPr>
          <p:cNvPr id="2" name="矩形 1"/>
          <p:cNvSpPr/>
          <p:nvPr/>
        </p:nvSpPr>
        <p:spPr>
          <a:xfrm>
            <a:off x="1138638" y="1701794"/>
            <a:ext cx="10008000" cy="1938992"/>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一组元素的定位方法与单个元素的定位方法相似，不同的是，在定位一组元素的方法中，</a:t>
            </a:r>
            <a:r>
              <a:rPr lang="en-US" altLang="zh-CN" sz="2000" dirty="0">
                <a:solidFill>
                  <a:srgbClr val="1369B2"/>
                </a:solidFill>
                <a:latin typeface="微软雅黑" panose="020B0503020204020204" pitchFamily="34" charset="-122"/>
                <a:ea typeface="微软雅黑" panose="020B0503020204020204" pitchFamily="34" charset="-122"/>
                <a:cs typeface="+mn-ea"/>
              </a:rPr>
              <a:t>element</a:t>
            </a:r>
            <a:r>
              <a:rPr lang="zh-CN" altLang="zh-CN" sz="2000" dirty="0">
                <a:solidFill>
                  <a:srgbClr val="1369B2"/>
                </a:solidFill>
                <a:latin typeface="微软雅黑" panose="020B0503020204020204" pitchFamily="34" charset="-122"/>
                <a:ea typeface="微软雅黑" panose="020B0503020204020204" pitchFamily="34" charset="-122"/>
                <a:cs typeface="+mn-ea"/>
              </a:rPr>
              <a:t>需要使用复数形式</a:t>
            </a:r>
            <a:r>
              <a:rPr lang="zh-CN" altLang="zh-CN" sz="2000" dirty="0">
                <a:solidFill>
                  <a:srgbClr val="595959"/>
                </a:solidFill>
                <a:latin typeface="微软雅黑" panose="020B0503020204020204" pitchFamily="34" charset="-122"/>
                <a:ea typeface="微软雅黑" panose="020B0503020204020204" pitchFamily="34" charset="-122"/>
                <a:cs typeface="+mn-ea"/>
              </a:rPr>
              <a:t>，即</a:t>
            </a:r>
            <a:r>
              <a:rPr lang="en-US" altLang="zh-CN" sz="2000" dirty="0">
                <a:solidFill>
                  <a:srgbClr val="1369B2"/>
                </a:solidFill>
                <a:latin typeface="微软雅黑" panose="020B0503020204020204" pitchFamily="34" charset="-122"/>
                <a:ea typeface="微软雅黑" panose="020B0503020204020204" pitchFamily="34" charset="-122"/>
                <a:cs typeface="+mn-ea"/>
              </a:rPr>
              <a:t>elements</a:t>
            </a:r>
            <a:r>
              <a:rPr lang="zh-CN" altLang="zh-CN" sz="2000" dirty="0">
                <a:solidFill>
                  <a:srgbClr val="595959"/>
                </a:solidFill>
                <a:latin typeface="微软雅黑" panose="020B0503020204020204" pitchFamily="34" charset="-122"/>
                <a:ea typeface="微软雅黑" panose="020B0503020204020204" pitchFamily="34" charset="-122"/>
                <a:cs typeface="+mn-ea"/>
              </a:rPr>
              <a:t>。例如，在测试</a:t>
            </a:r>
            <a:r>
              <a:rPr lang="en-US" altLang="zh-CN" sz="2000" dirty="0">
                <a:solidFill>
                  <a:srgbClr val="595959"/>
                </a:solidFill>
                <a:latin typeface="微软雅黑" panose="020B0503020204020204" pitchFamily="34" charset="-122"/>
                <a:ea typeface="微软雅黑" panose="020B0503020204020204" pitchFamily="34" charset="-122"/>
                <a:cs typeface="+mn-ea"/>
              </a:rPr>
              <a:t>Web</a:t>
            </a:r>
            <a:r>
              <a:rPr lang="zh-CN" altLang="zh-CN" sz="2000" dirty="0">
                <a:solidFill>
                  <a:srgbClr val="595959"/>
                </a:solidFill>
                <a:latin typeface="微软雅黑" panose="020B0503020204020204" pitchFamily="34" charset="-122"/>
                <a:ea typeface="微软雅黑" panose="020B0503020204020204" pitchFamily="34" charset="-122"/>
                <a:cs typeface="+mn-ea"/>
              </a:rPr>
              <a:t>页面时，如果需要通过元素的</a:t>
            </a:r>
            <a:r>
              <a:rPr lang="en-US" altLang="zh-CN" sz="2000" dirty="0">
                <a:solidFill>
                  <a:srgbClr val="1369B2"/>
                </a:solidFill>
                <a:latin typeface="微软雅黑" panose="020B0503020204020204" pitchFamily="34" charset="-122"/>
                <a:ea typeface="微软雅黑" panose="020B0503020204020204" pitchFamily="34" charset="-122"/>
                <a:cs typeface="+mn-ea"/>
              </a:rPr>
              <a:t>id</a:t>
            </a:r>
            <a:r>
              <a:rPr lang="zh-CN" altLang="zh-CN" sz="2000" dirty="0">
                <a:solidFill>
                  <a:srgbClr val="1369B2"/>
                </a:solidFill>
                <a:latin typeface="微软雅黑" panose="020B0503020204020204" pitchFamily="34" charset="-122"/>
                <a:ea typeface="微软雅黑" panose="020B0503020204020204" pitchFamily="34" charset="-122"/>
                <a:cs typeface="+mn-ea"/>
              </a:rPr>
              <a:t>属性值定位一组元素</a:t>
            </a:r>
            <a:r>
              <a:rPr lang="zh-CN" altLang="zh-CN" sz="2000" dirty="0">
                <a:solidFill>
                  <a:srgbClr val="595959"/>
                </a:solidFill>
                <a:latin typeface="微软雅黑" panose="020B0503020204020204" pitchFamily="34" charset="-122"/>
                <a:ea typeface="微软雅黑" panose="020B0503020204020204" pitchFamily="34" charset="-122"/>
                <a:cs typeface="+mn-ea"/>
              </a:rPr>
              <a:t>，则可以调用</a:t>
            </a:r>
            <a:r>
              <a:rPr lang="en-US" altLang="zh-CN" sz="2000" dirty="0" err="1">
                <a:solidFill>
                  <a:srgbClr val="1369B2"/>
                </a:solidFill>
                <a:latin typeface="微软雅黑" panose="020B0503020204020204" pitchFamily="34" charset="-122"/>
                <a:ea typeface="微软雅黑" panose="020B0503020204020204" pitchFamily="34" charset="-122"/>
                <a:cs typeface="+mn-ea"/>
              </a:rPr>
              <a:t>find_elements_by_id</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方法；如果需要通过</a:t>
            </a:r>
            <a:r>
              <a:rPr lang="zh-CN" altLang="zh-CN" sz="2000">
                <a:solidFill>
                  <a:srgbClr val="595959"/>
                </a:solidFill>
                <a:latin typeface="微软雅黑" panose="020B0503020204020204" pitchFamily="34" charset="-122"/>
                <a:ea typeface="微软雅黑" panose="020B0503020204020204" pitchFamily="34" charset="-122"/>
                <a:cs typeface="+mn-ea"/>
              </a:rPr>
              <a:t>元素的</a:t>
            </a:r>
            <a:r>
              <a:rPr lang="en-US" altLang="zh-CN" sz="2000">
                <a:solidFill>
                  <a:srgbClr val="1369B2"/>
                </a:solidFill>
                <a:latin typeface="微软雅黑" panose="020B0503020204020204" pitchFamily="34" charset="-122"/>
                <a:ea typeface="微软雅黑" panose="020B0503020204020204" pitchFamily="34" charset="-122"/>
                <a:cs typeface="+mn-ea"/>
              </a:rPr>
              <a:t>CSS</a:t>
            </a:r>
            <a:r>
              <a:rPr lang="zh-CN" altLang="zh-CN" sz="2000">
                <a:solidFill>
                  <a:srgbClr val="1369B2"/>
                </a:solidFill>
                <a:latin typeface="微软雅黑" panose="020B0503020204020204" pitchFamily="34" charset="-122"/>
                <a:ea typeface="微软雅黑" panose="020B0503020204020204" pitchFamily="34" charset="-122"/>
                <a:cs typeface="+mn-ea"/>
              </a:rPr>
              <a:t>选择</a:t>
            </a:r>
            <a:r>
              <a:rPr lang="zh-CN" altLang="zh-CN" sz="2000" dirty="0">
                <a:solidFill>
                  <a:srgbClr val="1369B2"/>
                </a:solidFill>
                <a:latin typeface="微软雅黑" panose="020B0503020204020204" pitchFamily="34" charset="-122"/>
                <a:ea typeface="微软雅黑" panose="020B0503020204020204" pitchFamily="34" charset="-122"/>
                <a:cs typeface="+mn-ea"/>
              </a:rPr>
              <a:t>器定位一组元素</a:t>
            </a:r>
            <a:r>
              <a:rPr lang="zh-CN" altLang="zh-CN" sz="2000" dirty="0">
                <a:solidFill>
                  <a:srgbClr val="595959"/>
                </a:solidFill>
                <a:latin typeface="微软雅黑" panose="020B0503020204020204" pitchFamily="34" charset="-122"/>
                <a:ea typeface="微软雅黑" panose="020B0503020204020204" pitchFamily="34" charset="-122"/>
                <a:cs typeface="+mn-ea"/>
              </a:rPr>
              <a:t>，则可以调用</a:t>
            </a:r>
            <a:r>
              <a:rPr lang="en-US" altLang="zh-CN" sz="2000" dirty="0" err="1">
                <a:solidFill>
                  <a:srgbClr val="1369B2"/>
                </a:solidFill>
                <a:latin typeface="微软雅黑" panose="020B0503020204020204" pitchFamily="34" charset="-122"/>
                <a:ea typeface="微软雅黑" panose="020B0503020204020204" pitchFamily="34" charset="-122"/>
                <a:cs typeface="+mn-ea"/>
              </a:rPr>
              <a:t>find_elements_by_css_selector</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方法。</a:t>
            </a:r>
          </a:p>
        </p:txBody>
      </p:sp>
      <p:sp>
        <p:nvSpPr>
          <p:cNvPr id="7" name="矩形 6"/>
          <p:cNvSpPr/>
          <p:nvPr/>
        </p:nvSpPr>
        <p:spPr>
          <a:xfrm>
            <a:off x="1143690" y="1115053"/>
            <a:ext cx="2725426" cy="400110"/>
          </a:xfrm>
          <a:prstGeom prst="rect">
            <a:avLst/>
          </a:prstGeom>
        </p:spPr>
        <p:txBody>
          <a:bodyPr wrap="none">
            <a:spAutoFit/>
          </a:bodyPr>
          <a:lstStyle/>
          <a:p>
            <a:pPr lvl="0"/>
            <a:r>
              <a:rPr lang="en-US" altLang="zh-CN" sz="2000" b="1" dirty="0">
                <a:solidFill>
                  <a:srgbClr val="595959"/>
                </a:solidFill>
                <a:latin typeface="微软雅黑" panose="020B0503020204020204" pitchFamily="34" charset="-122"/>
                <a:ea typeface="微软雅黑" panose="020B0503020204020204" pitchFamily="34" charset="-122"/>
                <a:cs typeface="+mn-ea"/>
              </a:rPr>
              <a:t>2.</a:t>
            </a:r>
            <a:r>
              <a:rPr lang="zh-CN" altLang="en-US" sz="2000" b="1" dirty="0">
                <a:solidFill>
                  <a:srgbClr val="595959"/>
                </a:solidFill>
                <a:latin typeface="微软雅黑" panose="020B0503020204020204" pitchFamily="34" charset="-122"/>
                <a:ea typeface="微软雅黑" panose="020B0503020204020204" pitchFamily="34" charset="-122"/>
                <a:cs typeface="+mn-ea"/>
              </a:rPr>
              <a:t>一组</a:t>
            </a:r>
            <a:r>
              <a:rPr lang="zh-CN" altLang="zh-CN" sz="2000" b="1" dirty="0">
                <a:solidFill>
                  <a:srgbClr val="595959"/>
                </a:solidFill>
                <a:latin typeface="微软雅黑" panose="020B0503020204020204" pitchFamily="34" charset="-122"/>
                <a:ea typeface="微软雅黑" panose="020B0503020204020204" pitchFamily="34" charset="-122"/>
                <a:cs typeface="+mn-ea"/>
              </a:rPr>
              <a:t>元素的定位方法</a:t>
            </a:r>
          </a:p>
        </p:txBody>
      </p:sp>
    </p:spTree>
  </p:cSld>
  <p:clrMapOvr>
    <a:masterClrMapping/>
  </p:clrMapOvr>
  <mc:AlternateContent xmlns:mc="http://schemas.openxmlformats.org/markup-compatibility/2006" xmlns:p14="http://schemas.microsoft.com/office/powerpoint/2010/main">
    <mc:Choice Requires="p14">
      <p:transition p14:dur="10" advTm="3000"/>
    </mc:Choice>
    <mc:Fallback xmlns="">
      <p:transition advTm="300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1"/>
          <p:cNvSpPr txBox="1"/>
          <p:nvPr/>
        </p:nvSpPr>
        <p:spPr>
          <a:xfrm>
            <a:off x="1143690" y="266995"/>
            <a:ext cx="430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a:solidFill>
                  <a:srgbClr val="595959"/>
                </a:solidFill>
                <a:latin typeface="微软雅黑" panose="020B0503020204020204" pitchFamily="34" charset="-122"/>
                <a:ea typeface="微软雅黑" panose="020B0503020204020204" pitchFamily="34" charset="-122"/>
                <a:cs typeface="+mn-ea"/>
                <a:sym typeface="+mn-lt"/>
              </a:rPr>
              <a:t>6.4.1 Selenium</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元素</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定位方法</a:t>
            </a:r>
          </a:p>
        </p:txBody>
      </p:sp>
      <p:pic>
        <p:nvPicPr>
          <p:cNvPr id="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70000"/>
            <a:ext cx="4747260" cy="46729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3092099" y="1725581"/>
            <a:ext cx="1233467" cy="75156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a:lnSpc>
                <a:spcPct val="150000"/>
              </a:lnSpc>
              <a:buNone/>
              <a:defRPr/>
            </a:pPr>
            <a:r>
              <a:rPr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注 意</a:t>
            </a:r>
            <a:endParaRPr lang="zh-CN" altLang="zh-CN"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框 2"/>
          <p:cNvSpPr txBox="1"/>
          <p:nvPr/>
        </p:nvSpPr>
        <p:spPr>
          <a:xfrm>
            <a:off x="4983948" y="2101362"/>
            <a:ext cx="6407976" cy="2304000"/>
          </a:xfrm>
          <a:prstGeom prst="rect">
            <a:avLst/>
          </a:prstGeom>
          <a:noFill/>
        </p:spPr>
        <p:txBody>
          <a:bodyPr wrap="square" rtlCol="0" anchor="t">
            <a:no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当使用元素的</a:t>
            </a:r>
            <a:r>
              <a:rPr lang="en-US" altLang="zh-CN" sz="2000" dirty="0">
                <a:solidFill>
                  <a:srgbClr val="1369B2"/>
                </a:solidFill>
                <a:latin typeface="微软雅黑" panose="020B0503020204020204" pitchFamily="34" charset="-122"/>
                <a:ea typeface="微软雅黑" panose="020B0503020204020204" pitchFamily="34" charset="-122"/>
                <a:cs typeface="+mn-ea"/>
              </a:rPr>
              <a:t>id</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cs typeface="+mn-ea"/>
              </a:rPr>
              <a:t>name</a:t>
            </a:r>
            <a:r>
              <a:rPr lang="zh-CN" altLang="zh-CN" sz="2000" dirty="0">
                <a:solidFill>
                  <a:srgbClr val="595959"/>
                </a:solidFill>
                <a:latin typeface="微软雅黑" panose="020B0503020204020204" pitchFamily="34" charset="-122"/>
                <a:ea typeface="微软雅黑" panose="020B0503020204020204" pitchFamily="34" charset="-122"/>
              </a:rPr>
              <a:t>或</a:t>
            </a:r>
            <a:r>
              <a:rPr lang="en-US" altLang="zh-CN" sz="2000" dirty="0">
                <a:solidFill>
                  <a:srgbClr val="1369B2"/>
                </a:solidFill>
                <a:latin typeface="微软雅黑" panose="020B0503020204020204" pitchFamily="34" charset="-122"/>
                <a:ea typeface="微软雅黑" panose="020B0503020204020204" pitchFamily="34" charset="-122"/>
                <a:cs typeface="+mn-ea"/>
              </a:rPr>
              <a:t>class</a:t>
            </a:r>
            <a:r>
              <a:rPr lang="zh-CN" altLang="zh-CN" sz="2000" dirty="0">
                <a:solidFill>
                  <a:srgbClr val="595959"/>
                </a:solidFill>
                <a:latin typeface="微软雅黑" panose="020B0503020204020204" pitchFamily="34" charset="-122"/>
                <a:ea typeface="微软雅黑" panose="020B0503020204020204" pitchFamily="34" charset="-122"/>
              </a:rPr>
              <a:t>属性进行定位时，</a:t>
            </a:r>
            <a:r>
              <a:rPr lang="zh-CN" altLang="zh-CN" sz="2000" dirty="0">
                <a:solidFill>
                  <a:srgbClr val="1369B2"/>
                </a:solidFill>
                <a:latin typeface="微软雅黑" panose="020B0503020204020204" pitchFamily="34" charset="-122"/>
                <a:ea typeface="微软雅黑" panose="020B0503020204020204" pitchFamily="34" charset="-122"/>
                <a:cs typeface="+mn-ea"/>
              </a:rPr>
              <a:t>要确保这些属性的值在页面中是唯一的</a:t>
            </a:r>
            <a:r>
              <a:rPr lang="zh-CN" altLang="zh-CN" sz="2000" dirty="0">
                <a:solidFill>
                  <a:srgbClr val="595959"/>
                </a:solidFill>
                <a:latin typeface="微软雅黑" panose="020B0503020204020204" pitchFamily="34" charset="-122"/>
                <a:ea typeface="微软雅黑" panose="020B0503020204020204" pitchFamily="34" charset="-122"/>
              </a:rPr>
              <a:t>，否则程序将出现定位不到元素的问题</a:t>
            </a:r>
            <a:r>
              <a:rPr lang="zh-CN" altLang="en-US" sz="2000" dirty="0">
                <a:solidFill>
                  <a:srgbClr val="595959"/>
                </a:solidFill>
                <a:latin typeface="微软雅黑" panose="020B0503020204020204" pitchFamily="34" charset="-122"/>
                <a:ea typeface="微软雅黑" panose="020B0503020204020204" pitchFamily="34" charset="-122"/>
              </a:rPr>
              <a:t>。</a:t>
            </a:r>
          </a:p>
          <a:p>
            <a:endPar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文本框 27"/>
          <p:cNvSpPr txBox="1"/>
          <p:nvPr/>
        </p:nvSpPr>
        <p:spPr>
          <a:xfrm>
            <a:off x="1126253" y="845627"/>
            <a:ext cx="10120750" cy="1079839"/>
          </a:xfrm>
          <a:prstGeom prst="rect">
            <a:avLst/>
          </a:prstGeom>
          <a:noFill/>
        </p:spPr>
        <p:txBody>
          <a:bodyPr wrap="square" rtlCol="0" anchor="t">
            <a:noAutofit/>
          </a:bodyPr>
          <a:lstStyle/>
          <a:p>
            <a:pPr algn="just">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下面在</a:t>
            </a:r>
            <a:r>
              <a:rPr lang="en-US" altLang="zh-CN" sz="2000" dirty="0" err="1">
                <a:solidFill>
                  <a:srgbClr val="595959"/>
                </a:solidFill>
                <a:latin typeface="微软雅黑" panose="020B0503020204020204" pitchFamily="34" charset="-122"/>
                <a:ea typeface="微软雅黑" panose="020B0503020204020204" pitchFamily="34" charset="-122"/>
              </a:rPr>
              <a:t>PyCharm</a:t>
            </a:r>
            <a:r>
              <a:rPr lang="zh-CN" altLang="zh-CN" sz="2000" dirty="0">
                <a:solidFill>
                  <a:srgbClr val="595959"/>
                </a:solidFill>
                <a:latin typeface="微软雅黑" panose="020B0503020204020204" pitchFamily="34" charset="-122"/>
                <a:ea typeface="微软雅黑" panose="020B0503020204020204" pitchFamily="34" charset="-122"/>
              </a:rPr>
              <a:t>的</a:t>
            </a:r>
            <a:r>
              <a:rPr lang="en-US" altLang="zh-CN" sz="2000" dirty="0">
                <a:solidFill>
                  <a:srgbClr val="0070C0"/>
                </a:solidFill>
                <a:latin typeface="微软雅黑" panose="020B0503020204020204" pitchFamily="34" charset="-122"/>
                <a:ea typeface="微软雅黑" panose="020B0503020204020204" pitchFamily="34" charset="-122"/>
              </a:rPr>
              <a:t>Chapter06</a:t>
            </a:r>
            <a:r>
              <a:rPr lang="zh-CN" altLang="zh-CN" sz="2000" dirty="0">
                <a:solidFill>
                  <a:srgbClr val="595959"/>
                </a:solidFill>
                <a:latin typeface="微软雅黑" panose="020B0503020204020204" pitchFamily="34" charset="-122"/>
                <a:ea typeface="微软雅黑" panose="020B0503020204020204" pitchFamily="34" charset="-122"/>
              </a:rPr>
              <a:t>程序中创建</a:t>
            </a:r>
            <a:r>
              <a:rPr lang="en-US" altLang="zh-CN" sz="2000" dirty="0">
                <a:solidFill>
                  <a:srgbClr val="0070C0"/>
                </a:solidFill>
                <a:latin typeface="微软雅黑" panose="020B0503020204020204" pitchFamily="34" charset="-122"/>
                <a:ea typeface="微软雅黑" panose="020B0503020204020204" pitchFamily="34" charset="-122"/>
              </a:rPr>
              <a:t>location_element.py</a:t>
            </a:r>
            <a:r>
              <a:rPr lang="zh-CN" altLang="zh-CN" sz="2000" dirty="0">
                <a:solidFill>
                  <a:srgbClr val="595959"/>
                </a:solidFill>
                <a:latin typeface="微软雅黑" panose="020B0503020204020204" pitchFamily="34" charset="-122"/>
                <a:ea typeface="微软雅黑" panose="020B0503020204020204" pitchFamily="34" charset="-122"/>
              </a:rPr>
              <a:t>文件，然后在该文件中调用元素定位方法，</a:t>
            </a:r>
            <a:r>
              <a:rPr lang="zh-CN" altLang="zh-CN" sz="2000">
                <a:solidFill>
                  <a:srgbClr val="595959"/>
                </a:solidFill>
                <a:latin typeface="微软雅黑" panose="020B0503020204020204" pitchFamily="34" charset="-122"/>
                <a:ea typeface="微软雅黑" panose="020B0503020204020204" pitchFamily="34" charset="-122"/>
              </a:rPr>
              <a:t>分别定位</a:t>
            </a:r>
            <a:r>
              <a:rPr lang="zh-CN" altLang="en-US" sz="2000">
                <a:solidFill>
                  <a:srgbClr val="0070C0"/>
                </a:solidFill>
                <a:latin typeface="微软雅黑" panose="020B0503020204020204" pitchFamily="34" charset="-122"/>
                <a:ea typeface="微软雅黑" panose="020B0503020204020204" pitchFamily="34" charset="-122"/>
              </a:rPr>
              <a:t>“</a:t>
            </a:r>
            <a:r>
              <a:rPr lang="zh-CN" altLang="zh-CN" sz="2000">
                <a:solidFill>
                  <a:srgbClr val="0070C0"/>
                </a:solidFill>
                <a:latin typeface="微软雅黑" panose="020B0503020204020204" pitchFamily="34" charset="-122"/>
                <a:ea typeface="微软雅黑" panose="020B0503020204020204" pitchFamily="34" charset="-122"/>
              </a:rPr>
              <a:t>搜索商品</a:t>
            </a:r>
            <a:r>
              <a:rPr lang="zh-CN" altLang="en-US" sz="2000">
                <a:solidFill>
                  <a:srgbClr val="0070C0"/>
                </a:solidFill>
                <a:latin typeface="微软雅黑" panose="020B0503020204020204" pitchFamily="34" charset="-122"/>
                <a:ea typeface="微软雅黑" panose="020B0503020204020204" pitchFamily="34" charset="-122"/>
              </a:rPr>
              <a:t>”</a:t>
            </a:r>
            <a:r>
              <a:rPr lang="zh-CN" altLang="zh-CN" sz="2000">
                <a:solidFill>
                  <a:srgbClr val="0070C0"/>
                </a:solidFill>
                <a:latin typeface="微软雅黑" panose="020B0503020204020204" pitchFamily="34" charset="-122"/>
                <a:ea typeface="微软雅黑" panose="020B0503020204020204" pitchFamily="34" charset="-122"/>
              </a:rPr>
              <a:t>输入</a:t>
            </a:r>
            <a:r>
              <a:rPr lang="zh-CN" altLang="zh-CN" sz="2000" dirty="0">
                <a:solidFill>
                  <a:srgbClr val="0070C0"/>
                </a:solidFill>
                <a:latin typeface="微软雅黑" panose="020B0503020204020204" pitchFamily="34" charset="-122"/>
                <a:ea typeface="微软雅黑" panose="020B0503020204020204" pitchFamily="34" charset="-122"/>
              </a:rPr>
              <a:t>框、“搜索”按钮</a:t>
            </a:r>
            <a:r>
              <a:rPr lang="zh-CN" altLang="zh-CN" sz="2000">
                <a:solidFill>
                  <a:srgbClr val="595959"/>
                </a:solidFill>
                <a:latin typeface="微软雅黑" panose="020B0503020204020204" pitchFamily="34" charset="-122"/>
                <a:ea typeface="微软雅黑" panose="020B0503020204020204" pitchFamily="34" charset="-122"/>
              </a:rPr>
              <a:t>和</a:t>
            </a:r>
            <a:r>
              <a:rPr lang="zh-CN" altLang="zh-CN" sz="2000">
                <a:solidFill>
                  <a:srgbClr val="0070C0"/>
                </a:solidFill>
                <a:latin typeface="微软雅黑" panose="020B0503020204020204" pitchFamily="34" charset="-122"/>
                <a:ea typeface="微软雅黑" panose="020B0503020204020204" pitchFamily="34" charset="-122"/>
              </a:rPr>
              <a:t>“购物车”文本</a:t>
            </a:r>
            <a:r>
              <a:rPr lang="zh-CN" altLang="en-US" sz="2000">
                <a:solidFill>
                  <a:srgbClr val="0070C0"/>
                </a:solidFill>
                <a:latin typeface="微软雅黑" panose="020B0503020204020204" pitchFamily="34" charset="-122"/>
                <a:ea typeface="微软雅黑" panose="020B0503020204020204" pitchFamily="34" charset="-122"/>
              </a:rPr>
              <a:t>超</a:t>
            </a:r>
            <a:r>
              <a:rPr lang="zh-CN" altLang="zh-CN" sz="2000">
                <a:solidFill>
                  <a:srgbClr val="0070C0"/>
                </a:solidFill>
                <a:latin typeface="微软雅黑" panose="020B0503020204020204" pitchFamily="34" charset="-122"/>
                <a:ea typeface="微软雅黑" panose="020B0503020204020204" pitchFamily="34" charset="-122"/>
              </a:rPr>
              <a:t>链接</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sym typeface="+mn-ea"/>
              </a:rPr>
              <a:t>	</a:t>
            </a:r>
          </a:p>
        </p:txBody>
      </p:sp>
      <p:sp>
        <p:nvSpPr>
          <p:cNvPr id="33" name="Title 1"/>
          <p:cNvSpPr txBox="1"/>
          <p:nvPr/>
        </p:nvSpPr>
        <p:spPr>
          <a:xfrm>
            <a:off x="1143690" y="266995"/>
            <a:ext cx="423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a:solidFill>
                  <a:srgbClr val="595959"/>
                </a:solidFill>
                <a:latin typeface="微软雅黑" panose="020B0503020204020204" pitchFamily="34" charset="-122"/>
                <a:ea typeface="微软雅黑" panose="020B0503020204020204" pitchFamily="34" charset="-122"/>
                <a:cs typeface="+mn-ea"/>
                <a:sym typeface="+mn-lt"/>
              </a:rPr>
              <a:t>6.4.1 Selenium</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元素</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定位方法</a:t>
            </a:r>
          </a:p>
        </p:txBody>
      </p:sp>
      <p:sp>
        <p:nvSpPr>
          <p:cNvPr id="7" name="文本框 5"/>
          <p:cNvSpPr txBox="1"/>
          <p:nvPr/>
        </p:nvSpPr>
        <p:spPr>
          <a:xfrm>
            <a:off x="1334135" y="1935034"/>
            <a:ext cx="9704987" cy="4801314"/>
          </a:xfrm>
          <a:prstGeom prst="rect">
            <a:avLst/>
          </a:prstGeom>
          <a:solidFill>
            <a:srgbClr val="F2F2F2"/>
          </a:solidFill>
        </p:spPr>
        <p:txBody>
          <a:bodyPr wrap="square" rtlCol="0">
            <a:spAutoFit/>
          </a:bodyPr>
          <a:lstStyle/>
          <a:p>
            <a:pPr>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from selenium </a:t>
            </a:r>
            <a:r>
              <a:rPr lang="en-US" altLang="zh-CN" sz="2000" dirty="0">
                <a:solidFill>
                  <a:srgbClr val="595959"/>
                </a:solidFill>
                <a:latin typeface="微软雅黑" panose="020B0503020204020204" pitchFamily="34" charset="-122"/>
                <a:ea typeface="微软雅黑" panose="020B0503020204020204" pitchFamily="34" charset="-122"/>
                <a:cs typeface="+mn-ea"/>
              </a:rPr>
              <a:t>import </a:t>
            </a:r>
            <a:r>
              <a:rPr lang="en-US" altLang="zh-CN" sz="2000" dirty="0" err="1">
                <a:solidFill>
                  <a:srgbClr val="595959"/>
                </a:solidFill>
                <a:latin typeface="微软雅黑" panose="020B0503020204020204" pitchFamily="34" charset="-122"/>
                <a:ea typeface="微软雅黑" panose="020B0503020204020204" pitchFamily="34" charset="-122"/>
                <a:cs typeface="+mn-ea"/>
              </a:rPr>
              <a:t>webdriver</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driver = </a:t>
            </a:r>
            <a:r>
              <a:rPr lang="en-US" altLang="zh-CN" sz="2000" dirty="0" err="1">
                <a:solidFill>
                  <a:srgbClr val="595959"/>
                </a:solidFill>
                <a:latin typeface="微软雅黑" panose="020B0503020204020204" pitchFamily="34" charset="-122"/>
                <a:ea typeface="微软雅黑" panose="020B0503020204020204" pitchFamily="34" charset="-122"/>
                <a:cs typeface="+mn-ea"/>
              </a:rPr>
              <a:t>webdriver.Chrome</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url</a:t>
            </a:r>
            <a:r>
              <a:rPr lang="en-US" altLang="zh-CN" sz="2000" dirty="0">
                <a:solidFill>
                  <a:srgbClr val="595959"/>
                </a:solidFill>
                <a:latin typeface="微软雅黑" panose="020B0503020204020204" pitchFamily="34" charset="-122"/>
                <a:ea typeface="微软雅黑" panose="020B0503020204020204" pitchFamily="34" charset="-122"/>
                <a:cs typeface="+mn-ea"/>
              </a:rPr>
              <a:t> = "</a:t>
            </a:r>
            <a:r>
              <a:rPr lang="en-US" altLang="zh-CN" sz="2000">
                <a:solidFill>
                  <a:srgbClr val="595959"/>
                </a:solidFill>
                <a:latin typeface="微软雅黑" panose="020B0503020204020204" pitchFamily="34" charset="-122"/>
                <a:ea typeface="微软雅黑" panose="020B0503020204020204" pitchFamily="34" charset="-122"/>
                <a:cs typeface="+mn-ea"/>
              </a:rPr>
              <a:t>http://hmshop-test.itheima.net</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driver.get</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mn-ea"/>
              </a:rPr>
              <a:t>url</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定位</a:t>
            </a:r>
            <a:r>
              <a:rPr lang="en-US"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搜索商品</a:t>
            </a:r>
            <a:r>
              <a:rPr lang="en-US"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输入</a:t>
            </a:r>
            <a:r>
              <a:rPr lang="zh-CN" altLang="zh-CN" sz="2000" dirty="0">
                <a:solidFill>
                  <a:srgbClr val="595959"/>
                </a:solidFill>
                <a:latin typeface="微软雅黑" panose="020B0503020204020204" pitchFamily="34" charset="-122"/>
                <a:ea typeface="微软雅黑" panose="020B0503020204020204" pitchFamily="34" charset="-122"/>
                <a:cs typeface="+mn-ea"/>
              </a:rPr>
              <a:t>框</a:t>
            </a:r>
          </a:p>
          <a:p>
            <a:pPr>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driver.find_element_by_name</a:t>
            </a:r>
            <a:r>
              <a:rPr lang="en-US" altLang="zh-CN" sz="2000" dirty="0">
                <a:solidFill>
                  <a:srgbClr val="595959"/>
                </a:solidFill>
                <a:latin typeface="微软雅黑" panose="020B0503020204020204" pitchFamily="34" charset="-122"/>
                <a:ea typeface="微软雅黑" panose="020B0503020204020204" pitchFamily="34" charset="-122"/>
                <a:cs typeface="+mn-ea"/>
              </a:rPr>
              <a:t>("q")</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定位</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搜索</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按钮</a:t>
            </a:r>
          </a:p>
          <a:p>
            <a:pPr>
              <a:lnSpc>
                <a:spcPct val="150000"/>
              </a:lnSpc>
            </a:pPr>
            <a:r>
              <a:rPr lang="en-US" altLang="zh-CN" sz="2000" err="1">
                <a:solidFill>
                  <a:srgbClr val="595959"/>
                </a:solidFill>
                <a:latin typeface="微软雅黑" panose="020B0503020204020204" pitchFamily="34" charset="-122"/>
                <a:ea typeface="微软雅黑" panose="020B0503020204020204" pitchFamily="34" charset="-122"/>
                <a:cs typeface="+mn-ea"/>
              </a:rPr>
              <a:t>driver.find_element_by_xpath</a:t>
            </a:r>
            <a:r>
              <a:rPr lang="en-US" altLang="zh-CN" sz="2000">
                <a:solidFill>
                  <a:srgbClr val="595959"/>
                </a:solidFill>
                <a:latin typeface="微软雅黑" panose="020B0503020204020204" pitchFamily="34" charset="-122"/>
                <a:ea typeface="微软雅黑" panose="020B0503020204020204" pitchFamily="34" charset="-122"/>
                <a:cs typeface="+mn-ea"/>
              </a:rPr>
              <a:t>("'//*[@id="searchForm"]/button'")</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定位</a:t>
            </a:r>
            <a:r>
              <a:rPr lang="en-US"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购物车</a:t>
            </a:r>
            <a:r>
              <a:rPr lang="en-US"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文本</a:t>
            </a:r>
            <a:r>
              <a:rPr lang="zh-CN" altLang="en-US" sz="2000">
                <a:solidFill>
                  <a:srgbClr val="595959"/>
                </a:solidFill>
                <a:latin typeface="微软雅黑" panose="020B0503020204020204" pitchFamily="34" charset="-122"/>
                <a:ea typeface="微软雅黑" panose="020B0503020204020204" pitchFamily="34" charset="-122"/>
                <a:cs typeface="+mn-ea"/>
              </a:rPr>
              <a:t>超</a:t>
            </a:r>
            <a:r>
              <a:rPr lang="zh-CN" altLang="zh-CN" sz="2000">
                <a:solidFill>
                  <a:srgbClr val="595959"/>
                </a:solidFill>
                <a:latin typeface="微软雅黑" panose="020B0503020204020204" pitchFamily="34" charset="-122"/>
                <a:ea typeface="微软雅黑" panose="020B0503020204020204" pitchFamily="34" charset="-122"/>
                <a:cs typeface="+mn-ea"/>
              </a:rPr>
              <a:t>链接</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driver.find_element_by_class_name(“c-n")</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形 22" descr="讲故事"/>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2767" y="1398145"/>
            <a:ext cx="1015842" cy="1015842"/>
          </a:xfrm>
          <a:prstGeom prst="rect">
            <a:avLst/>
          </a:prstGeom>
        </p:spPr>
      </p:pic>
      <p:sp>
        <p:nvSpPr>
          <p:cNvPr id="25" name="矩形 24"/>
          <p:cNvSpPr/>
          <p:nvPr/>
        </p:nvSpPr>
        <p:spPr>
          <a:xfrm>
            <a:off x="1872933" y="1608089"/>
            <a:ext cx="465427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6" name="文本框 25"/>
          <p:cNvSpPr txBox="1"/>
          <p:nvPr/>
        </p:nvSpPr>
        <p:spPr>
          <a:xfrm>
            <a:off x="1872932" y="1733684"/>
            <a:ext cx="4654274" cy="400110"/>
          </a:xfrm>
          <a:prstGeom prst="rect">
            <a:avLst/>
          </a:prstGeom>
          <a:noFill/>
        </p:spPr>
        <p:txBody>
          <a:bodyPr wrap="square" rtlCol="0">
            <a:spAutoFit/>
          </a:bodyPr>
          <a:lstStyle/>
          <a:p>
            <a:pPr algn="ctr"/>
            <a:r>
              <a:rPr lang="zh-CN" altLang="zh-CN" sz="2000" dirty="0">
                <a:solidFill>
                  <a:schemeClr val="bg1"/>
                </a:solidFill>
                <a:latin typeface="微软雅黑" panose="020B0503020204020204" pitchFamily="34" charset="-122"/>
                <a:ea typeface="微软雅黑" panose="020B0503020204020204" pitchFamily="34" charset="-122"/>
              </a:rPr>
              <a:t>调用</a:t>
            </a:r>
            <a:r>
              <a:rPr lang="en-US" altLang="zh-CN" sz="2000" dirty="0" err="1">
                <a:solidFill>
                  <a:schemeClr val="bg1"/>
                </a:solidFill>
                <a:latin typeface="微软雅黑" panose="020B0503020204020204" pitchFamily="34" charset="-122"/>
                <a:ea typeface="微软雅黑" panose="020B0503020204020204" pitchFamily="34" charset="-122"/>
              </a:rPr>
              <a:t>find_element</a:t>
            </a:r>
            <a:r>
              <a:rPr lang="en-US" altLang="zh-CN" sz="2000" dirty="0">
                <a:solidFill>
                  <a:schemeClr val="bg1"/>
                </a:solidFill>
                <a:latin typeface="微软雅黑" panose="020B0503020204020204" pitchFamily="34" charset="-122"/>
                <a:ea typeface="微软雅黑" panose="020B0503020204020204" pitchFamily="34" charset="-122"/>
              </a:rPr>
              <a:t>()</a:t>
            </a:r>
            <a:r>
              <a:rPr lang="zh-CN" altLang="zh-CN" sz="2000" dirty="0">
                <a:solidFill>
                  <a:schemeClr val="bg1"/>
                </a:solidFill>
                <a:latin typeface="微软雅黑" panose="020B0503020204020204" pitchFamily="34" charset="-122"/>
                <a:ea typeface="微软雅黑" panose="020B0503020204020204" pitchFamily="34" charset="-122"/>
              </a:rPr>
              <a:t>方法定位元素</a:t>
            </a:r>
            <a:endParaRPr lang="zh-CN" altLang="en-US" sz="20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7" name="矩形 26"/>
          <p:cNvSpPr/>
          <p:nvPr/>
        </p:nvSpPr>
        <p:spPr>
          <a:xfrm>
            <a:off x="6743206" y="1613373"/>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8" name="矩形 27"/>
          <p:cNvSpPr/>
          <p:nvPr/>
        </p:nvSpPr>
        <p:spPr>
          <a:xfrm>
            <a:off x="6930905" y="1613373"/>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0" name="矩形 19"/>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sp>
        <p:nvSpPr>
          <p:cNvPr id="4" name="文本框 3"/>
          <p:cNvSpPr txBox="1"/>
          <p:nvPr/>
        </p:nvSpPr>
        <p:spPr>
          <a:xfrm>
            <a:off x="1007874" y="2565795"/>
            <a:ext cx="9720000" cy="1512000"/>
          </a:xfrm>
          <a:prstGeom prst="rect">
            <a:avLst/>
          </a:prstGeom>
          <a:noFill/>
        </p:spPr>
        <p:txBody>
          <a:bodyPr wrap="square" rtlCol="0" anchor="t">
            <a:no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调用</a:t>
            </a:r>
            <a:r>
              <a:rPr lang="en-US" altLang="zh-CN" sz="2000" dirty="0" err="1">
                <a:solidFill>
                  <a:srgbClr val="0070C0"/>
                </a:solidFill>
                <a:latin typeface="微软雅黑" panose="020B0503020204020204" pitchFamily="34" charset="-122"/>
                <a:ea typeface="微软雅黑" panose="020B0503020204020204" pitchFamily="34" charset="-122"/>
              </a:rPr>
              <a:t>find_element</a:t>
            </a:r>
            <a:r>
              <a:rPr lang="en-US" altLang="zh-CN" sz="2000" dirty="0">
                <a:solidFill>
                  <a:srgbClr val="0070C0"/>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方法定位元素，该方法</a:t>
            </a:r>
            <a:r>
              <a:rPr lang="zh-CN" altLang="zh-CN" sz="2000">
                <a:solidFill>
                  <a:srgbClr val="595959"/>
                </a:solidFill>
                <a:latin typeface="微软雅黑" panose="020B0503020204020204" pitchFamily="34" charset="-122"/>
                <a:ea typeface="微软雅黑" panose="020B0503020204020204" pitchFamily="34" charset="-122"/>
              </a:rPr>
              <a:t>通过</a:t>
            </a:r>
            <a:r>
              <a:rPr lang="en-US" altLang="zh-CN" sz="2000">
                <a:solidFill>
                  <a:srgbClr val="0070C0"/>
                </a:solidFill>
                <a:latin typeface="微软雅黑" panose="020B0503020204020204" pitchFamily="34" charset="-122"/>
                <a:ea typeface="微软雅黑" panose="020B0503020204020204" pitchFamily="34" charset="-122"/>
              </a:rPr>
              <a:t>By</a:t>
            </a:r>
            <a:r>
              <a:rPr lang="zh-CN" altLang="en-US" sz="2000">
                <a:solidFill>
                  <a:srgbClr val="0070C0"/>
                </a:solidFill>
                <a:latin typeface="微软雅黑" panose="020B0503020204020204" pitchFamily="34" charset="-122"/>
                <a:ea typeface="微软雅黑" panose="020B0503020204020204" pitchFamily="34" charset="-122"/>
              </a:rPr>
              <a:t>模块</a:t>
            </a:r>
            <a:r>
              <a:rPr lang="zh-CN" altLang="zh-CN" sz="2000">
                <a:solidFill>
                  <a:srgbClr val="0070C0"/>
                </a:solidFill>
                <a:latin typeface="微软雅黑" panose="020B0503020204020204" pitchFamily="34" charset="-122"/>
                <a:ea typeface="微软雅黑" panose="020B0503020204020204" pitchFamily="34" charset="-122"/>
              </a:rPr>
              <a:t>来</a:t>
            </a:r>
            <a:r>
              <a:rPr lang="zh-CN" altLang="zh-CN" sz="2000" dirty="0">
                <a:solidFill>
                  <a:srgbClr val="0070C0"/>
                </a:solidFill>
                <a:latin typeface="微软雅黑" panose="020B0503020204020204" pitchFamily="34" charset="-122"/>
                <a:ea typeface="微软雅黑" panose="020B0503020204020204" pitchFamily="34" charset="-122"/>
              </a:rPr>
              <a:t>声明定位</a:t>
            </a:r>
            <a:r>
              <a:rPr lang="zh-CN" altLang="zh-CN" sz="2000" dirty="0">
                <a:solidFill>
                  <a:srgbClr val="595959"/>
                </a:solidFill>
                <a:latin typeface="微软雅黑" panose="020B0503020204020204" pitchFamily="34" charset="-122"/>
                <a:ea typeface="微软雅黑" panose="020B0503020204020204" pitchFamily="34" charset="-122"/>
              </a:rPr>
              <a:t>，并传入对应定位方法的定位参数。</a:t>
            </a:r>
            <a:r>
              <a:rPr lang="en-US" altLang="zh-CN" sz="2000" dirty="0" err="1">
                <a:solidFill>
                  <a:srgbClr val="595959"/>
                </a:solidFill>
                <a:latin typeface="微软雅黑" panose="020B0503020204020204" pitchFamily="34" charset="-122"/>
                <a:ea typeface="微软雅黑" panose="020B0503020204020204" pitchFamily="34" charset="-122"/>
              </a:rPr>
              <a:t>find_element</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方法的语法</a:t>
            </a:r>
            <a:r>
              <a:rPr lang="zh-CN" altLang="zh-CN" sz="2000">
                <a:solidFill>
                  <a:srgbClr val="595959"/>
                </a:solidFill>
                <a:latin typeface="微软雅黑" panose="020B0503020204020204" pitchFamily="34" charset="-122"/>
                <a:ea typeface="微软雅黑" panose="020B0503020204020204" pitchFamily="34" charset="-122"/>
              </a:rPr>
              <a:t>格式如下。</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33" name="Title 1"/>
          <p:cNvSpPr txBox="1"/>
          <p:nvPr/>
        </p:nvSpPr>
        <p:spPr>
          <a:xfrm>
            <a:off x="1143690" y="266995"/>
            <a:ext cx="4519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a:solidFill>
                  <a:srgbClr val="595959"/>
                </a:solidFill>
                <a:latin typeface="微软雅黑" panose="020B0503020204020204" pitchFamily="34" charset="-122"/>
                <a:ea typeface="微软雅黑" panose="020B0503020204020204" pitchFamily="34" charset="-122"/>
                <a:cs typeface="+mn-ea"/>
                <a:sym typeface="+mn-lt"/>
              </a:rPr>
              <a:t>6.4.1 Selenium</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元素</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定位方法</a:t>
            </a:r>
          </a:p>
        </p:txBody>
      </p:sp>
      <p:sp>
        <p:nvSpPr>
          <p:cNvPr id="11" name="文本框 5"/>
          <p:cNvSpPr txBox="1"/>
          <p:nvPr/>
        </p:nvSpPr>
        <p:spPr>
          <a:xfrm>
            <a:off x="975247" y="3843969"/>
            <a:ext cx="9704987" cy="499624"/>
          </a:xfrm>
          <a:prstGeom prst="rect">
            <a:avLst/>
          </a:prstGeom>
          <a:solidFill>
            <a:srgbClr val="F2F2F2"/>
          </a:solidFill>
        </p:spPr>
        <p:txBody>
          <a:bodyPr wrap="square" rtlCol="0">
            <a:spAutoFit/>
          </a:bodyPr>
          <a:lstStyle/>
          <a:p>
            <a:pPr>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find_element</a:t>
            </a:r>
            <a:r>
              <a:rPr lang="en-US" altLang="zh-CN" sz="2000" dirty="0">
                <a:solidFill>
                  <a:srgbClr val="595959"/>
                </a:solidFill>
                <a:latin typeface="微软雅黑" panose="020B0503020204020204" pitchFamily="34" charset="-122"/>
                <a:ea typeface="微软雅黑" panose="020B0503020204020204" pitchFamily="34" charset="-122"/>
                <a:cs typeface="+mn-ea"/>
              </a:rPr>
              <a:t>(by=</a:t>
            </a:r>
            <a:r>
              <a:rPr lang="en-US" altLang="zh-CN" sz="2000" dirty="0" err="1">
                <a:solidFill>
                  <a:srgbClr val="595959"/>
                </a:solidFill>
                <a:latin typeface="微软雅黑" panose="020B0503020204020204" pitchFamily="34" charset="-122"/>
                <a:ea typeface="微软雅黑" panose="020B0503020204020204" pitchFamily="34" charset="-122"/>
                <a:cs typeface="+mn-ea"/>
              </a:rPr>
              <a:t>By.ID,value</a:t>
            </a:r>
            <a:r>
              <a:rPr lang="en-US" altLang="zh-CN" sz="2000" dirty="0">
                <a:solidFill>
                  <a:srgbClr val="595959"/>
                </a:solidFill>
                <a:latin typeface="微软雅黑" panose="020B0503020204020204" pitchFamily="34" charset="-122"/>
                <a:ea typeface="微软雅黑" panose="020B0503020204020204" pitchFamily="34" charset="-122"/>
                <a:cs typeface="+mn-ea"/>
              </a:rPr>
              <a:t>=None)</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2" name="矩形 1"/>
          <p:cNvSpPr/>
          <p:nvPr/>
        </p:nvSpPr>
        <p:spPr>
          <a:xfrm>
            <a:off x="967540" y="4797794"/>
            <a:ext cx="9144000" cy="1015663"/>
          </a:xfrm>
          <a:prstGeom prst="rect">
            <a:avLst/>
          </a:prstGeom>
        </p:spPr>
        <p:txBody>
          <a:bodyPr wrap="square">
            <a:spAutoFit/>
          </a:bodyPr>
          <a:lstStyle/>
          <a:p>
            <a:pPr>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rPr>
              <a:t>find_element</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方法中有两个参数，第一个</a:t>
            </a:r>
            <a:r>
              <a:rPr lang="zh-CN" altLang="zh-CN" sz="2000" dirty="0">
                <a:solidFill>
                  <a:srgbClr val="0070C0"/>
                </a:solidFill>
                <a:latin typeface="微软雅黑" panose="020B0503020204020204" pitchFamily="34" charset="-122"/>
                <a:ea typeface="微软雅黑" panose="020B0503020204020204" pitchFamily="34" charset="-122"/>
              </a:rPr>
              <a:t>参数</a:t>
            </a:r>
            <a:r>
              <a:rPr lang="en-US" altLang="zh-CN" sz="2000" dirty="0">
                <a:solidFill>
                  <a:srgbClr val="0070C0"/>
                </a:solidFill>
                <a:latin typeface="微软雅黑" panose="020B0503020204020204" pitchFamily="34" charset="-122"/>
                <a:ea typeface="微软雅黑" panose="020B0503020204020204" pitchFamily="34" charset="-122"/>
              </a:rPr>
              <a:t>by</a:t>
            </a:r>
            <a:r>
              <a:rPr lang="zh-CN" altLang="zh-CN" sz="2000" dirty="0">
                <a:solidFill>
                  <a:srgbClr val="0070C0"/>
                </a:solidFill>
                <a:latin typeface="微软雅黑" panose="020B0503020204020204" pitchFamily="34" charset="-122"/>
                <a:ea typeface="微软雅黑" panose="020B0503020204020204" pitchFamily="34" charset="-122"/>
              </a:rPr>
              <a:t>表示元素定位的类型</a:t>
            </a:r>
            <a:r>
              <a:rPr lang="zh-CN" altLang="zh-CN" sz="2000" dirty="0">
                <a:solidFill>
                  <a:srgbClr val="595959"/>
                </a:solidFill>
                <a:latin typeface="微软雅黑" panose="020B0503020204020204" pitchFamily="34" charset="-122"/>
                <a:ea typeface="微软雅黑" panose="020B0503020204020204" pitchFamily="34" charset="-122"/>
              </a:rPr>
              <a:t>，由</a:t>
            </a:r>
            <a:r>
              <a:rPr lang="en-US" altLang="zh-CN" sz="2000" dirty="0">
                <a:solidFill>
                  <a:srgbClr val="595959"/>
                </a:solidFill>
                <a:latin typeface="微软雅黑" panose="020B0503020204020204" pitchFamily="34" charset="-122"/>
                <a:ea typeface="微软雅黑" panose="020B0503020204020204" pitchFamily="34" charset="-122"/>
              </a:rPr>
              <a:t>By</a:t>
            </a:r>
            <a:r>
              <a:rPr lang="zh-CN" altLang="zh-CN" sz="2000" dirty="0">
                <a:solidFill>
                  <a:srgbClr val="595959"/>
                </a:solidFill>
                <a:latin typeface="微软雅黑" panose="020B0503020204020204" pitchFamily="34" charset="-122"/>
                <a:ea typeface="微软雅黑" panose="020B0503020204020204" pitchFamily="34" charset="-122"/>
              </a:rPr>
              <a:t>模块提供，</a:t>
            </a:r>
            <a:r>
              <a:rPr lang="zh-CN" altLang="zh-CN" sz="2000" dirty="0">
                <a:solidFill>
                  <a:srgbClr val="0070C0"/>
                </a:solidFill>
                <a:latin typeface="微软雅黑" panose="020B0503020204020204" pitchFamily="34" charset="-122"/>
                <a:ea typeface="微软雅黑" panose="020B0503020204020204" pitchFamily="34" charset="-122"/>
              </a:rPr>
              <a:t>默认通过</a:t>
            </a:r>
            <a:r>
              <a:rPr lang="en-US" altLang="zh-CN" sz="2000" dirty="0">
                <a:solidFill>
                  <a:srgbClr val="0070C0"/>
                </a:solidFill>
                <a:latin typeface="微软雅黑" panose="020B0503020204020204" pitchFamily="34" charset="-122"/>
                <a:ea typeface="微软雅黑" panose="020B0503020204020204" pitchFamily="34" charset="-122"/>
              </a:rPr>
              <a:t>ID</a:t>
            </a:r>
            <a:r>
              <a:rPr lang="zh-CN" altLang="zh-CN" sz="2000" dirty="0">
                <a:solidFill>
                  <a:srgbClr val="0070C0"/>
                </a:solidFill>
                <a:latin typeface="微软雅黑" panose="020B0503020204020204" pitchFamily="34" charset="-122"/>
                <a:ea typeface="微软雅黑" panose="020B0503020204020204" pitchFamily="34" charset="-122"/>
              </a:rPr>
              <a:t>属性</a:t>
            </a:r>
            <a:r>
              <a:rPr lang="zh-CN" altLang="zh-CN" sz="2000">
                <a:solidFill>
                  <a:srgbClr val="0070C0"/>
                </a:solidFill>
                <a:latin typeface="微软雅黑" panose="020B0503020204020204" pitchFamily="34" charset="-122"/>
                <a:ea typeface="微软雅黑" panose="020B0503020204020204" pitchFamily="34" charset="-122"/>
              </a:rPr>
              <a:t>来定位</a:t>
            </a:r>
            <a:r>
              <a:rPr lang="zh-CN" altLang="en-US" sz="2000">
                <a:solidFill>
                  <a:srgbClr val="595959"/>
                </a:solidFill>
                <a:latin typeface="微软雅黑" panose="020B0503020204020204" pitchFamily="34" charset="-122"/>
                <a:ea typeface="微软雅黑" panose="020B0503020204020204" pitchFamily="34" charset="-122"/>
              </a:rPr>
              <a:t>；</a:t>
            </a:r>
            <a:r>
              <a:rPr lang="zh-CN" altLang="zh-CN" sz="2000">
                <a:solidFill>
                  <a:srgbClr val="595959"/>
                </a:solidFill>
                <a:latin typeface="微软雅黑" panose="020B0503020204020204" pitchFamily="34" charset="-122"/>
                <a:ea typeface="微软雅黑" panose="020B0503020204020204" pitchFamily="34" charset="-122"/>
              </a:rPr>
              <a:t>第二</a:t>
            </a:r>
            <a:r>
              <a:rPr lang="zh-CN" altLang="zh-CN" sz="2000" dirty="0">
                <a:solidFill>
                  <a:srgbClr val="595959"/>
                </a:solidFill>
                <a:latin typeface="微软雅黑" panose="020B0503020204020204" pitchFamily="34" charset="-122"/>
                <a:ea typeface="微软雅黑" panose="020B0503020204020204" pitchFamily="34" charset="-122"/>
              </a:rPr>
              <a:t>个</a:t>
            </a:r>
            <a:r>
              <a:rPr lang="zh-CN" altLang="zh-CN" sz="2000" dirty="0">
                <a:solidFill>
                  <a:srgbClr val="0070C0"/>
                </a:solidFill>
                <a:latin typeface="微软雅黑" panose="020B0503020204020204" pitchFamily="34" charset="-122"/>
                <a:ea typeface="微软雅黑" panose="020B0503020204020204" pitchFamily="34" charset="-122"/>
              </a:rPr>
              <a:t>参数</a:t>
            </a:r>
            <a:r>
              <a:rPr lang="en-US" altLang="zh-CN" sz="2000" dirty="0">
                <a:solidFill>
                  <a:srgbClr val="0070C0"/>
                </a:solidFill>
                <a:latin typeface="微软雅黑" panose="020B0503020204020204" pitchFamily="34" charset="-122"/>
                <a:ea typeface="微软雅黑" panose="020B0503020204020204" pitchFamily="34" charset="-122"/>
              </a:rPr>
              <a:t>value</a:t>
            </a:r>
            <a:r>
              <a:rPr lang="zh-CN" altLang="zh-CN" sz="2000" dirty="0">
                <a:solidFill>
                  <a:srgbClr val="0070C0"/>
                </a:solidFill>
                <a:latin typeface="微软雅黑" panose="020B0503020204020204" pitchFamily="34" charset="-122"/>
                <a:ea typeface="微软雅黑" panose="020B0503020204020204" pitchFamily="34" charset="-122"/>
              </a:rPr>
              <a:t>表示元素定位类型的属性值</a:t>
            </a:r>
            <a:r>
              <a:rPr lang="zh-CN" altLang="zh-CN" sz="2000" dirty="0">
                <a:solidFill>
                  <a:srgbClr val="595959"/>
                </a:solidFill>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68701" y="1989794"/>
            <a:ext cx="9983332" cy="2879999"/>
          </a:xfrm>
          <a:prstGeom prst="rect">
            <a:avLst/>
          </a:prstGeom>
          <a:noFill/>
        </p:spPr>
        <p:txBody>
          <a:bodyPr wrap="square" rtlCol="0" anchor="t">
            <a:noAutofit/>
          </a:bodyPr>
          <a:lstStyle/>
          <a:p>
            <a:r>
              <a:rPr lang="zh-CN" altLang="zh-CN" sz="2000" dirty="0">
                <a:solidFill>
                  <a:srgbClr val="595959"/>
                </a:solidFill>
                <a:latin typeface="微软雅黑" panose="020B0503020204020204" pitchFamily="34" charset="-122"/>
                <a:ea typeface="微软雅黑" panose="020B0503020204020204" pitchFamily="34" charset="-122"/>
              </a:rPr>
              <a:t>在使用</a:t>
            </a:r>
            <a:r>
              <a:rPr lang="en-US" altLang="zh-CN" sz="2000" dirty="0" err="1">
                <a:solidFill>
                  <a:srgbClr val="0070C0"/>
                </a:solidFill>
                <a:latin typeface="微软雅黑" panose="020B0503020204020204" pitchFamily="34" charset="-122"/>
                <a:ea typeface="微软雅黑" panose="020B0503020204020204" pitchFamily="34" charset="-122"/>
              </a:rPr>
              <a:t>find_element</a:t>
            </a:r>
            <a:r>
              <a:rPr lang="en-US" altLang="zh-CN" sz="2000" dirty="0">
                <a:solidFill>
                  <a:srgbClr val="0070C0"/>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方法进行元素定位时，需要导入</a:t>
            </a:r>
            <a:r>
              <a:rPr lang="en-US" altLang="zh-CN" sz="2000" dirty="0">
                <a:solidFill>
                  <a:srgbClr val="0070C0"/>
                </a:solidFill>
                <a:latin typeface="微软雅黑" panose="020B0503020204020204" pitchFamily="34" charset="-122"/>
                <a:ea typeface="微软雅黑" panose="020B0503020204020204" pitchFamily="34" charset="-122"/>
              </a:rPr>
              <a:t>By</a:t>
            </a:r>
            <a:r>
              <a:rPr lang="zh-CN" altLang="zh-CN" sz="2000" dirty="0">
                <a:solidFill>
                  <a:srgbClr val="0070C0"/>
                </a:solidFill>
                <a:latin typeface="微软雅黑" panose="020B0503020204020204" pitchFamily="34" charset="-122"/>
                <a:ea typeface="微软雅黑" panose="020B0503020204020204" pitchFamily="34" charset="-122"/>
              </a:rPr>
              <a:t>模块</a:t>
            </a:r>
            <a:r>
              <a:rPr lang="zh-CN" altLang="zh-CN" sz="2000" dirty="0">
                <a:solidFill>
                  <a:srgbClr val="595959"/>
                </a:solidFill>
                <a:latin typeface="微软雅黑" panose="020B0503020204020204" pitchFamily="34" charset="-122"/>
                <a:ea typeface="微软雅黑" panose="020B0503020204020204" pitchFamily="34" charset="-122"/>
              </a:rPr>
              <a:t>，具体如下。</a:t>
            </a:r>
          </a:p>
        </p:txBody>
      </p:sp>
      <p:sp>
        <p:nvSpPr>
          <p:cNvPr id="33" name="Title 1"/>
          <p:cNvSpPr txBox="1"/>
          <p:nvPr/>
        </p:nvSpPr>
        <p:spPr>
          <a:xfrm>
            <a:off x="1143690" y="266995"/>
            <a:ext cx="4519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a:solidFill>
                  <a:srgbClr val="595959"/>
                </a:solidFill>
                <a:latin typeface="微软雅黑" panose="020B0503020204020204" pitchFamily="34" charset="-122"/>
                <a:ea typeface="微软雅黑" panose="020B0503020204020204" pitchFamily="34" charset="-122"/>
                <a:cs typeface="+mn-ea"/>
                <a:sym typeface="+mn-lt"/>
              </a:rPr>
              <a:t>6.4.1 Selenium</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元素</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定位方法</a:t>
            </a:r>
          </a:p>
        </p:txBody>
      </p:sp>
      <p:sp>
        <p:nvSpPr>
          <p:cNvPr id="11" name="文本框 5"/>
          <p:cNvSpPr txBox="1"/>
          <p:nvPr/>
        </p:nvSpPr>
        <p:spPr>
          <a:xfrm>
            <a:off x="872896" y="2997794"/>
            <a:ext cx="9704987" cy="553998"/>
          </a:xfrm>
          <a:prstGeom prst="rect">
            <a:avLst/>
          </a:prstGeom>
          <a:solidFill>
            <a:srgbClr val="F2F2F2"/>
          </a:solidFill>
        </p:spPr>
        <p:txBody>
          <a:bodyPr wrap="square" rtlCol="0">
            <a:spAutoFit/>
          </a:bodyPr>
          <a:lstStyle/>
          <a:p>
            <a:pPr>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from Selenium.webdriver.common.by </a:t>
            </a:r>
            <a:r>
              <a:rPr lang="en-US" altLang="zh-CN" sz="2000" dirty="0">
                <a:solidFill>
                  <a:srgbClr val="595959"/>
                </a:solidFill>
                <a:latin typeface="微软雅黑" panose="020B0503020204020204" pitchFamily="34" charset="-122"/>
                <a:ea typeface="微软雅黑" panose="020B0503020204020204" pitchFamily="34" charset="-122"/>
                <a:cs typeface="+mn-ea"/>
              </a:rPr>
              <a:t>import By</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6" name="矩形 5"/>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40838" y="1929208"/>
            <a:ext cx="9720000" cy="498293"/>
          </a:xfrm>
          <a:prstGeom prst="rect">
            <a:avLst/>
          </a:prstGeom>
          <a:noFill/>
        </p:spPr>
        <p:txBody>
          <a:bodyPr wrap="square" rtlCol="0" anchor="t">
            <a:noAutofit/>
          </a:bodyPr>
          <a:lstStyle/>
          <a:p>
            <a:r>
              <a:rPr lang="zh-CN" altLang="zh-CN" sz="2000" dirty="0">
                <a:solidFill>
                  <a:srgbClr val="595959"/>
                </a:solidFill>
                <a:latin typeface="微软雅黑" panose="020B0503020204020204" pitchFamily="34" charset="-122"/>
                <a:ea typeface="微软雅黑" panose="020B0503020204020204" pitchFamily="34" charset="-122"/>
              </a:rPr>
              <a:t>下面列举调用</a:t>
            </a:r>
            <a:r>
              <a:rPr lang="en-US" altLang="zh-CN" sz="2000" dirty="0" err="1">
                <a:solidFill>
                  <a:srgbClr val="0070C0"/>
                </a:solidFill>
                <a:latin typeface="微软雅黑" panose="020B0503020204020204" pitchFamily="34" charset="-122"/>
                <a:ea typeface="微软雅黑" panose="020B0503020204020204" pitchFamily="34" charset="-122"/>
              </a:rPr>
              <a:t>find_element</a:t>
            </a:r>
            <a:r>
              <a:rPr lang="en-US" altLang="zh-CN" sz="2000" dirty="0">
                <a:solidFill>
                  <a:srgbClr val="0070C0"/>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方法定位元素的示例代码，具体如下。</a:t>
            </a:r>
          </a:p>
          <a:p>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33" name="Title 1"/>
          <p:cNvSpPr txBox="1"/>
          <p:nvPr/>
        </p:nvSpPr>
        <p:spPr>
          <a:xfrm>
            <a:off x="1143690" y="266995"/>
            <a:ext cx="4519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a:solidFill>
                  <a:srgbClr val="595959"/>
                </a:solidFill>
                <a:latin typeface="微软雅黑" panose="020B0503020204020204" pitchFamily="34" charset="-122"/>
                <a:ea typeface="微软雅黑" panose="020B0503020204020204" pitchFamily="34" charset="-122"/>
                <a:cs typeface="+mn-ea"/>
                <a:sym typeface="+mn-lt"/>
              </a:rPr>
              <a:t>6.4.1 Selenium</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元素</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定位方法</a:t>
            </a:r>
          </a:p>
        </p:txBody>
      </p:sp>
      <p:sp>
        <p:nvSpPr>
          <p:cNvPr id="11" name="文本框 5"/>
          <p:cNvSpPr txBox="1"/>
          <p:nvPr/>
        </p:nvSpPr>
        <p:spPr>
          <a:xfrm>
            <a:off x="1221412" y="2565794"/>
            <a:ext cx="9704987" cy="3731278"/>
          </a:xfrm>
          <a:prstGeom prst="rect">
            <a:avLst/>
          </a:prstGeom>
          <a:solidFill>
            <a:srgbClr val="F2F2F2"/>
          </a:solidFill>
        </p:spPr>
        <p:txBody>
          <a:bodyPr wrap="square" rtlCol="0">
            <a:spAutoFit/>
          </a:bodyPr>
          <a:lstStyle/>
          <a:p>
            <a:pPr>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driver.find_element</a:t>
            </a:r>
            <a:r>
              <a:rPr lang="en-US" altLang="zh-CN" sz="2000" dirty="0">
                <a:solidFill>
                  <a:srgbClr val="595959"/>
                </a:solidFill>
                <a:latin typeface="微软雅黑" panose="020B0503020204020204" pitchFamily="34" charset="-122"/>
                <a:ea typeface="微软雅黑" panose="020B0503020204020204" pitchFamily="34" charset="-122"/>
                <a:cs typeface="+mn-ea"/>
              </a:rPr>
              <a:t>(By.ID,"</a:t>
            </a:r>
            <a:r>
              <a:rPr lang="en-US" altLang="zh-CN" sz="2000" dirty="0" err="1">
                <a:solidFill>
                  <a:srgbClr val="595959"/>
                </a:solidFill>
                <a:latin typeface="微软雅黑" panose="020B0503020204020204" pitchFamily="34" charset="-122"/>
                <a:ea typeface="微软雅黑" panose="020B0503020204020204" pitchFamily="34" charset="-122"/>
                <a:cs typeface="+mn-ea"/>
              </a:rPr>
              <a:t>userA</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driver.find_element</a:t>
            </a:r>
            <a:r>
              <a:rPr lang="en-US" altLang="zh-CN" sz="2000" dirty="0">
                <a:solidFill>
                  <a:srgbClr val="595959"/>
                </a:solidFill>
                <a:latin typeface="微软雅黑" panose="020B0503020204020204" pitchFamily="34" charset="-122"/>
                <a:ea typeface="微软雅黑" panose="020B0503020204020204" pitchFamily="34" charset="-122"/>
                <a:cs typeface="+mn-ea"/>
              </a:rPr>
              <a:t>(By.NAME,"</a:t>
            </a:r>
            <a:r>
              <a:rPr lang="en-US" altLang="zh-CN" sz="2000" dirty="0" err="1">
                <a:solidFill>
                  <a:srgbClr val="595959"/>
                </a:solidFill>
                <a:latin typeface="微软雅黑" panose="020B0503020204020204" pitchFamily="34" charset="-122"/>
                <a:ea typeface="微软雅黑" panose="020B0503020204020204" pitchFamily="34" charset="-122"/>
                <a:cs typeface="+mn-ea"/>
              </a:rPr>
              <a:t>passwordA</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driver.find_element</a:t>
            </a:r>
            <a:r>
              <a:rPr lang="en-US" altLang="zh-CN" sz="2000" dirty="0">
                <a:solidFill>
                  <a:srgbClr val="595959"/>
                </a:solidFill>
                <a:latin typeface="微软雅黑" panose="020B0503020204020204" pitchFamily="34" charset="-122"/>
                <a:ea typeface="微软雅黑" panose="020B0503020204020204" pitchFamily="34" charset="-122"/>
                <a:cs typeface="+mn-ea"/>
              </a:rPr>
              <a:t>(By.CLASS_NAME,"</a:t>
            </a:r>
            <a:r>
              <a:rPr lang="en-US" altLang="zh-CN" sz="2000" dirty="0" err="1">
                <a:solidFill>
                  <a:srgbClr val="595959"/>
                </a:solidFill>
                <a:latin typeface="微软雅黑" panose="020B0503020204020204" pitchFamily="34" charset="-122"/>
                <a:ea typeface="微软雅黑" panose="020B0503020204020204" pitchFamily="34" charset="-122"/>
                <a:cs typeface="+mn-ea"/>
              </a:rPr>
              <a:t>telA</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driver.find_element</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mn-ea"/>
              </a:rPr>
              <a:t>By.TAG_NAME,"input</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driver.find_element</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mn-ea"/>
              </a:rPr>
              <a:t>By.LINK_TEXT</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访问 新浪 网站</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driver.find_element</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mn-ea"/>
              </a:rPr>
              <a:t>By.PARTIAL_LINK_TEXT</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访问</a:t>
            </a:r>
            <a:r>
              <a:rPr lang="en-US" altLang="zh-CN" sz="2000" dirty="0">
                <a:solidFill>
                  <a:srgbClr val="595959"/>
                </a:solidFill>
                <a:latin typeface="微软雅黑" panose="020B0503020204020204" pitchFamily="34" charset="-122"/>
                <a:ea typeface="微软雅黑" panose="020B0503020204020204" pitchFamily="34" charset="-122"/>
                <a:cs typeface="+mn-ea"/>
              </a:rPr>
              <a:t> ')</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driver.find_element</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mn-ea"/>
              </a:rPr>
              <a:t>By.XPATH</a:t>
            </a:r>
            <a:r>
              <a:rPr lang="en-US" altLang="zh-CN" sz="2000" dirty="0">
                <a:solidFill>
                  <a:srgbClr val="595959"/>
                </a:solidFill>
                <a:latin typeface="微软雅黑" panose="020B0503020204020204" pitchFamily="34" charset="-122"/>
                <a:ea typeface="微软雅黑" panose="020B0503020204020204" pitchFamily="34" charset="-122"/>
                <a:cs typeface="+mn-ea"/>
              </a:rPr>
              <a:t>,'//*[@id="</a:t>
            </a:r>
            <a:r>
              <a:rPr lang="en-US" altLang="zh-CN" sz="2000" dirty="0" err="1">
                <a:solidFill>
                  <a:srgbClr val="595959"/>
                </a:solidFill>
                <a:latin typeface="微软雅黑" panose="020B0503020204020204" pitchFamily="34" charset="-122"/>
                <a:ea typeface="微软雅黑" panose="020B0503020204020204" pitchFamily="34" charset="-122"/>
                <a:cs typeface="+mn-ea"/>
              </a:rPr>
              <a:t>emailA</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driver.find_element</a:t>
            </a:r>
            <a:r>
              <a:rPr lang="en-US" altLang="zh-CN" sz="2000" dirty="0">
                <a:solidFill>
                  <a:srgbClr val="595959"/>
                </a:solidFill>
                <a:latin typeface="微软雅黑" panose="020B0503020204020204" pitchFamily="34" charset="-122"/>
                <a:ea typeface="微软雅黑" panose="020B0503020204020204" pitchFamily="34" charset="-122"/>
                <a:cs typeface="+mn-ea"/>
              </a:rPr>
              <a:t>(By.CSS_SELECTOR,'#</a:t>
            </a:r>
            <a:r>
              <a:rPr lang="en-US" altLang="zh-CN" sz="2000" dirty="0" err="1">
                <a:solidFill>
                  <a:srgbClr val="595959"/>
                </a:solidFill>
                <a:latin typeface="微软雅黑" panose="020B0503020204020204" pitchFamily="34" charset="-122"/>
                <a:ea typeface="微软雅黑" panose="020B0503020204020204" pitchFamily="34" charset="-122"/>
                <a:cs typeface="+mn-ea"/>
              </a:rPr>
              <a:t>emailA</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6" name="矩形 5"/>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52755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a:solidFill>
                  <a:srgbClr val="595959"/>
                </a:solidFill>
                <a:latin typeface="微软雅黑" panose="020B0503020204020204" pitchFamily="34" charset="-122"/>
                <a:ea typeface="微软雅黑" panose="020B0503020204020204" pitchFamily="34" charset="-122"/>
                <a:cs typeface="+mn-ea"/>
                <a:sym typeface="+mn-lt"/>
              </a:rPr>
              <a:t>6.4.2 Selenium</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常用</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的操作方法</a:t>
            </a:r>
          </a:p>
        </p:txBody>
      </p:sp>
      <p:sp>
        <p:nvSpPr>
          <p:cNvPr id="2" name="矩形 1"/>
          <p:cNvSpPr/>
          <p:nvPr/>
        </p:nvSpPr>
        <p:spPr>
          <a:xfrm>
            <a:off x="1163621" y="1701794"/>
            <a:ext cx="10439585" cy="1477328"/>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在</a:t>
            </a:r>
            <a:r>
              <a:rPr lang="en-US" altLang="zh-CN" sz="2000" dirty="0">
                <a:solidFill>
                  <a:srgbClr val="595959"/>
                </a:solidFill>
                <a:latin typeface="微软雅黑" panose="020B0503020204020204" pitchFamily="34" charset="-122"/>
                <a:ea typeface="微软雅黑" panose="020B0503020204020204" pitchFamily="34" charset="-122"/>
                <a:cs typeface="+mn-ea"/>
              </a:rPr>
              <a:t>Web</a:t>
            </a:r>
            <a:r>
              <a:rPr lang="zh-CN" altLang="zh-CN" sz="2000" dirty="0">
                <a:solidFill>
                  <a:srgbClr val="595959"/>
                </a:solidFill>
                <a:latin typeface="微软雅黑" panose="020B0503020204020204" pitchFamily="34" charset="-122"/>
                <a:ea typeface="微软雅黑" panose="020B0503020204020204" pitchFamily="34" charset="-122"/>
                <a:cs typeface="+mn-ea"/>
              </a:rPr>
              <a:t>自动化测试的过程中，元素的常用操作包括</a:t>
            </a:r>
            <a:r>
              <a:rPr lang="zh-CN" altLang="zh-CN" sz="2000" dirty="0">
                <a:solidFill>
                  <a:srgbClr val="1369B2"/>
                </a:solidFill>
                <a:latin typeface="微软雅黑" panose="020B0503020204020204" pitchFamily="34" charset="-122"/>
                <a:ea typeface="微软雅黑" panose="020B0503020204020204" pitchFamily="34" charset="-122"/>
                <a:cs typeface="+mn-ea"/>
              </a:rPr>
              <a:t>输入</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清空</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提交表单</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单击</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获取</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截图</a:t>
            </a:r>
            <a:r>
              <a:rPr lang="zh-CN" altLang="zh-CN" sz="2000" dirty="0">
                <a:solidFill>
                  <a:srgbClr val="595959"/>
                </a:solidFill>
                <a:latin typeface="微软雅黑" panose="020B0503020204020204" pitchFamily="34" charset="-122"/>
                <a:ea typeface="微软雅黑" panose="020B0503020204020204" pitchFamily="34" charset="-122"/>
                <a:cs typeface="+mn-ea"/>
              </a:rPr>
              <a:t>等，这些常用的操作在自动化测试程序中都有对应的方法，</a:t>
            </a:r>
            <a:r>
              <a:rPr lang="zh-CN" altLang="zh-CN" sz="2000" dirty="0">
                <a:solidFill>
                  <a:srgbClr val="1369B2"/>
                </a:solidFill>
                <a:latin typeface="微软雅黑" panose="020B0503020204020204" pitchFamily="34" charset="-122"/>
                <a:ea typeface="微软雅黑" panose="020B0503020204020204" pitchFamily="34" charset="-122"/>
                <a:cs typeface="+mn-ea"/>
              </a:rPr>
              <a:t>元素的常用操作方法</a:t>
            </a:r>
            <a:r>
              <a:rPr lang="zh-CN" altLang="en-US" sz="2000">
                <a:solidFill>
                  <a:srgbClr val="595959"/>
                </a:solidFill>
                <a:latin typeface="微软雅黑" panose="020B0503020204020204" pitchFamily="34" charset="-122"/>
                <a:ea typeface="微软雅黑" panose="020B0503020204020204" pitchFamily="34" charset="-122"/>
                <a:cs typeface="+mn-ea"/>
              </a:rPr>
              <a:t>如下表所示。</a:t>
            </a:r>
            <a:endParaRPr lang="zh-CN" altLang="en-US" sz="2000" dirty="0">
              <a:solidFill>
                <a:srgbClr val="595959"/>
              </a:solidFill>
              <a:latin typeface="微软雅黑" panose="020B0503020204020204" pitchFamily="34" charset="-122"/>
              <a:ea typeface="微软雅黑" panose="020B0503020204020204" pitchFamily="34" charset="-122"/>
              <a:cs typeface="+mn-ea"/>
            </a:endParaRPr>
          </a:p>
        </p:txBody>
      </p:sp>
      <p:sp>
        <p:nvSpPr>
          <p:cNvPr id="3" name="矩形 2"/>
          <p:cNvSpPr/>
          <p:nvPr/>
        </p:nvSpPr>
        <p:spPr>
          <a:xfrm>
            <a:off x="1055206" y="1011195"/>
            <a:ext cx="2706190" cy="400110"/>
          </a:xfrm>
          <a:prstGeom prst="rect">
            <a:avLst/>
          </a:prstGeom>
        </p:spPr>
        <p:txBody>
          <a:bodyPr wrap="none">
            <a:spAutoFit/>
          </a:bodyPr>
          <a:lstStyle/>
          <a:p>
            <a:pPr lvl="0"/>
            <a:r>
              <a:rPr lang="en-US" altLang="zh-CN" sz="2000" b="1" dirty="0">
                <a:solidFill>
                  <a:srgbClr val="595959"/>
                </a:solidFill>
                <a:latin typeface="微软雅黑" panose="020B0503020204020204" pitchFamily="34" charset="-122"/>
                <a:ea typeface="微软雅黑" panose="020B0503020204020204" pitchFamily="34" charset="-122"/>
                <a:cs typeface="+mn-ea"/>
              </a:rPr>
              <a:t>1.</a:t>
            </a:r>
            <a:r>
              <a:rPr lang="zh-CN" altLang="zh-CN" sz="2000" b="1" dirty="0">
                <a:solidFill>
                  <a:srgbClr val="595959"/>
                </a:solidFill>
                <a:latin typeface="微软雅黑" panose="020B0503020204020204" pitchFamily="34" charset="-122"/>
                <a:ea typeface="微软雅黑" panose="020B0503020204020204" pitchFamily="34" charset="-122"/>
                <a:cs typeface="+mn-ea"/>
              </a:rPr>
              <a:t>元素的常用操作方法</a:t>
            </a:r>
          </a:p>
        </p:txBody>
      </p:sp>
      <p:graphicFrame>
        <p:nvGraphicFramePr>
          <p:cNvPr id="7" name="表格 6"/>
          <p:cNvGraphicFramePr/>
          <p:nvPr>
            <p:custDataLst>
              <p:tags r:id="rId1"/>
            </p:custDataLst>
          </p:nvPr>
        </p:nvGraphicFramePr>
        <p:xfrm>
          <a:off x="1415206" y="3357794"/>
          <a:ext cx="9216000" cy="2347749"/>
        </p:xfrm>
        <a:graphic>
          <a:graphicData uri="http://schemas.openxmlformats.org/drawingml/2006/table">
            <a:tbl>
              <a:tblPr firstRow="1" bandRow="1">
                <a:tableStyleId>{5C22544A-7EE6-4342-B048-85BDC9FD1C3A}</a:tableStyleId>
              </a:tblPr>
              <a:tblGrid>
                <a:gridCol w="3528000">
                  <a:extLst>
                    <a:ext uri="{9D8B030D-6E8A-4147-A177-3AD203B41FA5}">
                      <a16:colId xmlns:a16="http://schemas.microsoft.com/office/drawing/2014/main" val="20000"/>
                    </a:ext>
                  </a:extLst>
                </a:gridCol>
                <a:gridCol w="5688000">
                  <a:extLst>
                    <a:ext uri="{9D8B030D-6E8A-4147-A177-3AD203B41FA5}">
                      <a16:colId xmlns:a16="http://schemas.microsoft.com/office/drawing/2014/main" val="20001"/>
                    </a:ext>
                  </a:extLst>
                </a:gridCol>
              </a:tblGrid>
              <a:tr h="565143">
                <a:tc>
                  <a:txBody>
                    <a:bodyPr/>
                    <a:lstStyle/>
                    <a:p>
                      <a:pPr algn="ctr">
                        <a:lnSpc>
                          <a:spcPct val="90000"/>
                        </a:lnSpc>
                        <a:buNone/>
                      </a:pPr>
                      <a:r>
                        <a:rPr lang="zh-CN" altLang="en-US" sz="1800" b="1" dirty="0">
                          <a:latin typeface="微软雅黑" panose="020B0503020204020204" pitchFamily="34" charset="-122"/>
                          <a:ea typeface="微软雅黑" panose="020B0503020204020204" pitchFamily="34" charset="-122"/>
                        </a:rPr>
                        <a:t>方法</a:t>
                      </a:r>
                    </a:p>
                  </a:txBody>
                  <a:tcPr anchor="ctr"/>
                </a:tc>
                <a:tc>
                  <a:txBody>
                    <a:bodyPr/>
                    <a:lstStyle/>
                    <a:p>
                      <a:pPr algn="ctr">
                        <a:lnSpc>
                          <a:spcPct val="90000"/>
                        </a:lnSpc>
                        <a:buNone/>
                      </a:pPr>
                      <a:r>
                        <a:rPr lang="zh-CN" altLang="en-US" sz="1800" dirty="0">
                          <a:latin typeface="微软雅黑" panose="020B0503020204020204" pitchFamily="34" charset="-122"/>
                          <a:ea typeface="微软雅黑" panose="020B0503020204020204" pitchFamily="34" charset="-122"/>
                        </a:rPr>
                        <a:t>说明</a:t>
                      </a:r>
                    </a:p>
                  </a:txBody>
                  <a:tcPr anchor="ctr"/>
                </a:tc>
                <a:extLst>
                  <a:ext uri="{0D108BD9-81ED-4DB2-BD59-A6C34878D82A}">
                    <a16:rowId xmlns:a16="http://schemas.microsoft.com/office/drawing/2014/main" val="10000"/>
                  </a:ext>
                </a:extLst>
              </a:tr>
              <a:tr h="595400">
                <a:tc>
                  <a:txBody>
                    <a:bodyPr/>
                    <a:lstStyle/>
                    <a:p>
                      <a:pPr marL="0" marR="0" indent="0" algn="l" defTabSz="1219200" rtl="0" eaLnBrk="1" fontAlgn="auto" latinLnBrk="0" hangingPunct="1">
                        <a:lnSpc>
                          <a:spcPct val="115000"/>
                        </a:lnSpc>
                        <a:spcBef>
                          <a:spcPts val="0"/>
                        </a:spcBef>
                        <a:spcAft>
                          <a:spcPts val="0"/>
                        </a:spcAft>
                        <a:buClrTx/>
                        <a:buSzTx/>
                        <a:buFontTx/>
                        <a:buNone/>
                        <a:defRPr/>
                      </a:pPr>
                      <a:r>
                        <a:rPr lang="en-US" altLang="zh-CN" sz="2000" kern="1200" dirty="0" err="1">
                          <a:solidFill>
                            <a:srgbClr val="595959"/>
                          </a:solidFill>
                          <a:latin typeface="微软雅黑" panose="020B0503020204020204" pitchFamily="34" charset="-122"/>
                          <a:ea typeface="微软雅黑" panose="020B0503020204020204" pitchFamily="34" charset="-122"/>
                          <a:cs typeface="+mn-ea"/>
                        </a:rPr>
                        <a:t>send_keys</a:t>
                      </a:r>
                      <a:r>
                        <a:rPr lang="en-US" altLang="zh-CN" sz="2000" kern="1200" dirty="0">
                          <a:solidFill>
                            <a:srgbClr val="595959"/>
                          </a:solidFill>
                          <a:latin typeface="微软雅黑" panose="020B0503020204020204" pitchFamily="34" charset="-122"/>
                          <a:ea typeface="微软雅黑" panose="020B0503020204020204" pitchFamily="34" charset="-122"/>
                          <a:cs typeface="+mn-ea"/>
                        </a:rPr>
                        <a:t>(*value)</a:t>
                      </a:r>
                      <a:endParaRPr lang="zh-CN" altLang="zh-CN" sz="2000" kern="1200" dirty="0">
                        <a:solidFill>
                          <a:srgbClr val="595959"/>
                        </a:solidFill>
                        <a:latin typeface="微软雅黑" panose="020B0503020204020204" pitchFamily="34" charset="-122"/>
                        <a:ea typeface="微软雅黑" panose="020B0503020204020204" pitchFamily="34" charset="-122"/>
                        <a:cs typeface="+mn-ea"/>
                      </a:endParaRPr>
                    </a:p>
                  </a:txBody>
                  <a:tcPr anchor="ctr"/>
                </a:tc>
                <a:tc>
                  <a:txBody>
                    <a:bodyPr/>
                    <a:lstStyle/>
                    <a:p>
                      <a:pPr marL="0" marR="0" indent="0" algn="l" defTabSz="1219200" rtl="0" eaLnBrk="1" fontAlgn="auto" latinLnBrk="0" hangingPunct="1">
                        <a:lnSpc>
                          <a:spcPct val="115000"/>
                        </a:lnSpc>
                        <a:spcBef>
                          <a:spcPts val="0"/>
                        </a:spcBef>
                        <a:spcAft>
                          <a:spcPts val="0"/>
                        </a:spcAft>
                        <a:buClrTx/>
                        <a:buSzTx/>
                        <a:buFontTx/>
                        <a:buNone/>
                        <a:defRPr/>
                      </a:pPr>
                      <a:r>
                        <a:rPr lang="zh-CN" altLang="zh-CN" sz="2000" kern="1200" dirty="0">
                          <a:solidFill>
                            <a:srgbClr val="595959"/>
                          </a:solidFill>
                          <a:latin typeface="微软雅黑" panose="020B0503020204020204" pitchFamily="34" charset="-122"/>
                          <a:ea typeface="微软雅黑" panose="020B0503020204020204" pitchFamily="34" charset="-122"/>
                          <a:cs typeface="+mn-ea"/>
                        </a:rPr>
                        <a:t>输入操作方法，该方法中的参数表示输入的内容</a:t>
                      </a:r>
                    </a:p>
                  </a:txBody>
                  <a:tcPr anchor="ctr"/>
                </a:tc>
                <a:extLst>
                  <a:ext uri="{0D108BD9-81ED-4DB2-BD59-A6C34878D82A}">
                    <a16:rowId xmlns:a16="http://schemas.microsoft.com/office/drawing/2014/main" val="10001"/>
                  </a:ext>
                </a:extLst>
              </a:tr>
              <a:tr h="595400">
                <a:tc>
                  <a:txBody>
                    <a:bodyPr/>
                    <a:lstStyle/>
                    <a:p>
                      <a:pPr marL="0" marR="0" indent="0" algn="l" defTabSz="1219200" rtl="0" eaLnBrk="1" fontAlgn="auto" latinLnBrk="0" hangingPunct="1">
                        <a:lnSpc>
                          <a:spcPct val="115000"/>
                        </a:lnSpc>
                        <a:spcBef>
                          <a:spcPts val="0"/>
                        </a:spcBef>
                        <a:spcAft>
                          <a:spcPts val="0"/>
                        </a:spcAft>
                        <a:buClrTx/>
                        <a:buSzTx/>
                        <a:buFontTx/>
                        <a:buNone/>
                        <a:defRPr/>
                      </a:pPr>
                      <a:r>
                        <a:rPr lang="en-US" altLang="zh-CN" sz="2000" kern="1200" dirty="0">
                          <a:solidFill>
                            <a:srgbClr val="595959"/>
                          </a:solidFill>
                          <a:latin typeface="微软雅黑" panose="020B0503020204020204" pitchFamily="34" charset="-122"/>
                          <a:ea typeface="微软雅黑" panose="020B0503020204020204" pitchFamily="34" charset="-122"/>
                          <a:cs typeface="+mn-ea"/>
                        </a:rPr>
                        <a:t>clear()</a:t>
                      </a:r>
                      <a:endParaRPr lang="zh-CN" altLang="zh-CN" sz="2000" kern="1200" dirty="0">
                        <a:solidFill>
                          <a:srgbClr val="595959"/>
                        </a:solidFill>
                        <a:latin typeface="微软雅黑" panose="020B0503020204020204" pitchFamily="34" charset="-122"/>
                        <a:ea typeface="微软雅黑" panose="020B0503020204020204" pitchFamily="34" charset="-122"/>
                        <a:cs typeface="+mn-ea"/>
                      </a:endParaRPr>
                    </a:p>
                  </a:txBody>
                  <a:tcPr anchor="ctr"/>
                </a:tc>
                <a:tc>
                  <a:txBody>
                    <a:bodyPr/>
                    <a:lstStyle/>
                    <a:p>
                      <a:pPr marL="0" marR="0" indent="0" algn="l" defTabSz="1219200" rtl="0" eaLnBrk="1" fontAlgn="auto" latinLnBrk="0" hangingPunct="1">
                        <a:lnSpc>
                          <a:spcPct val="115000"/>
                        </a:lnSpc>
                        <a:spcBef>
                          <a:spcPts val="0"/>
                        </a:spcBef>
                        <a:spcAft>
                          <a:spcPts val="0"/>
                        </a:spcAft>
                        <a:buClrTx/>
                        <a:buSzTx/>
                        <a:buFontTx/>
                        <a:buNone/>
                        <a:defRPr/>
                      </a:pPr>
                      <a:r>
                        <a:rPr lang="zh-CN" altLang="zh-CN" sz="2000" kern="1200" dirty="0">
                          <a:solidFill>
                            <a:srgbClr val="595959"/>
                          </a:solidFill>
                          <a:latin typeface="微软雅黑" panose="020B0503020204020204" pitchFamily="34" charset="-122"/>
                          <a:ea typeface="微软雅黑" panose="020B0503020204020204" pitchFamily="34" charset="-122"/>
                          <a:cs typeface="+mn-ea"/>
                        </a:rPr>
                        <a:t>清空操作方法</a:t>
                      </a:r>
                    </a:p>
                  </a:txBody>
                  <a:tcPr anchor="ctr"/>
                </a:tc>
                <a:extLst>
                  <a:ext uri="{0D108BD9-81ED-4DB2-BD59-A6C34878D82A}">
                    <a16:rowId xmlns:a16="http://schemas.microsoft.com/office/drawing/2014/main" val="10002"/>
                  </a:ext>
                </a:extLst>
              </a:tr>
              <a:tr h="591806">
                <a:tc>
                  <a:txBody>
                    <a:bodyPr/>
                    <a:lstStyle/>
                    <a:p>
                      <a:pPr marL="0" marR="0" indent="0" algn="l" defTabSz="1219200" rtl="0" eaLnBrk="1" fontAlgn="auto" latinLnBrk="0" hangingPunct="1">
                        <a:lnSpc>
                          <a:spcPct val="115000"/>
                        </a:lnSpc>
                        <a:spcBef>
                          <a:spcPts val="0"/>
                        </a:spcBef>
                        <a:spcAft>
                          <a:spcPts val="0"/>
                        </a:spcAft>
                        <a:buClrTx/>
                        <a:buSzTx/>
                        <a:buFontTx/>
                        <a:buNone/>
                        <a:defRPr/>
                      </a:pPr>
                      <a:r>
                        <a:rPr lang="en-US" altLang="zh-CN" sz="2000" kern="1200" dirty="0">
                          <a:solidFill>
                            <a:srgbClr val="595959"/>
                          </a:solidFill>
                          <a:latin typeface="微软雅黑" panose="020B0503020204020204" pitchFamily="34" charset="-122"/>
                          <a:ea typeface="微软雅黑" panose="020B0503020204020204" pitchFamily="34" charset="-122"/>
                          <a:cs typeface="+mn-ea"/>
                        </a:rPr>
                        <a:t>submit()</a:t>
                      </a:r>
                      <a:endParaRPr lang="zh-CN" altLang="zh-CN" sz="2000" kern="1200" dirty="0">
                        <a:solidFill>
                          <a:srgbClr val="595959"/>
                        </a:solidFill>
                        <a:latin typeface="微软雅黑" panose="020B0503020204020204" pitchFamily="34" charset="-122"/>
                        <a:ea typeface="微软雅黑" panose="020B0503020204020204" pitchFamily="34" charset="-122"/>
                        <a:cs typeface="+mn-ea"/>
                      </a:endParaRPr>
                    </a:p>
                  </a:txBody>
                  <a:tcPr anchor="ctr"/>
                </a:tc>
                <a:tc>
                  <a:txBody>
                    <a:bodyPr/>
                    <a:lstStyle/>
                    <a:p>
                      <a:pPr marL="0" marR="0" indent="0" algn="l" defTabSz="1219200" rtl="0" eaLnBrk="1" fontAlgn="auto" latinLnBrk="0" hangingPunct="1">
                        <a:lnSpc>
                          <a:spcPct val="115000"/>
                        </a:lnSpc>
                        <a:spcBef>
                          <a:spcPts val="0"/>
                        </a:spcBef>
                        <a:spcAft>
                          <a:spcPts val="0"/>
                        </a:spcAft>
                        <a:buClrTx/>
                        <a:buSzTx/>
                        <a:buFontTx/>
                        <a:buNone/>
                        <a:defRPr/>
                      </a:pPr>
                      <a:r>
                        <a:rPr lang="zh-CN" altLang="zh-CN" sz="2000" kern="1200" dirty="0">
                          <a:solidFill>
                            <a:srgbClr val="595959"/>
                          </a:solidFill>
                          <a:latin typeface="微软雅黑" panose="020B0503020204020204" pitchFamily="34" charset="-122"/>
                          <a:ea typeface="微软雅黑" panose="020B0503020204020204" pitchFamily="34" charset="-122"/>
                          <a:cs typeface="+mn-ea"/>
                        </a:rPr>
                        <a:t>提交表单操作方法</a:t>
                      </a:r>
                    </a:p>
                  </a:txBody>
                  <a:tcPr anchor="ct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52755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a:solidFill>
                  <a:srgbClr val="595959"/>
                </a:solidFill>
                <a:latin typeface="微软雅黑" panose="020B0503020204020204" pitchFamily="34" charset="-122"/>
                <a:ea typeface="微软雅黑" panose="020B0503020204020204" pitchFamily="34" charset="-122"/>
                <a:cs typeface="+mn-ea"/>
                <a:sym typeface="+mn-lt"/>
              </a:rPr>
              <a:t>6.4.2 Selenium</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常用</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的操作方法</a:t>
            </a:r>
          </a:p>
        </p:txBody>
      </p:sp>
      <p:graphicFrame>
        <p:nvGraphicFramePr>
          <p:cNvPr id="7" name="表格 6"/>
          <p:cNvGraphicFramePr/>
          <p:nvPr>
            <p:custDataLst>
              <p:tags r:id="rId1"/>
            </p:custDataLst>
          </p:nvPr>
        </p:nvGraphicFramePr>
        <p:xfrm>
          <a:off x="1055206" y="2277794"/>
          <a:ext cx="10495516" cy="2691147"/>
        </p:xfrm>
        <a:graphic>
          <a:graphicData uri="http://schemas.openxmlformats.org/drawingml/2006/table">
            <a:tbl>
              <a:tblPr firstRow="1" bandRow="1">
                <a:tableStyleId>{5C22544A-7EE6-4342-B048-85BDC9FD1C3A}</a:tableStyleId>
              </a:tblPr>
              <a:tblGrid>
                <a:gridCol w="4464000">
                  <a:extLst>
                    <a:ext uri="{9D8B030D-6E8A-4147-A177-3AD203B41FA5}">
                      <a16:colId xmlns:a16="http://schemas.microsoft.com/office/drawing/2014/main" val="20000"/>
                    </a:ext>
                  </a:extLst>
                </a:gridCol>
                <a:gridCol w="6031516">
                  <a:extLst>
                    <a:ext uri="{9D8B030D-6E8A-4147-A177-3AD203B41FA5}">
                      <a16:colId xmlns:a16="http://schemas.microsoft.com/office/drawing/2014/main" val="20001"/>
                    </a:ext>
                  </a:extLst>
                </a:gridCol>
              </a:tblGrid>
              <a:tr h="565143">
                <a:tc>
                  <a:txBody>
                    <a:bodyPr/>
                    <a:lstStyle/>
                    <a:p>
                      <a:pPr algn="ctr">
                        <a:lnSpc>
                          <a:spcPct val="90000"/>
                        </a:lnSpc>
                        <a:buNone/>
                      </a:pPr>
                      <a:r>
                        <a:rPr lang="zh-CN" altLang="en-US" sz="1800" b="1" dirty="0">
                          <a:latin typeface="微软雅黑" panose="020B0503020204020204" pitchFamily="34" charset="-122"/>
                          <a:ea typeface="微软雅黑" panose="020B0503020204020204" pitchFamily="34" charset="-122"/>
                        </a:rPr>
                        <a:t>方法</a:t>
                      </a:r>
                    </a:p>
                  </a:txBody>
                  <a:tcPr anchor="ctr"/>
                </a:tc>
                <a:tc>
                  <a:txBody>
                    <a:bodyPr/>
                    <a:lstStyle/>
                    <a:p>
                      <a:pPr algn="ctr">
                        <a:lnSpc>
                          <a:spcPct val="90000"/>
                        </a:lnSpc>
                        <a:buNone/>
                      </a:pPr>
                      <a:r>
                        <a:rPr lang="zh-CN" altLang="en-US" sz="1800" dirty="0">
                          <a:latin typeface="微软雅黑" panose="020B0503020204020204" pitchFamily="34" charset="-122"/>
                          <a:ea typeface="微软雅黑" panose="020B0503020204020204" pitchFamily="34" charset="-122"/>
                        </a:rPr>
                        <a:t>说明</a:t>
                      </a:r>
                    </a:p>
                  </a:txBody>
                  <a:tcPr anchor="ctr"/>
                </a:tc>
                <a:extLst>
                  <a:ext uri="{0D108BD9-81ED-4DB2-BD59-A6C34878D82A}">
                    <a16:rowId xmlns:a16="http://schemas.microsoft.com/office/drawing/2014/main" val="10000"/>
                  </a:ext>
                </a:extLst>
              </a:tr>
              <a:tr h="595400">
                <a:tc>
                  <a:txBody>
                    <a:bodyPr/>
                    <a:lstStyle/>
                    <a:p>
                      <a:pPr marL="0" marR="0" indent="0" algn="l" defTabSz="1219200" rtl="0" eaLnBrk="1" fontAlgn="auto" latinLnBrk="0" hangingPunct="1">
                        <a:lnSpc>
                          <a:spcPct val="115000"/>
                        </a:lnSpc>
                        <a:spcBef>
                          <a:spcPts val="0"/>
                        </a:spcBef>
                        <a:spcAft>
                          <a:spcPts val="0"/>
                        </a:spcAft>
                        <a:buClrTx/>
                        <a:buSzTx/>
                        <a:buFontTx/>
                        <a:buNone/>
                        <a:defRPr/>
                      </a:pPr>
                      <a:r>
                        <a:rPr lang="en-US" altLang="zh-CN" sz="2000" kern="1200" dirty="0">
                          <a:solidFill>
                            <a:srgbClr val="595959"/>
                          </a:solidFill>
                          <a:latin typeface="微软雅黑" panose="020B0503020204020204" pitchFamily="34" charset="-122"/>
                          <a:ea typeface="微软雅黑" panose="020B0503020204020204" pitchFamily="34" charset="-122"/>
                          <a:cs typeface="+mn-ea"/>
                        </a:rPr>
                        <a:t>click()</a:t>
                      </a:r>
                      <a:endParaRPr lang="zh-CN" altLang="zh-CN" sz="2000" kern="1200" dirty="0">
                        <a:solidFill>
                          <a:srgbClr val="595959"/>
                        </a:solidFill>
                        <a:latin typeface="微软雅黑" panose="020B0503020204020204" pitchFamily="34" charset="-122"/>
                        <a:ea typeface="微软雅黑" panose="020B0503020204020204" pitchFamily="34" charset="-122"/>
                        <a:cs typeface="+mn-ea"/>
                      </a:endParaRPr>
                    </a:p>
                  </a:txBody>
                  <a:tcPr anchor="ctr"/>
                </a:tc>
                <a:tc>
                  <a:txBody>
                    <a:bodyPr/>
                    <a:lstStyle/>
                    <a:p>
                      <a:pPr marL="0" marR="0" indent="0" algn="l" defTabSz="1219200" rtl="0" eaLnBrk="1" fontAlgn="auto" latinLnBrk="0" hangingPunct="1">
                        <a:lnSpc>
                          <a:spcPct val="115000"/>
                        </a:lnSpc>
                        <a:spcBef>
                          <a:spcPts val="0"/>
                        </a:spcBef>
                        <a:spcAft>
                          <a:spcPts val="0"/>
                        </a:spcAft>
                        <a:buClrTx/>
                        <a:buSzTx/>
                        <a:buFontTx/>
                        <a:buNone/>
                        <a:defRPr/>
                      </a:pPr>
                      <a:r>
                        <a:rPr lang="zh-CN" altLang="zh-CN" sz="2000" kern="1200" dirty="0">
                          <a:solidFill>
                            <a:srgbClr val="595959"/>
                          </a:solidFill>
                          <a:latin typeface="微软雅黑" panose="020B0503020204020204" pitchFamily="34" charset="-122"/>
                          <a:ea typeface="微软雅黑" panose="020B0503020204020204" pitchFamily="34" charset="-122"/>
                          <a:cs typeface="+mn-ea"/>
                        </a:rPr>
                        <a:t>单击操作方法</a:t>
                      </a:r>
                    </a:p>
                  </a:txBody>
                  <a:tcPr anchor="ctr"/>
                </a:tc>
                <a:extLst>
                  <a:ext uri="{0D108BD9-81ED-4DB2-BD59-A6C34878D82A}">
                    <a16:rowId xmlns:a16="http://schemas.microsoft.com/office/drawing/2014/main" val="10001"/>
                  </a:ext>
                </a:extLst>
              </a:tr>
              <a:tr h="595400">
                <a:tc>
                  <a:txBody>
                    <a:bodyPr/>
                    <a:lstStyle/>
                    <a:p>
                      <a:pPr marL="0" marR="0" indent="0" algn="l" defTabSz="1219200" rtl="0" eaLnBrk="1" fontAlgn="auto" latinLnBrk="0" hangingPunct="1">
                        <a:lnSpc>
                          <a:spcPct val="115000"/>
                        </a:lnSpc>
                        <a:spcBef>
                          <a:spcPts val="0"/>
                        </a:spcBef>
                        <a:spcAft>
                          <a:spcPts val="0"/>
                        </a:spcAft>
                        <a:buClrTx/>
                        <a:buSzTx/>
                        <a:buFontTx/>
                        <a:buNone/>
                        <a:defRPr/>
                      </a:pPr>
                      <a:r>
                        <a:rPr lang="en-US" altLang="zh-CN" sz="2000" kern="1200" dirty="0">
                          <a:solidFill>
                            <a:srgbClr val="595959"/>
                          </a:solidFill>
                          <a:latin typeface="微软雅黑" panose="020B0503020204020204" pitchFamily="34" charset="-122"/>
                          <a:ea typeface="微软雅黑" panose="020B0503020204020204" pitchFamily="34" charset="-122"/>
                          <a:cs typeface="+mn-ea"/>
                        </a:rPr>
                        <a:t>get(</a:t>
                      </a:r>
                      <a:r>
                        <a:rPr lang="en-US" altLang="zh-CN" sz="2000" kern="1200" dirty="0" err="1">
                          <a:solidFill>
                            <a:srgbClr val="595959"/>
                          </a:solidFill>
                          <a:latin typeface="微软雅黑" panose="020B0503020204020204" pitchFamily="34" charset="-122"/>
                          <a:ea typeface="微软雅黑" panose="020B0503020204020204" pitchFamily="34" charset="-122"/>
                          <a:cs typeface="+mn-ea"/>
                        </a:rPr>
                        <a:t>url</a:t>
                      </a:r>
                      <a:r>
                        <a:rPr lang="en-US" altLang="zh-CN" sz="2000" kern="1200" dirty="0">
                          <a:solidFill>
                            <a:srgbClr val="595959"/>
                          </a:solidFill>
                          <a:latin typeface="微软雅黑" panose="020B0503020204020204" pitchFamily="34" charset="-122"/>
                          <a:ea typeface="微软雅黑" panose="020B0503020204020204" pitchFamily="34" charset="-122"/>
                          <a:cs typeface="+mn-ea"/>
                        </a:rPr>
                        <a:t>)</a:t>
                      </a:r>
                      <a:endParaRPr lang="zh-CN" altLang="zh-CN" sz="2000" kern="1200" dirty="0">
                        <a:solidFill>
                          <a:srgbClr val="595959"/>
                        </a:solidFill>
                        <a:latin typeface="微软雅黑" panose="020B0503020204020204" pitchFamily="34" charset="-122"/>
                        <a:ea typeface="微软雅黑" panose="020B0503020204020204" pitchFamily="34" charset="-122"/>
                        <a:cs typeface="+mn-ea"/>
                      </a:endParaRPr>
                    </a:p>
                  </a:txBody>
                  <a:tcPr anchor="ctr"/>
                </a:tc>
                <a:tc>
                  <a:txBody>
                    <a:bodyPr/>
                    <a:lstStyle/>
                    <a:p>
                      <a:pPr marL="0" marR="0" indent="0" algn="l" defTabSz="1219200" rtl="0" eaLnBrk="1" fontAlgn="auto" latinLnBrk="0" hangingPunct="1">
                        <a:lnSpc>
                          <a:spcPct val="115000"/>
                        </a:lnSpc>
                        <a:spcBef>
                          <a:spcPts val="0"/>
                        </a:spcBef>
                        <a:spcAft>
                          <a:spcPts val="0"/>
                        </a:spcAft>
                        <a:buClrTx/>
                        <a:buSzTx/>
                        <a:buFontTx/>
                        <a:buNone/>
                        <a:defRPr/>
                      </a:pPr>
                      <a:r>
                        <a:rPr lang="zh-CN" altLang="zh-CN" sz="2000" kern="1200" dirty="0">
                          <a:solidFill>
                            <a:srgbClr val="595959"/>
                          </a:solidFill>
                          <a:latin typeface="微软雅黑" panose="020B0503020204020204" pitchFamily="34" charset="-122"/>
                          <a:ea typeface="微软雅黑" panose="020B0503020204020204" pitchFamily="34" charset="-122"/>
                          <a:cs typeface="+mn-ea"/>
                        </a:rPr>
                        <a:t>获取操作方法，该方法中</a:t>
                      </a:r>
                      <a:r>
                        <a:rPr lang="zh-CN" altLang="zh-CN" sz="2000" kern="1200">
                          <a:solidFill>
                            <a:srgbClr val="595959"/>
                          </a:solidFill>
                          <a:latin typeface="微软雅黑" panose="020B0503020204020204" pitchFamily="34" charset="-122"/>
                          <a:ea typeface="微软雅黑" panose="020B0503020204020204" pitchFamily="34" charset="-122"/>
                          <a:cs typeface="+mn-ea"/>
                        </a:rPr>
                        <a:t>的参数</a:t>
                      </a:r>
                      <a:r>
                        <a:rPr lang="en-US" altLang="zh-CN" sz="2000" kern="1200">
                          <a:solidFill>
                            <a:srgbClr val="595959"/>
                          </a:solidFill>
                          <a:latin typeface="微软雅黑" panose="020B0503020204020204" pitchFamily="34" charset="-122"/>
                          <a:ea typeface="微软雅黑" panose="020B0503020204020204" pitchFamily="34" charset="-122"/>
                          <a:cs typeface="+mn-ea"/>
                        </a:rPr>
                        <a:t>url</a:t>
                      </a:r>
                      <a:r>
                        <a:rPr lang="zh-CN" altLang="zh-CN" sz="2000" kern="1200">
                          <a:solidFill>
                            <a:srgbClr val="595959"/>
                          </a:solidFill>
                          <a:latin typeface="微软雅黑" panose="020B0503020204020204" pitchFamily="34" charset="-122"/>
                          <a:ea typeface="微软雅黑" panose="020B0503020204020204" pitchFamily="34" charset="-122"/>
                          <a:cs typeface="+mn-ea"/>
                        </a:rPr>
                        <a:t>表示</a:t>
                      </a:r>
                      <a:r>
                        <a:rPr lang="en-US" altLang="zh-CN" sz="2000" kern="1200" dirty="0">
                          <a:solidFill>
                            <a:srgbClr val="595959"/>
                          </a:solidFill>
                          <a:latin typeface="微软雅黑" panose="020B0503020204020204" pitchFamily="34" charset="-122"/>
                          <a:ea typeface="微软雅黑" panose="020B0503020204020204" pitchFamily="34" charset="-122"/>
                          <a:cs typeface="+mn-ea"/>
                        </a:rPr>
                        <a:t>Web</a:t>
                      </a:r>
                      <a:r>
                        <a:rPr lang="zh-CN" altLang="zh-CN" sz="2000" kern="1200" dirty="0">
                          <a:solidFill>
                            <a:srgbClr val="595959"/>
                          </a:solidFill>
                          <a:latin typeface="微软雅黑" panose="020B0503020204020204" pitchFamily="34" charset="-122"/>
                          <a:ea typeface="微软雅黑" panose="020B0503020204020204" pitchFamily="34" charset="-122"/>
                          <a:cs typeface="+mn-ea"/>
                        </a:rPr>
                        <a:t>页面的资源路径</a:t>
                      </a:r>
                    </a:p>
                  </a:txBody>
                  <a:tcPr anchor="ctr"/>
                </a:tc>
                <a:extLst>
                  <a:ext uri="{0D108BD9-81ED-4DB2-BD59-A6C34878D82A}">
                    <a16:rowId xmlns:a16="http://schemas.microsoft.com/office/drawing/2014/main" val="10002"/>
                  </a:ext>
                </a:extLst>
              </a:tr>
              <a:tr h="591806">
                <a:tc>
                  <a:txBody>
                    <a:bodyPr/>
                    <a:lstStyle/>
                    <a:p>
                      <a:pPr marL="0" marR="0" indent="0" algn="l" defTabSz="1219200" rtl="0" eaLnBrk="1" fontAlgn="auto" latinLnBrk="0" hangingPunct="1">
                        <a:lnSpc>
                          <a:spcPct val="115000"/>
                        </a:lnSpc>
                        <a:spcBef>
                          <a:spcPts val="0"/>
                        </a:spcBef>
                        <a:spcAft>
                          <a:spcPts val="0"/>
                        </a:spcAft>
                        <a:buClrTx/>
                        <a:buSzTx/>
                        <a:buFontTx/>
                        <a:buNone/>
                        <a:defRPr/>
                      </a:pPr>
                      <a:r>
                        <a:rPr lang="en-US" altLang="zh-CN" sz="2000" kern="1200" dirty="0" err="1">
                          <a:solidFill>
                            <a:srgbClr val="595959"/>
                          </a:solidFill>
                          <a:latin typeface="微软雅黑" panose="020B0503020204020204" pitchFamily="34" charset="-122"/>
                          <a:ea typeface="微软雅黑" panose="020B0503020204020204" pitchFamily="34" charset="-122"/>
                          <a:cs typeface="+mn-ea"/>
                        </a:rPr>
                        <a:t>get_screenshot_as_file</a:t>
                      </a:r>
                      <a:r>
                        <a:rPr lang="en-US" altLang="zh-CN" sz="2000" kern="1200" dirty="0">
                          <a:solidFill>
                            <a:srgbClr val="595959"/>
                          </a:solidFill>
                          <a:latin typeface="微软雅黑" panose="020B0503020204020204" pitchFamily="34" charset="-122"/>
                          <a:ea typeface="微软雅黑" panose="020B0503020204020204" pitchFamily="34" charset="-122"/>
                          <a:cs typeface="+mn-ea"/>
                        </a:rPr>
                        <a:t>(filename)</a:t>
                      </a:r>
                      <a:endParaRPr lang="zh-CN" altLang="zh-CN" sz="2000" kern="1200" dirty="0">
                        <a:solidFill>
                          <a:srgbClr val="595959"/>
                        </a:solidFill>
                        <a:latin typeface="微软雅黑" panose="020B0503020204020204" pitchFamily="34" charset="-122"/>
                        <a:ea typeface="微软雅黑" panose="020B0503020204020204" pitchFamily="34" charset="-122"/>
                        <a:cs typeface="+mn-ea"/>
                      </a:endParaRPr>
                    </a:p>
                  </a:txBody>
                  <a:tcPr anchor="ctr"/>
                </a:tc>
                <a:tc>
                  <a:txBody>
                    <a:bodyPr/>
                    <a:lstStyle/>
                    <a:p>
                      <a:pPr marL="0" marR="0" indent="0" algn="l" defTabSz="1219200" rtl="0" eaLnBrk="1" fontAlgn="auto" latinLnBrk="0" hangingPunct="1">
                        <a:lnSpc>
                          <a:spcPct val="115000"/>
                        </a:lnSpc>
                        <a:spcBef>
                          <a:spcPts val="0"/>
                        </a:spcBef>
                        <a:spcAft>
                          <a:spcPts val="0"/>
                        </a:spcAft>
                        <a:buClrTx/>
                        <a:buSzTx/>
                        <a:buFontTx/>
                        <a:buNone/>
                        <a:defRPr/>
                      </a:pPr>
                      <a:r>
                        <a:rPr lang="zh-CN" altLang="zh-CN" sz="2000" kern="1200" dirty="0">
                          <a:solidFill>
                            <a:srgbClr val="595959"/>
                          </a:solidFill>
                          <a:latin typeface="微软雅黑" panose="020B0503020204020204" pitchFamily="34" charset="-122"/>
                          <a:ea typeface="微软雅黑" panose="020B0503020204020204" pitchFamily="34" charset="-122"/>
                          <a:cs typeface="+mn-ea"/>
                        </a:rPr>
                        <a:t>截图操作方法，该方法中的参数</a:t>
                      </a:r>
                      <a:r>
                        <a:rPr lang="en-US" altLang="zh-CN" sz="2000" kern="1200" dirty="0">
                          <a:solidFill>
                            <a:srgbClr val="595959"/>
                          </a:solidFill>
                          <a:latin typeface="微软雅黑" panose="020B0503020204020204" pitchFamily="34" charset="-122"/>
                          <a:ea typeface="微软雅黑" panose="020B0503020204020204" pitchFamily="34" charset="-122"/>
                          <a:cs typeface="+mn-ea"/>
                        </a:rPr>
                        <a:t>filename</a:t>
                      </a:r>
                      <a:r>
                        <a:rPr lang="zh-CN" altLang="zh-CN" sz="2000" kern="1200" dirty="0">
                          <a:solidFill>
                            <a:srgbClr val="595959"/>
                          </a:solidFill>
                          <a:latin typeface="微软雅黑" panose="020B0503020204020204" pitchFamily="34" charset="-122"/>
                          <a:ea typeface="微软雅黑" panose="020B0503020204020204" pitchFamily="34" charset="-122"/>
                          <a:cs typeface="+mn-ea"/>
                        </a:rPr>
                        <a:t>是页面截图后存储的绝对路径</a:t>
                      </a:r>
                    </a:p>
                  </a:txBody>
                  <a:tcPr anchor="ct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52755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a:solidFill>
                  <a:srgbClr val="595959"/>
                </a:solidFill>
                <a:latin typeface="微软雅黑" panose="020B0503020204020204" pitchFamily="34" charset="-122"/>
                <a:ea typeface="微软雅黑" panose="020B0503020204020204" pitchFamily="34" charset="-122"/>
                <a:cs typeface="+mn-ea"/>
                <a:sym typeface="+mn-lt"/>
              </a:rPr>
              <a:t>6.4.2 Selenium</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常用</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的操作方法</a:t>
            </a:r>
          </a:p>
        </p:txBody>
      </p:sp>
      <p:sp>
        <p:nvSpPr>
          <p:cNvPr id="2" name="矩形 1"/>
          <p:cNvSpPr/>
          <p:nvPr/>
        </p:nvSpPr>
        <p:spPr>
          <a:xfrm>
            <a:off x="1163621" y="1701794"/>
            <a:ext cx="10259585" cy="1477328"/>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在自动化测试过程中</a:t>
            </a:r>
            <a:r>
              <a:rPr lang="zh-CN" altLang="zh-CN" sz="2000">
                <a:solidFill>
                  <a:srgbClr val="595959"/>
                </a:solidFill>
                <a:latin typeface="微软雅黑" panose="020B0503020204020204" pitchFamily="34" charset="-122"/>
                <a:ea typeface="微软雅黑" panose="020B0503020204020204" pitchFamily="34" charset="-122"/>
                <a:cs typeface="+mn-ea"/>
              </a:rPr>
              <a:t>，除了</a:t>
            </a:r>
            <a:r>
              <a:rPr lang="zh-CN" altLang="en-US" sz="2000">
                <a:solidFill>
                  <a:srgbClr val="595959"/>
                </a:solidFill>
                <a:latin typeface="微软雅黑" panose="020B0503020204020204" pitchFamily="34" charset="-122"/>
                <a:ea typeface="微软雅黑" panose="020B0503020204020204" pitchFamily="34" charset="-122"/>
                <a:cs typeface="+mn-ea"/>
              </a:rPr>
              <a:t>需要</a:t>
            </a:r>
            <a:r>
              <a:rPr lang="zh-CN" altLang="zh-CN" sz="2000">
                <a:solidFill>
                  <a:srgbClr val="595959"/>
                </a:solidFill>
                <a:latin typeface="微软雅黑" panose="020B0503020204020204" pitchFamily="34" charset="-122"/>
                <a:ea typeface="微软雅黑" panose="020B0503020204020204" pitchFamily="34" charset="-122"/>
                <a:cs typeface="+mn-ea"/>
              </a:rPr>
              <a:t>对</a:t>
            </a:r>
            <a:r>
              <a:rPr lang="zh-CN" altLang="zh-CN" sz="2000" dirty="0">
                <a:solidFill>
                  <a:srgbClr val="595959"/>
                </a:solidFill>
                <a:latin typeface="微软雅黑" panose="020B0503020204020204" pitchFamily="34" charset="-122"/>
                <a:ea typeface="微软雅黑" panose="020B0503020204020204" pitchFamily="34" charset="-122"/>
                <a:cs typeface="+mn-ea"/>
              </a:rPr>
              <a:t>页面中的元素进行操作外，还需要对浏览器进行一些常用的操作，例如，</a:t>
            </a:r>
            <a:r>
              <a:rPr lang="zh-CN" altLang="zh-CN" sz="2000" dirty="0">
                <a:solidFill>
                  <a:srgbClr val="1369B2"/>
                </a:solidFill>
                <a:latin typeface="微软雅黑" panose="020B0503020204020204" pitchFamily="34" charset="-122"/>
                <a:ea typeface="微软雅黑" panose="020B0503020204020204" pitchFamily="34" charset="-122"/>
                <a:cs typeface="+mn-ea"/>
              </a:rPr>
              <a:t>设置浏览器的窗口大小</a:t>
            </a:r>
            <a:r>
              <a:rPr lang="zh-CN" altLang="zh-CN" sz="2000" dirty="0">
                <a:solidFill>
                  <a:srgbClr val="595959"/>
                </a:solidFill>
                <a:latin typeface="微软雅黑" panose="020B0503020204020204" pitchFamily="34" charset="-122"/>
                <a:ea typeface="微软雅黑" panose="020B0503020204020204" pitchFamily="34" charset="-122"/>
                <a:cs typeface="+mn-ea"/>
              </a:rPr>
              <a:t>与</a:t>
            </a:r>
            <a:r>
              <a:rPr lang="zh-CN" altLang="zh-CN" sz="2000" dirty="0">
                <a:solidFill>
                  <a:srgbClr val="1369B2"/>
                </a:solidFill>
                <a:latin typeface="微软雅黑" panose="020B0503020204020204" pitchFamily="34" charset="-122"/>
                <a:ea typeface="微软雅黑" panose="020B0503020204020204" pitchFamily="34" charset="-122"/>
                <a:cs typeface="+mn-ea"/>
              </a:rPr>
              <a:t>关闭浏览器</a:t>
            </a:r>
            <a:r>
              <a:rPr lang="zh-CN" altLang="zh-CN" sz="2000">
                <a:solidFill>
                  <a:srgbClr val="1369B2"/>
                </a:solidFill>
                <a:latin typeface="微软雅黑" panose="020B0503020204020204" pitchFamily="34" charset="-122"/>
                <a:ea typeface="微软雅黑" panose="020B0503020204020204" pitchFamily="34" charset="-122"/>
                <a:cs typeface="+mn-ea"/>
              </a:rPr>
              <a:t>窗口</a:t>
            </a:r>
            <a:r>
              <a:rPr lang="zh-CN" altLang="zh-CN" sz="2000">
                <a:solidFill>
                  <a:srgbClr val="595959"/>
                </a:solidFill>
                <a:latin typeface="微软雅黑" panose="020B0503020204020204" pitchFamily="34" charset="-122"/>
                <a:ea typeface="微软雅黑" panose="020B0503020204020204" pitchFamily="34" charset="-122"/>
                <a:cs typeface="+mn-ea"/>
              </a:rPr>
              <a:t>等</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1369B2"/>
                </a:solidFill>
                <a:latin typeface="微软雅黑" panose="020B0503020204020204" pitchFamily="34" charset="-122"/>
                <a:ea typeface="微软雅黑" panose="020B0503020204020204" pitchFamily="34" charset="-122"/>
                <a:cs typeface="+mn-ea"/>
              </a:rPr>
              <a:t>浏览器</a:t>
            </a:r>
            <a:r>
              <a:rPr lang="zh-CN" altLang="zh-CN" sz="2000" dirty="0">
                <a:solidFill>
                  <a:srgbClr val="1369B2"/>
                </a:solidFill>
                <a:latin typeface="微软雅黑" panose="020B0503020204020204" pitchFamily="34" charset="-122"/>
                <a:ea typeface="微软雅黑" panose="020B0503020204020204" pitchFamily="34" charset="-122"/>
                <a:cs typeface="+mn-ea"/>
              </a:rPr>
              <a:t>的常用操作方法</a:t>
            </a:r>
            <a:r>
              <a:rPr lang="zh-CN" altLang="en-US" sz="2000">
                <a:solidFill>
                  <a:srgbClr val="595959"/>
                </a:solidFill>
                <a:latin typeface="微软雅黑" panose="020B0503020204020204" pitchFamily="34" charset="-122"/>
                <a:ea typeface="微软雅黑" panose="020B0503020204020204" pitchFamily="34" charset="-122"/>
                <a:cs typeface="+mn-ea"/>
              </a:rPr>
              <a:t>如下表所示。</a:t>
            </a:r>
            <a:endParaRPr lang="zh-CN" altLang="en-US" sz="2000" dirty="0">
              <a:solidFill>
                <a:srgbClr val="595959"/>
              </a:solidFill>
              <a:latin typeface="微软雅黑" panose="020B0503020204020204" pitchFamily="34" charset="-122"/>
              <a:ea typeface="微软雅黑" panose="020B0503020204020204" pitchFamily="34" charset="-122"/>
              <a:cs typeface="+mn-ea"/>
            </a:endParaRPr>
          </a:p>
        </p:txBody>
      </p:sp>
      <p:sp>
        <p:nvSpPr>
          <p:cNvPr id="3" name="矩形 2"/>
          <p:cNvSpPr/>
          <p:nvPr/>
        </p:nvSpPr>
        <p:spPr>
          <a:xfrm>
            <a:off x="1055206" y="1011195"/>
            <a:ext cx="2981907" cy="400110"/>
          </a:xfrm>
          <a:prstGeom prst="rect">
            <a:avLst/>
          </a:prstGeom>
        </p:spPr>
        <p:txBody>
          <a:bodyPr wrap="none">
            <a:spAutoFit/>
          </a:bodyPr>
          <a:lstStyle/>
          <a:p>
            <a:pPr lvl="0"/>
            <a:r>
              <a:rPr lang="en-US" altLang="zh-CN" sz="2000" b="1" dirty="0">
                <a:solidFill>
                  <a:srgbClr val="595959"/>
                </a:solidFill>
                <a:latin typeface="微软雅黑" panose="020B0503020204020204" pitchFamily="34" charset="-122"/>
                <a:ea typeface="微软雅黑" panose="020B0503020204020204" pitchFamily="34" charset="-122"/>
                <a:cs typeface="+mn-ea"/>
              </a:rPr>
              <a:t>2.</a:t>
            </a:r>
            <a:r>
              <a:rPr lang="zh-CN" altLang="en-US" sz="2000" b="1" dirty="0">
                <a:solidFill>
                  <a:srgbClr val="595959"/>
                </a:solidFill>
                <a:latin typeface="微软雅黑" panose="020B0503020204020204" pitchFamily="34" charset="-122"/>
                <a:ea typeface="微软雅黑" panose="020B0503020204020204" pitchFamily="34" charset="-122"/>
                <a:cs typeface="+mn-ea"/>
              </a:rPr>
              <a:t>浏览器</a:t>
            </a:r>
            <a:r>
              <a:rPr lang="zh-CN" altLang="zh-CN" sz="2000" b="1" dirty="0">
                <a:solidFill>
                  <a:srgbClr val="595959"/>
                </a:solidFill>
                <a:latin typeface="微软雅黑" panose="020B0503020204020204" pitchFamily="34" charset="-122"/>
                <a:ea typeface="微软雅黑" panose="020B0503020204020204" pitchFamily="34" charset="-122"/>
                <a:cs typeface="+mn-ea"/>
              </a:rPr>
              <a:t>的常用操作方法</a:t>
            </a:r>
          </a:p>
        </p:txBody>
      </p:sp>
      <p:graphicFrame>
        <p:nvGraphicFramePr>
          <p:cNvPr id="7" name="表格 6"/>
          <p:cNvGraphicFramePr/>
          <p:nvPr>
            <p:custDataLst>
              <p:tags r:id="rId1"/>
            </p:custDataLst>
          </p:nvPr>
        </p:nvGraphicFramePr>
        <p:xfrm>
          <a:off x="1415206" y="3357794"/>
          <a:ext cx="9216000" cy="2939555"/>
        </p:xfrm>
        <a:graphic>
          <a:graphicData uri="http://schemas.openxmlformats.org/drawingml/2006/table">
            <a:tbl>
              <a:tblPr firstRow="1" bandRow="1">
                <a:tableStyleId>{5C22544A-7EE6-4342-B048-85BDC9FD1C3A}</a:tableStyleId>
              </a:tblPr>
              <a:tblGrid>
                <a:gridCol w="4248000">
                  <a:extLst>
                    <a:ext uri="{9D8B030D-6E8A-4147-A177-3AD203B41FA5}">
                      <a16:colId xmlns:a16="http://schemas.microsoft.com/office/drawing/2014/main" val="20000"/>
                    </a:ext>
                  </a:extLst>
                </a:gridCol>
                <a:gridCol w="4968000">
                  <a:extLst>
                    <a:ext uri="{9D8B030D-6E8A-4147-A177-3AD203B41FA5}">
                      <a16:colId xmlns:a16="http://schemas.microsoft.com/office/drawing/2014/main" val="20001"/>
                    </a:ext>
                  </a:extLst>
                </a:gridCol>
              </a:tblGrid>
              <a:tr h="565143">
                <a:tc>
                  <a:txBody>
                    <a:bodyPr/>
                    <a:lstStyle/>
                    <a:p>
                      <a:pPr algn="ctr">
                        <a:lnSpc>
                          <a:spcPct val="90000"/>
                        </a:lnSpc>
                        <a:buNone/>
                      </a:pPr>
                      <a:r>
                        <a:rPr lang="zh-CN" altLang="en-US" sz="1800" b="1" dirty="0">
                          <a:latin typeface="微软雅黑" panose="020B0503020204020204" pitchFamily="34" charset="-122"/>
                          <a:ea typeface="微软雅黑" panose="020B0503020204020204" pitchFamily="34" charset="-122"/>
                        </a:rPr>
                        <a:t>方法</a:t>
                      </a:r>
                    </a:p>
                  </a:txBody>
                  <a:tcPr anchor="ctr"/>
                </a:tc>
                <a:tc>
                  <a:txBody>
                    <a:bodyPr/>
                    <a:lstStyle/>
                    <a:p>
                      <a:pPr algn="ctr">
                        <a:lnSpc>
                          <a:spcPct val="90000"/>
                        </a:lnSpc>
                        <a:buNone/>
                      </a:pPr>
                      <a:r>
                        <a:rPr lang="zh-CN" altLang="en-US" sz="1800" dirty="0">
                          <a:latin typeface="微软雅黑" panose="020B0503020204020204" pitchFamily="34" charset="-122"/>
                          <a:ea typeface="微软雅黑" panose="020B0503020204020204" pitchFamily="34" charset="-122"/>
                        </a:rPr>
                        <a:t>说明</a:t>
                      </a:r>
                    </a:p>
                  </a:txBody>
                  <a:tcPr anchor="ctr"/>
                </a:tc>
                <a:extLst>
                  <a:ext uri="{0D108BD9-81ED-4DB2-BD59-A6C34878D82A}">
                    <a16:rowId xmlns:a16="http://schemas.microsoft.com/office/drawing/2014/main" val="10000"/>
                  </a:ext>
                </a:extLst>
              </a:tr>
              <a:tr h="595400">
                <a:tc>
                  <a:txBody>
                    <a:bodyPr/>
                    <a:lstStyle/>
                    <a:p>
                      <a:pPr marL="0" marR="0" indent="0" algn="l" defTabSz="1219200" rtl="0" eaLnBrk="1" fontAlgn="auto" latinLnBrk="0" hangingPunct="1">
                        <a:lnSpc>
                          <a:spcPct val="115000"/>
                        </a:lnSpc>
                        <a:spcBef>
                          <a:spcPts val="0"/>
                        </a:spcBef>
                        <a:spcAft>
                          <a:spcPts val="0"/>
                        </a:spcAft>
                        <a:buClrTx/>
                        <a:buSzTx/>
                        <a:buFontTx/>
                        <a:buNone/>
                        <a:defRPr/>
                      </a:pPr>
                      <a:r>
                        <a:rPr lang="en-US" altLang="zh-CN" sz="2000" kern="1200" dirty="0" err="1">
                          <a:solidFill>
                            <a:srgbClr val="595959"/>
                          </a:solidFill>
                          <a:latin typeface="微软雅黑" panose="020B0503020204020204" pitchFamily="34" charset="-122"/>
                          <a:ea typeface="微软雅黑" panose="020B0503020204020204" pitchFamily="34" charset="-122"/>
                          <a:cs typeface="+mn-ea"/>
                        </a:rPr>
                        <a:t>maximize_window</a:t>
                      </a:r>
                      <a:r>
                        <a:rPr lang="en-US" altLang="zh-CN" sz="2000" kern="1200" dirty="0">
                          <a:solidFill>
                            <a:srgbClr val="595959"/>
                          </a:solidFill>
                          <a:latin typeface="微软雅黑" panose="020B0503020204020204" pitchFamily="34" charset="-122"/>
                          <a:ea typeface="微软雅黑" panose="020B0503020204020204" pitchFamily="34" charset="-122"/>
                          <a:cs typeface="+mn-ea"/>
                        </a:rPr>
                        <a:t>()</a:t>
                      </a:r>
                      <a:endParaRPr lang="zh-CN" altLang="zh-CN" sz="2000" kern="1200" dirty="0">
                        <a:solidFill>
                          <a:srgbClr val="595959"/>
                        </a:solidFill>
                        <a:latin typeface="微软雅黑" panose="020B0503020204020204" pitchFamily="34" charset="-122"/>
                        <a:ea typeface="微软雅黑" panose="020B0503020204020204" pitchFamily="34" charset="-122"/>
                        <a:cs typeface="+mn-ea"/>
                      </a:endParaRPr>
                    </a:p>
                  </a:txBody>
                  <a:tcPr anchor="ctr"/>
                </a:tc>
                <a:tc>
                  <a:txBody>
                    <a:bodyPr/>
                    <a:lstStyle/>
                    <a:p>
                      <a:pPr marL="0" marR="0" indent="0" algn="l" defTabSz="1219200" rtl="0" eaLnBrk="1" fontAlgn="auto" latinLnBrk="0" hangingPunct="1">
                        <a:lnSpc>
                          <a:spcPct val="115000"/>
                        </a:lnSpc>
                        <a:spcBef>
                          <a:spcPts val="0"/>
                        </a:spcBef>
                        <a:spcAft>
                          <a:spcPts val="0"/>
                        </a:spcAft>
                        <a:buClrTx/>
                        <a:buSzTx/>
                        <a:buFontTx/>
                        <a:buNone/>
                        <a:defRPr/>
                      </a:pPr>
                      <a:r>
                        <a:rPr lang="zh-CN" altLang="zh-CN" sz="2000" kern="1200" dirty="0">
                          <a:solidFill>
                            <a:srgbClr val="595959"/>
                          </a:solidFill>
                          <a:latin typeface="微软雅黑" panose="020B0503020204020204" pitchFamily="34" charset="-122"/>
                          <a:ea typeface="微软雅黑" panose="020B0503020204020204" pitchFamily="34" charset="-122"/>
                          <a:cs typeface="+mn-ea"/>
                        </a:rPr>
                        <a:t>设置浏览器窗口为最大化</a:t>
                      </a:r>
                    </a:p>
                  </a:txBody>
                  <a:tcPr anchor="ctr"/>
                </a:tc>
                <a:extLst>
                  <a:ext uri="{0D108BD9-81ED-4DB2-BD59-A6C34878D82A}">
                    <a16:rowId xmlns:a16="http://schemas.microsoft.com/office/drawing/2014/main" val="10001"/>
                  </a:ext>
                </a:extLst>
              </a:tr>
              <a:tr h="595400">
                <a:tc>
                  <a:txBody>
                    <a:bodyPr/>
                    <a:lstStyle/>
                    <a:p>
                      <a:pPr marL="0" marR="0" indent="0" algn="l" defTabSz="1219200" rtl="0" eaLnBrk="1" fontAlgn="auto" latinLnBrk="0" hangingPunct="1">
                        <a:lnSpc>
                          <a:spcPct val="115000"/>
                        </a:lnSpc>
                        <a:spcBef>
                          <a:spcPts val="0"/>
                        </a:spcBef>
                        <a:spcAft>
                          <a:spcPts val="0"/>
                        </a:spcAft>
                        <a:buClrTx/>
                        <a:buSzTx/>
                        <a:buFontTx/>
                        <a:buNone/>
                        <a:defRPr/>
                      </a:pPr>
                      <a:r>
                        <a:rPr lang="en-US" altLang="zh-CN" sz="2000" kern="1200" dirty="0" err="1">
                          <a:solidFill>
                            <a:srgbClr val="595959"/>
                          </a:solidFill>
                          <a:latin typeface="微软雅黑" panose="020B0503020204020204" pitchFamily="34" charset="-122"/>
                          <a:ea typeface="微软雅黑" panose="020B0503020204020204" pitchFamily="34" charset="-122"/>
                          <a:cs typeface="+mn-ea"/>
                        </a:rPr>
                        <a:t>minimize_window</a:t>
                      </a:r>
                      <a:r>
                        <a:rPr lang="en-US" altLang="zh-CN" sz="2000" kern="1200" dirty="0">
                          <a:solidFill>
                            <a:srgbClr val="595959"/>
                          </a:solidFill>
                          <a:latin typeface="微软雅黑" panose="020B0503020204020204" pitchFamily="34" charset="-122"/>
                          <a:ea typeface="微软雅黑" panose="020B0503020204020204" pitchFamily="34" charset="-122"/>
                          <a:cs typeface="+mn-ea"/>
                        </a:rPr>
                        <a:t>()</a:t>
                      </a:r>
                      <a:endParaRPr lang="zh-CN" altLang="zh-CN" sz="2000" kern="1200" dirty="0">
                        <a:solidFill>
                          <a:srgbClr val="595959"/>
                        </a:solidFill>
                        <a:latin typeface="微软雅黑" panose="020B0503020204020204" pitchFamily="34" charset="-122"/>
                        <a:ea typeface="微软雅黑" panose="020B0503020204020204" pitchFamily="34" charset="-122"/>
                        <a:cs typeface="+mn-ea"/>
                      </a:endParaRPr>
                    </a:p>
                  </a:txBody>
                  <a:tcPr anchor="ctr"/>
                </a:tc>
                <a:tc>
                  <a:txBody>
                    <a:bodyPr/>
                    <a:lstStyle/>
                    <a:p>
                      <a:pPr marL="0" marR="0" indent="0" algn="l" defTabSz="1219200" rtl="0" eaLnBrk="1" fontAlgn="auto" latinLnBrk="0" hangingPunct="1">
                        <a:lnSpc>
                          <a:spcPct val="115000"/>
                        </a:lnSpc>
                        <a:spcBef>
                          <a:spcPts val="0"/>
                        </a:spcBef>
                        <a:spcAft>
                          <a:spcPts val="0"/>
                        </a:spcAft>
                        <a:buClrTx/>
                        <a:buSzTx/>
                        <a:buFontTx/>
                        <a:buNone/>
                        <a:defRPr/>
                      </a:pPr>
                      <a:r>
                        <a:rPr lang="zh-CN" altLang="zh-CN" sz="2000" kern="1200" dirty="0">
                          <a:solidFill>
                            <a:srgbClr val="595959"/>
                          </a:solidFill>
                          <a:latin typeface="微软雅黑" panose="020B0503020204020204" pitchFamily="34" charset="-122"/>
                          <a:ea typeface="微软雅黑" panose="020B0503020204020204" pitchFamily="34" charset="-122"/>
                          <a:cs typeface="+mn-ea"/>
                        </a:rPr>
                        <a:t>设置浏览器窗口为最小化</a:t>
                      </a:r>
                    </a:p>
                  </a:txBody>
                  <a:tcPr anchor="ctr"/>
                </a:tc>
                <a:extLst>
                  <a:ext uri="{0D108BD9-81ED-4DB2-BD59-A6C34878D82A}">
                    <a16:rowId xmlns:a16="http://schemas.microsoft.com/office/drawing/2014/main" val="10002"/>
                  </a:ext>
                </a:extLst>
              </a:tr>
              <a:tr h="591806">
                <a:tc>
                  <a:txBody>
                    <a:bodyPr/>
                    <a:lstStyle/>
                    <a:p>
                      <a:pPr marL="0" marR="0" indent="0" algn="l" defTabSz="1219200" rtl="0" eaLnBrk="1" fontAlgn="auto" latinLnBrk="0" hangingPunct="1">
                        <a:lnSpc>
                          <a:spcPct val="115000"/>
                        </a:lnSpc>
                        <a:spcBef>
                          <a:spcPts val="0"/>
                        </a:spcBef>
                        <a:spcAft>
                          <a:spcPts val="0"/>
                        </a:spcAft>
                        <a:buClrTx/>
                        <a:buSzTx/>
                        <a:buFontTx/>
                        <a:buNone/>
                        <a:defRPr/>
                      </a:pPr>
                      <a:r>
                        <a:rPr lang="en-US" altLang="zh-CN" sz="2000" kern="1200" dirty="0">
                          <a:solidFill>
                            <a:srgbClr val="595959"/>
                          </a:solidFill>
                          <a:latin typeface="微软雅黑" panose="020B0503020204020204" pitchFamily="34" charset="-122"/>
                          <a:ea typeface="微软雅黑" panose="020B0503020204020204" pitchFamily="34" charset="-122"/>
                          <a:cs typeface="+mn-ea"/>
                        </a:rPr>
                        <a:t>close()</a:t>
                      </a:r>
                      <a:endParaRPr lang="zh-CN" altLang="zh-CN" sz="2000" kern="1200" dirty="0">
                        <a:solidFill>
                          <a:srgbClr val="595959"/>
                        </a:solidFill>
                        <a:latin typeface="微软雅黑" panose="020B0503020204020204" pitchFamily="34" charset="-122"/>
                        <a:ea typeface="微软雅黑" panose="020B0503020204020204" pitchFamily="34" charset="-122"/>
                        <a:cs typeface="+mn-ea"/>
                      </a:endParaRPr>
                    </a:p>
                  </a:txBody>
                  <a:tcPr anchor="ctr"/>
                </a:tc>
                <a:tc>
                  <a:txBody>
                    <a:bodyPr/>
                    <a:lstStyle/>
                    <a:p>
                      <a:pPr marL="0" marR="0" indent="0" algn="l" defTabSz="1219200" rtl="0" eaLnBrk="1" fontAlgn="auto" latinLnBrk="0" hangingPunct="1">
                        <a:lnSpc>
                          <a:spcPct val="115000"/>
                        </a:lnSpc>
                        <a:spcBef>
                          <a:spcPts val="0"/>
                        </a:spcBef>
                        <a:spcAft>
                          <a:spcPts val="0"/>
                        </a:spcAft>
                        <a:buClrTx/>
                        <a:buSzTx/>
                        <a:buFontTx/>
                        <a:buNone/>
                        <a:defRPr/>
                      </a:pPr>
                      <a:r>
                        <a:rPr lang="zh-CN" altLang="zh-CN" sz="2000" kern="1200" dirty="0">
                          <a:solidFill>
                            <a:srgbClr val="595959"/>
                          </a:solidFill>
                          <a:latin typeface="微软雅黑" panose="020B0503020204020204" pitchFamily="34" charset="-122"/>
                          <a:ea typeface="微软雅黑" panose="020B0503020204020204" pitchFamily="34" charset="-122"/>
                          <a:cs typeface="+mn-ea"/>
                        </a:rPr>
                        <a:t>关闭浏览器窗口</a:t>
                      </a:r>
                    </a:p>
                  </a:txBody>
                  <a:tcPr anchor="ctr"/>
                </a:tc>
                <a:extLst>
                  <a:ext uri="{0D108BD9-81ED-4DB2-BD59-A6C34878D82A}">
                    <a16:rowId xmlns:a16="http://schemas.microsoft.com/office/drawing/2014/main" val="10003"/>
                  </a:ext>
                </a:extLst>
              </a:tr>
              <a:tr h="591806">
                <a:tc>
                  <a:txBody>
                    <a:bodyPr/>
                    <a:lstStyle/>
                    <a:p>
                      <a:pPr marL="0" marR="0" indent="0" algn="l" defTabSz="1219200" rtl="0" eaLnBrk="1" fontAlgn="auto" latinLnBrk="0" hangingPunct="1">
                        <a:lnSpc>
                          <a:spcPct val="115000"/>
                        </a:lnSpc>
                        <a:spcBef>
                          <a:spcPts val="0"/>
                        </a:spcBef>
                        <a:spcAft>
                          <a:spcPts val="0"/>
                        </a:spcAft>
                        <a:buClrTx/>
                        <a:buSzTx/>
                        <a:buFontTx/>
                        <a:buNone/>
                        <a:defRPr/>
                      </a:pPr>
                      <a:r>
                        <a:rPr lang="en-US" altLang="zh-CN" sz="2000" kern="1200" dirty="0">
                          <a:solidFill>
                            <a:srgbClr val="595959"/>
                          </a:solidFill>
                          <a:latin typeface="微软雅黑" panose="020B0503020204020204" pitchFamily="34" charset="-122"/>
                          <a:ea typeface="微软雅黑" panose="020B0503020204020204" pitchFamily="34" charset="-122"/>
                          <a:cs typeface="+mn-ea"/>
                        </a:rPr>
                        <a:t>quit()</a:t>
                      </a:r>
                      <a:endParaRPr lang="zh-CN" altLang="zh-CN" sz="2000" kern="1200" dirty="0">
                        <a:solidFill>
                          <a:srgbClr val="595959"/>
                        </a:solidFill>
                        <a:latin typeface="微软雅黑" panose="020B0503020204020204" pitchFamily="34" charset="-122"/>
                        <a:ea typeface="微软雅黑" panose="020B0503020204020204" pitchFamily="34" charset="-122"/>
                        <a:cs typeface="+mn-ea"/>
                      </a:endParaRPr>
                    </a:p>
                  </a:txBody>
                  <a:tcPr anchor="ctr"/>
                </a:tc>
                <a:tc>
                  <a:txBody>
                    <a:bodyPr/>
                    <a:lstStyle/>
                    <a:p>
                      <a:pPr marL="0" marR="0" indent="0" algn="l" defTabSz="1219200" rtl="0" eaLnBrk="1" fontAlgn="auto" latinLnBrk="0" hangingPunct="1">
                        <a:lnSpc>
                          <a:spcPct val="115000"/>
                        </a:lnSpc>
                        <a:spcBef>
                          <a:spcPts val="0"/>
                        </a:spcBef>
                        <a:spcAft>
                          <a:spcPts val="0"/>
                        </a:spcAft>
                        <a:buClrTx/>
                        <a:buSzTx/>
                        <a:buFontTx/>
                        <a:buNone/>
                        <a:defRPr/>
                      </a:pPr>
                      <a:r>
                        <a:rPr lang="zh-CN" altLang="zh-CN" sz="2000" kern="1200" dirty="0">
                          <a:solidFill>
                            <a:srgbClr val="595959"/>
                          </a:solidFill>
                          <a:latin typeface="微软雅黑" panose="020B0503020204020204" pitchFamily="34" charset="-122"/>
                          <a:ea typeface="微软雅黑" panose="020B0503020204020204" pitchFamily="34" charset="-122"/>
                          <a:cs typeface="+mn-ea"/>
                        </a:rPr>
                        <a:t>关闭浏览器的所有窗口并退出浏览器驱动</a:t>
                      </a:r>
                    </a:p>
                  </a:txBody>
                  <a:tcPr anchor="ct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52755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a:solidFill>
                  <a:srgbClr val="595959"/>
                </a:solidFill>
                <a:latin typeface="微软雅黑" panose="020B0503020204020204" pitchFamily="34" charset="-122"/>
                <a:ea typeface="微软雅黑" panose="020B0503020204020204" pitchFamily="34" charset="-122"/>
                <a:cs typeface="+mn-ea"/>
                <a:sym typeface="+mn-lt"/>
              </a:rPr>
              <a:t>6.4.2 Selenium</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常用</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的操作方法</a:t>
            </a:r>
          </a:p>
        </p:txBody>
      </p:sp>
      <p:sp>
        <p:nvSpPr>
          <p:cNvPr id="5" name="矩形 4"/>
          <p:cNvSpPr/>
          <p:nvPr/>
        </p:nvSpPr>
        <p:spPr>
          <a:xfrm>
            <a:off x="3809075" y="1142599"/>
            <a:ext cx="7254129" cy="1478033"/>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endParaRPr lang="zh-CN" altLang="en-US" sz="2400">
              <a:latin typeface="微软雅黑" panose="020B0503020204020204" pitchFamily="34" charset="-122"/>
              <a:ea typeface="微软雅黑" panose="020B0503020204020204" pitchFamily="34" charset="-122"/>
              <a:cs typeface="+mn-ea"/>
              <a:sym typeface="+mn-lt"/>
            </a:endParaRPr>
          </a:p>
        </p:txBody>
      </p:sp>
      <p:sp>
        <p:nvSpPr>
          <p:cNvPr id="6" name="矩形 5"/>
          <p:cNvSpPr/>
          <p:nvPr/>
        </p:nvSpPr>
        <p:spPr>
          <a:xfrm>
            <a:off x="5375207" y="925063"/>
            <a:ext cx="3672000" cy="43662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r>
              <a:rPr lang="zh-CN" altLang="en-US" sz="2000" dirty="0">
                <a:latin typeface="微软雅黑" panose="020B0503020204020204" pitchFamily="34" charset="-122"/>
                <a:ea typeface="微软雅黑" panose="020B0503020204020204" pitchFamily="34" charset="-122"/>
                <a:cs typeface="+mn-ea"/>
                <a:sym typeface="+mn-lt"/>
              </a:rPr>
              <a:t>强制等待</a:t>
            </a:r>
          </a:p>
        </p:txBody>
      </p:sp>
      <p:sp>
        <p:nvSpPr>
          <p:cNvPr id="7" name="六边形 6"/>
          <p:cNvSpPr/>
          <p:nvPr/>
        </p:nvSpPr>
        <p:spPr>
          <a:xfrm>
            <a:off x="1143692" y="3030203"/>
            <a:ext cx="1648410" cy="1453679"/>
          </a:xfrm>
          <a:prstGeom prst="hexag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lvl="0" algn="ctr"/>
            <a:r>
              <a:rPr lang="zh-CN" altLang="en-US" sz="2000" dirty="0">
                <a:latin typeface="微软雅黑" panose="020B0503020204020204" pitchFamily="34" charset="-122"/>
                <a:ea typeface="微软雅黑" panose="020B0503020204020204" pitchFamily="34" charset="-122"/>
              </a:rPr>
              <a:t>元素等待的</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种方法</a:t>
            </a:r>
            <a:endParaRPr lang="zh-CN" altLang="zh-CN" sz="2000" dirty="0">
              <a:latin typeface="微软雅黑" panose="020B0503020204020204" pitchFamily="34" charset="-122"/>
              <a:ea typeface="微软雅黑" panose="020B0503020204020204" pitchFamily="34" charset="-122"/>
            </a:endParaRPr>
          </a:p>
        </p:txBody>
      </p:sp>
      <p:cxnSp>
        <p:nvCxnSpPr>
          <p:cNvPr id="8" name="直接箭头连接符 7"/>
          <p:cNvCxnSpPr>
            <a:stCxn id="7" idx="5"/>
            <a:endCxn id="5" idx="1"/>
          </p:cNvCxnSpPr>
          <p:nvPr/>
        </p:nvCxnSpPr>
        <p:spPr>
          <a:xfrm flipV="1">
            <a:off x="2428682" y="1881616"/>
            <a:ext cx="1380393" cy="1148587"/>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a:stCxn id="7" idx="0"/>
            <a:endCxn id="14" idx="1"/>
          </p:cNvCxnSpPr>
          <p:nvPr/>
        </p:nvCxnSpPr>
        <p:spPr>
          <a:xfrm>
            <a:off x="2792102" y="3757043"/>
            <a:ext cx="1064928" cy="5732"/>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stCxn id="7" idx="1"/>
            <a:endCxn id="17" idx="1"/>
          </p:cNvCxnSpPr>
          <p:nvPr/>
        </p:nvCxnSpPr>
        <p:spPr>
          <a:xfrm>
            <a:off x="2428682" y="4483882"/>
            <a:ext cx="1366996" cy="1333679"/>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3977239" y="1632605"/>
            <a:ext cx="7017473" cy="823304"/>
          </a:xfrm>
          <a:prstGeom prst="rect">
            <a:avLst/>
          </a:prstGeom>
          <a:noFill/>
        </p:spPr>
        <p:txBody>
          <a:bodyPr wrap="square" lIns="91445" tIns="45721" rIns="91445" bIns="45721" rtlCol="0">
            <a:spAutoFit/>
          </a:bodyPr>
          <a:lstStyle/>
          <a:p>
            <a:pPr>
              <a:lnSpc>
                <a:spcPts val="1920"/>
              </a:lnSpc>
            </a:pPr>
            <a:r>
              <a:rPr lang="zh-CN" altLang="zh-CN" sz="1600" dirty="0">
                <a:solidFill>
                  <a:srgbClr val="0070C0"/>
                </a:solidFill>
                <a:latin typeface="微软雅黑" panose="020B0503020204020204" pitchFamily="34" charset="-122"/>
                <a:ea typeface="微软雅黑" panose="020B0503020204020204" pitchFamily="34" charset="-122"/>
                <a:cs typeface="+mn-ea"/>
              </a:rPr>
              <a:t>强制等待</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主要是通过调用</a:t>
            </a:r>
            <a:r>
              <a:rPr lang="en-US" altLang="zh-CN" sz="1600" dirty="0">
                <a:solidFill>
                  <a:srgbClr val="0070C0"/>
                </a:solidFill>
                <a:latin typeface="微软雅黑" panose="020B0503020204020204" pitchFamily="34" charset="-122"/>
                <a:ea typeface="微软雅黑" panose="020B0503020204020204" pitchFamily="34" charset="-122"/>
                <a:cs typeface="+mn-ea"/>
              </a:rPr>
              <a:t>sleep(seconds)</a:t>
            </a:r>
            <a:r>
              <a:rPr lang="zh-CN" altLang="zh-CN" sz="1600" dirty="0">
                <a:solidFill>
                  <a:srgbClr val="0070C0"/>
                </a:solidFill>
                <a:latin typeface="微软雅黑" panose="020B0503020204020204" pitchFamily="34" charset="-122"/>
                <a:ea typeface="微软雅黑" panose="020B0503020204020204" pitchFamily="34" charset="-122"/>
                <a:cs typeface="+mn-ea"/>
              </a:rPr>
              <a:t>函数</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让程序休眠一段时间，时间到达后，程序再继续运行。</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sleep(seconds)</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函数中传递的</a:t>
            </a:r>
            <a:r>
              <a:rPr lang="zh-CN" altLang="zh-CN" sz="1600" dirty="0">
                <a:solidFill>
                  <a:srgbClr val="0070C0"/>
                </a:solidFill>
                <a:latin typeface="微软雅黑" panose="020B0503020204020204" pitchFamily="34" charset="-122"/>
                <a:ea typeface="微软雅黑" panose="020B0503020204020204" pitchFamily="34" charset="-122"/>
                <a:cs typeface="+mn-ea"/>
              </a:rPr>
              <a:t>参数</a:t>
            </a:r>
            <a:r>
              <a:rPr lang="en-US" altLang="zh-CN" sz="1600" dirty="0">
                <a:solidFill>
                  <a:srgbClr val="0070C0"/>
                </a:solidFill>
                <a:latin typeface="微软雅黑" panose="020B0503020204020204" pitchFamily="34" charset="-122"/>
                <a:ea typeface="微软雅黑" panose="020B0503020204020204" pitchFamily="34" charset="-122"/>
                <a:cs typeface="+mn-ea"/>
              </a:rPr>
              <a:t>seconds</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表示</a:t>
            </a:r>
            <a:r>
              <a:rPr lang="zh-CN" altLang="zh-CN" sz="1600" dirty="0">
                <a:solidFill>
                  <a:srgbClr val="0070C0"/>
                </a:solidFill>
                <a:latin typeface="微软雅黑" panose="020B0503020204020204" pitchFamily="34" charset="-122"/>
                <a:ea typeface="微软雅黑" panose="020B0503020204020204" pitchFamily="34" charset="-122"/>
                <a:cs typeface="+mn-ea"/>
              </a:rPr>
              <a:t>等待的时间</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，该时间的单位</a:t>
            </a:r>
            <a:r>
              <a:rPr lang="zh-CN" altLang="zh-CN" sz="1600" dirty="0">
                <a:solidFill>
                  <a:srgbClr val="0070C0"/>
                </a:solidFill>
                <a:latin typeface="微软雅黑" panose="020B0503020204020204" pitchFamily="34" charset="-122"/>
                <a:ea typeface="微软雅黑" panose="020B0503020204020204" pitchFamily="34" charset="-122"/>
                <a:cs typeface="+mn-ea"/>
              </a:rPr>
              <a:t>默认为秒</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p>
        </p:txBody>
      </p:sp>
      <p:sp>
        <p:nvSpPr>
          <p:cNvPr id="14" name="矩形 13"/>
          <p:cNvSpPr/>
          <p:nvPr/>
        </p:nvSpPr>
        <p:spPr>
          <a:xfrm>
            <a:off x="3857030" y="2871756"/>
            <a:ext cx="7206175" cy="1782037"/>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endParaRPr lang="zh-CN" altLang="en-US" sz="2400">
              <a:latin typeface="微软雅黑" panose="020B0503020204020204" pitchFamily="34" charset="-122"/>
              <a:ea typeface="微软雅黑" panose="020B0503020204020204" pitchFamily="34" charset="-122"/>
              <a:cs typeface="+mn-ea"/>
              <a:sym typeface="+mn-lt"/>
            </a:endParaRPr>
          </a:p>
        </p:txBody>
      </p:sp>
      <p:sp>
        <p:nvSpPr>
          <p:cNvPr id="15" name="矩形 14"/>
          <p:cNvSpPr/>
          <p:nvPr/>
        </p:nvSpPr>
        <p:spPr>
          <a:xfrm>
            <a:off x="5410562" y="2664464"/>
            <a:ext cx="3672000" cy="43662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5" tIns="45721" rIns="91445" bIns="45721" numCol="1" spcCol="0" rtlCol="0" fromWordArt="0" anchor="ctr" anchorCtr="0" forceAA="0" compatLnSpc="1">
            <a:noAutofit/>
          </a:bodyPr>
          <a:lstStyle/>
          <a:p>
            <a:pPr lvl="0" algn="ctr"/>
            <a:r>
              <a:rPr lang="zh-CN" altLang="en-US" sz="2000" dirty="0">
                <a:latin typeface="微软雅黑" panose="020B0503020204020204" pitchFamily="34" charset="-122"/>
                <a:ea typeface="微软雅黑" panose="020B0503020204020204" pitchFamily="34" charset="-122"/>
                <a:cs typeface="+mn-ea"/>
                <a:sym typeface="+mn-lt"/>
              </a:rPr>
              <a:t>隐式等待</a:t>
            </a:r>
          </a:p>
        </p:txBody>
      </p:sp>
      <p:sp>
        <p:nvSpPr>
          <p:cNvPr id="16" name="TextBox 15"/>
          <p:cNvSpPr txBox="1"/>
          <p:nvPr/>
        </p:nvSpPr>
        <p:spPr>
          <a:xfrm>
            <a:off x="3946015" y="3101085"/>
            <a:ext cx="7228553" cy="1569662"/>
          </a:xfrm>
          <a:prstGeom prst="rect">
            <a:avLst/>
          </a:prstGeom>
          <a:noFill/>
        </p:spPr>
        <p:txBody>
          <a:bodyPr wrap="square" lIns="91445" tIns="45721" rIns="91445" bIns="45721" rtlCol="0">
            <a:spAutoFit/>
          </a:bodyPr>
          <a:lstStyle/>
          <a:p>
            <a:r>
              <a:rPr lang="zh-CN" altLang="zh-CN" sz="1600" dirty="0">
                <a:solidFill>
                  <a:srgbClr val="0070C0"/>
                </a:solidFill>
                <a:latin typeface="微软雅黑" panose="020B0503020204020204" pitchFamily="34" charset="-122"/>
                <a:ea typeface="微软雅黑" panose="020B0503020204020204" pitchFamily="34" charset="-122"/>
                <a:cs typeface="+mn-ea"/>
              </a:rPr>
              <a:t>隐</a:t>
            </a:r>
            <a:r>
              <a:rPr lang="zh-CN" altLang="zh-CN" sz="1600">
                <a:solidFill>
                  <a:srgbClr val="0070C0"/>
                </a:solidFill>
                <a:latin typeface="微软雅黑" panose="020B0503020204020204" pitchFamily="34" charset="-122"/>
                <a:ea typeface="微软雅黑" panose="020B0503020204020204" pitchFamily="34" charset="-122"/>
                <a:cs typeface="+mn-ea"/>
              </a:rPr>
              <a:t>式等待</a:t>
            </a: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mn-ea"/>
              </a:rPr>
              <a:t>是指定</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位页面元素时，如果能定位到元素，则测试程序直接返回该元素，不触发等待；如果定位不到该元素，则需要等待一段时间后再进行定位；如果超过程序设置的最长等待时间还没有定位到指定元素，则程序会抛出</a:t>
            </a:r>
            <a:r>
              <a:rPr lang="zh-CN" altLang="zh-CN" sz="1600" dirty="0">
                <a:solidFill>
                  <a:srgbClr val="0070C0"/>
                </a:solidFill>
                <a:latin typeface="微软雅黑" panose="020B0503020204020204" pitchFamily="34" charset="-122"/>
                <a:ea typeface="微软雅黑" panose="020B0503020204020204" pitchFamily="34" charset="-122"/>
                <a:cs typeface="+mn-ea"/>
              </a:rPr>
              <a:t>元素不存在的异常（</a:t>
            </a:r>
            <a:r>
              <a:rPr lang="en-US" altLang="zh-CN" sz="1600" dirty="0" err="1">
                <a:solidFill>
                  <a:srgbClr val="0070C0"/>
                </a:solidFill>
                <a:latin typeface="微软雅黑" panose="020B0503020204020204" pitchFamily="34" charset="-122"/>
                <a:ea typeface="微软雅黑" panose="020B0503020204020204" pitchFamily="34" charset="-122"/>
                <a:cs typeface="+mn-ea"/>
              </a:rPr>
              <a:t>NoSuchElementException</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）。在程序中设置隐式等待时需要调用</a:t>
            </a:r>
            <a:r>
              <a:rPr lang="en-US" altLang="zh-CN" sz="1600" dirty="0" err="1">
                <a:solidFill>
                  <a:srgbClr val="0070C0"/>
                </a:solidFill>
                <a:latin typeface="微软雅黑" panose="020B0503020204020204" pitchFamily="34" charset="-122"/>
                <a:ea typeface="微软雅黑" panose="020B0503020204020204" pitchFamily="34" charset="-122"/>
                <a:cs typeface="+mn-ea"/>
              </a:rPr>
              <a:t>implicitly_wait</a:t>
            </a:r>
            <a:r>
              <a:rPr lang="en-US" altLang="zh-CN" sz="1600" dirty="0">
                <a:solidFill>
                  <a:srgbClr val="0070C0"/>
                </a:solidFill>
                <a:latin typeface="微软雅黑" panose="020B0503020204020204" pitchFamily="34" charset="-122"/>
                <a:ea typeface="微软雅黑" panose="020B0503020204020204" pitchFamily="34" charset="-122"/>
                <a:cs typeface="+mn-ea"/>
              </a:rPr>
              <a:t>(timeout)</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方法，该方法中的</a:t>
            </a:r>
            <a:r>
              <a:rPr lang="zh-CN" altLang="zh-CN" sz="1600" dirty="0">
                <a:solidFill>
                  <a:srgbClr val="0070C0"/>
                </a:solidFill>
                <a:latin typeface="微软雅黑" panose="020B0503020204020204" pitchFamily="34" charset="-122"/>
                <a:ea typeface="微软雅黑" panose="020B0503020204020204" pitchFamily="34" charset="-122"/>
                <a:cs typeface="+mn-ea"/>
              </a:rPr>
              <a:t>参数</a:t>
            </a:r>
            <a:r>
              <a:rPr lang="en-US" altLang="zh-CN" sz="1600" dirty="0">
                <a:solidFill>
                  <a:srgbClr val="0070C0"/>
                </a:solidFill>
                <a:latin typeface="微软雅黑" panose="020B0503020204020204" pitchFamily="34" charset="-122"/>
                <a:ea typeface="微软雅黑" panose="020B0503020204020204" pitchFamily="34" charset="-122"/>
                <a:cs typeface="+mn-ea"/>
              </a:rPr>
              <a:t>timeout</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表示</a:t>
            </a:r>
            <a:r>
              <a:rPr lang="zh-CN" altLang="zh-CN" sz="1600" dirty="0">
                <a:solidFill>
                  <a:srgbClr val="0070C0"/>
                </a:solidFill>
                <a:latin typeface="微软雅黑" panose="020B0503020204020204" pitchFamily="34" charset="-122"/>
                <a:ea typeface="微软雅黑" panose="020B0503020204020204" pitchFamily="34" charset="-122"/>
                <a:cs typeface="+mn-ea"/>
              </a:rPr>
              <a:t>隐式等待的最长等待时间</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zh-CN" altLang="zh-CN" sz="1600" dirty="0">
                <a:solidFill>
                  <a:srgbClr val="0070C0"/>
                </a:solidFill>
                <a:latin typeface="微软雅黑" panose="020B0503020204020204" pitchFamily="34" charset="-122"/>
                <a:ea typeface="微软雅黑" panose="020B0503020204020204" pitchFamily="34" charset="-122"/>
                <a:cs typeface="+mn-ea"/>
              </a:rPr>
              <a:t>单位为秒</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p>
        </p:txBody>
      </p:sp>
      <p:sp>
        <p:nvSpPr>
          <p:cNvPr id="17" name="矩形 16"/>
          <p:cNvSpPr/>
          <p:nvPr/>
        </p:nvSpPr>
        <p:spPr>
          <a:xfrm>
            <a:off x="3795678" y="4965327"/>
            <a:ext cx="7267526" cy="1704467"/>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endParaRPr lang="zh-CN" altLang="en-US" sz="2400">
              <a:latin typeface="微软雅黑" panose="020B0503020204020204" pitchFamily="34" charset="-122"/>
              <a:ea typeface="微软雅黑" panose="020B0503020204020204" pitchFamily="34" charset="-122"/>
              <a:cs typeface="+mn-ea"/>
              <a:sym typeface="+mn-lt"/>
            </a:endParaRPr>
          </a:p>
        </p:txBody>
      </p:sp>
      <p:sp>
        <p:nvSpPr>
          <p:cNvPr id="18" name="矩形 17"/>
          <p:cNvSpPr/>
          <p:nvPr/>
        </p:nvSpPr>
        <p:spPr>
          <a:xfrm>
            <a:off x="5375207" y="4721173"/>
            <a:ext cx="3672000" cy="43662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5" tIns="45721" rIns="91445" bIns="45721" numCol="1" spcCol="0" rtlCol="0" fromWordArt="0" anchor="ctr" anchorCtr="0" forceAA="0" compatLnSpc="1">
            <a:noAutofit/>
          </a:bodyPr>
          <a:lstStyle/>
          <a:p>
            <a:pPr algn="ctr"/>
            <a:r>
              <a:rPr lang="zh-CN" altLang="en-US" sz="2000" dirty="0">
                <a:latin typeface="微软雅黑" panose="020B0503020204020204" pitchFamily="34" charset="-122"/>
                <a:ea typeface="微软雅黑" panose="020B0503020204020204" pitchFamily="34" charset="-122"/>
                <a:cs typeface="+mn-ea"/>
                <a:sym typeface="+mn-lt"/>
              </a:rPr>
              <a:t>显式等待</a:t>
            </a:r>
          </a:p>
        </p:txBody>
      </p:sp>
      <p:sp>
        <p:nvSpPr>
          <p:cNvPr id="19" name="TextBox 18"/>
          <p:cNvSpPr txBox="1"/>
          <p:nvPr/>
        </p:nvSpPr>
        <p:spPr>
          <a:xfrm>
            <a:off x="3868236" y="5150721"/>
            <a:ext cx="7281587" cy="1569662"/>
          </a:xfrm>
          <a:prstGeom prst="rect">
            <a:avLst/>
          </a:prstGeom>
          <a:noFill/>
        </p:spPr>
        <p:txBody>
          <a:bodyPr wrap="square" lIns="91445" tIns="45721" rIns="91445" bIns="45721" rtlCol="0">
            <a:spAutoFit/>
          </a:bodyPr>
          <a:lstStyle/>
          <a:p>
            <a:r>
              <a:rPr lang="zh-CN" altLang="zh-CN" sz="1600" dirty="0">
                <a:solidFill>
                  <a:srgbClr val="0070C0"/>
                </a:solidFill>
                <a:latin typeface="微软雅黑" panose="020B0503020204020204" pitchFamily="34" charset="-122"/>
                <a:ea typeface="微软雅黑" panose="020B0503020204020204" pitchFamily="34" charset="-122"/>
                <a:cs typeface="+mn-ea"/>
              </a:rPr>
              <a:t>显</a:t>
            </a:r>
            <a:r>
              <a:rPr lang="zh-CN" altLang="zh-CN" sz="1600">
                <a:solidFill>
                  <a:srgbClr val="0070C0"/>
                </a:solidFill>
                <a:latin typeface="微软雅黑" panose="020B0503020204020204" pitchFamily="34" charset="-122"/>
                <a:ea typeface="微软雅黑" panose="020B0503020204020204" pitchFamily="34" charset="-122"/>
                <a:cs typeface="+mn-ea"/>
              </a:rPr>
              <a:t>式等待</a:t>
            </a: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mn-ea"/>
              </a:rPr>
              <a:t>是指定</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位指定元素时，如果能定位到指定元素，则测试程序直接返回该元素，不触发等待；如果定位不到指定元素，则需要等待一段时间后再重新进行定位；如果超过程序设置的最长等待时间还没有定位到指定元素，则程序会抛出</a:t>
            </a:r>
            <a:r>
              <a:rPr lang="zh-CN" altLang="zh-CN" sz="1600" dirty="0">
                <a:solidFill>
                  <a:srgbClr val="0070C0"/>
                </a:solidFill>
                <a:latin typeface="微软雅黑" panose="020B0503020204020204" pitchFamily="34" charset="-122"/>
                <a:ea typeface="微软雅黑" panose="020B0503020204020204" pitchFamily="34" charset="-122"/>
                <a:cs typeface="+mn-ea"/>
              </a:rPr>
              <a:t>超时异常（</a:t>
            </a:r>
            <a:r>
              <a:rPr lang="en-US" altLang="zh-CN" sz="1600" dirty="0" err="1">
                <a:solidFill>
                  <a:srgbClr val="0070C0"/>
                </a:solidFill>
                <a:latin typeface="微软雅黑" panose="020B0503020204020204" pitchFamily="34" charset="-122"/>
                <a:ea typeface="微软雅黑" panose="020B0503020204020204" pitchFamily="34" charset="-122"/>
                <a:cs typeface="+mn-ea"/>
              </a:rPr>
              <a:t>TimeoutException</a:t>
            </a:r>
            <a:r>
              <a:rPr lang="zh-CN" altLang="zh-CN" sz="1600" dirty="0">
                <a:solidFill>
                  <a:srgbClr val="0070C0"/>
                </a:solidFill>
                <a:latin typeface="微软雅黑" panose="020B0503020204020204" pitchFamily="34" charset="-122"/>
                <a:ea typeface="微软雅黑" panose="020B0503020204020204" pitchFamily="34" charset="-122"/>
                <a:cs typeface="+mn-ea"/>
              </a:rPr>
              <a:t>）</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。实现显式等待需要调用的方法为</a:t>
            </a:r>
            <a:r>
              <a:rPr lang="en-US" altLang="zh-CN" sz="1600" dirty="0" err="1">
                <a:solidFill>
                  <a:srgbClr val="0070C0"/>
                </a:solidFill>
                <a:latin typeface="微软雅黑" panose="020B0503020204020204" pitchFamily="34" charset="-122"/>
                <a:ea typeface="微软雅黑" panose="020B0503020204020204" pitchFamily="34" charset="-122"/>
                <a:cs typeface="+mn-ea"/>
              </a:rPr>
              <a:t>WebDriverWait</a:t>
            </a:r>
            <a:r>
              <a:rPr lang="en-US" altLang="zh-CN" sz="1600" dirty="0">
                <a:solidFill>
                  <a:srgbClr val="0070C0"/>
                </a:solidFill>
                <a:latin typeface="微软雅黑" panose="020B0503020204020204" pitchFamily="34" charset="-122"/>
                <a:ea typeface="微软雅黑" panose="020B0503020204020204" pitchFamily="34" charset="-122"/>
                <a:cs typeface="+mn-ea"/>
              </a:rPr>
              <a:t>()</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，在程序中进行显式等待时，</a:t>
            </a:r>
            <a:r>
              <a:rPr lang="en-US" altLang="zh-CN" sz="1600" dirty="0" err="1">
                <a:solidFill>
                  <a:schemeClr val="tx1">
                    <a:lumMod val="75000"/>
                    <a:lumOff val="25000"/>
                  </a:schemeClr>
                </a:solidFill>
                <a:latin typeface="微软雅黑" panose="020B0503020204020204" pitchFamily="34" charset="-122"/>
                <a:ea typeface="微软雅黑" panose="020B0503020204020204" pitchFamily="34" charset="-122"/>
                <a:cs typeface="+mn-ea"/>
              </a:rPr>
              <a:t>WebDriverWait</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方法必须与</a:t>
            </a:r>
            <a:r>
              <a:rPr lang="en-US" altLang="zh-CN" sz="1600" dirty="0">
                <a:solidFill>
                  <a:srgbClr val="0070C0"/>
                </a:solidFill>
                <a:latin typeface="微软雅黑" panose="020B0503020204020204" pitchFamily="34" charset="-122"/>
                <a:ea typeface="微软雅黑" panose="020B0503020204020204" pitchFamily="34" charset="-122"/>
                <a:cs typeface="+mn-ea"/>
              </a:rPr>
              <a:t>until()</a:t>
            </a:r>
            <a:r>
              <a:rPr lang="zh-CN" altLang="zh-CN" sz="1600" dirty="0">
                <a:solidFill>
                  <a:srgbClr val="0070C0"/>
                </a:solidFill>
                <a:latin typeface="微软雅黑" panose="020B0503020204020204" pitchFamily="34" charset="-122"/>
                <a:ea typeface="微软雅黑" panose="020B0503020204020204" pitchFamily="34" charset="-122"/>
                <a:cs typeface="+mn-ea"/>
              </a:rPr>
              <a:t>方法</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或</a:t>
            </a:r>
            <a:r>
              <a:rPr lang="en-US" altLang="zh-CN" sz="1600" dirty="0" err="1">
                <a:solidFill>
                  <a:srgbClr val="0070C0"/>
                </a:solidFill>
                <a:latin typeface="微软雅黑" panose="020B0503020204020204" pitchFamily="34" charset="-122"/>
                <a:ea typeface="微软雅黑" panose="020B0503020204020204" pitchFamily="34" charset="-122"/>
                <a:cs typeface="+mn-ea"/>
              </a:rPr>
              <a:t>until_not</a:t>
            </a:r>
            <a:r>
              <a:rPr lang="en-US" altLang="zh-CN" sz="1600" dirty="0">
                <a:solidFill>
                  <a:srgbClr val="0070C0"/>
                </a:solidFill>
                <a:latin typeface="微软雅黑" panose="020B0503020204020204" pitchFamily="34" charset="-122"/>
                <a:ea typeface="微软雅黑" panose="020B0503020204020204" pitchFamily="34" charset="-122"/>
                <a:cs typeface="+mn-ea"/>
              </a:rPr>
              <a:t>()</a:t>
            </a:r>
            <a:r>
              <a:rPr lang="zh-CN" altLang="zh-CN" sz="1600" dirty="0">
                <a:solidFill>
                  <a:srgbClr val="0070C0"/>
                </a:solidFill>
                <a:latin typeface="微软雅黑" panose="020B0503020204020204" pitchFamily="34" charset="-122"/>
                <a:ea typeface="微软雅黑" panose="020B0503020204020204" pitchFamily="34" charset="-122"/>
                <a:cs typeface="+mn-ea"/>
              </a:rPr>
              <a:t>方法</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结合使用。</a:t>
            </a:r>
          </a:p>
        </p:txBody>
      </p:sp>
      <p:sp>
        <p:nvSpPr>
          <p:cNvPr id="20" name="矩形 19"/>
          <p:cNvSpPr/>
          <p:nvPr/>
        </p:nvSpPr>
        <p:spPr>
          <a:xfrm>
            <a:off x="983206" y="978194"/>
            <a:ext cx="2627642" cy="400110"/>
          </a:xfrm>
          <a:prstGeom prst="rect">
            <a:avLst/>
          </a:prstGeom>
        </p:spPr>
        <p:txBody>
          <a:bodyPr wrap="none">
            <a:spAutoFit/>
          </a:bodyPr>
          <a:lstStyle/>
          <a:p>
            <a:pPr lvl="0"/>
            <a:r>
              <a:rPr lang="en-US" altLang="zh-CN" sz="2000" b="1" dirty="0">
                <a:solidFill>
                  <a:srgbClr val="595959"/>
                </a:solidFill>
                <a:latin typeface="微软雅黑" panose="020B0503020204020204" pitchFamily="34" charset="-122"/>
                <a:ea typeface="微软雅黑" panose="020B0503020204020204" pitchFamily="34" charset="-122"/>
                <a:cs typeface="+mn-ea"/>
              </a:rPr>
              <a:t>3.</a:t>
            </a:r>
            <a:r>
              <a:rPr lang="zh-CN" altLang="en-US" sz="2000" b="1" dirty="0">
                <a:solidFill>
                  <a:srgbClr val="595959"/>
                </a:solidFill>
                <a:latin typeface="微软雅黑" panose="020B0503020204020204" pitchFamily="34" charset="-122"/>
                <a:ea typeface="微软雅黑" panose="020B0503020204020204" pitchFamily="34" charset="-122"/>
                <a:cs typeface="+mn-ea"/>
              </a:rPr>
              <a:t>元素等待的</a:t>
            </a:r>
            <a:r>
              <a:rPr lang="en-US" altLang="zh-CN" sz="2000" b="1" dirty="0">
                <a:solidFill>
                  <a:srgbClr val="595959"/>
                </a:solidFill>
                <a:latin typeface="微软雅黑" panose="020B0503020204020204" pitchFamily="34" charset="-122"/>
                <a:ea typeface="微软雅黑" panose="020B0503020204020204" pitchFamily="34" charset="-122"/>
                <a:cs typeface="+mn-ea"/>
              </a:rPr>
              <a:t>3</a:t>
            </a:r>
            <a:r>
              <a:rPr lang="zh-CN" altLang="en-US" sz="2000" b="1" dirty="0">
                <a:solidFill>
                  <a:srgbClr val="595959"/>
                </a:solidFill>
                <a:latin typeface="微软雅黑" panose="020B0503020204020204" pitchFamily="34" charset="-122"/>
                <a:ea typeface="微软雅黑" panose="020B0503020204020204" pitchFamily="34" charset="-122"/>
                <a:cs typeface="+mn-ea"/>
              </a:rPr>
              <a:t>种</a:t>
            </a:r>
            <a:r>
              <a:rPr lang="zh-CN" altLang="zh-CN" sz="2000" b="1" dirty="0">
                <a:solidFill>
                  <a:srgbClr val="595959"/>
                </a:solidFill>
                <a:latin typeface="微软雅黑" panose="020B0503020204020204" pitchFamily="34" charset="-122"/>
                <a:ea typeface="微软雅黑" panose="020B0503020204020204" pitchFamily="34" charset="-122"/>
                <a:cs typeface="+mn-ea"/>
              </a:rPr>
              <a:t>方法</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形 22" descr="讲故事"/>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2767" y="1398145"/>
            <a:ext cx="1015842" cy="1015842"/>
          </a:xfrm>
          <a:prstGeom prst="rect">
            <a:avLst/>
          </a:prstGeom>
        </p:spPr>
      </p:pic>
      <p:sp>
        <p:nvSpPr>
          <p:cNvPr id="25" name="矩形 24"/>
          <p:cNvSpPr/>
          <p:nvPr/>
        </p:nvSpPr>
        <p:spPr>
          <a:xfrm>
            <a:off x="1872933" y="1608089"/>
            <a:ext cx="465427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6" name="文本框 25"/>
          <p:cNvSpPr txBox="1"/>
          <p:nvPr/>
        </p:nvSpPr>
        <p:spPr>
          <a:xfrm>
            <a:off x="1872932" y="1733684"/>
            <a:ext cx="4639661" cy="400110"/>
          </a:xfrm>
          <a:prstGeom prst="rect">
            <a:avLst/>
          </a:prstGeom>
          <a:noFill/>
        </p:spPr>
        <p:txBody>
          <a:bodyPr wrap="square" rtlCol="0">
            <a:spAutoFit/>
          </a:bodyPr>
          <a:lstStyle/>
          <a:p>
            <a:pPr algn="ctr"/>
            <a:r>
              <a:rPr lang="en-US" altLang="zh-CN" sz="2000" dirty="0">
                <a:solidFill>
                  <a:schemeClr val="bg1"/>
                </a:solidFill>
                <a:latin typeface="微软雅黑" panose="020B0503020204020204" pitchFamily="34" charset="-122"/>
                <a:ea typeface="微软雅黑" panose="020B0503020204020204" pitchFamily="34" charset="-122"/>
              </a:rPr>
              <a:t>until()</a:t>
            </a:r>
            <a:r>
              <a:rPr lang="zh-CN" altLang="zh-CN" sz="2000" dirty="0">
                <a:solidFill>
                  <a:schemeClr val="bg1"/>
                </a:solidFill>
                <a:latin typeface="微软雅黑" panose="020B0503020204020204" pitchFamily="34" charset="-122"/>
                <a:ea typeface="微软雅黑" panose="020B0503020204020204" pitchFamily="34" charset="-122"/>
              </a:rPr>
              <a:t>方法和</a:t>
            </a:r>
            <a:r>
              <a:rPr lang="en-US" altLang="zh-CN" sz="2000" dirty="0" err="1">
                <a:solidFill>
                  <a:schemeClr val="bg1"/>
                </a:solidFill>
                <a:latin typeface="微软雅黑" panose="020B0503020204020204" pitchFamily="34" charset="-122"/>
                <a:ea typeface="微软雅黑" panose="020B0503020204020204" pitchFamily="34" charset="-122"/>
              </a:rPr>
              <a:t>until_not</a:t>
            </a:r>
            <a:r>
              <a:rPr lang="en-US" altLang="zh-CN" sz="2000" dirty="0">
                <a:solidFill>
                  <a:schemeClr val="bg1"/>
                </a:solidFill>
                <a:latin typeface="微软雅黑" panose="020B0503020204020204" pitchFamily="34" charset="-122"/>
                <a:ea typeface="微软雅黑" panose="020B0503020204020204" pitchFamily="34" charset="-122"/>
              </a:rPr>
              <a:t>()</a:t>
            </a:r>
            <a:r>
              <a:rPr lang="zh-CN" altLang="zh-CN" sz="2000" dirty="0">
                <a:solidFill>
                  <a:schemeClr val="bg1"/>
                </a:solidFill>
                <a:latin typeface="微软雅黑" panose="020B0503020204020204" pitchFamily="34" charset="-122"/>
                <a:ea typeface="微软雅黑" panose="020B0503020204020204" pitchFamily="34" charset="-122"/>
              </a:rPr>
              <a:t>方法的使用</a:t>
            </a:r>
            <a:endParaRPr lang="zh-CN" altLang="en-US" sz="20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7" name="矩形 26"/>
          <p:cNvSpPr/>
          <p:nvPr/>
        </p:nvSpPr>
        <p:spPr>
          <a:xfrm>
            <a:off x="6743206" y="1613373"/>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8" name="矩形 27"/>
          <p:cNvSpPr/>
          <p:nvPr/>
        </p:nvSpPr>
        <p:spPr>
          <a:xfrm>
            <a:off x="6930905" y="1613373"/>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0" name="矩形 19"/>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sp>
        <p:nvSpPr>
          <p:cNvPr id="4" name="文本框 3"/>
          <p:cNvSpPr txBox="1"/>
          <p:nvPr/>
        </p:nvSpPr>
        <p:spPr>
          <a:xfrm>
            <a:off x="1007874" y="2565793"/>
            <a:ext cx="10127332" cy="936001"/>
          </a:xfrm>
          <a:prstGeom prst="rect">
            <a:avLst/>
          </a:prstGeom>
          <a:noFill/>
        </p:spPr>
        <p:txBody>
          <a:bodyPr wrap="square" rtlCol="0" anchor="t">
            <a:noAutofit/>
          </a:bodyPr>
          <a:lstStyle/>
          <a:p>
            <a:pPr>
              <a:lnSpc>
                <a:spcPct val="150000"/>
              </a:lnSpc>
            </a:pPr>
            <a:r>
              <a:rPr lang="zh-CN" altLang="zh-CN" sz="1800" dirty="0">
                <a:solidFill>
                  <a:srgbClr val="595959"/>
                </a:solidFill>
                <a:latin typeface="微软雅黑" panose="020B0503020204020204" pitchFamily="34" charset="-122"/>
                <a:ea typeface="微软雅黑" panose="020B0503020204020204" pitchFamily="34" charset="-122"/>
              </a:rPr>
              <a:t>在程序中设置</a:t>
            </a:r>
            <a:r>
              <a:rPr lang="zh-CN" altLang="zh-CN" sz="1800" dirty="0">
                <a:solidFill>
                  <a:srgbClr val="0070C0"/>
                </a:solidFill>
                <a:latin typeface="微软雅黑" panose="020B0503020204020204" pitchFamily="34" charset="-122"/>
                <a:ea typeface="微软雅黑" panose="020B0503020204020204" pitchFamily="34" charset="-122"/>
              </a:rPr>
              <a:t>显式等待</a:t>
            </a:r>
            <a:r>
              <a:rPr lang="zh-CN" altLang="zh-CN" sz="1800" dirty="0">
                <a:solidFill>
                  <a:srgbClr val="595959"/>
                </a:solidFill>
                <a:latin typeface="微软雅黑" panose="020B0503020204020204" pitchFamily="34" charset="-122"/>
                <a:ea typeface="微软雅黑" panose="020B0503020204020204" pitchFamily="34" charset="-122"/>
              </a:rPr>
              <a:t>时需要调用</a:t>
            </a:r>
            <a:r>
              <a:rPr lang="en-US" altLang="zh-CN" sz="1800" dirty="0" err="1">
                <a:solidFill>
                  <a:srgbClr val="0070C0"/>
                </a:solidFill>
                <a:latin typeface="微软雅黑" panose="020B0503020204020204" pitchFamily="34" charset="-122"/>
                <a:ea typeface="微软雅黑" panose="020B0503020204020204" pitchFamily="34" charset="-122"/>
              </a:rPr>
              <a:t>WebDriverWait</a:t>
            </a:r>
            <a:r>
              <a:rPr lang="en-US" altLang="zh-CN" sz="1800" dirty="0">
                <a:solidFill>
                  <a:srgbClr val="0070C0"/>
                </a:solidFill>
                <a:latin typeface="微软雅黑" panose="020B0503020204020204" pitchFamily="34" charset="-122"/>
                <a:ea typeface="微软雅黑" panose="020B0503020204020204" pitchFamily="34" charset="-122"/>
              </a:rPr>
              <a:t>()</a:t>
            </a:r>
            <a:r>
              <a:rPr lang="zh-CN" altLang="zh-CN" sz="1800" dirty="0">
                <a:solidFill>
                  <a:srgbClr val="595959"/>
                </a:solidFill>
                <a:latin typeface="微软雅黑" panose="020B0503020204020204" pitchFamily="34" charset="-122"/>
                <a:ea typeface="微软雅黑" panose="020B0503020204020204" pitchFamily="34" charset="-122"/>
              </a:rPr>
              <a:t>方法，该方法必须与</a:t>
            </a:r>
            <a:r>
              <a:rPr lang="en-US" altLang="zh-CN" sz="1800" dirty="0">
                <a:solidFill>
                  <a:srgbClr val="0070C0"/>
                </a:solidFill>
                <a:latin typeface="微软雅黑" panose="020B0503020204020204" pitchFamily="34" charset="-122"/>
                <a:ea typeface="微软雅黑" panose="020B0503020204020204" pitchFamily="34" charset="-122"/>
              </a:rPr>
              <a:t>until()</a:t>
            </a:r>
            <a:r>
              <a:rPr lang="zh-CN" altLang="zh-CN" sz="1800" dirty="0">
                <a:solidFill>
                  <a:srgbClr val="0070C0"/>
                </a:solidFill>
                <a:latin typeface="微软雅黑" panose="020B0503020204020204" pitchFamily="34" charset="-122"/>
                <a:ea typeface="微软雅黑" panose="020B0503020204020204" pitchFamily="34" charset="-122"/>
              </a:rPr>
              <a:t>方法</a:t>
            </a:r>
            <a:r>
              <a:rPr lang="zh-CN" altLang="zh-CN" sz="1800" dirty="0">
                <a:solidFill>
                  <a:srgbClr val="595959"/>
                </a:solidFill>
                <a:latin typeface="微软雅黑" panose="020B0503020204020204" pitchFamily="34" charset="-122"/>
                <a:ea typeface="微软雅黑" panose="020B0503020204020204" pitchFamily="34" charset="-122"/>
              </a:rPr>
              <a:t>或</a:t>
            </a:r>
            <a:r>
              <a:rPr lang="en-US" altLang="zh-CN" sz="1800" dirty="0" err="1">
                <a:solidFill>
                  <a:srgbClr val="0070C0"/>
                </a:solidFill>
                <a:latin typeface="微软雅黑" panose="020B0503020204020204" pitchFamily="34" charset="-122"/>
                <a:ea typeface="微软雅黑" panose="020B0503020204020204" pitchFamily="34" charset="-122"/>
              </a:rPr>
              <a:t>until_not</a:t>
            </a:r>
            <a:r>
              <a:rPr lang="en-US" altLang="zh-CN" sz="1800" dirty="0">
                <a:solidFill>
                  <a:srgbClr val="0070C0"/>
                </a:solidFill>
                <a:latin typeface="微软雅黑" panose="020B0503020204020204" pitchFamily="34" charset="-122"/>
                <a:ea typeface="微软雅黑" panose="020B0503020204020204" pitchFamily="34" charset="-122"/>
              </a:rPr>
              <a:t>()</a:t>
            </a:r>
            <a:r>
              <a:rPr lang="zh-CN" altLang="zh-CN" sz="1800" dirty="0">
                <a:solidFill>
                  <a:srgbClr val="595959"/>
                </a:solidFill>
                <a:latin typeface="微软雅黑" panose="020B0503020204020204" pitchFamily="34" charset="-122"/>
                <a:ea typeface="微软雅黑" panose="020B0503020204020204" pitchFamily="34" charset="-122"/>
              </a:rPr>
              <a:t>方法结合使用，关于这两个方法的</a:t>
            </a:r>
            <a:r>
              <a:rPr lang="zh-CN" altLang="zh-CN" sz="1800" dirty="0">
                <a:solidFill>
                  <a:srgbClr val="595959"/>
                </a:solidFill>
                <a:latin typeface="微软雅黑" panose="020B0503020204020204" pitchFamily="34" charset="-122"/>
                <a:ea typeface="微软雅黑" panose="020B0503020204020204" pitchFamily="34" charset="-122"/>
                <a:cs typeface="+mn-ea"/>
              </a:rPr>
              <a:t>介绍如下</a:t>
            </a:r>
            <a:r>
              <a:rPr lang="zh-CN" altLang="zh-CN" sz="1800" dirty="0">
                <a:solidFill>
                  <a:srgbClr val="595959"/>
                </a:solidFill>
                <a:latin typeface="微软雅黑" panose="020B0503020204020204" pitchFamily="34" charset="-122"/>
                <a:ea typeface="微软雅黑" panose="020B0503020204020204" pitchFamily="34" charset="-122"/>
              </a:rPr>
              <a:t>。</a:t>
            </a:r>
          </a:p>
          <a:p>
            <a:pPr>
              <a:lnSpc>
                <a:spcPct val="150000"/>
              </a:lnSpc>
            </a:pPr>
            <a:endParaRPr lang="zh-CN" altLang="zh-CN" sz="1800" dirty="0">
              <a:solidFill>
                <a:srgbClr val="595959"/>
              </a:solidFill>
              <a:latin typeface="微软雅黑" panose="020B0503020204020204" pitchFamily="34" charset="-122"/>
              <a:ea typeface="微软雅黑" panose="020B0503020204020204" pitchFamily="34" charset="-122"/>
            </a:endParaRPr>
          </a:p>
        </p:txBody>
      </p:sp>
      <p:sp>
        <p:nvSpPr>
          <p:cNvPr id="12" name="Title 1"/>
          <p:cNvSpPr txBox="1"/>
          <p:nvPr/>
        </p:nvSpPr>
        <p:spPr>
          <a:xfrm>
            <a:off x="1143635" y="266700"/>
            <a:ext cx="452755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a:solidFill>
                  <a:srgbClr val="595959"/>
                </a:solidFill>
                <a:latin typeface="微软雅黑" panose="020B0503020204020204" pitchFamily="34" charset="-122"/>
                <a:ea typeface="微软雅黑" panose="020B0503020204020204" pitchFamily="34" charset="-122"/>
                <a:cs typeface="+mn-ea"/>
                <a:sym typeface="+mn-lt"/>
              </a:rPr>
              <a:t>6.4.2 Selenium</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常用</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的操作方法</a:t>
            </a:r>
          </a:p>
        </p:txBody>
      </p:sp>
      <p:sp>
        <p:nvSpPr>
          <p:cNvPr id="3" name="TextBox 2"/>
          <p:cNvSpPr txBox="1"/>
          <p:nvPr/>
        </p:nvSpPr>
        <p:spPr>
          <a:xfrm>
            <a:off x="811185" y="3753760"/>
            <a:ext cx="4860000" cy="2536400"/>
          </a:xfrm>
          <a:prstGeom prst="rect">
            <a:avLst/>
          </a:prstGeom>
          <a:noFill/>
        </p:spPr>
        <p:txBody>
          <a:bodyPr wrap="square" rtlCol="0">
            <a:spAutoFit/>
          </a:bodyPr>
          <a:lstStyle/>
          <a:p>
            <a:pPr>
              <a:lnSpc>
                <a:spcPct val="150000"/>
              </a:lnSpc>
            </a:pPr>
            <a:r>
              <a:rPr lang="en-US" altLang="zh-CN" sz="1800" dirty="0">
                <a:solidFill>
                  <a:srgbClr val="0070C0"/>
                </a:solidFill>
                <a:latin typeface="微软雅黑" panose="020B0503020204020204" pitchFamily="34" charset="-122"/>
                <a:ea typeface="微软雅黑" panose="020B0503020204020204" pitchFamily="34" charset="-122"/>
              </a:rPr>
              <a:t>until()</a:t>
            </a:r>
            <a:r>
              <a:rPr lang="zh-CN" altLang="zh-CN" sz="1800" dirty="0">
                <a:solidFill>
                  <a:srgbClr val="0070C0"/>
                </a:solidFill>
                <a:latin typeface="微软雅黑" panose="020B0503020204020204" pitchFamily="34" charset="-122"/>
                <a:ea typeface="微软雅黑" panose="020B0503020204020204" pitchFamily="34" charset="-122"/>
              </a:rPr>
              <a:t>方法用于调用一个查找元素的匿名函数</a:t>
            </a:r>
            <a:r>
              <a:rPr lang="zh-CN" altLang="zh-CN" sz="1800" dirty="0">
                <a:solidFill>
                  <a:srgbClr val="595959"/>
                </a:solidFill>
                <a:latin typeface="微软雅黑" panose="020B0503020204020204" pitchFamily="34" charset="-122"/>
                <a:ea typeface="微软雅黑" panose="020B0503020204020204" pitchFamily="34" charset="-122"/>
              </a:rPr>
              <a:t>，如果该函数的返回值为</a:t>
            </a:r>
            <a:r>
              <a:rPr lang="en-US" altLang="zh-CN" sz="1800" dirty="0">
                <a:solidFill>
                  <a:srgbClr val="595959"/>
                </a:solidFill>
                <a:latin typeface="微软雅黑" panose="020B0503020204020204" pitchFamily="34" charset="-122"/>
                <a:ea typeface="微软雅黑" panose="020B0503020204020204" pitchFamily="34" charset="-122"/>
              </a:rPr>
              <a:t>True</a:t>
            </a:r>
            <a:r>
              <a:rPr lang="zh-CN" altLang="zh-CN" sz="1800" dirty="0">
                <a:solidFill>
                  <a:srgbClr val="595959"/>
                </a:solidFill>
                <a:latin typeface="微软雅黑" panose="020B0503020204020204" pitchFamily="34" charset="-122"/>
                <a:ea typeface="微软雅黑" panose="020B0503020204020204" pitchFamily="34" charset="-122"/>
              </a:rPr>
              <a:t>，表示查找到元素；如果该函数的返回值为</a:t>
            </a:r>
            <a:r>
              <a:rPr lang="en-US" altLang="zh-CN" sz="1800" dirty="0">
                <a:solidFill>
                  <a:srgbClr val="595959"/>
                </a:solidFill>
                <a:latin typeface="微软雅黑" panose="020B0503020204020204" pitchFamily="34" charset="-122"/>
                <a:ea typeface="微软雅黑" panose="020B0503020204020204" pitchFamily="34" charset="-122"/>
              </a:rPr>
              <a:t>False</a:t>
            </a:r>
            <a:r>
              <a:rPr lang="zh-CN" altLang="zh-CN" sz="1800" dirty="0">
                <a:solidFill>
                  <a:srgbClr val="595959"/>
                </a:solidFill>
                <a:latin typeface="微软雅黑" panose="020B0503020204020204" pitchFamily="34" charset="-122"/>
                <a:ea typeface="微软雅黑" panose="020B0503020204020204" pitchFamily="34" charset="-122"/>
              </a:rPr>
              <a:t>，</a:t>
            </a:r>
            <a:r>
              <a:rPr lang="zh-CN" altLang="zh-CN" sz="1800">
                <a:solidFill>
                  <a:srgbClr val="595959"/>
                </a:solidFill>
                <a:latin typeface="微软雅黑" panose="020B0503020204020204" pitchFamily="34" charset="-122"/>
                <a:ea typeface="微软雅黑" panose="020B0503020204020204" pitchFamily="34" charset="-122"/>
              </a:rPr>
              <a:t>表示未查找到元素</a:t>
            </a:r>
            <a:r>
              <a:rPr lang="zh-CN" altLang="en-US" sz="1800">
                <a:solidFill>
                  <a:srgbClr val="595959"/>
                </a:solidFill>
                <a:latin typeface="微软雅黑" panose="020B0503020204020204" pitchFamily="34" charset="-122"/>
                <a:ea typeface="微软雅黑" panose="020B0503020204020204" pitchFamily="34" charset="-122"/>
              </a:rPr>
              <a:t>。</a:t>
            </a:r>
            <a:r>
              <a:rPr lang="zh-CN" altLang="zh-CN" sz="1800">
                <a:solidFill>
                  <a:srgbClr val="595959"/>
                </a:solidFill>
                <a:latin typeface="微软雅黑" panose="020B0503020204020204" pitchFamily="34" charset="-122"/>
                <a:ea typeface="微软雅黑" panose="020B0503020204020204" pitchFamily="34" charset="-122"/>
              </a:rPr>
              <a:t>当未查找</a:t>
            </a:r>
            <a:r>
              <a:rPr lang="zh-CN" altLang="zh-CN" sz="1800" dirty="0">
                <a:solidFill>
                  <a:srgbClr val="595959"/>
                </a:solidFill>
                <a:latin typeface="微软雅黑" panose="020B0503020204020204" pitchFamily="34" charset="-122"/>
                <a:ea typeface="微软雅黑" panose="020B0503020204020204" pitchFamily="34" charset="-122"/>
              </a:rPr>
              <a:t>到元素时，程序会每隔一段时间调用一次</a:t>
            </a:r>
            <a:r>
              <a:rPr lang="en-US" altLang="zh-CN" sz="1800" dirty="0">
                <a:solidFill>
                  <a:srgbClr val="595959"/>
                </a:solidFill>
                <a:latin typeface="微软雅黑" panose="020B0503020204020204" pitchFamily="34" charset="-122"/>
                <a:ea typeface="微软雅黑" panose="020B0503020204020204" pitchFamily="34" charset="-122"/>
              </a:rPr>
              <a:t>until()</a:t>
            </a:r>
            <a:r>
              <a:rPr lang="zh-CN" altLang="zh-CN" sz="1800" dirty="0">
                <a:solidFill>
                  <a:srgbClr val="595959"/>
                </a:solidFill>
                <a:latin typeface="微软雅黑" panose="020B0503020204020204" pitchFamily="34" charset="-122"/>
                <a:ea typeface="微软雅黑" panose="020B0503020204020204" pitchFamily="34" charset="-122"/>
              </a:rPr>
              <a:t>方法查找元素，直到查找到元素</a:t>
            </a:r>
            <a:r>
              <a:rPr lang="zh-CN" altLang="zh-CN" sz="1800">
                <a:solidFill>
                  <a:srgbClr val="595959"/>
                </a:solidFill>
                <a:latin typeface="微软雅黑" panose="020B0503020204020204" pitchFamily="34" charset="-122"/>
                <a:ea typeface="微软雅黑" panose="020B0503020204020204" pitchFamily="34" charset="-122"/>
              </a:rPr>
              <a:t>为止。</a:t>
            </a:r>
            <a:endParaRPr lang="zh-CN" altLang="zh-CN" sz="1800" dirty="0">
              <a:solidFill>
                <a:srgbClr val="595959"/>
              </a:solidFill>
              <a:latin typeface="微软雅黑" panose="020B0503020204020204" pitchFamily="34" charset="-122"/>
              <a:ea typeface="微软雅黑" panose="020B0503020204020204" pitchFamily="34" charset="-122"/>
            </a:endParaRPr>
          </a:p>
        </p:txBody>
      </p:sp>
      <p:sp>
        <p:nvSpPr>
          <p:cNvPr id="6" name="TextBox 5"/>
          <p:cNvSpPr txBox="1"/>
          <p:nvPr/>
        </p:nvSpPr>
        <p:spPr>
          <a:xfrm>
            <a:off x="6173893" y="3844750"/>
            <a:ext cx="5256000" cy="2536400"/>
          </a:xfrm>
          <a:prstGeom prst="rect">
            <a:avLst/>
          </a:prstGeom>
          <a:noFill/>
        </p:spPr>
        <p:txBody>
          <a:bodyPr wrap="square" rtlCol="0">
            <a:spAutoFit/>
          </a:bodyPr>
          <a:lstStyle/>
          <a:p>
            <a:pPr>
              <a:lnSpc>
                <a:spcPct val="150000"/>
              </a:lnSpc>
            </a:pPr>
            <a:r>
              <a:rPr lang="en-US" altLang="zh-CN" sz="1800" dirty="0" err="1">
                <a:solidFill>
                  <a:srgbClr val="0070C0"/>
                </a:solidFill>
                <a:latin typeface="微软雅黑" panose="020B0503020204020204" pitchFamily="34" charset="-122"/>
                <a:ea typeface="微软雅黑" panose="020B0503020204020204" pitchFamily="34" charset="-122"/>
              </a:rPr>
              <a:t>until_not</a:t>
            </a:r>
            <a:r>
              <a:rPr lang="en-US" altLang="zh-CN" sz="1800" dirty="0">
                <a:solidFill>
                  <a:srgbClr val="0070C0"/>
                </a:solidFill>
                <a:latin typeface="微软雅黑" panose="020B0503020204020204" pitchFamily="34" charset="-122"/>
                <a:ea typeface="微软雅黑" panose="020B0503020204020204" pitchFamily="34" charset="-122"/>
              </a:rPr>
              <a:t>()</a:t>
            </a:r>
            <a:r>
              <a:rPr lang="zh-CN" altLang="zh-CN" sz="1800" dirty="0">
                <a:solidFill>
                  <a:srgbClr val="0070C0"/>
                </a:solidFill>
                <a:latin typeface="微软雅黑" panose="020B0503020204020204" pitchFamily="34" charset="-122"/>
                <a:ea typeface="微软雅黑" panose="020B0503020204020204" pitchFamily="34" charset="-122"/>
              </a:rPr>
              <a:t>方法也用于调用一个查找元素的匿名函数</a:t>
            </a:r>
            <a:r>
              <a:rPr lang="zh-CN" altLang="zh-CN" sz="1800" dirty="0">
                <a:solidFill>
                  <a:srgbClr val="595959"/>
                </a:solidFill>
                <a:latin typeface="微软雅黑" panose="020B0503020204020204" pitchFamily="34" charset="-122"/>
                <a:ea typeface="微软雅黑" panose="020B0503020204020204" pitchFamily="34" charset="-122"/>
              </a:rPr>
              <a:t>，如果该函数的返回值为</a:t>
            </a:r>
            <a:r>
              <a:rPr lang="en-US" altLang="zh-CN" sz="1800" dirty="0">
                <a:solidFill>
                  <a:srgbClr val="595959"/>
                </a:solidFill>
                <a:latin typeface="微软雅黑" panose="020B0503020204020204" pitchFamily="34" charset="-122"/>
                <a:ea typeface="微软雅黑" panose="020B0503020204020204" pitchFamily="34" charset="-122"/>
              </a:rPr>
              <a:t>True</a:t>
            </a:r>
            <a:r>
              <a:rPr lang="zh-CN" altLang="zh-CN" sz="1800">
                <a:solidFill>
                  <a:srgbClr val="595959"/>
                </a:solidFill>
                <a:latin typeface="微软雅黑" panose="020B0503020204020204" pitchFamily="34" charset="-122"/>
                <a:ea typeface="微软雅黑" panose="020B0503020204020204" pitchFamily="34" charset="-122"/>
              </a:rPr>
              <a:t>，表示</a:t>
            </a:r>
            <a:r>
              <a:rPr lang="zh-CN" altLang="en-US" sz="1800">
                <a:solidFill>
                  <a:srgbClr val="595959"/>
                </a:solidFill>
                <a:latin typeface="微软雅黑" panose="020B0503020204020204" pitchFamily="34" charset="-122"/>
                <a:ea typeface="微软雅黑" panose="020B0503020204020204" pitchFamily="34" charset="-122"/>
              </a:rPr>
              <a:t>未</a:t>
            </a:r>
            <a:r>
              <a:rPr lang="zh-CN" altLang="zh-CN" sz="1800">
                <a:solidFill>
                  <a:srgbClr val="595959"/>
                </a:solidFill>
                <a:latin typeface="微软雅黑" panose="020B0503020204020204" pitchFamily="34" charset="-122"/>
                <a:ea typeface="微软雅黑" panose="020B0503020204020204" pitchFamily="34" charset="-122"/>
              </a:rPr>
              <a:t>查找到</a:t>
            </a:r>
            <a:r>
              <a:rPr lang="zh-CN" altLang="zh-CN" sz="1800" dirty="0">
                <a:solidFill>
                  <a:srgbClr val="595959"/>
                </a:solidFill>
                <a:latin typeface="微软雅黑" panose="020B0503020204020204" pitchFamily="34" charset="-122"/>
                <a:ea typeface="微软雅黑" panose="020B0503020204020204" pitchFamily="34" charset="-122"/>
              </a:rPr>
              <a:t>元素；如果该函数的返回值为</a:t>
            </a:r>
            <a:r>
              <a:rPr lang="en-US" altLang="zh-CN" sz="1800" dirty="0">
                <a:solidFill>
                  <a:srgbClr val="595959"/>
                </a:solidFill>
                <a:latin typeface="微软雅黑" panose="020B0503020204020204" pitchFamily="34" charset="-122"/>
                <a:ea typeface="微软雅黑" panose="020B0503020204020204" pitchFamily="34" charset="-122"/>
              </a:rPr>
              <a:t>False</a:t>
            </a:r>
            <a:r>
              <a:rPr lang="zh-CN" altLang="zh-CN" sz="1800" dirty="0">
                <a:solidFill>
                  <a:srgbClr val="595959"/>
                </a:solidFill>
                <a:latin typeface="微软雅黑" panose="020B0503020204020204" pitchFamily="34" charset="-122"/>
                <a:ea typeface="微软雅黑" panose="020B0503020204020204" pitchFamily="34" charset="-122"/>
              </a:rPr>
              <a:t>，表示查找</a:t>
            </a:r>
            <a:r>
              <a:rPr lang="zh-CN" altLang="zh-CN" sz="1800">
                <a:solidFill>
                  <a:srgbClr val="595959"/>
                </a:solidFill>
                <a:latin typeface="微软雅黑" panose="020B0503020204020204" pitchFamily="34" charset="-122"/>
                <a:ea typeface="微软雅黑" panose="020B0503020204020204" pitchFamily="34" charset="-122"/>
              </a:rPr>
              <a:t>到元素</a:t>
            </a:r>
            <a:r>
              <a:rPr lang="zh-CN" altLang="en-US" sz="1800">
                <a:solidFill>
                  <a:srgbClr val="595959"/>
                </a:solidFill>
                <a:latin typeface="微软雅黑" panose="020B0503020204020204" pitchFamily="34" charset="-122"/>
                <a:ea typeface="微软雅黑" panose="020B0503020204020204" pitchFamily="34" charset="-122"/>
              </a:rPr>
              <a:t>。</a:t>
            </a:r>
            <a:r>
              <a:rPr lang="zh-CN" altLang="zh-CN" sz="1800">
                <a:solidFill>
                  <a:srgbClr val="595959"/>
                </a:solidFill>
                <a:latin typeface="微软雅黑" panose="020B0503020204020204" pitchFamily="34" charset="-122"/>
                <a:ea typeface="微软雅黑" panose="020B0503020204020204" pitchFamily="34" charset="-122"/>
              </a:rPr>
              <a:t>当未</a:t>
            </a:r>
            <a:r>
              <a:rPr lang="zh-CN" altLang="en-US" sz="1800">
                <a:solidFill>
                  <a:srgbClr val="595959"/>
                </a:solidFill>
                <a:latin typeface="微软雅黑" panose="020B0503020204020204" pitchFamily="34" charset="-122"/>
                <a:ea typeface="微软雅黑" panose="020B0503020204020204" pitchFamily="34" charset="-122"/>
              </a:rPr>
              <a:t>查</a:t>
            </a:r>
            <a:r>
              <a:rPr lang="zh-CN" altLang="zh-CN" sz="1800">
                <a:solidFill>
                  <a:srgbClr val="595959"/>
                </a:solidFill>
                <a:latin typeface="微软雅黑" panose="020B0503020204020204" pitchFamily="34" charset="-122"/>
                <a:ea typeface="微软雅黑" panose="020B0503020204020204" pitchFamily="34" charset="-122"/>
              </a:rPr>
              <a:t>找</a:t>
            </a:r>
            <a:r>
              <a:rPr lang="zh-CN" altLang="zh-CN" sz="1800" dirty="0">
                <a:solidFill>
                  <a:srgbClr val="595959"/>
                </a:solidFill>
                <a:latin typeface="微软雅黑" panose="020B0503020204020204" pitchFamily="34" charset="-122"/>
                <a:ea typeface="微软雅黑" panose="020B0503020204020204" pitchFamily="34" charset="-122"/>
              </a:rPr>
              <a:t>到元素时，程序会每隔一段时间调用一次</a:t>
            </a:r>
            <a:r>
              <a:rPr lang="en-US" altLang="zh-CN" sz="1800" dirty="0" err="1">
                <a:solidFill>
                  <a:srgbClr val="595959"/>
                </a:solidFill>
                <a:latin typeface="微软雅黑" panose="020B0503020204020204" pitchFamily="34" charset="-122"/>
                <a:ea typeface="微软雅黑" panose="020B0503020204020204" pitchFamily="34" charset="-122"/>
              </a:rPr>
              <a:t>until_not</a:t>
            </a:r>
            <a:r>
              <a:rPr lang="en-US" altLang="zh-CN" sz="1800" dirty="0">
                <a:solidFill>
                  <a:srgbClr val="595959"/>
                </a:solidFill>
                <a:latin typeface="微软雅黑" panose="020B0503020204020204" pitchFamily="34" charset="-122"/>
                <a:ea typeface="微软雅黑" panose="020B0503020204020204" pitchFamily="34" charset="-122"/>
              </a:rPr>
              <a:t>()</a:t>
            </a:r>
            <a:r>
              <a:rPr lang="zh-CN" altLang="zh-CN" sz="1800" dirty="0">
                <a:solidFill>
                  <a:srgbClr val="595959"/>
                </a:solidFill>
                <a:latin typeface="微软雅黑" panose="020B0503020204020204" pitchFamily="34" charset="-122"/>
                <a:ea typeface="微软雅黑" panose="020B0503020204020204" pitchFamily="34" charset="-122"/>
              </a:rPr>
              <a:t>方法查找元素，直到查找到元素</a:t>
            </a:r>
            <a:r>
              <a:rPr lang="zh-CN" altLang="zh-CN" sz="1800">
                <a:solidFill>
                  <a:srgbClr val="595959"/>
                </a:solidFill>
                <a:latin typeface="微软雅黑" panose="020B0503020204020204" pitchFamily="34" charset="-122"/>
                <a:ea typeface="微软雅黑" panose="020B0503020204020204" pitchFamily="34" charset="-122"/>
              </a:rPr>
              <a:t>为止。</a:t>
            </a:r>
            <a:endParaRPr lang="zh-CN" altLang="zh-CN" sz="1800" dirty="0">
              <a:solidFill>
                <a:srgbClr val="595959"/>
              </a:solidFill>
              <a:latin typeface="微软雅黑" panose="020B0503020204020204" pitchFamily="34" charset="-122"/>
              <a:ea typeface="微软雅黑" panose="020B0503020204020204" pitchFamily="34" charset="-122"/>
            </a:endParaRPr>
          </a:p>
        </p:txBody>
      </p:sp>
      <p:sp>
        <p:nvSpPr>
          <p:cNvPr id="16" name="Shape 2015"/>
          <p:cNvSpPr/>
          <p:nvPr/>
        </p:nvSpPr>
        <p:spPr>
          <a:xfrm>
            <a:off x="811185" y="3767792"/>
            <a:ext cx="4860000" cy="2542002"/>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17" name="Shape 2015"/>
          <p:cNvSpPr/>
          <p:nvPr/>
        </p:nvSpPr>
        <p:spPr>
          <a:xfrm>
            <a:off x="6071540" y="3783759"/>
            <a:ext cx="5358353" cy="2542001"/>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自动化</a:t>
            </a:r>
            <a:r>
              <a:rPr lang="zh-CN" altLang="en-US" sz="4800" b="1"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测试框架</a:t>
            </a: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6.5</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6.5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自动化测试框架</a:t>
            </a:r>
          </a:p>
        </p:txBody>
      </p:sp>
      <p:sp>
        <p:nvSpPr>
          <p:cNvPr id="10" name="原创设计师QQ598969553          _9"/>
          <p:cNvSpPr txBox="1"/>
          <p:nvPr/>
        </p:nvSpPr>
        <p:spPr>
          <a:xfrm>
            <a:off x="1143690" y="1341795"/>
            <a:ext cx="10279515" cy="2862322"/>
          </a:xfrm>
          <a:prstGeom prst="rect">
            <a:avLst/>
          </a:prstGeom>
          <a:noFill/>
        </p:spPr>
        <p:txBody>
          <a:bodyPr wrap="square" rtlCol="0">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在编写自动化测试脚本时，为了能够更好地组织、管理和执行软件项目中独立的测试用例，提高自动化测试脚本的</a:t>
            </a:r>
            <a:r>
              <a:rPr lang="zh-CN" altLang="zh-CN" sz="2000" dirty="0">
                <a:solidFill>
                  <a:srgbClr val="1369B2"/>
                </a:solidFill>
                <a:latin typeface="微软雅黑" panose="020B0503020204020204" pitchFamily="34" charset="-122"/>
                <a:ea typeface="微软雅黑" panose="020B0503020204020204" pitchFamily="34" charset="-122"/>
                <a:cs typeface="+mn-ea"/>
              </a:rPr>
              <a:t>可重用性</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cs typeface="+mn-ea"/>
              </a:rPr>
              <a:t>测试效率</a:t>
            </a:r>
            <a:r>
              <a:rPr lang="zh-CN" altLang="zh-CN" sz="2000" dirty="0">
                <a:solidFill>
                  <a:srgbClr val="595959"/>
                </a:solidFill>
                <a:latin typeface="微软雅黑" panose="020B0503020204020204" pitchFamily="34" charset="-122"/>
                <a:ea typeface="微软雅黑" panose="020B0503020204020204" pitchFamily="34" charset="-122"/>
                <a:cs typeface="+mn-ea"/>
              </a:rPr>
              <a:t>，需要在测试程序中使用自动化测试</a:t>
            </a:r>
            <a:r>
              <a:rPr lang="zh-CN" altLang="zh-CN" sz="2000">
                <a:solidFill>
                  <a:srgbClr val="595959"/>
                </a:solidFill>
                <a:latin typeface="微软雅黑" panose="020B0503020204020204" pitchFamily="34" charset="-122"/>
                <a:ea typeface="微软雅黑" panose="020B0503020204020204" pitchFamily="34" charset="-122"/>
                <a:cs typeface="+mn-ea"/>
              </a:rPr>
              <a:t>框架。</a:t>
            </a:r>
            <a:endParaRPr lang="en-US" altLang="zh-CN" sz="200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cs typeface="+mn-ea"/>
              </a:rPr>
              <a:t>框架是用于承载一个系统必要功能基础要素的集合</a:t>
            </a:r>
            <a:r>
              <a:rPr lang="zh-CN" altLang="zh-CN" sz="2000" dirty="0">
                <a:solidFill>
                  <a:srgbClr val="595959"/>
                </a:solidFill>
                <a:latin typeface="微软雅黑" panose="020B0503020204020204" pitchFamily="34" charset="-122"/>
                <a:ea typeface="微软雅黑" panose="020B0503020204020204" pitchFamily="34" charset="-122"/>
                <a:cs typeface="+mn-ea"/>
              </a:rPr>
              <a:t>。自动化测试框架则是应用于自动化测试软件系统时所用的框架。根据框架的定义，可以将自动化测试框架定义为由</a:t>
            </a:r>
            <a:r>
              <a:rPr lang="zh-CN" altLang="zh-CN" sz="2000" dirty="0">
                <a:solidFill>
                  <a:srgbClr val="1369B2"/>
                </a:solidFill>
                <a:latin typeface="微软雅黑" panose="020B0503020204020204" pitchFamily="34" charset="-122"/>
                <a:ea typeface="微软雅黑" panose="020B0503020204020204" pitchFamily="34" charset="-122"/>
                <a:cs typeface="+mn-ea"/>
              </a:rPr>
              <a:t>一个</a:t>
            </a:r>
            <a:r>
              <a:rPr lang="zh-CN" altLang="zh-CN" sz="2000" dirty="0">
                <a:solidFill>
                  <a:srgbClr val="595959"/>
                </a:solidFill>
                <a:latin typeface="微软雅黑" panose="020B0503020204020204" pitchFamily="34" charset="-122"/>
                <a:ea typeface="微软雅黑" panose="020B0503020204020204" pitchFamily="34" charset="-122"/>
                <a:cs typeface="+mn-ea"/>
              </a:rPr>
              <a:t>或</a:t>
            </a:r>
            <a:r>
              <a:rPr lang="zh-CN" altLang="zh-CN" sz="2000" dirty="0">
                <a:solidFill>
                  <a:srgbClr val="1369B2"/>
                </a:solidFill>
                <a:latin typeface="微软雅黑" panose="020B0503020204020204" pitchFamily="34" charset="-122"/>
                <a:ea typeface="微软雅黑" panose="020B0503020204020204" pitchFamily="34" charset="-122"/>
                <a:cs typeface="+mn-ea"/>
              </a:rPr>
              <a:t>多个自动化测试基础模块</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自动化测试管理模块</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自动化测试统计模块</a:t>
            </a:r>
            <a:r>
              <a:rPr lang="zh-CN" altLang="zh-CN" sz="2000" dirty="0">
                <a:solidFill>
                  <a:srgbClr val="595959"/>
                </a:solidFill>
                <a:latin typeface="微软雅黑" panose="020B0503020204020204" pitchFamily="34" charset="-122"/>
                <a:ea typeface="微软雅黑" panose="020B0503020204020204" pitchFamily="34" charset="-122"/>
                <a:cs typeface="+mn-ea"/>
              </a:rPr>
              <a:t>等组成的工具集合。</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6.5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自动化测试框架</a:t>
            </a:r>
          </a:p>
        </p:txBody>
      </p:sp>
      <p:sp>
        <p:nvSpPr>
          <p:cNvPr id="10" name="原创设计师QQ598969553          _9"/>
          <p:cNvSpPr txBox="1"/>
          <p:nvPr/>
        </p:nvSpPr>
        <p:spPr>
          <a:xfrm>
            <a:off x="1143691" y="1341794"/>
            <a:ext cx="10135516" cy="1938992"/>
          </a:xfrm>
          <a:prstGeom prst="rect">
            <a:avLst/>
          </a:prstGeom>
          <a:noFill/>
        </p:spPr>
        <p:txBody>
          <a:bodyPr wrap="square" rtlCol="0">
            <a:spAutoFit/>
          </a:bodyPr>
          <a:lstStyle/>
          <a:p>
            <a:pPr>
              <a:lnSpc>
                <a:spcPct val="150000"/>
              </a:lnSpc>
            </a:pPr>
            <a:r>
              <a:rPr lang="zh-CN" altLang="en-US" sz="2000">
                <a:solidFill>
                  <a:srgbClr val="595959"/>
                </a:solidFill>
                <a:latin typeface="微软雅黑" panose="020B0503020204020204" pitchFamily="34" charset="-122"/>
                <a:ea typeface="微软雅黑" panose="020B0503020204020204" pitchFamily="34" charset="-122"/>
                <a:cs typeface="+mn-ea"/>
              </a:rPr>
              <a:t>在使用</a:t>
            </a:r>
            <a:r>
              <a:rPr lang="en-US" altLang="zh-CN" sz="2000">
                <a:solidFill>
                  <a:srgbClr val="595959"/>
                </a:solidFill>
                <a:latin typeface="微软雅黑" panose="020B0503020204020204" pitchFamily="34" charset="-122"/>
                <a:ea typeface="微软雅黑" panose="020B0503020204020204" pitchFamily="34" charset="-122"/>
                <a:cs typeface="+mn-ea"/>
              </a:rPr>
              <a:t>Python </a:t>
            </a:r>
            <a:r>
              <a:rPr lang="zh-CN" altLang="en-US" sz="2000">
                <a:solidFill>
                  <a:srgbClr val="595959"/>
                </a:solidFill>
                <a:latin typeface="微软雅黑" panose="020B0503020204020204" pitchFamily="34" charset="-122"/>
                <a:ea typeface="微软雅黑" panose="020B0503020204020204" pitchFamily="34" charset="-122"/>
                <a:cs typeface="+mn-ea"/>
              </a:rPr>
              <a:t>语言编写自动化测试脚本测试</a:t>
            </a:r>
            <a:r>
              <a:rPr lang="en-US" altLang="zh-CN" sz="2000">
                <a:solidFill>
                  <a:srgbClr val="595959"/>
                </a:solidFill>
                <a:latin typeface="微软雅黑" panose="020B0503020204020204" pitchFamily="34" charset="-122"/>
                <a:ea typeface="微软雅黑" panose="020B0503020204020204" pitchFamily="34" charset="-122"/>
                <a:cs typeface="+mn-ea"/>
              </a:rPr>
              <a:t>Web </a:t>
            </a:r>
            <a:r>
              <a:rPr lang="zh-CN" altLang="en-US" sz="2000">
                <a:solidFill>
                  <a:srgbClr val="595959"/>
                </a:solidFill>
                <a:latin typeface="微软雅黑" panose="020B0503020204020204" pitchFamily="34" charset="-122"/>
                <a:ea typeface="微软雅黑" panose="020B0503020204020204" pitchFamily="34" charset="-122"/>
                <a:cs typeface="+mn-ea"/>
              </a:rPr>
              <a:t>项目时，常用的</a:t>
            </a:r>
            <a:r>
              <a:rPr lang="en-US" altLang="zh-CN" sz="2000">
                <a:solidFill>
                  <a:srgbClr val="595959"/>
                </a:solidFill>
                <a:latin typeface="微软雅黑" panose="020B0503020204020204" pitchFamily="34" charset="-122"/>
                <a:ea typeface="微软雅黑" panose="020B0503020204020204" pitchFamily="34" charset="-122"/>
                <a:cs typeface="+mn-ea"/>
              </a:rPr>
              <a:t>Python </a:t>
            </a:r>
            <a:r>
              <a:rPr lang="zh-CN" altLang="en-US" sz="2000">
                <a:solidFill>
                  <a:srgbClr val="595959"/>
                </a:solidFill>
                <a:latin typeface="微软雅黑" panose="020B0503020204020204" pitchFamily="34" charset="-122"/>
                <a:ea typeface="微软雅黑" panose="020B0503020204020204" pitchFamily="34" charset="-122"/>
                <a:cs typeface="+mn-ea"/>
              </a:rPr>
              <a:t>自动化测试</a:t>
            </a:r>
          </a:p>
          <a:p>
            <a:pPr>
              <a:lnSpc>
                <a:spcPct val="150000"/>
              </a:lnSpc>
            </a:pPr>
            <a:r>
              <a:rPr lang="zh-CN" altLang="en-US" sz="2000">
                <a:solidFill>
                  <a:srgbClr val="595959"/>
                </a:solidFill>
                <a:latin typeface="微软雅黑" panose="020B0503020204020204" pitchFamily="34" charset="-122"/>
                <a:ea typeface="微软雅黑" panose="020B0503020204020204" pitchFamily="34" charset="-122"/>
                <a:cs typeface="+mn-ea"/>
              </a:rPr>
              <a:t>框架有</a:t>
            </a:r>
            <a:r>
              <a:rPr lang="en-US" altLang="zh-CN" sz="2000">
                <a:solidFill>
                  <a:srgbClr val="1369B2"/>
                </a:solidFill>
                <a:latin typeface="微软雅黑" panose="020B0503020204020204" pitchFamily="34" charset="-122"/>
                <a:ea typeface="微软雅黑" panose="020B0503020204020204" pitchFamily="34" charset="-122"/>
                <a:cs typeface="+mn-ea"/>
              </a:rPr>
              <a:t>unittest</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1369B2"/>
                </a:solidFill>
                <a:latin typeface="微软雅黑" panose="020B0503020204020204" pitchFamily="34" charset="-122"/>
                <a:ea typeface="微软雅黑" panose="020B0503020204020204" pitchFamily="34" charset="-122"/>
                <a:cs typeface="+mn-ea"/>
              </a:rPr>
              <a:t>pytest</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1369B2"/>
                </a:solidFill>
                <a:latin typeface="微软雅黑" panose="020B0503020204020204" pitchFamily="34" charset="-122"/>
                <a:ea typeface="微软雅黑" panose="020B0503020204020204" pitchFamily="34" charset="-122"/>
                <a:cs typeface="+mn-ea"/>
              </a:rPr>
              <a:t>Robot Framework </a:t>
            </a:r>
            <a:r>
              <a:rPr lang="zh-CN" altLang="en-US" sz="2000">
                <a:solidFill>
                  <a:srgbClr val="595959"/>
                </a:solidFill>
                <a:latin typeface="微软雅黑" panose="020B0503020204020204" pitchFamily="34" charset="-122"/>
                <a:ea typeface="微软雅黑" panose="020B0503020204020204" pitchFamily="34" charset="-122"/>
                <a:cs typeface="+mn-ea"/>
              </a:rPr>
              <a:t>等，这</a:t>
            </a:r>
            <a:r>
              <a:rPr lang="en-US" altLang="zh-CN" sz="2000">
                <a:solidFill>
                  <a:srgbClr val="595959"/>
                </a:solidFill>
                <a:latin typeface="微软雅黑" panose="020B0503020204020204" pitchFamily="34" charset="-122"/>
                <a:ea typeface="微软雅黑" panose="020B0503020204020204" pitchFamily="34" charset="-122"/>
                <a:cs typeface="+mn-ea"/>
              </a:rPr>
              <a:t>3 </a:t>
            </a:r>
            <a:r>
              <a:rPr lang="zh-CN" altLang="en-US" sz="2000">
                <a:solidFill>
                  <a:srgbClr val="595959"/>
                </a:solidFill>
                <a:latin typeface="微软雅黑" panose="020B0503020204020204" pitchFamily="34" charset="-122"/>
                <a:ea typeface="微软雅黑" panose="020B0503020204020204" pitchFamily="34" charset="-122"/>
                <a:cs typeface="+mn-ea"/>
              </a:rPr>
              <a:t>种框架主要用于</a:t>
            </a:r>
            <a:r>
              <a:rPr lang="zh-CN" altLang="en-US" sz="2000">
                <a:solidFill>
                  <a:srgbClr val="1369B2"/>
                </a:solidFill>
                <a:latin typeface="微软雅黑" panose="020B0503020204020204" pitchFamily="34" charset="-122"/>
                <a:ea typeface="微软雅黑" panose="020B0503020204020204" pitchFamily="34" charset="-122"/>
                <a:cs typeface="+mn-ea"/>
              </a:rPr>
              <a:t>功能测试</a:t>
            </a:r>
            <a:r>
              <a:rPr lang="zh-CN" altLang="en-US" sz="2000">
                <a:solidFill>
                  <a:srgbClr val="595959"/>
                </a:solidFill>
                <a:latin typeface="微软雅黑" panose="020B0503020204020204" pitchFamily="34" charset="-122"/>
                <a:ea typeface="微软雅黑" panose="020B0503020204020204" pitchFamily="34" charset="-122"/>
                <a:cs typeface="+mn-ea"/>
              </a:rPr>
              <a:t>与</a:t>
            </a:r>
            <a:r>
              <a:rPr lang="zh-CN" altLang="en-US" sz="2000">
                <a:solidFill>
                  <a:srgbClr val="1369B2"/>
                </a:solidFill>
                <a:latin typeface="微软雅黑" panose="020B0503020204020204" pitchFamily="34" charset="-122"/>
                <a:ea typeface="微软雅黑" panose="020B0503020204020204" pitchFamily="34" charset="-122"/>
                <a:cs typeface="+mn-ea"/>
              </a:rPr>
              <a:t>单元测试</a:t>
            </a:r>
            <a:r>
              <a:rPr lang="zh-CN" altLang="en-US" sz="2000">
                <a:solidFill>
                  <a:srgbClr val="595959"/>
                </a:solidFill>
                <a:latin typeface="微软雅黑" panose="020B0503020204020204" pitchFamily="34" charset="-122"/>
                <a:ea typeface="微软雅黑" panose="020B0503020204020204" pitchFamily="34" charset="-122"/>
                <a:cs typeface="+mn-ea"/>
              </a:rPr>
              <a:t>。其中，</a:t>
            </a:r>
            <a:r>
              <a:rPr lang="en-US" altLang="zh-CN" sz="2000">
                <a:solidFill>
                  <a:srgbClr val="595959"/>
                </a:solidFill>
                <a:latin typeface="微软雅黑" panose="020B0503020204020204" pitchFamily="34" charset="-122"/>
                <a:ea typeface="微软雅黑" panose="020B0503020204020204" pitchFamily="34" charset="-122"/>
                <a:cs typeface="+mn-ea"/>
              </a:rPr>
              <a:t>unittest </a:t>
            </a:r>
            <a:r>
              <a:rPr lang="zh-CN" altLang="en-US" sz="2000">
                <a:solidFill>
                  <a:srgbClr val="595959"/>
                </a:solidFill>
                <a:latin typeface="微软雅黑" panose="020B0503020204020204" pitchFamily="34" charset="-122"/>
                <a:ea typeface="微软雅黑" panose="020B0503020204020204" pitchFamily="34" charset="-122"/>
                <a:cs typeface="+mn-ea"/>
              </a:rPr>
              <a:t>和</a:t>
            </a:r>
            <a:r>
              <a:rPr lang="en-US" altLang="zh-CN" sz="2000">
                <a:solidFill>
                  <a:srgbClr val="595959"/>
                </a:solidFill>
                <a:latin typeface="微软雅黑" panose="020B0503020204020204" pitchFamily="34" charset="-122"/>
                <a:ea typeface="微软雅黑" panose="020B0503020204020204" pitchFamily="34" charset="-122"/>
                <a:cs typeface="+mn-ea"/>
              </a:rPr>
              <a:t>pytest </a:t>
            </a:r>
            <a:r>
              <a:rPr lang="zh-CN" altLang="en-US" sz="2000">
                <a:solidFill>
                  <a:srgbClr val="595959"/>
                </a:solidFill>
                <a:latin typeface="微软雅黑" panose="020B0503020204020204" pitchFamily="34" charset="-122"/>
                <a:ea typeface="微软雅黑" panose="020B0503020204020204" pitchFamily="34" charset="-122"/>
                <a:cs typeface="+mn-ea"/>
              </a:rPr>
              <a:t>是</a:t>
            </a:r>
            <a:r>
              <a:rPr lang="en-US" altLang="zh-CN" sz="2000">
                <a:solidFill>
                  <a:srgbClr val="595959"/>
                </a:solidFill>
                <a:latin typeface="微软雅黑" panose="020B0503020204020204" pitchFamily="34" charset="-122"/>
                <a:ea typeface="微软雅黑" panose="020B0503020204020204" pitchFamily="34" charset="-122"/>
                <a:cs typeface="+mn-ea"/>
              </a:rPr>
              <a:t>Web </a:t>
            </a:r>
            <a:r>
              <a:rPr lang="zh-CN" altLang="en-US" sz="2000">
                <a:solidFill>
                  <a:srgbClr val="595959"/>
                </a:solidFill>
                <a:latin typeface="微软雅黑" panose="020B0503020204020204" pitchFamily="34" charset="-122"/>
                <a:ea typeface="微软雅黑" panose="020B0503020204020204" pitchFamily="34" charset="-122"/>
                <a:cs typeface="+mn-ea"/>
              </a:rPr>
              <a:t>自动化测试中常用的</a:t>
            </a:r>
            <a:r>
              <a:rPr lang="en-US" altLang="zh-CN" sz="2000">
                <a:solidFill>
                  <a:srgbClr val="595959"/>
                </a:solidFill>
                <a:latin typeface="微软雅黑" panose="020B0503020204020204" pitchFamily="34" charset="-122"/>
                <a:ea typeface="微软雅黑" panose="020B0503020204020204" pitchFamily="34" charset="-122"/>
                <a:cs typeface="+mn-ea"/>
              </a:rPr>
              <a:t>2 </a:t>
            </a:r>
            <a:r>
              <a:rPr lang="zh-CN" altLang="en-US" sz="2000">
                <a:solidFill>
                  <a:srgbClr val="595959"/>
                </a:solidFill>
                <a:latin typeface="微软雅黑" panose="020B0503020204020204" pitchFamily="34" charset="-122"/>
                <a:ea typeface="微软雅黑" panose="020B0503020204020204" pitchFamily="34" charset="-122"/>
                <a:cs typeface="+mn-ea"/>
              </a:rPr>
              <a:t>种框架，下面分别对</a:t>
            </a:r>
            <a:r>
              <a:rPr lang="en-US" altLang="zh-CN" sz="2000">
                <a:solidFill>
                  <a:srgbClr val="1369B2"/>
                </a:solidFill>
                <a:latin typeface="微软雅黑" panose="020B0503020204020204" pitchFamily="34" charset="-122"/>
                <a:ea typeface="微软雅黑" panose="020B0503020204020204" pitchFamily="34" charset="-122"/>
                <a:cs typeface="+mn-ea"/>
              </a:rPr>
              <a:t>unittest </a:t>
            </a:r>
            <a:r>
              <a:rPr lang="zh-CN" altLang="en-US" sz="2000">
                <a:solidFill>
                  <a:srgbClr val="1369B2"/>
                </a:solidFill>
                <a:latin typeface="微软雅黑" panose="020B0503020204020204" pitchFamily="34" charset="-122"/>
                <a:ea typeface="微软雅黑" panose="020B0503020204020204" pitchFamily="34" charset="-122"/>
                <a:cs typeface="+mn-ea"/>
              </a:rPr>
              <a:t>框架</a:t>
            </a:r>
            <a:r>
              <a:rPr lang="zh-CN" altLang="en-US" sz="2000">
                <a:solidFill>
                  <a:srgbClr val="595959"/>
                </a:solidFill>
                <a:latin typeface="微软雅黑" panose="020B0503020204020204" pitchFamily="34" charset="-122"/>
                <a:ea typeface="微软雅黑" panose="020B0503020204020204" pitchFamily="34" charset="-122"/>
                <a:cs typeface="+mn-ea"/>
              </a:rPr>
              <a:t>和</a:t>
            </a:r>
            <a:r>
              <a:rPr lang="en-US" altLang="zh-CN" sz="2000">
                <a:solidFill>
                  <a:srgbClr val="1369B2"/>
                </a:solidFill>
                <a:latin typeface="微软雅黑" panose="020B0503020204020204" pitchFamily="34" charset="-122"/>
                <a:ea typeface="微软雅黑" panose="020B0503020204020204" pitchFamily="34" charset="-122"/>
                <a:cs typeface="+mn-ea"/>
              </a:rPr>
              <a:t>pytest </a:t>
            </a:r>
            <a:r>
              <a:rPr lang="zh-CN" altLang="en-US" sz="2000">
                <a:solidFill>
                  <a:srgbClr val="1369B2"/>
                </a:solidFill>
                <a:latin typeface="微软雅黑" panose="020B0503020204020204" pitchFamily="34" charset="-122"/>
                <a:ea typeface="微软雅黑" panose="020B0503020204020204" pitchFamily="34" charset="-122"/>
                <a:cs typeface="+mn-ea"/>
              </a:rPr>
              <a:t>框架</a:t>
            </a:r>
            <a:r>
              <a:rPr lang="zh-CN" altLang="en-US" sz="2000">
                <a:solidFill>
                  <a:srgbClr val="595959"/>
                </a:solidFill>
                <a:latin typeface="微软雅黑" panose="020B0503020204020204" pitchFamily="34" charset="-122"/>
                <a:ea typeface="微软雅黑" panose="020B0503020204020204" pitchFamily="34" charset="-122"/>
                <a:cs typeface="+mn-ea"/>
              </a:rPr>
              <a:t>进行介绍。</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6.5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自动化测试框架</a:t>
            </a:r>
          </a:p>
        </p:txBody>
      </p:sp>
      <p:sp>
        <p:nvSpPr>
          <p:cNvPr id="10" name="原创设计师QQ598969553          _9"/>
          <p:cNvSpPr txBox="1"/>
          <p:nvPr/>
        </p:nvSpPr>
        <p:spPr>
          <a:xfrm>
            <a:off x="1143690" y="2133794"/>
            <a:ext cx="10351515" cy="1477328"/>
          </a:xfrm>
          <a:prstGeom prst="rect">
            <a:avLst/>
          </a:prstGeom>
          <a:noFill/>
        </p:spPr>
        <p:txBody>
          <a:bodyPr wrap="square" rtlCol="0">
            <a:spAutoFit/>
          </a:bodyPr>
          <a:lstStyle/>
          <a:p>
            <a:pPr>
              <a:lnSpc>
                <a:spcPct val="150000"/>
              </a:lnSpc>
            </a:pPr>
            <a:r>
              <a:rPr lang="en-US" altLang="zh-CN" sz="2000">
                <a:solidFill>
                  <a:srgbClr val="1369B2"/>
                </a:solidFill>
                <a:latin typeface="微软雅黑" panose="020B0503020204020204" pitchFamily="34" charset="-122"/>
                <a:ea typeface="微软雅黑" panose="020B0503020204020204" pitchFamily="34" charset="-122"/>
                <a:cs typeface="+mn-ea"/>
              </a:rPr>
              <a:t>unittest</a:t>
            </a:r>
            <a:r>
              <a:rPr lang="zh-CN" altLang="zh-CN" sz="2000">
                <a:solidFill>
                  <a:srgbClr val="1369B2"/>
                </a:solidFill>
                <a:latin typeface="微软雅黑" panose="020B0503020204020204" pitchFamily="34" charset="-122"/>
                <a:ea typeface="微软雅黑" panose="020B0503020204020204" pitchFamily="34" charset="-122"/>
                <a:cs typeface="+mn-ea"/>
              </a:rPr>
              <a:t>是</a:t>
            </a:r>
            <a:r>
              <a:rPr lang="en-US" altLang="zh-CN" sz="2000" dirty="0">
                <a:solidFill>
                  <a:srgbClr val="1369B2"/>
                </a:solidFill>
                <a:latin typeface="微软雅黑" panose="020B0503020204020204" pitchFamily="34" charset="-122"/>
                <a:ea typeface="微软雅黑" panose="020B0503020204020204" pitchFamily="34" charset="-122"/>
                <a:cs typeface="+mn-ea"/>
              </a:rPr>
              <a:t>Python</a:t>
            </a:r>
            <a:r>
              <a:rPr lang="zh-CN" altLang="zh-CN" sz="2000" dirty="0">
                <a:solidFill>
                  <a:srgbClr val="1369B2"/>
                </a:solidFill>
                <a:latin typeface="微软雅黑" panose="020B0503020204020204" pitchFamily="34" charset="-122"/>
                <a:ea typeface="微软雅黑" panose="020B0503020204020204" pitchFamily="34" charset="-122"/>
                <a:cs typeface="+mn-ea"/>
              </a:rPr>
              <a:t>标准库中自带的一个单元测试框架</a:t>
            </a:r>
            <a:r>
              <a:rPr lang="zh-CN" altLang="zh-CN" sz="2000" dirty="0">
                <a:solidFill>
                  <a:srgbClr val="595959"/>
                </a:solidFill>
                <a:latin typeface="微软雅黑" panose="020B0503020204020204" pitchFamily="34" charset="-122"/>
                <a:ea typeface="微软雅黑" panose="020B0503020204020204" pitchFamily="34" charset="-122"/>
                <a:cs typeface="+mn-ea"/>
              </a:rPr>
              <a:t>，无需安装即</a:t>
            </a:r>
            <a:r>
              <a:rPr lang="zh-CN" altLang="zh-CN" sz="2000">
                <a:solidFill>
                  <a:srgbClr val="595959"/>
                </a:solidFill>
                <a:latin typeface="微软雅黑" panose="020B0503020204020204" pitchFamily="34" charset="-122"/>
                <a:ea typeface="微软雅黑" panose="020B0503020204020204" pitchFamily="34" charset="-122"/>
                <a:cs typeface="+mn-ea"/>
              </a:rPr>
              <a:t>可使用</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该</a:t>
            </a:r>
            <a:r>
              <a:rPr lang="zh-CN" altLang="zh-CN" sz="2000" dirty="0">
                <a:solidFill>
                  <a:srgbClr val="595959"/>
                </a:solidFill>
                <a:latin typeface="微软雅黑" panose="020B0503020204020204" pitchFamily="34" charset="-122"/>
                <a:ea typeface="微软雅黑" panose="020B0503020204020204" pitchFamily="34" charset="-122"/>
                <a:cs typeface="+mn-ea"/>
              </a:rPr>
              <a:t>框架主要用于</a:t>
            </a:r>
            <a:r>
              <a:rPr lang="zh-CN" altLang="zh-CN" sz="2000" dirty="0">
                <a:solidFill>
                  <a:srgbClr val="1369B2"/>
                </a:solidFill>
                <a:latin typeface="微软雅黑" panose="020B0503020204020204" pitchFamily="34" charset="-122"/>
                <a:ea typeface="微软雅黑" panose="020B0503020204020204" pitchFamily="34" charset="-122"/>
                <a:cs typeface="+mn-ea"/>
              </a:rPr>
              <a:t>管理</a:t>
            </a:r>
            <a:r>
              <a:rPr lang="en-US" altLang="zh-CN" sz="2000" dirty="0">
                <a:solidFill>
                  <a:srgbClr val="1369B2"/>
                </a:solidFill>
                <a:latin typeface="微软雅黑" panose="020B0503020204020204" pitchFamily="34" charset="-122"/>
                <a:ea typeface="微软雅黑" panose="020B0503020204020204" pitchFamily="34" charset="-122"/>
                <a:cs typeface="+mn-ea"/>
              </a:rPr>
              <a:t>Web</a:t>
            </a:r>
            <a:r>
              <a:rPr lang="zh-CN" altLang="zh-CN" sz="2000" dirty="0">
                <a:solidFill>
                  <a:srgbClr val="1369B2"/>
                </a:solidFill>
                <a:latin typeface="微软雅黑" panose="020B0503020204020204" pitchFamily="34" charset="-122"/>
                <a:ea typeface="微软雅黑" panose="020B0503020204020204" pitchFamily="34" charset="-122"/>
                <a:cs typeface="+mn-ea"/>
              </a:rPr>
              <a:t>自动化测试程序中的测试用例</a:t>
            </a:r>
            <a:r>
              <a:rPr lang="zh-CN" altLang="zh-CN" sz="2000" dirty="0">
                <a:solidFill>
                  <a:srgbClr val="595959"/>
                </a:solidFill>
                <a:latin typeface="微软雅黑" panose="020B0503020204020204" pitchFamily="34" charset="-122"/>
                <a:ea typeface="微软雅黑" panose="020B0503020204020204" pitchFamily="34" charset="-122"/>
                <a:cs typeface="+mn-ea"/>
              </a:rPr>
              <a:t>，该框架不仅提供了丰富的</a:t>
            </a:r>
            <a:r>
              <a:rPr lang="zh-CN" altLang="zh-CN" sz="2000" dirty="0">
                <a:solidFill>
                  <a:srgbClr val="1369B2"/>
                </a:solidFill>
                <a:latin typeface="微软雅黑" panose="020B0503020204020204" pitchFamily="34" charset="-122"/>
                <a:ea typeface="微软雅黑" panose="020B0503020204020204" pitchFamily="34" charset="-122"/>
                <a:cs typeface="+mn-ea"/>
              </a:rPr>
              <a:t>断言方法</a:t>
            </a:r>
            <a:r>
              <a:rPr lang="zh-CN" altLang="zh-CN" sz="2000" dirty="0">
                <a:solidFill>
                  <a:srgbClr val="595959"/>
                </a:solidFill>
                <a:latin typeface="微软雅黑" panose="020B0503020204020204" pitchFamily="34" charset="-122"/>
                <a:ea typeface="微软雅黑" panose="020B0503020204020204" pitchFamily="34" charset="-122"/>
                <a:cs typeface="+mn-ea"/>
              </a:rPr>
              <a:t>，便于判断每条测试用例的执行结果是否成功，而且还可以生成</a:t>
            </a:r>
            <a:r>
              <a:rPr lang="zh-CN" altLang="zh-CN" sz="2000" dirty="0">
                <a:solidFill>
                  <a:srgbClr val="1369B2"/>
                </a:solidFill>
                <a:latin typeface="微软雅黑" panose="020B0503020204020204" pitchFamily="34" charset="-122"/>
                <a:ea typeface="微软雅黑" panose="020B0503020204020204" pitchFamily="34" charset="-122"/>
                <a:cs typeface="+mn-ea"/>
              </a:rPr>
              <a:t>测试报告</a:t>
            </a:r>
            <a:r>
              <a:rPr lang="zh-CN" altLang="zh-CN" sz="2000" dirty="0">
                <a:solidFill>
                  <a:srgbClr val="595959"/>
                </a:solidFill>
                <a:latin typeface="微软雅黑" panose="020B0503020204020204" pitchFamily="34" charset="-122"/>
                <a:ea typeface="微软雅黑" panose="020B0503020204020204" pitchFamily="34" charset="-122"/>
                <a:cs typeface="+mn-ea"/>
              </a:rPr>
              <a:t>便于测试人员查看测试结果。 </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2" name="矩形 1"/>
          <p:cNvSpPr/>
          <p:nvPr/>
        </p:nvSpPr>
        <p:spPr>
          <a:xfrm>
            <a:off x="1143691" y="1091982"/>
            <a:ext cx="1993174" cy="499624"/>
          </a:xfrm>
          <a:prstGeom prst="rect">
            <a:avLst/>
          </a:prstGeom>
        </p:spPr>
        <p:txBody>
          <a:bodyPr wrap="none">
            <a:spAutoFit/>
          </a:bodyPr>
          <a:lstStyle/>
          <a:p>
            <a:pPr lvl="0">
              <a:lnSpc>
                <a:spcPct val="150000"/>
              </a:lnSpc>
            </a:pPr>
            <a:r>
              <a:rPr lang="en-US" altLang="zh-CN" sz="2000" b="1">
                <a:solidFill>
                  <a:srgbClr val="595959"/>
                </a:solidFill>
                <a:latin typeface="微软雅黑" panose="020B0503020204020204" pitchFamily="34" charset="-122"/>
                <a:ea typeface="微软雅黑" panose="020B0503020204020204" pitchFamily="34" charset="-122"/>
                <a:cs typeface="+mn-ea"/>
              </a:rPr>
              <a:t>1.unittest</a:t>
            </a:r>
            <a:r>
              <a:rPr lang="zh-CN" altLang="zh-CN" sz="2000" b="1">
                <a:solidFill>
                  <a:srgbClr val="595959"/>
                </a:solidFill>
                <a:latin typeface="微软雅黑" panose="020B0503020204020204" pitchFamily="34" charset="-122"/>
                <a:ea typeface="微软雅黑" panose="020B0503020204020204" pitchFamily="34" charset="-122"/>
                <a:cs typeface="+mn-ea"/>
              </a:rPr>
              <a:t>框架</a:t>
            </a:r>
            <a:endParaRPr lang="zh-CN" altLang="zh-CN" sz="2000" b="1"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30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6.5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自动化测试框架</a:t>
            </a:r>
          </a:p>
        </p:txBody>
      </p:sp>
      <p:sp>
        <p:nvSpPr>
          <p:cNvPr id="10" name="原创设计师QQ598969553          _9"/>
          <p:cNvSpPr txBox="1"/>
          <p:nvPr/>
        </p:nvSpPr>
        <p:spPr>
          <a:xfrm>
            <a:off x="983206" y="1917095"/>
            <a:ext cx="7128000" cy="1477328"/>
          </a:xfrm>
          <a:prstGeom prst="rect">
            <a:avLst/>
          </a:prstGeom>
          <a:noFill/>
        </p:spPr>
        <p:txBody>
          <a:bodyPr wrap="square" rtlCol="0">
            <a:spAutoFit/>
          </a:bodyPr>
          <a:lstStyle/>
          <a:p>
            <a:pPr>
              <a:lnSpc>
                <a:spcPct val="150000"/>
              </a:lnSpc>
            </a:pPr>
            <a:r>
              <a:rPr lang="zh-CN" altLang="zh-CN" sz="2000">
                <a:solidFill>
                  <a:srgbClr val="595959"/>
                </a:solidFill>
                <a:latin typeface="微软雅黑" panose="020B0503020204020204" pitchFamily="34" charset="-122"/>
                <a:ea typeface="微软雅黑" panose="020B0503020204020204" pitchFamily="34" charset="-122"/>
                <a:cs typeface="+mn-ea"/>
              </a:rPr>
              <a:t>使用</a:t>
            </a:r>
            <a:r>
              <a:rPr lang="en-US" altLang="zh-CN" sz="2000">
                <a:solidFill>
                  <a:srgbClr val="595959"/>
                </a:solidFill>
                <a:latin typeface="微软雅黑" panose="020B0503020204020204" pitchFamily="34" charset="-122"/>
                <a:ea typeface="微软雅黑" panose="020B0503020204020204" pitchFamily="34" charset="-122"/>
                <a:cs typeface="+mn-ea"/>
              </a:rPr>
              <a:t>unittest</a:t>
            </a:r>
            <a:r>
              <a:rPr lang="zh-CN" altLang="zh-CN" sz="2000">
                <a:solidFill>
                  <a:srgbClr val="595959"/>
                </a:solidFill>
                <a:latin typeface="微软雅黑" panose="020B0503020204020204" pitchFamily="34" charset="-122"/>
                <a:ea typeface="微软雅黑" panose="020B0503020204020204" pitchFamily="34" charset="-122"/>
                <a:cs typeface="+mn-ea"/>
              </a:rPr>
              <a:t>框架</a:t>
            </a:r>
            <a:r>
              <a:rPr lang="zh-CN" altLang="zh-CN" sz="2000" dirty="0">
                <a:solidFill>
                  <a:srgbClr val="595959"/>
                </a:solidFill>
                <a:latin typeface="微软雅黑" panose="020B0503020204020204" pitchFamily="34" charset="-122"/>
                <a:ea typeface="微软雅黑" panose="020B0503020204020204" pitchFamily="34" charset="-122"/>
                <a:cs typeface="+mn-ea"/>
              </a:rPr>
              <a:t>时，首先通过</a:t>
            </a:r>
            <a:r>
              <a:rPr lang="en-US" altLang="zh-CN" sz="2000" dirty="0">
                <a:solidFill>
                  <a:srgbClr val="1369B2"/>
                </a:solidFill>
                <a:latin typeface="微软雅黑" panose="020B0503020204020204" pitchFamily="34" charset="-122"/>
                <a:ea typeface="微软雅黑" panose="020B0503020204020204" pitchFamily="34" charset="-122"/>
                <a:cs typeface="+mn-ea"/>
              </a:rPr>
              <a:t>import</a:t>
            </a:r>
            <a:r>
              <a:rPr lang="zh-CN" altLang="zh-CN" sz="2000" dirty="0">
                <a:solidFill>
                  <a:srgbClr val="595959"/>
                </a:solidFill>
                <a:latin typeface="微软雅黑" panose="020B0503020204020204" pitchFamily="34" charset="-122"/>
                <a:ea typeface="微软雅黑" panose="020B0503020204020204" pitchFamily="34" charset="-122"/>
                <a:cs typeface="+mn-ea"/>
              </a:rPr>
              <a:t>在程序中</a:t>
            </a:r>
            <a:r>
              <a:rPr lang="zh-CN" altLang="zh-CN" sz="2000">
                <a:solidFill>
                  <a:srgbClr val="595959"/>
                </a:solidFill>
                <a:latin typeface="微软雅黑" panose="020B0503020204020204" pitchFamily="34" charset="-122"/>
                <a:ea typeface="微软雅黑" panose="020B0503020204020204" pitchFamily="34" charset="-122"/>
                <a:cs typeface="+mn-ea"/>
              </a:rPr>
              <a:t>导入</a:t>
            </a:r>
            <a:r>
              <a:rPr lang="en-US" altLang="zh-CN" sz="2000">
                <a:solidFill>
                  <a:srgbClr val="1369B2"/>
                </a:solidFill>
                <a:latin typeface="微软雅黑" panose="020B0503020204020204" pitchFamily="34" charset="-122"/>
                <a:ea typeface="微软雅黑" panose="020B0503020204020204" pitchFamily="34" charset="-122"/>
                <a:cs typeface="+mn-ea"/>
              </a:rPr>
              <a:t>unittest</a:t>
            </a:r>
            <a:r>
              <a:rPr lang="zh-CN" altLang="zh-CN" sz="2000">
                <a:solidFill>
                  <a:srgbClr val="1369B2"/>
                </a:solidFill>
                <a:latin typeface="微软雅黑" panose="020B0503020204020204" pitchFamily="34" charset="-122"/>
                <a:ea typeface="微软雅黑" panose="020B0503020204020204" pitchFamily="34" charset="-122"/>
                <a:cs typeface="+mn-ea"/>
              </a:rPr>
              <a:t>模块</a:t>
            </a:r>
            <a:r>
              <a:rPr lang="zh-CN" altLang="zh-CN" sz="2000" dirty="0">
                <a:solidFill>
                  <a:srgbClr val="595959"/>
                </a:solidFill>
                <a:latin typeface="微软雅黑" panose="020B0503020204020204" pitchFamily="34" charset="-122"/>
                <a:ea typeface="微软雅黑" panose="020B0503020204020204" pitchFamily="34" charset="-122"/>
                <a:cs typeface="+mn-ea"/>
              </a:rPr>
              <a:t>，然后</a:t>
            </a:r>
            <a:r>
              <a:rPr lang="zh-CN" altLang="zh-CN" sz="2000" dirty="0">
                <a:solidFill>
                  <a:srgbClr val="1369B2"/>
                </a:solidFill>
                <a:latin typeface="微软雅黑" panose="020B0503020204020204" pitchFamily="34" charset="-122"/>
                <a:ea typeface="微软雅黑" panose="020B0503020204020204" pitchFamily="34" charset="-122"/>
                <a:cs typeface="+mn-ea"/>
              </a:rPr>
              <a:t>定义一个测试类继承</a:t>
            </a:r>
            <a:r>
              <a:rPr lang="en-US" altLang="zh-CN" sz="2000" dirty="0" err="1">
                <a:solidFill>
                  <a:srgbClr val="1369B2"/>
                </a:solidFill>
                <a:latin typeface="微软雅黑" panose="020B0503020204020204" pitchFamily="34" charset="-122"/>
                <a:ea typeface="微软雅黑" panose="020B0503020204020204" pitchFamily="34" charset="-122"/>
                <a:cs typeface="+mn-ea"/>
              </a:rPr>
              <a:t>TestCase</a:t>
            </a:r>
            <a:r>
              <a:rPr lang="zh-CN" altLang="zh-CN" sz="2000" dirty="0">
                <a:solidFill>
                  <a:srgbClr val="1369B2"/>
                </a:solidFill>
                <a:latin typeface="微软雅黑" panose="020B0503020204020204" pitchFamily="34" charset="-122"/>
                <a:ea typeface="微软雅黑" panose="020B0503020204020204" pitchFamily="34" charset="-122"/>
                <a:cs typeface="+mn-ea"/>
              </a:rPr>
              <a:t>类</a:t>
            </a:r>
            <a:r>
              <a:rPr lang="zh-CN" altLang="zh-CN" sz="2000" dirty="0">
                <a:solidFill>
                  <a:srgbClr val="595959"/>
                </a:solidFill>
                <a:latin typeface="微软雅黑" panose="020B0503020204020204" pitchFamily="34" charset="-122"/>
                <a:ea typeface="微软雅黑" panose="020B0503020204020204" pitchFamily="34" charset="-122"/>
                <a:cs typeface="+mn-ea"/>
              </a:rPr>
              <a:t>，在测试类中至少有一条可执行的测试用例，该测试用例的名称必须以</a:t>
            </a:r>
            <a:r>
              <a:rPr lang="en-US" altLang="zh-CN" sz="2000" dirty="0">
                <a:solidFill>
                  <a:srgbClr val="1369B2"/>
                </a:solidFill>
                <a:latin typeface="微软雅黑" panose="020B0503020204020204" pitchFamily="34" charset="-122"/>
                <a:ea typeface="微软雅黑" panose="020B0503020204020204" pitchFamily="34" charset="-122"/>
                <a:cs typeface="+mn-ea"/>
              </a:rPr>
              <a:t>test</a:t>
            </a:r>
            <a:r>
              <a:rPr lang="zh-CN" altLang="zh-CN" sz="2000" dirty="0">
                <a:solidFill>
                  <a:srgbClr val="1369B2"/>
                </a:solidFill>
                <a:latin typeface="微软雅黑" panose="020B0503020204020204" pitchFamily="34" charset="-122"/>
                <a:ea typeface="微软雅黑" panose="020B0503020204020204" pitchFamily="34" charset="-122"/>
                <a:cs typeface="+mn-ea"/>
              </a:rPr>
              <a:t>开头</a:t>
            </a:r>
            <a:r>
              <a:rPr lang="zh-CN" altLang="zh-CN" sz="2000" dirty="0"/>
              <a:t>。</a:t>
            </a:r>
          </a:p>
        </p:txBody>
      </p:sp>
      <p:pic>
        <p:nvPicPr>
          <p:cNvPr id="6" name="Picture 2" descr="C:\Users\admin\Desktop\QQ截图20201109163646.png"/>
          <p:cNvPicPr>
            <a:picLocks noChangeAspect="1" noChangeArrowheads="1"/>
          </p:cNvPicPr>
          <p:nvPr/>
        </p:nvPicPr>
        <p:blipFill rotWithShape="1">
          <a:blip r:embed="rId3">
            <a:extLst>
              <a:ext uri="{28A0092B-C50C-407E-A947-70E740481C1C}">
                <a14:useLocalDpi xmlns:a14="http://schemas.microsoft.com/office/drawing/2010/main" val="0"/>
              </a:ext>
            </a:extLst>
          </a:blip>
          <a:srcRect r="5516"/>
          <a:stretch>
            <a:fillRect/>
          </a:stretch>
        </p:blipFill>
        <p:spPr bwMode="auto">
          <a:xfrm flipH="1">
            <a:off x="8458200" y="2103928"/>
            <a:ext cx="2946548" cy="34861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30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6.5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自动化测试框架</a:t>
            </a:r>
          </a:p>
        </p:txBody>
      </p:sp>
      <p:sp>
        <p:nvSpPr>
          <p:cNvPr id="22" name="TextBox 15"/>
          <p:cNvSpPr>
            <a:spLocks noChangeArrowheads="1"/>
          </p:cNvSpPr>
          <p:nvPr/>
        </p:nvSpPr>
        <p:spPr bwMode="auto">
          <a:xfrm>
            <a:off x="1124864" y="4869794"/>
            <a:ext cx="10298342"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en-US" altLang="zh-CN"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TestSuite </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表示</a:t>
            </a:r>
            <a:r>
              <a:rPr lang="zh-CN" altLang="en-US"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测试套件</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，每个测试套件中</a:t>
            </a:r>
            <a:r>
              <a:rPr lang="zh-CN" altLang="en-US"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可以包含多个测试用例</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。在使用测试套件时，首先在程序中</a:t>
            </a:r>
            <a:r>
              <a:rPr lang="zh-CN" altLang="en-US"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创建测试套件的对象</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，然后调用</a:t>
            </a:r>
            <a:r>
              <a:rPr lang="en-US" altLang="zh-CN"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addTest( )</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方法将每个测试用例添加到测试套件的对象中，这样执行一个测试套件就可以执行该测试套件中存放的所有测试用例。</a:t>
            </a:r>
            <a:endPar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7" name="TextBox 20"/>
          <p:cNvSpPr>
            <a:spLocks noChangeArrowheads="1"/>
          </p:cNvSpPr>
          <p:nvPr/>
        </p:nvSpPr>
        <p:spPr bwMode="auto">
          <a:xfrm>
            <a:off x="1013454" y="4330771"/>
            <a:ext cx="24003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2000" b="1">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b="1">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TestSuite</a:t>
            </a:r>
            <a:endPar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8" name="TextBox 21"/>
          <p:cNvSpPr>
            <a:spLocks noChangeArrowheads="1"/>
          </p:cNvSpPr>
          <p:nvPr/>
        </p:nvSpPr>
        <p:spPr bwMode="auto">
          <a:xfrm>
            <a:off x="983206" y="2084671"/>
            <a:ext cx="205967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2000" b="1">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1">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TestCase</a:t>
            </a:r>
            <a:endPar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9" name="TextBox 22"/>
          <p:cNvSpPr>
            <a:spLocks noChangeArrowheads="1"/>
          </p:cNvSpPr>
          <p:nvPr/>
        </p:nvSpPr>
        <p:spPr bwMode="auto">
          <a:xfrm>
            <a:off x="1143690" y="1037821"/>
            <a:ext cx="1007097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使用</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unittest </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框架需要掌握</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5 </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个基本要素，分别是</a:t>
            </a:r>
            <a:r>
              <a:rPr lang="en-US" altLang="zh-CN"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TestCase</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TestSuite</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TextTestRunner</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TextTestResult</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Fixture</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30" name="TextBox 13"/>
          <p:cNvSpPr>
            <a:spLocks noChangeArrowheads="1"/>
          </p:cNvSpPr>
          <p:nvPr/>
        </p:nvSpPr>
        <p:spPr bwMode="auto">
          <a:xfrm>
            <a:off x="1143690" y="2657188"/>
            <a:ext cx="10070973"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en-US" altLang="zh-CN" sz="2000" dirty="0" err="1">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TestCas</a:t>
            </a:r>
            <a:r>
              <a:rPr lang="en-US" altLang="zh-CN" sz="2000" dirty="0" err="1">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e</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表示</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测试用例</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它是</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unittest</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框架</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提供的一个</a:t>
            </a:r>
            <a:r>
              <a:rPr lang="zh-CN" altLang="zh-CN"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基类</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当</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在程序中创建一个类继承</a:t>
            </a:r>
            <a:r>
              <a:rPr lang="en-US" altLang="zh-CN" sz="2000" dirty="0" err="1">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TestCase</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时，该类中定义的每个测试方法都是一个测试用例，这些测试方法的名称必须以</a:t>
            </a:r>
            <a:r>
              <a:rPr lang="en-US"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test</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开头</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30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6.5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自动化测试框架</a:t>
            </a:r>
          </a:p>
        </p:txBody>
      </p:sp>
      <p:sp>
        <p:nvSpPr>
          <p:cNvPr id="20" name="TextBox 13"/>
          <p:cNvSpPr>
            <a:spLocks noChangeArrowheads="1"/>
          </p:cNvSpPr>
          <p:nvPr/>
        </p:nvSpPr>
        <p:spPr bwMode="auto">
          <a:xfrm>
            <a:off x="1110938" y="1402986"/>
            <a:ext cx="9487987"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en-US" altLang="zh-CN" sz="2000" dirty="0" err="1">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TextTestRunner</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表示</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测试执行器</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，用于执行测试用例或测试套件并返回测试结果。</a:t>
            </a:r>
            <a:r>
              <a:rPr lang="en-US" altLang="zh-CN" sz="2000" dirty="0" err="1">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TextTestRunner</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类</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是运行测试用例的</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驱动类</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该类提供</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了</a:t>
            </a:r>
            <a:r>
              <a:rPr lang="en-US"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run()</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方法来运行</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测试用例</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或</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测试套件</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21" name="TextBox 14"/>
          <p:cNvSpPr>
            <a:spLocks noChangeArrowheads="1"/>
          </p:cNvSpPr>
          <p:nvPr/>
        </p:nvSpPr>
        <p:spPr bwMode="auto">
          <a:xfrm>
            <a:off x="1101870" y="3281322"/>
            <a:ext cx="952957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en-US" altLang="zh-CN" sz="2000" dirty="0" err="1">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TextTestResult</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表示</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测试结果</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，它用于</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展示所有用例执行成功或失败的结果信息</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。当程序执行完测试用例或测试套件后，</a:t>
            </a:r>
            <a:r>
              <a:rPr lang="en-US" altLang="zh-CN" sz="2000" dirty="0" err="1">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TextTestResult</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会将测试结果输出到控制台中。</a:t>
            </a:r>
          </a:p>
        </p:txBody>
      </p:sp>
      <p:sp>
        <p:nvSpPr>
          <p:cNvPr id="22" name="TextBox 15"/>
          <p:cNvSpPr>
            <a:spLocks noChangeArrowheads="1"/>
          </p:cNvSpPr>
          <p:nvPr/>
        </p:nvSpPr>
        <p:spPr bwMode="auto">
          <a:xfrm>
            <a:off x="1126691" y="4852745"/>
            <a:ext cx="9720515"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en-US"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Fixture</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表示</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测试固件</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，用于</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初始化或销毁测试环境</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。测试固件可以理解为</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在测试之前或之后需要做的一些操作</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。例如，在执行测试之前，需要打开浏览器、设置</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等待时间等</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；在</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测试</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结束之后，需要清理测试环境、关闭浏览器、退出浏览器驱动等。</a:t>
            </a:r>
          </a:p>
        </p:txBody>
      </p:sp>
      <p:sp>
        <p:nvSpPr>
          <p:cNvPr id="25" name="TextBox 18"/>
          <p:cNvSpPr>
            <a:spLocks noChangeArrowheads="1"/>
          </p:cNvSpPr>
          <p:nvPr/>
        </p:nvSpPr>
        <p:spPr bwMode="auto">
          <a:xfrm>
            <a:off x="1124107" y="1051976"/>
            <a:ext cx="274002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sz="2000" b="1">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(3)TextTestRunner</a:t>
            </a:r>
            <a:endPar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6" name="TextBox 19"/>
          <p:cNvSpPr>
            <a:spLocks noChangeArrowheads="1"/>
          </p:cNvSpPr>
          <p:nvPr/>
        </p:nvSpPr>
        <p:spPr bwMode="auto">
          <a:xfrm>
            <a:off x="1110938" y="2929871"/>
            <a:ext cx="243840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sz="2000" b="1">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(4)TextTestResult</a:t>
            </a:r>
            <a:endPar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7" name="TextBox 20"/>
          <p:cNvSpPr>
            <a:spLocks noChangeArrowheads="1"/>
          </p:cNvSpPr>
          <p:nvPr/>
        </p:nvSpPr>
        <p:spPr bwMode="auto">
          <a:xfrm>
            <a:off x="1143690" y="4374810"/>
            <a:ext cx="24003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sz="2000" b="1">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(5)Fixture</a:t>
            </a:r>
            <a:endPar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30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6.5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自动化测试框架</a:t>
            </a:r>
          </a:p>
        </p:txBody>
      </p:sp>
      <p:sp>
        <p:nvSpPr>
          <p:cNvPr id="10" name="原创设计师QQ598969553          _9"/>
          <p:cNvSpPr txBox="1"/>
          <p:nvPr/>
        </p:nvSpPr>
        <p:spPr>
          <a:xfrm>
            <a:off x="1143690" y="1125794"/>
            <a:ext cx="7128000" cy="499624"/>
          </a:xfrm>
          <a:prstGeom prst="rect">
            <a:avLst/>
          </a:prstGeom>
          <a:noFill/>
        </p:spPr>
        <p:txBody>
          <a:bodyPr wrap="square" rtlCol="0">
            <a:spAutoFit/>
          </a:bodyPr>
          <a:lstStyle/>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Fixture</a:t>
            </a:r>
            <a:r>
              <a:rPr lang="zh-CN" altLang="zh-CN" sz="2000" dirty="0">
                <a:solidFill>
                  <a:srgbClr val="595959"/>
                </a:solidFill>
                <a:latin typeface="微软雅黑" panose="020B0503020204020204" pitchFamily="34" charset="-122"/>
                <a:ea typeface="微软雅黑" panose="020B0503020204020204" pitchFamily="34" charset="-122"/>
                <a:cs typeface="+mn-ea"/>
              </a:rPr>
              <a:t>的控制级别分为</a:t>
            </a:r>
            <a:r>
              <a:rPr lang="zh-CN" altLang="zh-CN" sz="2000" dirty="0">
                <a:solidFill>
                  <a:srgbClr val="1369B2"/>
                </a:solidFill>
                <a:latin typeface="微软雅黑" panose="020B0503020204020204" pitchFamily="34" charset="-122"/>
                <a:ea typeface="微软雅黑" panose="020B0503020204020204" pitchFamily="34" charset="-122"/>
                <a:cs typeface="+mn-ea"/>
              </a:rPr>
              <a:t>方法级别</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类级别</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cs typeface="+mn-ea"/>
              </a:rPr>
              <a:t>模块级别</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p:txBody>
      </p:sp>
      <p:sp>
        <p:nvSpPr>
          <p:cNvPr id="8" name="Freeform 5"/>
          <p:cNvSpPr/>
          <p:nvPr/>
        </p:nvSpPr>
        <p:spPr bwMode="auto">
          <a:xfrm>
            <a:off x="1458922" y="3472470"/>
            <a:ext cx="1463675" cy="1465262"/>
          </a:xfrm>
          <a:custGeom>
            <a:avLst/>
            <a:gdLst>
              <a:gd name="T0" fmla="*/ 1098181 w 861"/>
              <a:gd name="T1" fmla="*/ 731780 h 861"/>
              <a:gd name="T2" fmla="*/ 730988 w 861"/>
              <a:gd name="T3" fmla="*/ 1097670 h 861"/>
              <a:gd name="T4" fmla="*/ 365494 w 861"/>
              <a:gd name="T5" fmla="*/ 731780 h 861"/>
              <a:gd name="T6" fmla="*/ 730988 w 861"/>
              <a:gd name="T7" fmla="*/ 365890 h 861"/>
              <a:gd name="T8" fmla="*/ 829586 w 861"/>
              <a:gd name="T9" fmla="*/ 379505 h 861"/>
              <a:gd name="T10" fmla="*/ 710588 w 861"/>
              <a:gd name="T11" fmla="*/ 0 h 861"/>
              <a:gd name="T12" fmla="*/ 0 w 861"/>
              <a:gd name="T13" fmla="*/ 731780 h 861"/>
              <a:gd name="T14" fmla="*/ 730988 w 861"/>
              <a:gd name="T15" fmla="*/ 1465262 h 861"/>
              <a:gd name="T16" fmla="*/ 1463675 w 861"/>
              <a:gd name="T17" fmla="*/ 731780 h 861"/>
              <a:gd name="T18" fmla="*/ 1261378 w 861"/>
              <a:gd name="T19" fmla="*/ 226341 h 861"/>
              <a:gd name="T20" fmla="*/ 1002983 w 861"/>
              <a:gd name="T21" fmla="*/ 486719 h 861"/>
              <a:gd name="T22" fmla="*/ 1098181 w 861"/>
              <a:gd name="T23" fmla="*/ 731780 h 8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861" h="861">
                <a:moveTo>
                  <a:pt x="646" y="430"/>
                </a:moveTo>
                <a:cubicBezTo>
                  <a:pt x="646" y="549"/>
                  <a:pt x="549" y="645"/>
                  <a:pt x="430" y="645"/>
                </a:cubicBezTo>
                <a:cubicBezTo>
                  <a:pt x="311" y="645"/>
                  <a:pt x="215" y="549"/>
                  <a:pt x="215" y="430"/>
                </a:cubicBezTo>
                <a:cubicBezTo>
                  <a:pt x="215" y="311"/>
                  <a:pt x="311" y="215"/>
                  <a:pt x="430" y="215"/>
                </a:cubicBezTo>
                <a:cubicBezTo>
                  <a:pt x="450" y="215"/>
                  <a:pt x="470" y="218"/>
                  <a:pt x="488" y="223"/>
                </a:cubicBezTo>
                <a:cubicBezTo>
                  <a:pt x="447" y="156"/>
                  <a:pt x="422" y="80"/>
                  <a:pt x="418" y="0"/>
                </a:cubicBezTo>
                <a:cubicBezTo>
                  <a:pt x="186" y="6"/>
                  <a:pt x="0" y="196"/>
                  <a:pt x="0" y="430"/>
                </a:cubicBezTo>
                <a:cubicBezTo>
                  <a:pt x="0" y="668"/>
                  <a:pt x="192" y="861"/>
                  <a:pt x="430" y="861"/>
                </a:cubicBezTo>
                <a:cubicBezTo>
                  <a:pt x="668" y="861"/>
                  <a:pt x="861" y="668"/>
                  <a:pt x="861" y="430"/>
                </a:cubicBezTo>
                <a:cubicBezTo>
                  <a:pt x="861" y="315"/>
                  <a:pt x="816" y="211"/>
                  <a:pt x="742" y="133"/>
                </a:cubicBezTo>
                <a:cubicBezTo>
                  <a:pt x="590" y="286"/>
                  <a:pt x="590" y="286"/>
                  <a:pt x="590" y="286"/>
                </a:cubicBezTo>
                <a:cubicBezTo>
                  <a:pt x="625" y="325"/>
                  <a:pt x="646" y="375"/>
                  <a:pt x="646" y="430"/>
                </a:cubicBezTo>
                <a:close/>
              </a:path>
            </a:pathLst>
          </a:custGeom>
          <a:solidFill>
            <a:srgbClr val="0070C0"/>
          </a:solidFill>
          <a:ln>
            <a:noFill/>
          </a:ln>
        </p:spPr>
        <p:txBody>
          <a:bodyPr lIns="68575" tIns="34288" rIns="68575" bIns="34288"/>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ea typeface="宋体" panose="02010600030101010101" pitchFamily="2" charset="-122"/>
              <a:cs typeface="+mn-lt"/>
            </a:endParaRPr>
          </a:p>
        </p:txBody>
      </p:sp>
      <p:sp>
        <p:nvSpPr>
          <p:cNvPr id="9" name="Freeform 6"/>
          <p:cNvSpPr/>
          <p:nvPr/>
        </p:nvSpPr>
        <p:spPr bwMode="auto">
          <a:xfrm>
            <a:off x="2238385" y="2696182"/>
            <a:ext cx="1463675" cy="1276350"/>
          </a:xfrm>
          <a:custGeom>
            <a:avLst/>
            <a:gdLst>
              <a:gd name="T0" fmla="*/ 1256279 w 861"/>
              <a:gd name="T1" fmla="*/ 1244016 h 750"/>
              <a:gd name="T2" fmla="*/ 1256279 w 861"/>
              <a:gd name="T3" fmla="*/ 1242314 h 750"/>
              <a:gd name="T4" fmla="*/ 1463675 w 861"/>
              <a:gd name="T5" fmla="*/ 733476 h 750"/>
              <a:gd name="T6" fmla="*/ 730988 w 861"/>
              <a:gd name="T7" fmla="*/ 0 h 750"/>
              <a:gd name="T8" fmla="*/ 0 w 861"/>
              <a:gd name="T9" fmla="*/ 733476 h 750"/>
              <a:gd name="T10" fmla="*/ 203997 w 861"/>
              <a:gd name="T11" fmla="*/ 1240612 h 750"/>
              <a:gd name="T12" fmla="*/ 203997 w 861"/>
              <a:gd name="T13" fmla="*/ 1242314 h 750"/>
              <a:gd name="T14" fmla="*/ 224396 w 861"/>
              <a:gd name="T15" fmla="*/ 1262736 h 750"/>
              <a:gd name="T16" fmla="*/ 482792 w 861"/>
              <a:gd name="T17" fmla="*/ 1002360 h 750"/>
              <a:gd name="T18" fmla="*/ 472592 w 861"/>
              <a:gd name="T19" fmla="*/ 992149 h 750"/>
              <a:gd name="T20" fmla="*/ 470892 w 861"/>
              <a:gd name="T21" fmla="*/ 990448 h 750"/>
              <a:gd name="T22" fmla="*/ 365494 w 861"/>
              <a:gd name="T23" fmla="*/ 733476 h 750"/>
              <a:gd name="T24" fmla="*/ 730988 w 861"/>
              <a:gd name="T25" fmla="*/ 365887 h 750"/>
              <a:gd name="T26" fmla="*/ 1096481 w 861"/>
              <a:gd name="T27" fmla="*/ 733476 h 750"/>
              <a:gd name="T28" fmla="*/ 992783 w 861"/>
              <a:gd name="T29" fmla="*/ 988746 h 750"/>
              <a:gd name="T30" fmla="*/ 992783 w 861"/>
              <a:gd name="T31" fmla="*/ 988746 h 750"/>
              <a:gd name="T32" fmla="*/ 992783 w 861"/>
              <a:gd name="T33" fmla="*/ 988746 h 750"/>
              <a:gd name="T34" fmla="*/ 957084 w 861"/>
              <a:gd name="T35" fmla="*/ 1026185 h 750"/>
              <a:gd name="T36" fmla="*/ 1225679 w 861"/>
              <a:gd name="T37" fmla="*/ 1276350 h 750"/>
              <a:gd name="T38" fmla="*/ 1256279 w 861"/>
              <a:gd name="T39" fmla="*/ 1244016 h 75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61" h="750">
                <a:moveTo>
                  <a:pt x="739" y="731"/>
                </a:moveTo>
                <a:cubicBezTo>
                  <a:pt x="739" y="730"/>
                  <a:pt x="739" y="730"/>
                  <a:pt x="739" y="730"/>
                </a:cubicBezTo>
                <a:cubicBezTo>
                  <a:pt x="814" y="653"/>
                  <a:pt x="861" y="547"/>
                  <a:pt x="861" y="431"/>
                </a:cubicBezTo>
                <a:cubicBezTo>
                  <a:pt x="861" y="193"/>
                  <a:pt x="668" y="0"/>
                  <a:pt x="430" y="0"/>
                </a:cubicBezTo>
                <a:cubicBezTo>
                  <a:pt x="192" y="0"/>
                  <a:pt x="0" y="193"/>
                  <a:pt x="0" y="431"/>
                </a:cubicBezTo>
                <a:cubicBezTo>
                  <a:pt x="0" y="547"/>
                  <a:pt x="45" y="652"/>
                  <a:pt x="120" y="729"/>
                </a:cubicBezTo>
                <a:cubicBezTo>
                  <a:pt x="120" y="730"/>
                  <a:pt x="120" y="730"/>
                  <a:pt x="120" y="730"/>
                </a:cubicBezTo>
                <a:cubicBezTo>
                  <a:pt x="124" y="734"/>
                  <a:pt x="128" y="738"/>
                  <a:pt x="132" y="742"/>
                </a:cubicBezTo>
                <a:cubicBezTo>
                  <a:pt x="284" y="589"/>
                  <a:pt x="284" y="589"/>
                  <a:pt x="284" y="589"/>
                </a:cubicBezTo>
                <a:cubicBezTo>
                  <a:pt x="282" y="587"/>
                  <a:pt x="280" y="585"/>
                  <a:pt x="278" y="583"/>
                </a:cubicBezTo>
                <a:cubicBezTo>
                  <a:pt x="277" y="582"/>
                  <a:pt x="277" y="582"/>
                  <a:pt x="277" y="582"/>
                </a:cubicBezTo>
                <a:cubicBezTo>
                  <a:pt x="239" y="543"/>
                  <a:pt x="215" y="490"/>
                  <a:pt x="215" y="431"/>
                </a:cubicBezTo>
                <a:cubicBezTo>
                  <a:pt x="215" y="312"/>
                  <a:pt x="311" y="215"/>
                  <a:pt x="430" y="215"/>
                </a:cubicBezTo>
                <a:cubicBezTo>
                  <a:pt x="549" y="215"/>
                  <a:pt x="645" y="312"/>
                  <a:pt x="645" y="431"/>
                </a:cubicBezTo>
                <a:cubicBezTo>
                  <a:pt x="645" y="489"/>
                  <a:pt x="622" y="542"/>
                  <a:pt x="584" y="581"/>
                </a:cubicBezTo>
                <a:cubicBezTo>
                  <a:pt x="584" y="581"/>
                  <a:pt x="584" y="581"/>
                  <a:pt x="584" y="581"/>
                </a:cubicBezTo>
                <a:cubicBezTo>
                  <a:pt x="584" y="581"/>
                  <a:pt x="584" y="581"/>
                  <a:pt x="584" y="581"/>
                </a:cubicBezTo>
                <a:cubicBezTo>
                  <a:pt x="577" y="588"/>
                  <a:pt x="570" y="596"/>
                  <a:pt x="563" y="603"/>
                </a:cubicBezTo>
                <a:cubicBezTo>
                  <a:pt x="721" y="750"/>
                  <a:pt x="721" y="750"/>
                  <a:pt x="721" y="750"/>
                </a:cubicBezTo>
                <a:cubicBezTo>
                  <a:pt x="727" y="743"/>
                  <a:pt x="733" y="737"/>
                  <a:pt x="739" y="731"/>
                </a:cubicBezTo>
                <a:close/>
              </a:path>
            </a:pathLst>
          </a:custGeom>
          <a:solidFill>
            <a:srgbClr val="0070C0"/>
          </a:solidFill>
          <a:ln>
            <a:noFill/>
          </a:ln>
        </p:spPr>
        <p:txBody>
          <a:bodyPr lIns="68575" tIns="34288" rIns="68575" bIns="34288"/>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ea typeface="宋体" panose="02010600030101010101" pitchFamily="2" charset="-122"/>
              <a:cs typeface="+mn-lt"/>
            </a:endParaRPr>
          </a:p>
        </p:txBody>
      </p:sp>
      <p:sp>
        <p:nvSpPr>
          <p:cNvPr id="11" name="Freeform 7"/>
          <p:cNvSpPr/>
          <p:nvPr/>
        </p:nvSpPr>
        <p:spPr bwMode="auto">
          <a:xfrm>
            <a:off x="3014672" y="3472470"/>
            <a:ext cx="1465263" cy="1465262"/>
          </a:xfrm>
          <a:custGeom>
            <a:avLst/>
            <a:gdLst>
              <a:gd name="T0" fmla="*/ 753030 w 862"/>
              <a:gd name="T1" fmla="*/ 0 h 861"/>
              <a:gd name="T2" fmla="*/ 634041 w 862"/>
              <a:gd name="T3" fmla="*/ 379505 h 861"/>
              <a:gd name="T4" fmla="*/ 732632 w 862"/>
              <a:gd name="T5" fmla="*/ 365890 h 861"/>
              <a:gd name="T6" fmla="*/ 1098097 w 862"/>
              <a:gd name="T7" fmla="*/ 731780 h 861"/>
              <a:gd name="T8" fmla="*/ 732632 w 862"/>
              <a:gd name="T9" fmla="*/ 1097670 h 861"/>
              <a:gd name="T10" fmla="*/ 367166 w 862"/>
              <a:gd name="T11" fmla="*/ 731780 h 861"/>
              <a:gd name="T12" fmla="*/ 448758 w 862"/>
              <a:gd name="T13" fmla="*/ 500333 h 861"/>
              <a:gd name="T14" fmla="*/ 180183 w 862"/>
              <a:gd name="T15" fmla="*/ 250167 h 861"/>
              <a:gd name="T16" fmla="*/ 0 w 862"/>
              <a:gd name="T17" fmla="*/ 731780 h 861"/>
              <a:gd name="T18" fmla="*/ 732632 w 862"/>
              <a:gd name="T19" fmla="*/ 1465262 h 861"/>
              <a:gd name="T20" fmla="*/ 1465263 w 862"/>
              <a:gd name="T21" fmla="*/ 731780 h 861"/>
              <a:gd name="T22" fmla="*/ 753030 w 862"/>
              <a:gd name="T23" fmla="*/ 0 h 8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862" h="861">
                <a:moveTo>
                  <a:pt x="443" y="0"/>
                </a:moveTo>
                <a:cubicBezTo>
                  <a:pt x="439" y="80"/>
                  <a:pt x="415" y="156"/>
                  <a:pt x="373" y="223"/>
                </a:cubicBezTo>
                <a:cubicBezTo>
                  <a:pt x="391" y="218"/>
                  <a:pt x="411" y="215"/>
                  <a:pt x="431" y="215"/>
                </a:cubicBezTo>
                <a:cubicBezTo>
                  <a:pt x="550" y="215"/>
                  <a:pt x="646" y="311"/>
                  <a:pt x="646" y="430"/>
                </a:cubicBezTo>
                <a:cubicBezTo>
                  <a:pt x="646" y="549"/>
                  <a:pt x="550" y="645"/>
                  <a:pt x="431" y="645"/>
                </a:cubicBezTo>
                <a:cubicBezTo>
                  <a:pt x="312" y="645"/>
                  <a:pt x="216" y="549"/>
                  <a:pt x="216" y="430"/>
                </a:cubicBezTo>
                <a:cubicBezTo>
                  <a:pt x="216" y="378"/>
                  <a:pt x="234" y="331"/>
                  <a:pt x="264" y="294"/>
                </a:cubicBezTo>
                <a:cubicBezTo>
                  <a:pt x="106" y="147"/>
                  <a:pt x="106" y="147"/>
                  <a:pt x="106" y="147"/>
                </a:cubicBezTo>
                <a:cubicBezTo>
                  <a:pt x="40" y="223"/>
                  <a:pt x="0" y="322"/>
                  <a:pt x="0" y="430"/>
                </a:cubicBezTo>
                <a:cubicBezTo>
                  <a:pt x="0" y="668"/>
                  <a:pt x="193" y="861"/>
                  <a:pt x="431" y="861"/>
                </a:cubicBezTo>
                <a:cubicBezTo>
                  <a:pt x="669" y="861"/>
                  <a:pt x="862" y="668"/>
                  <a:pt x="862" y="430"/>
                </a:cubicBezTo>
                <a:cubicBezTo>
                  <a:pt x="862" y="196"/>
                  <a:pt x="675" y="6"/>
                  <a:pt x="443" y="0"/>
                </a:cubicBezTo>
                <a:close/>
              </a:path>
            </a:pathLst>
          </a:custGeom>
          <a:solidFill>
            <a:srgbClr val="0070C0"/>
          </a:solidFill>
          <a:ln>
            <a:noFill/>
          </a:ln>
        </p:spPr>
        <p:txBody>
          <a:bodyPr lIns="68575" tIns="34288" rIns="68575" bIns="34288"/>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ea typeface="宋体" panose="02010600030101010101" pitchFamily="2" charset="-122"/>
              <a:cs typeface="+mn-lt"/>
            </a:endParaRPr>
          </a:p>
        </p:txBody>
      </p:sp>
      <p:sp>
        <p:nvSpPr>
          <p:cNvPr id="12" name="TextBox 175"/>
          <p:cNvSpPr txBox="1">
            <a:spLocks noChangeArrowheads="1"/>
          </p:cNvSpPr>
          <p:nvPr/>
        </p:nvSpPr>
        <p:spPr bwMode="auto">
          <a:xfrm>
            <a:off x="2720984" y="3180370"/>
            <a:ext cx="48101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75" tIns="34288" rIns="68575" bIns="34288">
            <a:spAutoFit/>
          </a:bodyPr>
          <a:lstStyle>
            <a:lvl1pPr defTabSz="455295">
              <a:defRPr>
                <a:solidFill>
                  <a:schemeClr val="tx1"/>
                </a:solidFill>
                <a:latin typeface="Calibri" panose="020F0502020204030204" pitchFamily="34" charset="0"/>
                <a:ea typeface="宋体" panose="02010600030101010101" pitchFamily="2" charset="-122"/>
              </a:defRPr>
            </a:lvl1pPr>
            <a:lvl2pPr marL="742950" indent="-285750" defTabSz="455295">
              <a:defRPr>
                <a:solidFill>
                  <a:schemeClr val="tx1"/>
                </a:solidFill>
                <a:latin typeface="Calibri" panose="020F0502020204030204" pitchFamily="34" charset="0"/>
                <a:ea typeface="宋体" panose="02010600030101010101" pitchFamily="2" charset="-122"/>
              </a:defRPr>
            </a:lvl2pPr>
            <a:lvl3pPr marL="1143000" indent="-228600" defTabSz="455295">
              <a:defRPr>
                <a:solidFill>
                  <a:schemeClr val="tx1"/>
                </a:solidFill>
                <a:latin typeface="Calibri" panose="020F0502020204030204" pitchFamily="34" charset="0"/>
                <a:ea typeface="宋体" panose="02010600030101010101" pitchFamily="2" charset="-122"/>
              </a:defRPr>
            </a:lvl3pPr>
            <a:lvl4pPr marL="1600200" indent="-228600" defTabSz="455295">
              <a:defRPr>
                <a:solidFill>
                  <a:schemeClr val="tx1"/>
                </a:solidFill>
                <a:latin typeface="Calibri" panose="020F0502020204030204" pitchFamily="34" charset="0"/>
                <a:ea typeface="宋体" panose="02010600030101010101" pitchFamily="2" charset="-122"/>
              </a:defRPr>
            </a:lvl4pPr>
            <a:lvl5pPr marL="2057400" indent="-228600" defTabSz="455295">
              <a:defRPr>
                <a:solidFill>
                  <a:schemeClr val="tx1"/>
                </a:solidFill>
                <a:latin typeface="Calibri" panose="020F0502020204030204" pitchFamily="34" charset="0"/>
                <a:ea typeface="宋体" panose="02010600030101010101" pitchFamily="2" charset="-122"/>
              </a:defRPr>
            </a:lvl5pPr>
            <a:lvl6pPr marL="2514600" indent="-228600" defTabSz="4552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4552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4552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4552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455295" rtl="0" eaLnBrk="1" fontAlgn="base" latinLnBrk="0" hangingPunct="1">
              <a:lnSpc>
                <a:spcPct val="100000"/>
              </a:lnSpc>
              <a:spcBef>
                <a:spcPct val="0"/>
              </a:spcBef>
              <a:spcAft>
                <a:spcPct val="0"/>
              </a:spcAft>
              <a:buClrTx/>
              <a:buSzTx/>
              <a:buFont typeface="Arial" panose="020B0604020202020204" pitchFamily="34" charset="0"/>
              <a:buNone/>
              <a:defRPr/>
            </a:pPr>
            <a:r>
              <a:rPr kumimoji="0" lang="id-ID" altLang="en-US" sz="2400" b="1" i="0" u="none" strike="noStrike" kern="1200" cap="none" spc="0" normalizeH="0" baseline="0" noProof="0" dirty="0">
                <a:ln>
                  <a:noFill/>
                </a:ln>
                <a:solidFill>
                  <a:srgbClr val="014076"/>
                </a:solidFill>
                <a:effectLst/>
                <a:uLnTx/>
                <a:uFillTx/>
                <a:latin typeface="+mn-lt"/>
                <a:ea typeface="微软雅黑" panose="020B0503020204020204" pitchFamily="34" charset="-122"/>
                <a:cs typeface="+mn-lt"/>
                <a:sym typeface="Arial" panose="020B0604020202020204" pitchFamily="34" charset="0"/>
              </a:rPr>
              <a:t>01</a:t>
            </a:r>
          </a:p>
        </p:txBody>
      </p:sp>
      <p:sp>
        <p:nvSpPr>
          <p:cNvPr id="13" name="TextBox 176"/>
          <p:cNvSpPr txBox="1">
            <a:spLocks noChangeArrowheads="1"/>
          </p:cNvSpPr>
          <p:nvPr/>
        </p:nvSpPr>
        <p:spPr bwMode="auto">
          <a:xfrm>
            <a:off x="1922472" y="3972532"/>
            <a:ext cx="523875" cy="48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75" tIns="34288" rIns="68575" bIns="34288">
            <a:spAutoFit/>
          </a:bodyPr>
          <a:lstStyle>
            <a:lvl1pPr defTabSz="455295">
              <a:defRPr>
                <a:solidFill>
                  <a:schemeClr val="tx1"/>
                </a:solidFill>
                <a:latin typeface="Calibri" panose="020F0502020204030204" pitchFamily="34" charset="0"/>
                <a:ea typeface="宋体" panose="02010600030101010101" pitchFamily="2" charset="-122"/>
              </a:defRPr>
            </a:lvl1pPr>
            <a:lvl2pPr marL="742950" indent="-285750" defTabSz="455295">
              <a:defRPr>
                <a:solidFill>
                  <a:schemeClr val="tx1"/>
                </a:solidFill>
                <a:latin typeface="Calibri" panose="020F0502020204030204" pitchFamily="34" charset="0"/>
                <a:ea typeface="宋体" panose="02010600030101010101" pitchFamily="2" charset="-122"/>
              </a:defRPr>
            </a:lvl2pPr>
            <a:lvl3pPr marL="1143000" indent="-228600" defTabSz="455295">
              <a:defRPr>
                <a:solidFill>
                  <a:schemeClr val="tx1"/>
                </a:solidFill>
                <a:latin typeface="Calibri" panose="020F0502020204030204" pitchFamily="34" charset="0"/>
                <a:ea typeface="宋体" panose="02010600030101010101" pitchFamily="2" charset="-122"/>
              </a:defRPr>
            </a:lvl3pPr>
            <a:lvl4pPr marL="1600200" indent="-228600" defTabSz="455295">
              <a:defRPr>
                <a:solidFill>
                  <a:schemeClr val="tx1"/>
                </a:solidFill>
                <a:latin typeface="Calibri" panose="020F0502020204030204" pitchFamily="34" charset="0"/>
                <a:ea typeface="宋体" panose="02010600030101010101" pitchFamily="2" charset="-122"/>
              </a:defRPr>
            </a:lvl4pPr>
            <a:lvl5pPr marL="2057400" indent="-228600" defTabSz="455295">
              <a:defRPr>
                <a:solidFill>
                  <a:schemeClr val="tx1"/>
                </a:solidFill>
                <a:latin typeface="Calibri" panose="020F0502020204030204" pitchFamily="34" charset="0"/>
                <a:ea typeface="宋体" panose="02010600030101010101" pitchFamily="2" charset="-122"/>
              </a:defRPr>
            </a:lvl5pPr>
            <a:lvl6pPr marL="2514600" indent="-228600" defTabSz="4552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4552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4552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4552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455295" rtl="0" eaLnBrk="1" fontAlgn="base" latinLnBrk="0" hangingPunct="1">
              <a:lnSpc>
                <a:spcPct val="100000"/>
              </a:lnSpc>
              <a:spcBef>
                <a:spcPct val="0"/>
              </a:spcBef>
              <a:spcAft>
                <a:spcPct val="0"/>
              </a:spcAft>
              <a:buClrTx/>
              <a:buSzTx/>
              <a:buFont typeface="Arial" panose="020B0604020202020204" pitchFamily="34" charset="0"/>
              <a:buNone/>
              <a:defRPr/>
            </a:pPr>
            <a:r>
              <a:rPr kumimoji="0" lang="id-ID" altLang="en-US" sz="2700" b="1" i="0" u="none" strike="noStrike" kern="1200" cap="none" spc="0" normalizeH="0" baseline="0" noProof="0">
                <a:ln>
                  <a:noFill/>
                </a:ln>
                <a:solidFill>
                  <a:srgbClr val="014076"/>
                </a:solidFill>
                <a:effectLst/>
                <a:uLnTx/>
                <a:uFillTx/>
                <a:latin typeface="+mn-lt"/>
                <a:ea typeface="微软雅黑" panose="020B0503020204020204" pitchFamily="34" charset="-122"/>
                <a:cs typeface="+mn-lt"/>
                <a:sym typeface="Arial" panose="020B0604020202020204" pitchFamily="34" charset="0"/>
              </a:rPr>
              <a:t>02</a:t>
            </a:r>
          </a:p>
        </p:txBody>
      </p:sp>
      <p:sp>
        <p:nvSpPr>
          <p:cNvPr id="14" name="TextBox 177"/>
          <p:cNvSpPr txBox="1">
            <a:spLocks noChangeArrowheads="1"/>
          </p:cNvSpPr>
          <p:nvPr/>
        </p:nvSpPr>
        <p:spPr bwMode="auto">
          <a:xfrm>
            <a:off x="3468697" y="3972532"/>
            <a:ext cx="481013"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75" tIns="34288" rIns="68575" bIns="34288">
            <a:spAutoFit/>
          </a:bodyPr>
          <a:lstStyle>
            <a:lvl1pPr defTabSz="455295">
              <a:defRPr>
                <a:solidFill>
                  <a:schemeClr val="tx1"/>
                </a:solidFill>
                <a:latin typeface="Calibri" panose="020F0502020204030204" pitchFamily="34" charset="0"/>
                <a:ea typeface="宋体" panose="02010600030101010101" pitchFamily="2" charset="-122"/>
              </a:defRPr>
            </a:lvl1pPr>
            <a:lvl2pPr marL="742950" indent="-285750" defTabSz="455295">
              <a:defRPr>
                <a:solidFill>
                  <a:schemeClr val="tx1"/>
                </a:solidFill>
                <a:latin typeface="Calibri" panose="020F0502020204030204" pitchFamily="34" charset="0"/>
                <a:ea typeface="宋体" panose="02010600030101010101" pitchFamily="2" charset="-122"/>
              </a:defRPr>
            </a:lvl2pPr>
            <a:lvl3pPr marL="1143000" indent="-228600" defTabSz="455295">
              <a:defRPr>
                <a:solidFill>
                  <a:schemeClr val="tx1"/>
                </a:solidFill>
                <a:latin typeface="Calibri" panose="020F0502020204030204" pitchFamily="34" charset="0"/>
                <a:ea typeface="宋体" panose="02010600030101010101" pitchFamily="2" charset="-122"/>
              </a:defRPr>
            </a:lvl3pPr>
            <a:lvl4pPr marL="1600200" indent="-228600" defTabSz="455295">
              <a:defRPr>
                <a:solidFill>
                  <a:schemeClr val="tx1"/>
                </a:solidFill>
                <a:latin typeface="Calibri" panose="020F0502020204030204" pitchFamily="34" charset="0"/>
                <a:ea typeface="宋体" panose="02010600030101010101" pitchFamily="2" charset="-122"/>
              </a:defRPr>
            </a:lvl4pPr>
            <a:lvl5pPr marL="2057400" indent="-228600" defTabSz="455295">
              <a:defRPr>
                <a:solidFill>
                  <a:schemeClr val="tx1"/>
                </a:solidFill>
                <a:latin typeface="Calibri" panose="020F0502020204030204" pitchFamily="34" charset="0"/>
                <a:ea typeface="宋体" panose="02010600030101010101" pitchFamily="2" charset="-122"/>
              </a:defRPr>
            </a:lvl5pPr>
            <a:lvl6pPr marL="2514600" indent="-228600" defTabSz="4552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4552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4552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4552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455295" rtl="0" eaLnBrk="1" fontAlgn="base" latinLnBrk="0" hangingPunct="1">
              <a:lnSpc>
                <a:spcPct val="100000"/>
              </a:lnSpc>
              <a:spcBef>
                <a:spcPct val="0"/>
              </a:spcBef>
              <a:spcAft>
                <a:spcPct val="0"/>
              </a:spcAft>
              <a:buClrTx/>
              <a:buSzTx/>
              <a:buFont typeface="Arial" panose="020B0604020202020204" pitchFamily="34" charset="0"/>
              <a:buNone/>
              <a:defRPr/>
            </a:pPr>
            <a:r>
              <a:rPr kumimoji="0" lang="id-ID" altLang="en-US" sz="2400" b="1" i="0" u="none" strike="noStrike" kern="1200" cap="none" spc="0" normalizeH="0" baseline="0" noProof="0">
                <a:ln>
                  <a:noFill/>
                </a:ln>
                <a:solidFill>
                  <a:srgbClr val="014076"/>
                </a:solidFill>
                <a:effectLst/>
                <a:uLnTx/>
                <a:uFillTx/>
                <a:latin typeface="+mn-lt"/>
                <a:ea typeface="微软雅黑" panose="020B0503020204020204" pitchFamily="34" charset="-122"/>
                <a:cs typeface="+mn-lt"/>
                <a:sym typeface="Arial" panose="020B0604020202020204" pitchFamily="34" charset="0"/>
              </a:rPr>
              <a:t>03</a:t>
            </a:r>
          </a:p>
        </p:txBody>
      </p:sp>
      <p:sp>
        <p:nvSpPr>
          <p:cNvPr id="15" name="Line 7"/>
          <p:cNvSpPr>
            <a:spLocks noChangeShapeType="1"/>
          </p:cNvSpPr>
          <p:nvPr/>
        </p:nvSpPr>
        <p:spPr bwMode="auto">
          <a:xfrm flipH="1">
            <a:off x="5088477" y="2535845"/>
            <a:ext cx="0" cy="2565400"/>
          </a:xfrm>
          <a:prstGeom prst="line">
            <a:avLst/>
          </a:prstGeom>
          <a:noFill/>
          <a:ln w="12700">
            <a:solidFill>
              <a:schemeClr val="accent1"/>
            </a:solidFill>
            <a:round/>
          </a:ln>
          <a:extLst>
            <a:ext uri="{909E8E84-426E-40DD-AFC4-6F175D3DCCD1}">
              <a14:hiddenFill xmlns:a14="http://schemas.microsoft.com/office/drawing/2010/main">
                <a:no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6" name="AutoShape 9"/>
          <p:cNvSpPr>
            <a:spLocks noChangeArrowheads="1"/>
          </p:cNvSpPr>
          <p:nvPr/>
        </p:nvSpPr>
        <p:spPr bwMode="auto">
          <a:xfrm>
            <a:off x="5375499" y="1874448"/>
            <a:ext cx="762000" cy="1004887"/>
          </a:xfrm>
          <a:custGeom>
            <a:avLst/>
            <a:gdLst>
              <a:gd name="T0" fmla="*/ 13440833 w 21600"/>
              <a:gd name="T1" fmla="*/ 23374974 h 21600"/>
              <a:gd name="T2" fmla="*/ 13440833 w 21600"/>
              <a:gd name="T3" fmla="*/ 23374974 h 21600"/>
              <a:gd name="T4" fmla="*/ 13440833 w 21600"/>
              <a:gd name="T5" fmla="*/ 23374974 h 21600"/>
              <a:gd name="T6" fmla="*/ 13440833 w 21600"/>
              <a:gd name="T7" fmla="*/ 23374974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19" tIns="45719" rIns="45719" bIns="45719"/>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0">
              <a:lnSpc>
                <a:spcPct val="100000"/>
              </a:lnSpc>
              <a:spcBef>
                <a:spcPct val="0"/>
              </a:spcBef>
              <a:spcAft>
                <a:spcPct val="0"/>
              </a:spcAft>
              <a:buClrTx/>
              <a:buSzTx/>
              <a:buFont typeface="Arial" panose="020B0604020202020204" pitchFamily="34" charset="0"/>
              <a:buNone/>
              <a:defRPr/>
            </a:pPr>
            <a:r>
              <a:rPr kumimoji="0" lang="es-ES" altLang="en-US" sz="6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lt"/>
                <a:sym typeface="Arial" panose="020B0604020202020204" pitchFamily="34" charset="0"/>
              </a:rPr>
              <a:t>1</a:t>
            </a:r>
          </a:p>
        </p:txBody>
      </p:sp>
      <p:sp>
        <p:nvSpPr>
          <p:cNvPr id="17" name="AutoShape 12"/>
          <p:cNvSpPr>
            <a:spLocks noChangeArrowheads="1"/>
          </p:cNvSpPr>
          <p:nvPr/>
        </p:nvSpPr>
        <p:spPr bwMode="auto">
          <a:xfrm>
            <a:off x="5392220" y="3245414"/>
            <a:ext cx="762000" cy="1006475"/>
          </a:xfrm>
          <a:custGeom>
            <a:avLst/>
            <a:gdLst>
              <a:gd name="T0" fmla="*/ 13440833 w 21600"/>
              <a:gd name="T1" fmla="*/ 23448910 h 21600"/>
              <a:gd name="T2" fmla="*/ 13440833 w 21600"/>
              <a:gd name="T3" fmla="*/ 23448910 h 21600"/>
              <a:gd name="T4" fmla="*/ 13440833 w 21600"/>
              <a:gd name="T5" fmla="*/ 23448910 h 21600"/>
              <a:gd name="T6" fmla="*/ 13440833 w 21600"/>
              <a:gd name="T7" fmla="*/ 23448910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19" tIns="45719" rIns="45719" bIns="45719"/>
          <a:lstStyle/>
          <a:p>
            <a:pPr fontAlgn="base" hangingPunct="0">
              <a:spcBef>
                <a:spcPct val="0"/>
              </a:spcBef>
              <a:spcAft>
                <a:spcPct val="0"/>
              </a:spcAft>
              <a:buFont typeface="Arial" panose="020B0604020202020204" pitchFamily="34" charset="0"/>
              <a:buNone/>
            </a:pPr>
            <a:r>
              <a:rPr lang="es-ES" altLang="en-US" sz="6000" dirty="0">
                <a:solidFill>
                  <a:srgbClr val="0070C0"/>
                </a:solidFill>
                <a:latin typeface="微软雅黑" panose="020B0503020204020204" pitchFamily="34" charset="-122"/>
                <a:ea typeface="微软雅黑" panose="020B0503020204020204" pitchFamily="34" charset="-122"/>
                <a:cs typeface="+mn-lt"/>
                <a:sym typeface="Arial" panose="020B0604020202020204" pitchFamily="34" charset="0"/>
              </a:rPr>
              <a:t>2</a:t>
            </a:r>
          </a:p>
        </p:txBody>
      </p:sp>
      <p:sp>
        <p:nvSpPr>
          <p:cNvPr id="18" name="AutoShape 15"/>
          <p:cNvSpPr>
            <a:spLocks noChangeArrowheads="1"/>
          </p:cNvSpPr>
          <p:nvPr/>
        </p:nvSpPr>
        <p:spPr bwMode="auto">
          <a:xfrm>
            <a:off x="5426086" y="4641986"/>
            <a:ext cx="762000" cy="1006475"/>
          </a:xfrm>
          <a:custGeom>
            <a:avLst/>
            <a:gdLst>
              <a:gd name="T0" fmla="*/ 13440833 w 21600"/>
              <a:gd name="T1" fmla="*/ 23448910 h 21600"/>
              <a:gd name="T2" fmla="*/ 13440833 w 21600"/>
              <a:gd name="T3" fmla="*/ 23448910 h 21600"/>
              <a:gd name="T4" fmla="*/ 13440833 w 21600"/>
              <a:gd name="T5" fmla="*/ 23448910 h 21600"/>
              <a:gd name="T6" fmla="*/ 13440833 w 21600"/>
              <a:gd name="T7" fmla="*/ 23448910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19" tIns="45719" rIns="45719" bIns="45719"/>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0">
              <a:lnSpc>
                <a:spcPct val="100000"/>
              </a:lnSpc>
              <a:spcBef>
                <a:spcPct val="0"/>
              </a:spcBef>
              <a:spcAft>
                <a:spcPct val="0"/>
              </a:spcAft>
              <a:buClrTx/>
              <a:buSzTx/>
              <a:buFont typeface="Arial" panose="020B0604020202020204" pitchFamily="34" charset="0"/>
              <a:buNone/>
              <a:defRPr/>
            </a:pPr>
            <a:r>
              <a:rPr kumimoji="0" lang="es-ES" altLang="en-US" sz="6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lt"/>
                <a:sym typeface="Arial" panose="020B0604020202020204" pitchFamily="34" charset="0"/>
              </a:rPr>
              <a:t>3</a:t>
            </a:r>
          </a:p>
        </p:txBody>
      </p:sp>
      <p:sp>
        <p:nvSpPr>
          <p:cNvPr id="19" name="TextBox 35"/>
          <p:cNvSpPr txBox="1"/>
          <p:nvPr/>
        </p:nvSpPr>
        <p:spPr>
          <a:xfrm>
            <a:off x="6265376" y="2253321"/>
            <a:ext cx="5116498" cy="830997"/>
          </a:xfrm>
          <a:prstGeom prst="rect">
            <a:avLst/>
          </a:prstGeom>
          <a:noFill/>
        </p:spPr>
        <p:txBody>
          <a:bodyPr wrap="square" rtlCol="0">
            <a:spAutoFit/>
          </a:bodyPr>
          <a:lstStyle/>
          <a:p>
            <a:pPr lvl="0" defTabSz="914400">
              <a:lnSpc>
                <a:spcPct val="150000"/>
              </a:lnSpc>
              <a:defRPr/>
            </a:pPr>
            <a:r>
              <a:rPr lang="zh-CN" altLang="zh-CN" sz="1600" dirty="0">
                <a:solidFill>
                  <a:srgbClr val="595959"/>
                </a:solidFill>
                <a:latin typeface="微软雅黑" panose="020B0503020204020204" pitchFamily="34" charset="-122"/>
                <a:ea typeface="微软雅黑" panose="020B0503020204020204" pitchFamily="34" charset="-122"/>
                <a:cs typeface="+mn-ea"/>
              </a:rPr>
              <a:t>在</a:t>
            </a:r>
            <a:r>
              <a:rPr lang="zh-CN" altLang="zh-CN" sz="1600" dirty="0">
                <a:solidFill>
                  <a:srgbClr val="1369B2"/>
                </a:solidFill>
                <a:latin typeface="微软雅黑" panose="020B0503020204020204" pitchFamily="34" charset="-122"/>
                <a:ea typeface="微软雅黑" panose="020B0503020204020204" pitchFamily="34" charset="-122"/>
                <a:cs typeface="+mn-ea"/>
              </a:rPr>
              <a:t>测试类</a:t>
            </a:r>
            <a:r>
              <a:rPr lang="zh-CN" altLang="zh-CN" sz="1600" dirty="0">
                <a:solidFill>
                  <a:srgbClr val="595959"/>
                </a:solidFill>
                <a:latin typeface="微软雅黑" panose="020B0503020204020204" pitchFamily="34" charset="-122"/>
                <a:ea typeface="微软雅黑" panose="020B0503020204020204" pitchFamily="34" charset="-122"/>
                <a:cs typeface="+mn-ea"/>
              </a:rPr>
              <a:t>中定义</a:t>
            </a:r>
            <a:r>
              <a:rPr lang="en-US" altLang="zh-CN" sz="1600" dirty="0" err="1">
                <a:solidFill>
                  <a:srgbClr val="1369B2"/>
                </a:solidFill>
                <a:latin typeface="微软雅黑" panose="020B0503020204020204" pitchFamily="34" charset="-122"/>
                <a:ea typeface="微软雅黑" panose="020B0503020204020204" pitchFamily="34" charset="-122"/>
                <a:cs typeface="+mn-ea"/>
              </a:rPr>
              <a:t>setUp</a:t>
            </a:r>
            <a:r>
              <a:rPr lang="en-US" altLang="zh-CN" sz="1600" dirty="0">
                <a:solidFill>
                  <a:srgbClr val="1369B2"/>
                </a:solidFill>
                <a:latin typeface="微软雅黑" panose="020B0503020204020204" pitchFamily="34" charset="-122"/>
                <a:ea typeface="微软雅黑" panose="020B0503020204020204" pitchFamily="34" charset="-122"/>
                <a:cs typeface="+mn-ea"/>
              </a:rPr>
              <a:t>()</a:t>
            </a:r>
            <a:r>
              <a:rPr lang="zh-CN" altLang="zh-CN" sz="1600" dirty="0">
                <a:solidFill>
                  <a:srgbClr val="1369B2"/>
                </a:solidFill>
                <a:latin typeface="微软雅黑" panose="020B0503020204020204" pitchFamily="34" charset="-122"/>
                <a:ea typeface="微软雅黑" panose="020B0503020204020204" pitchFamily="34" charset="-122"/>
                <a:cs typeface="+mn-ea"/>
              </a:rPr>
              <a:t>方法</a:t>
            </a:r>
            <a:r>
              <a:rPr lang="zh-CN" altLang="zh-CN" sz="1600" dirty="0">
                <a:solidFill>
                  <a:srgbClr val="595959"/>
                </a:solidFill>
                <a:latin typeface="微软雅黑" panose="020B0503020204020204" pitchFamily="34" charset="-122"/>
                <a:ea typeface="微软雅黑" panose="020B0503020204020204" pitchFamily="34" charset="-122"/>
                <a:cs typeface="+mn-ea"/>
              </a:rPr>
              <a:t>与</a:t>
            </a:r>
            <a:r>
              <a:rPr lang="en-US" altLang="zh-CN" sz="1600" dirty="0" err="1">
                <a:solidFill>
                  <a:srgbClr val="1369B2"/>
                </a:solidFill>
                <a:latin typeface="微软雅黑" panose="020B0503020204020204" pitchFamily="34" charset="-122"/>
                <a:ea typeface="微软雅黑" panose="020B0503020204020204" pitchFamily="34" charset="-122"/>
                <a:cs typeface="+mn-ea"/>
              </a:rPr>
              <a:t>tearDown</a:t>
            </a:r>
            <a:r>
              <a:rPr lang="en-US" altLang="zh-CN" sz="1600" dirty="0">
                <a:solidFill>
                  <a:srgbClr val="1369B2"/>
                </a:solidFill>
                <a:latin typeface="微软雅黑" panose="020B0503020204020204" pitchFamily="34" charset="-122"/>
                <a:ea typeface="微软雅黑" panose="020B0503020204020204" pitchFamily="34" charset="-122"/>
                <a:cs typeface="+mn-ea"/>
              </a:rPr>
              <a:t>()</a:t>
            </a:r>
            <a:r>
              <a:rPr lang="zh-CN" altLang="zh-CN" sz="1600" dirty="0">
                <a:solidFill>
                  <a:srgbClr val="595959"/>
                </a:solidFill>
                <a:latin typeface="微软雅黑" panose="020B0503020204020204" pitchFamily="34" charset="-122"/>
                <a:ea typeface="微软雅黑" panose="020B0503020204020204" pitchFamily="34" charset="-122"/>
                <a:cs typeface="+mn-ea"/>
              </a:rPr>
              <a:t>方法</a:t>
            </a:r>
            <a:r>
              <a:rPr lang="zh-CN" altLang="zh-CN" sz="1600">
                <a:solidFill>
                  <a:srgbClr val="595959"/>
                </a:solidFill>
                <a:latin typeface="微软雅黑" panose="020B0503020204020204" pitchFamily="34" charset="-122"/>
                <a:ea typeface="微软雅黑" panose="020B0503020204020204" pitchFamily="34" charset="-122"/>
                <a:cs typeface="+mn-ea"/>
              </a:rPr>
              <a:t>，这</a:t>
            </a:r>
            <a:r>
              <a:rPr lang="en-US" altLang="zh-CN" sz="1600">
                <a:solidFill>
                  <a:srgbClr val="595959"/>
                </a:solidFill>
                <a:latin typeface="微软雅黑" panose="020B0503020204020204" pitchFamily="34" charset="-122"/>
                <a:ea typeface="微软雅黑" panose="020B0503020204020204" pitchFamily="34" charset="-122"/>
                <a:cs typeface="+mn-ea"/>
              </a:rPr>
              <a:t>2</a:t>
            </a:r>
            <a:r>
              <a:rPr lang="zh-CN" altLang="zh-CN" sz="1600">
                <a:solidFill>
                  <a:srgbClr val="595959"/>
                </a:solidFill>
                <a:latin typeface="微软雅黑" panose="020B0503020204020204" pitchFamily="34" charset="-122"/>
                <a:ea typeface="微软雅黑" panose="020B0503020204020204" pitchFamily="34" charset="-122"/>
                <a:cs typeface="+mn-ea"/>
              </a:rPr>
              <a:t>个</a:t>
            </a:r>
            <a:r>
              <a:rPr lang="zh-CN" altLang="zh-CN" sz="1600" dirty="0">
                <a:solidFill>
                  <a:srgbClr val="595959"/>
                </a:solidFill>
                <a:latin typeface="微软雅黑" panose="020B0503020204020204" pitchFamily="34" charset="-122"/>
                <a:ea typeface="微软雅黑" panose="020B0503020204020204" pitchFamily="34" charset="-122"/>
                <a:cs typeface="+mn-ea"/>
              </a:rPr>
              <a:t>方法在</a:t>
            </a:r>
            <a:r>
              <a:rPr lang="zh-CN" altLang="zh-CN" sz="1600" dirty="0">
                <a:solidFill>
                  <a:srgbClr val="1369B2"/>
                </a:solidFill>
                <a:latin typeface="微软雅黑" panose="020B0503020204020204" pitchFamily="34" charset="-122"/>
                <a:ea typeface="微软雅黑" panose="020B0503020204020204" pitchFamily="34" charset="-122"/>
                <a:cs typeface="+mn-ea"/>
              </a:rPr>
              <a:t>每个测试用例被执行前后</a:t>
            </a:r>
            <a:r>
              <a:rPr lang="zh-CN" altLang="zh-CN" sz="1600" dirty="0">
                <a:solidFill>
                  <a:srgbClr val="595959"/>
                </a:solidFill>
                <a:latin typeface="微软雅黑" panose="020B0503020204020204" pitchFamily="34" charset="-122"/>
                <a:ea typeface="微软雅黑" panose="020B0503020204020204" pitchFamily="34" charset="-122"/>
                <a:cs typeface="+mn-ea"/>
              </a:rPr>
              <a:t>都会被调用。</a:t>
            </a:r>
            <a:endParaRPr lang="zh-CN" altLang="en-US" sz="1600" dirty="0">
              <a:solidFill>
                <a:srgbClr val="595959"/>
              </a:solidFill>
              <a:latin typeface="微软雅黑" panose="020B0503020204020204" pitchFamily="34" charset="-122"/>
              <a:ea typeface="微软雅黑" panose="020B0503020204020204" pitchFamily="34" charset="-122"/>
              <a:cs typeface="+mn-ea"/>
              <a:sym typeface="+mn-ea"/>
            </a:endParaRPr>
          </a:p>
        </p:txBody>
      </p:sp>
      <p:sp>
        <p:nvSpPr>
          <p:cNvPr id="20" name="文本框 12"/>
          <p:cNvSpPr txBox="1"/>
          <p:nvPr/>
        </p:nvSpPr>
        <p:spPr>
          <a:xfrm>
            <a:off x="6265376" y="1837171"/>
            <a:ext cx="4293830" cy="400110"/>
          </a:xfrm>
          <a:prstGeom prst="rect">
            <a:avLst/>
          </a:prstGeom>
          <a:noFill/>
        </p:spPr>
        <p:txBody>
          <a:bodyPr wrap="square" rtlCol="0">
            <a:spAutoFit/>
          </a:bodyPr>
          <a:lstStyle/>
          <a:p>
            <a:pPr defTabSz="913765"/>
            <a:r>
              <a:rPr lang="en-US" altLang="zh-CN" sz="2000" b="1" dirty="0">
                <a:solidFill>
                  <a:srgbClr val="595959"/>
                </a:solidFill>
                <a:latin typeface="微软雅黑" panose="020B0503020204020204" pitchFamily="34" charset="-122"/>
                <a:ea typeface="微软雅黑" panose="020B0503020204020204" pitchFamily="34" charset="-122"/>
                <a:cs typeface="+mn-ea"/>
              </a:rPr>
              <a:t>Fixture</a:t>
            </a:r>
            <a:r>
              <a:rPr lang="zh-CN" altLang="zh-CN" sz="2000" b="1" dirty="0">
                <a:solidFill>
                  <a:srgbClr val="595959"/>
                </a:solidFill>
                <a:latin typeface="微软雅黑" panose="020B0503020204020204" pitchFamily="34" charset="-122"/>
                <a:ea typeface="微软雅黑" panose="020B0503020204020204" pitchFamily="34" charset="-122"/>
                <a:cs typeface="+mn-ea"/>
              </a:rPr>
              <a:t>的方法级别</a:t>
            </a:r>
            <a:endParaRPr lang="zh-CN" altLang="en-US" sz="2000" b="1" dirty="0">
              <a:solidFill>
                <a:srgbClr val="595959"/>
              </a:solidFill>
              <a:latin typeface="微软雅黑" panose="020B0503020204020204" pitchFamily="34" charset="-122"/>
              <a:ea typeface="微软雅黑" panose="020B0503020204020204" pitchFamily="34" charset="-122"/>
              <a:cs typeface="+mn-ea"/>
              <a:sym typeface="+mn-ea"/>
            </a:endParaRPr>
          </a:p>
        </p:txBody>
      </p:sp>
      <p:sp>
        <p:nvSpPr>
          <p:cNvPr id="21" name="TextBox 35"/>
          <p:cNvSpPr txBox="1"/>
          <p:nvPr/>
        </p:nvSpPr>
        <p:spPr>
          <a:xfrm>
            <a:off x="6265911" y="3564768"/>
            <a:ext cx="5301295" cy="1200329"/>
          </a:xfrm>
          <a:prstGeom prst="rect">
            <a:avLst/>
          </a:prstGeom>
          <a:noFill/>
        </p:spPr>
        <p:txBody>
          <a:bodyPr wrap="square" rtlCol="0">
            <a:spAutoFit/>
          </a:bodyPr>
          <a:lstStyle/>
          <a:p>
            <a:pPr>
              <a:lnSpc>
                <a:spcPct val="150000"/>
              </a:lnSpc>
            </a:pPr>
            <a:r>
              <a:rPr lang="zh-CN" altLang="zh-CN" sz="1600" dirty="0">
                <a:solidFill>
                  <a:srgbClr val="595959"/>
                </a:solidFill>
                <a:latin typeface="微软雅黑" panose="020B0503020204020204" pitchFamily="34" charset="-122"/>
                <a:ea typeface="微软雅黑" panose="020B0503020204020204" pitchFamily="34" charset="-122"/>
                <a:cs typeface="+mn-ea"/>
              </a:rPr>
              <a:t>在</a:t>
            </a:r>
            <a:r>
              <a:rPr lang="zh-CN" altLang="zh-CN" sz="1600" dirty="0">
                <a:solidFill>
                  <a:srgbClr val="1369B2"/>
                </a:solidFill>
                <a:latin typeface="微软雅黑" panose="020B0503020204020204" pitchFamily="34" charset="-122"/>
                <a:ea typeface="微软雅黑" panose="020B0503020204020204" pitchFamily="34" charset="-122"/>
                <a:cs typeface="+mn-ea"/>
              </a:rPr>
              <a:t>测试类</a:t>
            </a:r>
            <a:r>
              <a:rPr lang="zh-CN" altLang="zh-CN" sz="1600" dirty="0">
                <a:solidFill>
                  <a:srgbClr val="595959"/>
                </a:solidFill>
                <a:latin typeface="微软雅黑" panose="020B0503020204020204" pitchFamily="34" charset="-122"/>
                <a:ea typeface="微软雅黑" panose="020B0503020204020204" pitchFamily="34" charset="-122"/>
                <a:cs typeface="+mn-ea"/>
              </a:rPr>
              <a:t>中定义</a:t>
            </a:r>
            <a:r>
              <a:rPr lang="en-US" altLang="zh-CN" sz="1600" dirty="0" err="1">
                <a:solidFill>
                  <a:srgbClr val="1369B2"/>
                </a:solidFill>
                <a:latin typeface="微软雅黑" panose="020B0503020204020204" pitchFamily="34" charset="-122"/>
                <a:ea typeface="微软雅黑" panose="020B0503020204020204" pitchFamily="34" charset="-122"/>
                <a:cs typeface="+mn-ea"/>
              </a:rPr>
              <a:t>setUpClass</a:t>
            </a:r>
            <a:r>
              <a:rPr lang="en-US" altLang="zh-CN" sz="1600" dirty="0">
                <a:solidFill>
                  <a:srgbClr val="1369B2"/>
                </a:solidFill>
                <a:latin typeface="微软雅黑" panose="020B0503020204020204" pitchFamily="34" charset="-122"/>
                <a:ea typeface="微软雅黑" panose="020B0503020204020204" pitchFamily="34" charset="-122"/>
                <a:cs typeface="+mn-ea"/>
              </a:rPr>
              <a:t>(</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mn-lt"/>
              </a:rPr>
              <a:t>)</a:t>
            </a:r>
            <a:r>
              <a:rPr lang="zh-CN" altLang="zh-CN" sz="1600" dirty="0">
                <a:solidFill>
                  <a:srgbClr val="595959"/>
                </a:solidFill>
                <a:latin typeface="微软雅黑" panose="020B0503020204020204" pitchFamily="34" charset="-122"/>
                <a:ea typeface="微软雅黑" panose="020B0503020204020204" pitchFamily="34" charset="-122"/>
                <a:cs typeface="+mn-ea"/>
              </a:rPr>
              <a:t>方法与</a:t>
            </a:r>
            <a:r>
              <a:rPr lang="en-US" altLang="zh-CN" sz="1600" dirty="0" err="1">
                <a:solidFill>
                  <a:srgbClr val="1369B2"/>
                </a:solidFill>
                <a:latin typeface="微软雅黑" panose="020B0503020204020204" pitchFamily="34" charset="-122"/>
                <a:ea typeface="微软雅黑" panose="020B0503020204020204" pitchFamily="34" charset="-122"/>
                <a:cs typeface="+mn-ea"/>
              </a:rPr>
              <a:t>tearDownClass</a:t>
            </a:r>
            <a:r>
              <a:rPr lang="en-US" altLang="zh-CN" sz="1600" dirty="0">
                <a:solidFill>
                  <a:srgbClr val="1369B2"/>
                </a:solidFill>
                <a:latin typeface="微软雅黑" panose="020B0503020204020204" pitchFamily="34" charset="-122"/>
                <a:ea typeface="微软雅黑" panose="020B0503020204020204" pitchFamily="34" charset="-122"/>
                <a:cs typeface="+mn-ea"/>
              </a:rPr>
              <a:t>()</a:t>
            </a:r>
            <a:r>
              <a:rPr lang="zh-CN" altLang="zh-CN" sz="1600" dirty="0">
                <a:solidFill>
                  <a:srgbClr val="595959"/>
                </a:solidFill>
                <a:latin typeface="微软雅黑" panose="020B0503020204020204" pitchFamily="34" charset="-122"/>
                <a:ea typeface="微软雅黑" panose="020B0503020204020204" pitchFamily="34" charset="-122"/>
                <a:cs typeface="+mn-ea"/>
              </a:rPr>
              <a:t>方法</a:t>
            </a:r>
            <a:r>
              <a:rPr lang="zh-CN" altLang="zh-CN" sz="1600">
                <a:solidFill>
                  <a:srgbClr val="595959"/>
                </a:solidFill>
                <a:latin typeface="微软雅黑" panose="020B0503020204020204" pitchFamily="34" charset="-122"/>
                <a:ea typeface="微软雅黑" panose="020B0503020204020204" pitchFamily="34" charset="-122"/>
                <a:cs typeface="+mn-ea"/>
              </a:rPr>
              <a:t>，这</a:t>
            </a:r>
            <a:r>
              <a:rPr lang="en-US" altLang="zh-CN" sz="1600">
                <a:solidFill>
                  <a:srgbClr val="595959"/>
                </a:solidFill>
                <a:latin typeface="微软雅黑" panose="020B0503020204020204" pitchFamily="34" charset="-122"/>
                <a:ea typeface="微软雅黑" panose="020B0503020204020204" pitchFamily="34" charset="-122"/>
                <a:cs typeface="+mn-ea"/>
              </a:rPr>
              <a:t>2</a:t>
            </a:r>
            <a:r>
              <a:rPr lang="zh-CN" altLang="zh-CN" sz="1600">
                <a:solidFill>
                  <a:srgbClr val="595959"/>
                </a:solidFill>
                <a:latin typeface="微软雅黑" panose="020B0503020204020204" pitchFamily="34" charset="-122"/>
                <a:ea typeface="微软雅黑" panose="020B0503020204020204" pitchFamily="34" charset="-122"/>
                <a:cs typeface="+mn-ea"/>
              </a:rPr>
              <a:t>个</a:t>
            </a:r>
            <a:r>
              <a:rPr lang="zh-CN" altLang="zh-CN" sz="1600" dirty="0">
                <a:solidFill>
                  <a:srgbClr val="595959"/>
                </a:solidFill>
                <a:latin typeface="微软雅黑" panose="020B0503020204020204" pitchFamily="34" charset="-122"/>
                <a:ea typeface="微软雅黑" panose="020B0503020204020204" pitchFamily="34" charset="-122"/>
                <a:cs typeface="+mn-ea"/>
              </a:rPr>
              <a:t>方法上方都需要添加</a:t>
            </a:r>
            <a:r>
              <a:rPr lang="zh-CN" altLang="zh-CN" sz="1600" dirty="0">
                <a:solidFill>
                  <a:srgbClr val="1369B2"/>
                </a:solidFill>
                <a:latin typeface="微软雅黑" panose="020B0503020204020204" pitchFamily="34" charset="-122"/>
                <a:ea typeface="微软雅黑" panose="020B0503020204020204" pitchFamily="34" charset="-122"/>
                <a:cs typeface="+mn-ea"/>
              </a:rPr>
              <a:t>装饰器</a:t>
            </a:r>
            <a:r>
              <a:rPr lang="en-US" altLang="zh-CN" sz="1600" dirty="0">
                <a:solidFill>
                  <a:srgbClr val="1369B2"/>
                </a:solidFill>
                <a:latin typeface="微软雅黑" panose="020B0503020204020204" pitchFamily="34" charset="-122"/>
                <a:ea typeface="微软雅黑" panose="020B0503020204020204" pitchFamily="34" charset="-122"/>
                <a:cs typeface="+mn-ea"/>
              </a:rPr>
              <a:t>@</a:t>
            </a:r>
            <a:r>
              <a:rPr lang="en-US" altLang="zh-CN" sz="1600" dirty="0" err="1">
                <a:solidFill>
                  <a:srgbClr val="1369B2"/>
                </a:solidFill>
                <a:latin typeface="微软雅黑" panose="020B0503020204020204" pitchFamily="34" charset="-122"/>
                <a:ea typeface="微软雅黑" panose="020B0503020204020204" pitchFamily="34" charset="-122"/>
                <a:cs typeface="+mn-ea"/>
              </a:rPr>
              <a:t>classmethod</a:t>
            </a:r>
            <a:r>
              <a:rPr lang="zh-CN" altLang="zh-CN" sz="1600">
                <a:solidFill>
                  <a:schemeClr val="tx1">
                    <a:lumMod val="95000"/>
                    <a:lumOff val="5000"/>
                  </a:schemeClr>
                </a:solidFill>
                <a:latin typeface="微软雅黑" panose="020B0503020204020204" pitchFamily="34" charset="-122"/>
                <a:ea typeface="微软雅黑" panose="020B0503020204020204" pitchFamily="34" charset="-122"/>
                <a:cs typeface="+mn-lt"/>
              </a:rPr>
              <a:t>，</a:t>
            </a:r>
            <a:r>
              <a:rPr lang="zh-CN" altLang="zh-CN" sz="1600">
                <a:solidFill>
                  <a:srgbClr val="595959"/>
                </a:solidFill>
                <a:latin typeface="微软雅黑" panose="020B0503020204020204" pitchFamily="34" charset="-122"/>
                <a:ea typeface="微软雅黑" panose="020B0503020204020204" pitchFamily="34" charset="-122"/>
                <a:cs typeface="+mn-ea"/>
              </a:rPr>
              <a:t>这</a:t>
            </a:r>
            <a:r>
              <a:rPr lang="en-US" altLang="zh-CN" sz="1600">
                <a:solidFill>
                  <a:srgbClr val="595959"/>
                </a:solidFill>
                <a:latin typeface="微软雅黑" panose="020B0503020204020204" pitchFamily="34" charset="-122"/>
                <a:ea typeface="微软雅黑" panose="020B0503020204020204" pitchFamily="34" charset="-122"/>
                <a:cs typeface="+mn-ea"/>
              </a:rPr>
              <a:t>2</a:t>
            </a:r>
            <a:r>
              <a:rPr lang="zh-CN" altLang="zh-CN" sz="1600">
                <a:solidFill>
                  <a:srgbClr val="595959"/>
                </a:solidFill>
                <a:latin typeface="微软雅黑" panose="020B0503020204020204" pitchFamily="34" charset="-122"/>
                <a:ea typeface="微软雅黑" panose="020B0503020204020204" pitchFamily="34" charset="-122"/>
                <a:cs typeface="+mn-ea"/>
              </a:rPr>
              <a:t>个</a:t>
            </a:r>
            <a:r>
              <a:rPr lang="zh-CN" altLang="zh-CN" sz="1600" dirty="0">
                <a:solidFill>
                  <a:srgbClr val="595959"/>
                </a:solidFill>
                <a:latin typeface="微软雅黑" panose="020B0503020204020204" pitchFamily="34" charset="-122"/>
                <a:ea typeface="微软雅黑" panose="020B0503020204020204" pitchFamily="34" charset="-122"/>
                <a:cs typeface="+mn-ea"/>
              </a:rPr>
              <a:t>方法</a:t>
            </a:r>
            <a:r>
              <a:rPr lang="zh-CN" altLang="zh-CN" sz="1600" dirty="0">
                <a:solidFill>
                  <a:srgbClr val="1369B2"/>
                </a:solidFill>
                <a:latin typeface="微软雅黑" panose="020B0503020204020204" pitchFamily="34" charset="-122"/>
                <a:ea typeface="微软雅黑" panose="020B0503020204020204" pitchFamily="34" charset="-122"/>
                <a:cs typeface="+mn-ea"/>
              </a:rPr>
              <a:t>在测试类运行前后</a:t>
            </a:r>
            <a:r>
              <a:rPr lang="zh-CN" altLang="zh-CN" sz="1600" dirty="0">
                <a:solidFill>
                  <a:srgbClr val="595959"/>
                </a:solidFill>
                <a:latin typeface="微软雅黑" panose="020B0503020204020204" pitchFamily="34" charset="-122"/>
                <a:ea typeface="微软雅黑" panose="020B0503020204020204" pitchFamily="34" charset="-122"/>
                <a:cs typeface="+mn-ea"/>
              </a:rPr>
              <a:t>都会被调用。</a:t>
            </a:r>
          </a:p>
        </p:txBody>
      </p:sp>
      <p:sp>
        <p:nvSpPr>
          <p:cNvPr id="23" name="TextBox 35"/>
          <p:cNvSpPr txBox="1"/>
          <p:nvPr/>
        </p:nvSpPr>
        <p:spPr>
          <a:xfrm>
            <a:off x="6223071" y="5101245"/>
            <a:ext cx="4996598" cy="1200329"/>
          </a:xfrm>
          <a:prstGeom prst="rect">
            <a:avLst/>
          </a:prstGeom>
          <a:noFill/>
        </p:spPr>
        <p:txBody>
          <a:bodyPr wrap="square" rtlCol="0">
            <a:spAutoFit/>
          </a:bodyPr>
          <a:lstStyle/>
          <a:p>
            <a:pPr lvl="0">
              <a:lnSpc>
                <a:spcPct val="150000"/>
              </a:lnSpc>
              <a:defRPr/>
            </a:pPr>
            <a:r>
              <a:rPr lang="zh-CN" altLang="zh-CN" sz="1600" dirty="0">
                <a:solidFill>
                  <a:srgbClr val="595959"/>
                </a:solidFill>
                <a:latin typeface="微软雅黑" panose="020B0503020204020204" pitchFamily="34" charset="-122"/>
                <a:ea typeface="微软雅黑" panose="020B0503020204020204" pitchFamily="34" charset="-122"/>
                <a:cs typeface="+mn-ea"/>
              </a:rPr>
              <a:t>在</a:t>
            </a:r>
            <a:r>
              <a:rPr lang="zh-CN" altLang="zh-CN" sz="1600" dirty="0">
                <a:solidFill>
                  <a:srgbClr val="1369B2"/>
                </a:solidFill>
                <a:latin typeface="微软雅黑" panose="020B0503020204020204" pitchFamily="34" charset="-122"/>
                <a:ea typeface="微软雅黑" panose="020B0503020204020204" pitchFamily="34" charset="-122"/>
                <a:cs typeface="+mn-ea"/>
              </a:rPr>
              <a:t>模块</a:t>
            </a:r>
            <a:r>
              <a:rPr lang="zh-CN" altLang="zh-CN" sz="1600" dirty="0">
                <a:solidFill>
                  <a:srgbClr val="595959"/>
                </a:solidFill>
                <a:latin typeface="微软雅黑" panose="020B0503020204020204" pitchFamily="34" charset="-122"/>
                <a:ea typeface="微软雅黑" panose="020B0503020204020204" pitchFamily="34" charset="-122"/>
                <a:cs typeface="+mn-ea"/>
              </a:rPr>
              <a:t>中定义</a:t>
            </a:r>
            <a:r>
              <a:rPr lang="en-US" altLang="zh-CN" sz="1600" dirty="0" err="1">
                <a:solidFill>
                  <a:srgbClr val="1369B2"/>
                </a:solidFill>
                <a:latin typeface="微软雅黑" panose="020B0503020204020204" pitchFamily="34" charset="-122"/>
                <a:ea typeface="微软雅黑" panose="020B0503020204020204" pitchFamily="34" charset="-122"/>
                <a:cs typeface="+mn-ea"/>
              </a:rPr>
              <a:t>setUpModule</a:t>
            </a:r>
            <a:r>
              <a:rPr lang="en-US" altLang="zh-CN" sz="1600" dirty="0">
                <a:solidFill>
                  <a:srgbClr val="1369B2"/>
                </a:solidFill>
                <a:latin typeface="微软雅黑" panose="020B0503020204020204" pitchFamily="34" charset="-122"/>
                <a:ea typeface="微软雅黑" panose="020B0503020204020204" pitchFamily="34" charset="-122"/>
                <a:cs typeface="+mn-ea"/>
              </a:rPr>
              <a:t>()</a:t>
            </a:r>
            <a:r>
              <a:rPr lang="zh-CN" altLang="zh-CN" sz="1600" dirty="0">
                <a:solidFill>
                  <a:srgbClr val="595959"/>
                </a:solidFill>
                <a:latin typeface="微软雅黑" panose="020B0503020204020204" pitchFamily="34" charset="-122"/>
                <a:ea typeface="微软雅黑" panose="020B0503020204020204" pitchFamily="34" charset="-122"/>
                <a:cs typeface="+mn-ea"/>
              </a:rPr>
              <a:t>方法与</a:t>
            </a:r>
            <a:r>
              <a:rPr lang="en-US" altLang="zh-CN" sz="1600" dirty="0" err="1">
                <a:solidFill>
                  <a:srgbClr val="1369B2"/>
                </a:solidFill>
                <a:latin typeface="微软雅黑" panose="020B0503020204020204" pitchFamily="34" charset="-122"/>
                <a:ea typeface="微软雅黑" panose="020B0503020204020204" pitchFamily="34" charset="-122"/>
                <a:cs typeface="+mn-ea"/>
              </a:rPr>
              <a:t>tearDownModule</a:t>
            </a:r>
            <a:r>
              <a:rPr lang="en-US" altLang="zh-CN" sz="1600" dirty="0">
                <a:solidFill>
                  <a:srgbClr val="1369B2"/>
                </a:solidFill>
                <a:latin typeface="微软雅黑" panose="020B0503020204020204" pitchFamily="34" charset="-122"/>
                <a:ea typeface="微软雅黑" panose="020B0503020204020204" pitchFamily="34" charset="-122"/>
                <a:cs typeface="+mn-ea"/>
              </a:rPr>
              <a:t>()</a:t>
            </a:r>
            <a:r>
              <a:rPr lang="zh-CN" altLang="zh-CN" sz="1600" dirty="0">
                <a:solidFill>
                  <a:srgbClr val="595959"/>
                </a:solidFill>
                <a:latin typeface="微软雅黑" panose="020B0503020204020204" pitchFamily="34" charset="-122"/>
                <a:ea typeface="微软雅黑" panose="020B0503020204020204" pitchFamily="34" charset="-122"/>
                <a:cs typeface="+mn-ea"/>
              </a:rPr>
              <a:t>方法</a:t>
            </a:r>
            <a:r>
              <a:rPr lang="zh-CN" altLang="zh-CN" sz="1600">
                <a:solidFill>
                  <a:srgbClr val="595959"/>
                </a:solidFill>
                <a:latin typeface="微软雅黑" panose="020B0503020204020204" pitchFamily="34" charset="-122"/>
                <a:ea typeface="微软雅黑" panose="020B0503020204020204" pitchFamily="34" charset="-122"/>
                <a:cs typeface="+mn-ea"/>
              </a:rPr>
              <a:t>，这</a:t>
            </a:r>
            <a:r>
              <a:rPr lang="en-US" altLang="zh-CN" sz="1600">
                <a:solidFill>
                  <a:srgbClr val="595959"/>
                </a:solidFill>
                <a:latin typeface="微软雅黑" panose="020B0503020204020204" pitchFamily="34" charset="-122"/>
                <a:ea typeface="微软雅黑" panose="020B0503020204020204" pitchFamily="34" charset="-122"/>
                <a:cs typeface="+mn-ea"/>
              </a:rPr>
              <a:t>2</a:t>
            </a:r>
            <a:r>
              <a:rPr lang="zh-CN" altLang="zh-CN" sz="1600">
                <a:solidFill>
                  <a:srgbClr val="595959"/>
                </a:solidFill>
                <a:latin typeface="微软雅黑" panose="020B0503020204020204" pitchFamily="34" charset="-122"/>
                <a:ea typeface="微软雅黑" panose="020B0503020204020204" pitchFamily="34" charset="-122"/>
                <a:cs typeface="+mn-ea"/>
              </a:rPr>
              <a:t>个</a:t>
            </a:r>
            <a:r>
              <a:rPr lang="zh-CN" altLang="zh-CN" sz="1600" dirty="0">
                <a:solidFill>
                  <a:srgbClr val="595959"/>
                </a:solidFill>
                <a:latin typeface="微软雅黑" panose="020B0503020204020204" pitchFamily="34" charset="-122"/>
                <a:ea typeface="微软雅黑" panose="020B0503020204020204" pitchFamily="34" charset="-122"/>
                <a:cs typeface="+mn-ea"/>
              </a:rPr>
              <a:t>方法在</a:t>
            </a:r>
            <a:r>
              <a:rPr lang="zh-CN" altLang="zh-CN" sz="1600" dirty="0">
                <a:solidFill>
                  <a:srgbClr val="1369B2"/>
                </a:solidFill>
                <a:latin typeface="微软雅黑" panose="020B0503020204020204" pitchFamily="34" charset="-122"/>
                <a:ea typeface="微软雅黑" panose="020B0503020204020204" pitchFamily="34" charset="-122"/>
                <a:cs typeface="+mn-ea"/>
              </a:rPr>
              <a:t>模块运行前后</a:t>
            </a:r>
            <a:r>
              <a:rPr lang="zh-CN" altLang="zh-CN" sz="1600" dirty="0">
                <a:solidFill>
                  <a:srgbClr val="595959"/>
                </a:solidFill>
                <a:latin typeface="微软雅黑" panose="020B0503020204020204" pitchFamily="34" charset="-122"/>
                <a:ea typeface="微软雅黑" panose="020B0503020204020204" pitchFamily="34" charset="-122"/>
                <a:cs typeface="+mn-ea"/>
              </a:rPr>
              <a:t>都会被调用。</a:t>
            </a:r>
            <a:endParaRPr lang="zh-CN" altLang="en-US" sz="1600" dirty="0">
              <a:solidFill>
                <a:srgbClr val="595959"/>
              </a:solidFill>
              <a:latin typeface="微软雅黑" panose="020B0503020204020204" pitchFamily="34" charset="-122"/>
              <a:ea typeface="微软雅黑" panose="020B0503020204020204" pitchFamily="34" charset="-122"/>
              <a:cs typeface="+mn-ea"/>
              <a:sym typeface="+mn-ea"/>
            </a:endParaRPr>
          </a:p>
        </p:txBody>
      </p:sp>
      <p:sp>
        <p:nvSpPr>
          <p:cNvPr id="25" name="文本框 12"/>
          <p:cNvSpPr txBox="1"/>
          <p:nvPr/>
        </p:nvSpPr>
        <p:spPr>
          <a:xfrm>
            <a:off x="6265376" y="3164658"/>
            <a:ext cx="4293830" cy="400110"/>
          </a:xfrm>
          <a:prstGeom prst="rect">
            <a:avLst/>
          </a:prstGeom>
          <a:noFill/>
        </p:spPr>
        <p:txBody>
          <a:bodyPr wrap="square" rtlCol="0">
            <a:spAutoFit/>
          </a:bodyPr>
          <a:lstStyle/>
          <a:p>
            <a:pPr defTabSz="913765"/>
            <a:r>
              <a:rPr lang="en-US" altLang="zh-CN" sz="2000" b="1" dirty="0">
                <a:solidFill>
                  <a:srgbClr val="595959"/>
                </a:solidFill>
                <a:latin typeface="微软雅黑" panose="020B0503020204020204" pitchFamily="34" charset="-122"/>
                <a:ea typeface="微软雅黑" panose="020B0503020204020204" pitchFamily="34" charset="-122"/>
                <a:cs typeface="+mn-ea"/>
              </a:rPr>
              <a:t>Fixture</a:t>
            </a:r>
            <a:r>
              <a:rPr lang="zh-CN" altLang="zh-CN" sz="2000" b="1" dirty="0">
                <a:solidFill>
                  <a:srgbClr val="595959"/>
                </a:solidFill>
                <a:latin typeface="微软雅黑" panose="020B0503020204020204" pitchFamily="34" charset="-122"/>
                <a:ea typeface="微软雅黑" panose="020B0503020204020204" pitchFamily="34" charset="-122"/>
                <a:cs typeface="+mn-ea"/>
              </a:rPr>
              <a:t>的</a:t>
            </a:r>
            <a:r>
              <a:rPr lang="zh-CN" altLang="en-US" sz="2000" b="1" dirty="0">
                <a:solidFill>
                  <a:srgbClr val="595959"/>
                </a:solidFill>
                <a:latin typeface="微软雅黑" panose="020B0503020204020204" pitchFamily="34" charset="-122"/>
                <a:ea typeface="微软雅黑" panose="020B0503020204020204" pitchFamily="34" charset="-122"/>
                <a:cs typeface="+mn-ea"/>
              </a:rPr>
              <a:t>类</a:t>
            </a:r>
            <a:r>
              <a:rPr lang="zh-CN" altLang="zh-CN" sz="2000" b="1" dirty="0">
                <a:solidFill>
                  <a:srgbClr val="595959"/>
                </a:solidFill>
                <a:latin typeface="微软雅黑" panose="020B0503020204020204" pitchFamily="34" charset="-122"/>
                <a:ea typeface="微软雅黑" panose="020B0503020204020204" pitchFamily="34" charset="-122"/>
                <a:cs typeface="+mn-ea"/>
              </a:rPr>
              <a:t>级别</a:t>
            </a:r>
            <a:endParaRPr lang="zh-CN" altLang="en-US" sz="2000" b="1" dirty="0">
              <a:solidFill>
                <a:srgbClr val="595959"/>
              </a:solidFill>
              <a:latin typeface="微软雅黑" panose="020B0503020204020204" pitchFamily="34" charset="-122"/>
              <a:ea typeface="微软雅黑" panose="020B0503020204020204" pitchFamily="34" charset="-122"/>
              <a:cs typeface="+mn-ea"/>
              <a:sym typeface="+mn-ea"/>
            </a:endParaRPr>
          </a:p>
        </p:txBody>
      </p:sp>
      <p:sp>
        <p:nvSpPr>
          <p:cNvPr id="26" name="文本框 12"/>
          <p:cNvSpPr txBox="1"/>
          <p:nvPr/>
        </p:nvSpPr>
        <p:spPr>
          <a:xfrm>
            <a:off x="6265376" y="4732025"/>
            <a:ext cx="4293830" cy="400110"/>
          </a:xfrm>
          <a:prstGeom prst="rect">
            <a:avLst/>
          </a:prstGeom>
          <a:noFill/>
        </p:spPr>
        <p:txBody>
          <a:bodyPr wrap="square" rtlCol="0">
            <a:spAutoFit/>
          </a:bodyPr>
          <a:lstStyle/>
          <a:p>
            <a:pPr defTabSz="913765"/>
            <a:r>
              <a:rPr lang="en-US" altLang="zh-CN" sz="2000" b="1" dirty="0">
                <a:solidFill>
                  <a:srgbClr val="595959"/>
                </a:solidFill>
                <a:latin typeface="微软雅黑" panose="020B0503020204020204" pitchFamily="34" charset="-122"/>
                <a:ea typeface="微软雅黑" panose="020B0503020204020204" pitchFamily="34" charset="-122"/>
                <a:cs typeface="+mn-ea"/>
              </a:rPr>
              <a:t>Fixture</a:t>
            </a:r>
            <a:r>
              <a:rPr lang="zh-CN" altLang="zh-CN" sz="2000" b="1" dirty="0">
                <a:solidFill>
                  <a:srgbClr val="595959"/>
                </a:solidFill>
                <a:latin typeface="微软雅黑" panose="020B0503020204020204" pitchFamily="34" charset="-122"/>
                <a:ea typeface="微软雅黑" panose="020B0503020204020204" pitchFamily="34" charset="-122"/>
                <a:cs typeface="+mn-ea"/>
              </a:rPr>
              <a:t>的</a:t>
            </a:r>
            <a:r>
              <a:rPr lang="zh-CN" altLang="en-US" sz="2000" b="1" dirty="0">
                <a:solidFill>
                  <a:srgbClr val="595959"/>
                </a:solidFill>
                <a:latin typeface="微软雅黑" panose="020B0503020204020204" pitchFamily="34" charset="-122"/>
                <a:ea typeface="微软雅黑" panose="020B0503020204020204" pitchFamily="34" charset="-122"/>
                <a:cs typeface="+mn-ea"/>
              </a:rPr>
              <a:t>模块</a:t>
            </a:r>
            <a:r>
              <a:rPr lang="zh-CN" altLang="zh-CN" sz="2000" b="1" dirty="0">
                <a:solidFill>
                  <a:srgbClr val="595959"/>
                </a:solidFill>
                <a:latin typeface="微软雅黑" panose="020B0503020204020204" pitchFamily="34" charset="-122"/>
                <a:ea typeface="微软雅黑" panose="020B0503020204020204" pitchFamily="34" charset="-122"/>
                <a:cs typeface="+mn-ea"/>
              </a:rPr>
              <a:t>级别</a:t>
            </a:r>
            <a:endParaRPr lang="zh-CN" altLang="en-US" sz="2000" b="1" dirty="0">
              <a:solidFill>
                <a:srgbClr val="595959"/>
              </a:solidFill>
              <a:latin typeface="微软雅黑" panose="020B0503020204020204" pitchFamily="34" charset="-122"/>
              <a:ea typeface="微软雅黑" panose="020B0503020204020204" pitchFamily="34" charset="-122"/>
              <a:cs typeface="+mn-ea"/>
              <a:sym typeface="+mn-ea"/>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30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6.5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自动化测试框架</a:t>
            </a:r>
          </a:p>
        </p:txBody>
      </p:sp>
      <p:sp>
        <p:nvSpPr>
          <p:cNvPr id="10" name="原创设计师QQ598969553          _9"/>
          <p:cNvSpPr txBox="1"/>
          <p:nvPr/>
        </p:nvSpPr>
        <p:spPr>
          <a:xfrm>
            <a:off x="1309471" y="1197794"/>
            <a:ext cx="7128000" cy="553998"/>
          </a:xfrm>
          <a:prstGeom prst="rect">
            <a:avLst/>
          </a:prstGeom>
          <a:noFill/>
        </p:spPr>
        <p:txBody>
          <a:bodyPr wrap="square" rtlCol="0">
            <a:spAutoFit/>
          </a:bodyPr>
          <a:lstStyle/>
          <a:p>
            <a:pPr>
              <a:lnSpc>
                <a:spcPct val="150000"/>
              </a:lnSpc>
            </a:pPr>
            <a:r>
              <a:rPr lang="en-US" altLang="zh-CN" sz="2000">
                <a:solidFill>
                  <a:srgbClr val="1369B2"/>
                </a:solidFill>
                <a:latin typeface="微软雅黑" panose="020B0503020204020204" pitchFamily="34" charset="-122"/>
                <a:ea typeface="微软雅黑" panose="020B0503020204020204" pitchFamily="34" charset="-122"/>
                <a:cs typeface="+mn-ea"/>
              </a:rPr>
              <a:t>unittest</a:t>
            </a:r>
            <a:r>
              <a:rPr lang="zh-CN" altLang="zh-CN" sz="2000">
                <a:solidFill>
                  <a:srgbClr val="1369B2"/>
                </a:solidFill>
                <a:latin typeface="微软雅黑" panose="020B0503020204020204" pitchFamily="34" charset="-122"/>
                <a:ea typeface="微软雅黑" panose="020B0503020204020204" pitchFamily="34" charset="-122"/>
                <a:cs typeface="+mn-ea"/>
              </a:rPr>
              <a:t>框架</a:t>
            </a:r>
            <a:r>
              <a:rPr lang="zh-CN" altLang="zh-CN" sz="2000" dirty="0">
                <a:solidFill>
                  <a:srgbClr val="595959"/>
                </a:solidFill>
                <a:latin typeface="微软雅黑" panose="020B0503020204020204" pitchFamily="34" charset="-122"/>
                <a:ea typeface="微软雅黑" panose="020B0503020204020204" pitchFamily="34" charset="-122"/>
                <a:cs typeface="+mn-ea"/>
              </a:rPr>
              <a:t>还提供了丰富的</a:t>
            </a:r>
            <a:r>
              <a:rPr lang="zh-CN" altLang="zh-CN" sz="2000" dirty="0">
                <a:solidFill>
                  <a:srgbClr val="1369B2"/>
                </a:solidFill>
                <a:latin typeface="微软雅黑" panose="020B0503020204020204" pitchFamily="34" charset="-122"/>
                <a:ea typeface="微软雅黑" panose="020B0503020204020204" pitchFamily="34" charset="-122"/>
                <a:cs typeface="+mn-ea"/>
              </a:rPr>
              <a:t>断言方法</a:t>
            </a:r>
            <a:r>
              <a:rPr lang="zh-CN" altLang="en-US"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8" name="MH_SubTitle_1"/>
          <p:cNvSpPr txBox="1"/>
          <p:nvPr>
            <p:custDataLst>
              <p:tags r:id="rId1"/>
            </p:custDataLst>
          </p:nvPr>
        </p:nvSpPr>
        <p:spPr>
          <a:xfrm>
            <a:off x="1919206" y="2583761"/>
            <a:ext cx="2440548" cy="411163"/>
          </a:xfrm>
          <a:prstGeom prst="rect">
            <a:avLst/>
          </a:prstGeom>
          <a:noFill/>
        </p:spPr>
        <p:txBody>
          <a:bodyPr anchor="ctr">
            <a:noAutofit/>
          </a:bodyPr>
          <a:lstStyle>
            <a:defPPr>
              <a:defRPr lang="zh-CN"/>
            </a:defPPr>
            <a:lvl1pPr>
              <a:defRPr sz="2000">
                <a:solidFill>
                  <a:schemeClr val="tx1">
                    <a:lumMod val="85000"/>
                    <a:lumOff val="15000"/>
                  </a:schemeClr>
                </a:solidFill>
                <a:latin typeface="华文行楷" panose="02010800040101010101" pitchFamily="2" charset="-122"/>
                <a:ea typeface="华文行楷" panose="02010800040101010101" pitchFamily="2" charset="-122"/>
              </a:defRPr>
            </a:lvl1pPr>
          </a:lstStyle>
          <a:p>
            <a:pPr lvl="0" defTabSz="914400">
              <a:defRPr/>
            </a:pPr>
            <a:r>
              <a:rPr lang="en-US" altLang="zh-CN" b="1" dirty="0" err="1">
                <a:solidFill>
                  <a:srgbClr val="595959"/>
                </a:solidFill>
                <a:latin typeface="微软雅黑" panose="020B0503020204020204" pitchFamily="34" charset="-122"/>
                <a:ea typeface="微软雅黑" panose="020B0503020204020204" pitchFamily="34" charset="-122"/>
                <a:cs typeface="+mn-ea"/>
              </a:rPr>
              <a:t>assertTrue</a:t>
            </a:r>
            <a:r>
              <a:rPr lang="en-US" altLang="zh-CN" b="1" dirty="0">
                <a:solidFill>
                  <a:srgbClr val="595959"/>
                </a:solidFill>
                <a:latin typeface="微软雅黑" panose="020B0503020204020204" pitchFamily="34" charset="-122"/>
                <a:ea typeface="微软雅黑" panose="020B0503020204020204" pitchFamily="34" charset="-122"/>
                <a:cs typeface="+mn-ea"/>
              </a:rPr>
              <a:t>(expr)</a:t>
            </a:r>
            <a:endParaRPr lang="zh-CN" altLang="en-US" b="1" dirty="0">
              <a:solidFill>
                <a:srgbClr val="595959"/>
              </a:solidFill>
              <a:latin typeface="微软雅黑" panose="020B0503020204020204" pitchFamily="34" charset="-122"/>
              <a:ea typeface="微软雅黑" panose="020B0503020204020204" pitchFamily="34" charset="-122"/>
              <a:cs typeface="+mn-ea"/>
            </a:endParaRPr>
          </a:p>
        </p:txBody>
      </p:sp>
      <p:sp>
        <p:nvSpPr>
          <p:cNvPr id="9" name="MH_Text_1"/>
          <p:cNvSpPr txBox="1">
            <a:spLocks noChangeArrowheads="1"/>
          </p:cNvSpPr>
          <p:nvPr>
            <p:custDataLst>
              <p:tags r:id="rId2"/>
            </p:custDataLst>
          </p:nvPr>
        </p:nvSpPr>
        <p:spPr bwMode="auto">
          <a:xfrm>
            <a:off x="1363345" y="3282792"/>
            <a:ext cx="3283177" cy="481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lvl="0" defTabSz="508000" eaLnBrk="0">
              <a:lnSpc>
                <a:spcPts val="1800"/>
              </a:lnSpc>
              <a:defRPr/>
            </a:pPr>
            <a:r>
              <a:rPr lang="zh-CN" altLang="zh-CN" sz="1800" dirty="0">
                <a:solidFill>
                  <a:srgbClr val="595959"/>
                </a:solidFill>
                <a:latin typeface="微软雅黑" panose="020B0503020204020204" pitchFamily="34" charset="-122"/>
                <a:cs typeface="+mn-ea"/>
              </a:rPr>
              <a:t>该方法用于</a:t>
            </a:r>
            <a:r>
              <a:rPr lang="zh-CN" altLang="zh-CN" sz="1800" dirty="0">
                <a:solidFill>
                  <a:srgbClr val="1369B2"/>
                </a:solidFill>
                <a:latin typeface="微软雅黑" panose="020B0503020204020204" pitchFamily="34" charset="-122"/>
                <a:cs typeface="+mn-ea"/>
              </a:rPr>
              <a:t>验证</a:t>
            </a:r>
            <a:r>
              <a:rPr lang="en-US" altLang="zh-CN" sz="1800" dirty="0">
                <a:solidFill>
                  <a:srgbClr val="1369B2"/>
                </a:solidFill>
                <a:latin typeface="微软雅黑" panose="020B0503020204020204" pitchFamily="34" charset="-122"/>
                <a:cs typeface="+mn-ea"/>
              </a:rPr>
              <a:t>expr</a:t>
            </a:r>
            <a:r>
              <a:rPr lang="zh-CN" altLang="zh-CN" sz="1800" dirty="0">
                <a:solidFill>
                  <a:srgbClr val="1369B2"/>
                </a:solidFill>
                <a:latin typeface="微软雅黑" panose="020B0503020204020204" pitchFamily="34" charset="-122"/>
                <a:cs typeface="+mn-ea"/>
              </a:rPr>
              <a:t>是否为真</a:t>
            </a:r>
            <a:r>
              <a:rPr lang="zh-CN" altLang="zh-CN" sz="1600" dirty="0"/>
              <a:t>。</a:t>
            </a:r>
            <a:endParaRPr kumimoji="0" lang="zh-CN" altLang="en-US" sz="1600" b="0" i="0" u="none" strike="noStrike" kern="1200" cap="none" spc="0" normalizeH="0" baseline="0" noProof="0" dirty="0">
              <a:ln>
                <a:noFill/>
              </a:ln>
              <a:solidFill>
                <a:schemeClr val="tx1">
                  <a:lumMod val="95000"/>
                  <a:lumOff val="5000"/>
                </a:schemeClr>
              </a:solidFill>
              <a:effectLst/>
              <a:uLnTx/>
              <a:uFillTx/>
              <a:latin typeface="微软雅黑" panose="020B0503020204020204" pitchFamily="34" charset="-122"/>
              <a:ea typeface="微软雅黑" panose="020B0503020204020204" pitchFamily="34" charset="-122"/>
              <a:cs typeface="+mn-lt"/>
              <a:sym typeface="+mn-ea"/>
            </a:endParaRPr>
          </a:p>
        </p:txBody>
      </p:sp>
      <p:cxnSp>
        <p:nvCxnSpPr>
          <p:cNvPr id="11" name="MH_Other_1"/>
          <p:cNvCxnSpPr>
            <a:cxnSpLocks noChangeShapeType="1"/>
          </p:cNvCxnSpPr>
          <p:nvPr>
            <p:custDataLst>
              <p:tags r:id="rId3"/>
            </p:custDataLst>
          </p:nvPr>
        </p:nvCxnSpPr>
        <p:spPr bwMode="auto">
          <a:xfrm rot="10800000">
            <a:off x="2784159" y="4610736"/>
            <a:ext cx="2503487" cy="296863"/>
          </a:xfrm>
          <a:prstGeom prst="bentConnector3">
            <a:avLst>
              <a:gd name="adj1" fmla="val 33894"/>
            </a:avLst>
          </a:prstGeom>
          <a:noFill/>
          <a:ln w="3175" algn="ctr">
            <a:solidFill>
              <a:srgbClr val="014076"/>
            </a:solidFill>
            <a:prstDash val="sysDash"/>
            <a:miter lim="800000"/>
          </a:ln>
          <a:extLst>
            <a:ext uri="{909E8E84-426E-40DD-AFC4-6F175D3DCCD1}">
              <a14:hiddenFill xmlns:a14="http://schemas.microsoft.com/office/drawing/2010/main">
                <a:noFill/>
              </a14:hiddenFill>
            </a:ext>
          </a:extLst>
        </p:spPr>
      </p:cxnSp>
      <p:sp>
        <p:nvSpPr>
          <p:cNvPr id="12" name="MH_Other_2"/>
          <p:cNvSpPr>
            <a:spLocks noEditPoints="1" noChangeArrowheads="1"/>
          </p:cNvSpPr>
          <p:nvPr>
            <p:custDataLst>
              <p:tags r:id="rId4"/>
            </p:custDataLst>
          </p:nvPr>
        </p:nvSpPr>
        <p:spPr bwMode="auto">
          <a:xfrm>
            <a:off x="5979796" y="1992949"/>
            <a:ext cx="1338263" cy="1641475"/>
          </a:xfrm>
          <a:custGeom>
            <a:avLst/>
            <a:gdLst>
              <a:gd name="T0" fmla="*/ 10391 w 21600"/>
              <a:gd name="T1" fmla="*/ 15806 h 21600"/>
              <a:gd name="T2" fmla="*/ 20551 w 21600"/>
              <a:gd name="T3" fmla="*/ 21088 h 21600"/>
              <a:gd name="T4" fmla="*/ 13180 w 21600"/>
              <a:gd name="T5" fmla="*/ 13801 h 21600"/>
              <a:gd name="T6" fmla="*/ 20551 w 21600"/>
              <a:gd name="T7" fmla="*/ 7025 h 21600"/>
              <a:gd name="T8" fmla="*/ 10500 w 21600"/>
              <a:gd name="T9" fmla="*/ 52 h 21600"/>
              <a:gd name="T10" fmla="*/ 692 w 21600"/>
              <a:gd name="T11" fmla="*/ 6802 h 21600"/>
              <a:gd name="T12" fmla="*/ 8064 w 21600"/>
              <a:gd name="T13" fmla="*/ 13526 h 21600"/>
              <a:gd name="T14" fmla="*/ 692 w 21600"/>
              <a:gd name="T15" fmla="*/ 21088 h 21600"/>
              <a:gd name="T16" fmla="*/ 2273 w 21600"/>
              <a:gd name="T17" fmla="*/ 7719 h 21600"/>
              <a:gd name="T18" fmla="*/ 19149 w 21600"/>
              <a:gd name="T19" fmla="*/ 202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6625" y="20892"/>
                </a:moveTo>
                <a:lnTo>
                  <a:pt x="7105" y="21023"/>
                </a:lnTo>
                <a:lnTo>
                  <a:pt x="7513" y="21088"/>
                </a:lnTo>
                <a:lnTo>
                  <a:pt x="7922" y="21115"/>
                </a:lnTo>
                <a:lnTo>
                  <a:pt x="8242" y="21115"/>
                </a:lnTo>
                <a:lnTo>
                  <a:pt x="8544" y="21062"/>
                </a:lnTo>
                <a:lnTo>
                  <a:pt x="8810" y="20997"/>
                </a:lnTo>
                <a:lnTo>
                  <a:pt x="9023" y="20892"/>
                </a:lnTo>
                <a:lnTo>
                  <a:pt x="9148" y="20761"/>
                </a:lnTo>
                <a:lnTo>
                  <a:pt x="9290" y="20616"/>
                </a:lnTo>
                <a:lnTo>
                  <a:pt x="9361" y="20459"/>
                </a:lnTo>
                <a:lnTo>
                  <a:pt x="9396" y="20289"/>
                </a:lnTo>
                <a:lnTo>
                  <a:pt x="9396" y="20092"/>
                </a:lnTo>
                <a:lnTo>
                  <a:pt x="9325" y="19909"/>
                </a:lnTo>
                <a:lnTo>
                  <a:pt x="9219" y="19738"/>
                </a:lnTo>
                <a:lnTo>
                  <a:pt x="9094" y="19555"/>
                </a:lnTo>
                <a:lnTo>
                  <a:pt x="8917" y="19384"/>
                </a:lnTo>
                <a:lnTo>
                  <a:pt x="8650" y="19162"/>
                </a:lnTo>
                <a:lnTo>
                  <a:pt x="8437" y="18900"/>
                </a:lnTo>
                <a:lnTo>
                  <a:pt x="8277" y="18624"/>
                </a:lnTo>
                <a:lnTo>
                  <a:pt x="8135" y="18349"/>
                </a:lnTo>
                <a:lnTo>
                  <a:pt x="8028" y="18048"/>
                </a:lnTo>
                <a:lnTo>
                  <a:pt x="7993" y="17746"/>
                </a:lnTo>
                <a:lnTo>
                  <a:pt x="7993" y="17471"/>
                </a:lnTo>
                <a:lnTo>
                  <a:pt x="8028" y="17169"/>
                </a:lnTo>
                <a:lnTo>
                  <a:pt x="8135" y="16920"/>
                </a:lnTo>
                <a:lnTo>
                  <a:pt x="8277" y="16671"/>
                </a:lnTo>
                <a:lnTo>
                  <a:pt x="8366" y="16540"/>
                </a:lnTo>
                <a:lnTo>
                  <a:pt x="8473" y="16409"/>
                </a:lnTo>
                <a:lnTo>
                  <a:pt x="8615" y="16317"/>
                </a:lnTo>
                <a:lnTo>
                  <a:pt x="8739" y="16213"/>
                </a:lnTo>
                <a:lnTo>
                  <a:pt x="8881" y="16134"/>
                </a:lnTo>
                <a:lnTo>
                  <a:pt x="9059" y="16055"/>
                </a:lnTo>
                <a:lnTo>
                  <a:pt x="9254" y="15990"/>
                </a:lnTo>
                <a:lnTo>
                  <a:pt x="9432" y="15911"/>
                </a:lnTo>
                <a:lnTo>
                  <a:pt x="9663" y="15885"/>
                </a:lnTo>
                <a:lnTo>
                  <a:pt x="9876" y="15833"/>
                </a:lnTo>
                <a:lnTo>
                  <a:pt x="10142" y="15806"/>
                </a:lnTo>
                <a:lnTo>
                  <a:pt x="10391" y="15806"/>
                </a:lnTo>
                <a:lnTo>
                  <a:pt x="10728" y="15806"/>
                </a:lnTo>
                <a:lnTo>
                  <a:pt x="10995" y="15806"/>
                </a:lnTo>
                <a:lnTo>
                  <a:pt x="11279" y="15833"/>
                </a:lnTo>
                <a:lnTo>
                  <a:pt x="11546" y="15885"/>
                </a:lnTo>
                <a:lnTo>
                  <a:pt x="11776" y="15937"/>
                </a:lnTo>
                <a:lnTo>
                  <a:pt x="12025" y="15990"/>
                </a:lnTo>
                <a:lnTo>
                  <a:pt x="12221" y="16055"/>
                </a:lnTo>
                <a:lnTo>
                  <a:pt x="12434" y="16134"/>
                </a:lnTo>
                <a:lnTo>
                  <a:pt x="12611" y="16213"/>
                </a:lnTo>
                <a:lnTo>
                  <a:pt x="12771" y="16317"/>
                </a:lnTo>
                <a:lnTo>
                  <a:pt x="12913" y="16409"/>
                </a:lnTo>
                <a:lnTo>
                  <a:pt x="13038" y="16514"/>
                </a:lnTo>
                <a:lnTo>
                  <a:pt x="13251" y="16737"/>
                </a:lnTo>
                <a:lnTo>
                  <a:pt x="13428" y="16986"/>
                </a:lnTo>
                <a:lnTo>
                  <a:pt x="13517" y="17248"/>
                </a:lnTo>
                <a:lnTo>
                  <a:pt x="13588" y="17523"/>
                </a:lnTo>
                <a:lnTo>
                  <a:pt x="13588" y="17799"/>
                </a:lnTo>
                <a:lnTo>
                  <a:pt x="13517" y="18074"/>
                </a:lnTo>
                <a:lnTo>
                  <a:pt x="13428" y="18323"/>
                </a:lnTo>
                <a:lnTo>
                  <a:pt x="13286" y="18572"/>
                </a:lnTo>
                <a:lnTo>
                  <a:pt x="13109" y="18808"/>
                </a:lnTo>
                <a:lnTo>
                  <a:pt x="12878" y="19031"/>
                </a:lnTo>
                <a:lnTo>
                  <a:pt x="12434" y="19411"/>
                </a:lnTo>
                <a:lnTo>
                  <a:pt x="12132" y="19738"/>
                </a:lnTo>
                <a:lnTo>
                  <a:pt x="12025" y="19856"/>
                </a:lnTo>
                <a:lnTo>
                  <a:pt x="11919" y="20014"/>
                </a:lnTo>
                <a:lnTo>
                  <a:pt x="11883" y="20132"/>
                </a:lnTo>
                <a:lnTo>
                  <a:pt x="11883" y="20263"/>
                </a:lnTo>
                <a:lnTo>
                  <a:pt x="11883" y="20394"/>
                </a:lnTo>
                <a:lnTo>
                  <a:pt x="11954" y="20485"/>
                </a:lnTo>
                <a:lnTo>
                  <a:pt x="12061" y="20590"/>
                </a:lnTo>
                <a:lnTo>
                  <a:pt x="12185" y="20695"/>
                </a:lnTo>
                <a:lnTo>
                  <a:pt x="12327" y="20787"/>
                </a:lnTo>
                <a:lnTo>
                  <a:pt x="12540" y="20892"/>
                </a:lnTo>
                <a:lnTo>
                  <a:pt x="12771" y="20997"/>
                </a:lnTo>
                <a:lnTo>
                  <a:pt x="13073" y="21088"/>
                </a:lnTo>
                <a:lnTo>
                  <a:pt x="13428" y="21193"/>
                </a:lnTo>
                <a:lnTo>
                  <a:pt x="13873" y="21298"/>
                </a:lnTo>
                <a:lnTo>
                  <a:pt x="14317" y="21390"/>
                </a:lnTo>
                <a:lnTo>
                  <a:pt x="14778" y="21468"/>
                </a:lnTo>
                <a:lnTo>
                  <a:pt x="15294" y="21547"/>
                </a:lnTo>
                <a:lnTo>
                  <a:pt x="15809" y="21600"/>
                </a:lnTo>
                <a:lnTo>
                  <a:pt x="16359" y="21652"/>
                </a:lnTo>
                <a:lnTo>
                  <a:pt x="16875" y="21678"/>
                </a:lnTo>
                <a:lnTo>
                  <a:pt x="17407" y="21678"/>
                </a:lnTo>
                <a:lnTo>
                  <a:pt x="17958" y="21678"/>
                </a:lnTo>
                <a:lnTo>
                  <a:pt x="18473" y="21652"/>
                </a:lnTo>
                <a:lnTo>
                  <a:pt x="18953" y="21573"/>
                </a:lnTo>
                <a:lnTo>
                  <a:pt x="19397" y="21495"/>
                </a:lnTo>
                <a:lnTo>
                  <a:pt x="19841" y="21390"/>
                </a:lnTo>
                <a:lnTo>
                  <a:pt x="20214" y="21272"/>
                </a:lnTo>
                <a:lnTo>
                  <a:pt x="20551" y="21088"/>
                </a:lnTo>
                <a:lnTo>
                  <a:pt x="20480" y="20787"/>
                </a:lnTo>
                <a:lnTo>
                  <a:pt x="20409" y="20485"/>
                </a:lnTo>
                <a:lnTo>
                  <a:pt x="20356" y="20158"/>
                </a:lnTo>
                <a:lnTo>
                  <a:pt x="20356" y="19804"/>
                </a:lnTo>
                <a:lnTo>
                  <a:pt x="20321" y="19083"/>
                </a:lnTo>
                <a:lnTo>
                  <a:pt x="20356" y="18349"/>
                </a:lnTo>
                <a:lnTo>
                  <a:pt x="20409" y="17641"/>
                </a:lnTo>
                <a:lnTo>
                  <a:pt x="20480" y="17012"/>
                </a:lnTo>
                <a:lnTo>
                  <a:pt x="20551" y="16488"/>
                </a:lnTo>
                <a:lnTo>
                  <a:pt x="20551" y="16055"/>
                </a:lnTo>
                <a:lnTo>
                  <a:pt x="20551" y="15911"/>
                </a:lnTo>
                <a:lnTo>
                  <a:pt x="20445" y="15754"/>
                </a:lnTo>
                <a:lnTo>
                  <a:pt x="20356" y="15610"/>
                </a:lnTo>
                <a:lnTo>
                  <a:pt x="20178" y="15452"/>
                </a:lnTo>
                <a:lnTo>
                  <a:pt x="20001" y="15334"/>
                </a:lnTo>
                <a:lnTo>
                  <a:pt x="19770" y="15230"/>
                </a:lnTo>
                <a:lnTo>
                  <a:pt x="19521" y="15125"/>
                </a:lnTo>
                <a:lnTo>
                  <a:pt x="19290" y="15059"/>
                </a:lnTo>
                <a:lnTo>
                  <a:pt x="19024" y="15007"/>
                </a:lnTo>
                <a:lnTo>
                  <a:pt x="18740" y="14954"/>
                </a:lnTo>
                <a:lnTo>
                  <a:pt x="18509" y="14954"/>
                </a:lnTo>
                <a:lnTo>
                  <a:pt x="18225" y="14954"/>
                </a:lnTo>
                <a:lnTo>
                  <a:pt x="17994" y="15007"/>
                </a:lnTo>
                <a:lnTo>
                  <a:pt x="17763" y="15085"/>
                </a:lnTo>
                <a:lnTo>
                  <a:pt x="17550" y="15177"/>
                </a:lnTo>
                <a:lnTo>
                  <a:pt x="17372" y="15308"/>
                </a:lnTo>
                <a:lnTo>
                  <a:pt x="17176" y="15426"/>
                </a:lnTo>
                <a:lnTo>
                  <a:pt x="16928" y="15557"/>
                </a:lnTo>
                <a:lnTo>
                  <a:pt x="16661" y="15636"/>
                </a:lnTo>
                <a:lnTo>
                  <a:pt x="16359" y="15688"/>
                </a:lnTo>
                <a:lnTo>
                  <a:pt x="16022" y="15715"/>
                </a:lnTo>
                <a:lnTo>
                  <a:pt x="15667" y="15688"/>
                </a:lnTo>
                <a:lnTo>
                  <a:pt x="15294" y="15662"/>
                </a:lnTo>
                <a:lnTo>
                  <a:pt x="14956" y="15583"/>
                </a:lnTo>
                <a:lnTo>
                  <a:pt x="14619" y="15479"/>
                </a:lnTo>
                <a:lnTo>
                  <a:pt x="14281" y="15334"/>
                </a:lnTo>
                <a:lnTo>
                  <a:pt x="13961" y="15177"/>
                </a:lnTo>
                <a:lnTo>
                  <a:pt x="13695" y="14981"/>
                </a:lnTo>
                <a:lnTo>
                  <a:pt x="13588" y="14850"/>
                </a:lnTo>
                <a:lnTo>
                  <a:pt x="13482" y="14732"/>
                </a:lnTo>
                <a:lnTo>
                  <a:pt x="13393" y="14600"/>
                </a:lnTo>
                <a:lnTo>
                  <a:pt x="13322" y="14456"/>
                </a:lnTo>
                <a:lnTo>
                  <a:pt x="13251" y="14299"/>
                </a:lnTo>
                <a:lnTo>
                  <a:pt x="13215" y="14155"/>
                </a:lnTo>
                <a:lnTo>
                  <a:pt x="13180" y="13971"/>
                </a:lnTo>
                <a:lnTo>
                  <a:pt x="13180" y="13801"/>
                </a:lnTo>
                <a:lnTo>
                  <a:pt x="13180" y="13591"/>
                </a:lnTo>
                <a:lnTo>
                  <a:pt x="13215" y="13395"/>
                </a:lnTo>
                <a:lnTo>
                  <a:pt x="13251" y="13198"/>
                </a:lnTo>
                <a:lnTo>
                  <a:pt x="13322" y="13015"/>
                </a:lnTo>
                <a:lnTo>
                  <a:pt x="13393" y="12870"/>
                </a:lnTo>
                <a:lnTo>
                  <a:pt x="13482" y="12713"/>
                </a:lnTo>
                <a:lnTo>
                  <a:pt x="13588" y="12569"/>
                </a:lnTo>
                <a:lnTo>
                  <a:pt x="13730" y="12438"/>
                </a:lnTo>
                <a:lnTo>
                  <a:pt x="13997" y="12215"/>
                </a:lnTo>
                <a:lnTo>
                  <a:pt x="14334" y="12005"/>
                </a:lnTo>
                <a:lnTo>
                  <a:pt x="14690" y="11861"/>
                </a:lnTo>
                <a:lnTo>
                  <a:pt x="15063" y="11756"/>
                </a:lnTo>
                <a:lnTo>
                  <a:pt x="15436" y="11678"/>
                </a:lnTo>
                <a:lnTo>
                  <a:pt x="15809" y="11638"/>
                </a:lnTo>
                <a:lnTo>
                  <a:pt x="16182" y="11638"/>
                </a:lnTo>
                <a:lnTo>
                  <a:pt x="16555" y="11678"/>
                </a:lnTo>
                <a:lnTo>
                  <a:pt x="16910" y="11730"/>
                </a:lnTo>
                <a:lnTo>
                  <a:pt x="17248" y="11835"/>
                </a:lnTo>
                <a:lnTo>
                  <a:pt x="17514" y="11966"/>
                </a:lnTo>
                <a:lnTo>
                  <a:pt x="17763" y="12110"/>
                </a:lnTo>
                <a:lnTo>
                  <a:pt x="17887" y="12215"/>
                </a:lnTo>
                <a:lnTo>
                  <a:pt x="18065" y="12307"/>
                </a:lnTo>
                <a:lnTo>
                  <a:pt x="18260" y="12412"/>
                </a:lnTo>
                <a:lnTo>
                  <a:pt x="18438" y="12464"/>
                </a:lnTo>
                <a:lnTo>
                  <a:pt x="18669" y="12543"/>
                </a:lnTo>
                <a:lnTo>
                  <a:pt x="18882" y="12569"/>
                </a:lnTo>
                <a:lnTo>
                  <a:pt x="19113" y="12595"/>
                </a:lnTo>
                <a:lnTo>
                  <a:pt x="19361" y="12608"/>
                </a:lnTo>
                <a:lnTo>
                  <a:pt x="19592" y="12608"/>
                </a:lnTo>
                <a:lnTo>
                  <a:pt x="19841" y="12595"/>
                </a:lnTo>
                <a:lnTo>
                  <a:pt x="20072" y="12543"/>
                </a:lnTo>
                <a:lnTo>
                  <a:pt x="20321" y="12490"/>
                </a:lnTo>
                <a:lnTo>
                  <a:pt x="20551" y="12438"/>
                </a:lnTo>
                <a:lnTo>
                  <a:pt x="20800" y="12333"/>
                </a:lnTo>
                <a:lnTo>
                  <a:pt x="20996" y="12241"/>
                </a:lnTo>
                <a:lnTo>
                  <a:pt x="21244" y="12110"/>
                </a:lnTo>
                <a:lnTo>
                  <a:pt x="21298" y="12032"/>
                </a:lnTo>
                <a:lnTo>
                  <a:pt x="21404" y="11966"/>
                </a:lnTo>
                <a:lnTo>
                  <a:pt x="21475" y="11861"/>
                </a:lnTo>
                <a:lnTo>
                  <a:pt x="21511" y="11730"/>
                </a:lnTo>
                <a:lnTo>
                  <a:pt x="21617" y="11481"/>
                </a:lnTo>
                <a:lnTo>
                  <a:pt x="21653" y="11180"/>
                </a:lnTo>
                <a:lnTo>
                  <a:pt x="21653" y="10826"/>
                </a:lnTo>
                <a:lnTo>
                  <a:pt x="21653" y="10472"/>
                </a:lnTo>
                <a:lnTo>
                  <a:pt x="21582" y="10092"/>
                </a:lnTo>
                <a:lnTo>
                  <a:pt x="21511" y="9725"/>
                </a:lnTo>
                <a:lnTo>
                  <a:pt x="21298" y="8912"/>
                </a:lnTo>
                <a:lnTo>
                  <a:pt x="21067" y="8191"/>
                </a:lnTo>
                <a:lnTo>
                  <a:pt x="20800" y="7536"/>
                </a:lnTo>
                <a:lnTo>
                  <a:pt x="20551" y="7025"/>
                </a:lnTo>
                <a:lnTo>
                  <a:pt x="20001" y="7103"/>
                </a:lnTo>
                <a:lnTo>
                  <a:pt x="19432" y="7156"/>
                </a:lnTo>
                <a:lnTo>
                  <a:pt x="18846" y="7208"/>
                </a:lnTo>
                <a:lnTo>
                  <a:pt x="18225" y="7208"/>
                </a:lnTo>
                <a:lnTo>
                  <a:pt x="17656" y="7208"/>
                </a:lnTo>
                <a:lnTo>
                  <a:pt x="17070" y="7182"/>
                </a:lnTo>
                <a:lnTo>
                  <a:pt x="16484" y="7156"/>
                </a:lnTo>
                <a:lnTo>
                  <a:pt x="15986" y="7103"/>
                </a:lnTo>
                <a:lnTo>
                  <a:pt x="14992" y="6999"/>
                </a:lnTo>
                <a:lnTo>
                  <a:pt x="14210" y="6907"/>
                </a:lnTo>
                <a:lnTo>
                  <a:pt x="13695" y="6828"/>
                </a:lnTo>
                <a:lnTo>
                  <a:pt x="13517" y="6802"/>
                </a:lnTo>
                <a:lnTo>
                  <a:pt x="13073" y="6645"/>
                </a:lnTo>
                <a:lnTo>
                  <a:pt x="12700" y="6474"/>
                </a:lnTo>
                <a:lnTo>
                  <a:pt x="12363" y="6304"/>
                </a:lnTo>
                <a:lnTo>
                  <a:pt x="12132" y="6094"/>
                </a:lnTo>
                <a:lnTo>
                  <a:pt x="11919" y="5871"/>
                </a:lnTo>
                <a:lnTo>
                  <a:pt x="11776" y="5649"/>
                </a:lnTo>
                <a:lnTo>
                  <a:pt x="11688" y="5413"/>
                </a:lnTo>
                <a:lnTo>
                  <a:pt x="11617" y="5190"/>
                </a:lnTo>
                <a:lnTo>
                  <a:pt x="11617" y="4941"/>
                </a:lnTo>
                <a:lnTo>
                  <a:pt x="11652" y="4718"/>
                </a:lnTo>
                <a:lnTo>
                  <a:pt x="11723" y="4482"/>
                </a:lnTo>
                <a:lnTo>
                  <a:pt x="11812" y="4285"/>
                </a:lnTo>
                <a:lnTo>
                  <a:pt x="11919" y="4089"/>
                </a:lnTo>
                <a:lnTo>
                  <a:pt x="12096" y="3905"/>
                </a:lnTo>
                <a:lnTo>
                  <a:pt x="12292" y="3735"/>
                </a:lnTo>
                <a:lnTo>
                  <a:pt x="12505" y="3604"/>
                </a:lnTo>
                <a:lnTo>
                  <a:pt x="12700" y="3460"/>
                </a:lnTo>
                <a:lnTo>
                  <a:pt x="12878" y="3250"/>
                </a:lnTo>
                <a:lnTo>
                  <a:pt x="13038" y="3027"/>
                </a:lnTo>
                <a:lnTo>
                  <a:pt x="13180" y="2752"/>
                </a:lnTo>
                <a:lnTo>
                  <a:pt x="13286" y="2477"/>
                </a:lnTo>
                <a:lnTo>
                  <a:pt x="13322" y="2175"/>
                </a:lnTo>
                <a:lnTo>
                  <a:pt x="13357" y="1874"/>
                </a:lnTo>
                <a:lnTo>
                  <a:pt x="13286" y="1572"/>
                </a:lnTo>
                <a:lnTo>
                  <a:pt x="13180" y="1271"/>
                </a:lnTo>
                <a:lnTo>
                  <a:pt x="13038" y="983"/>
                </a:lnTo>
                <a:lnTo>
                  <a:pt x="12949" y="865"/>
                </a:lnTo>
                <a:lnTo>
                  <a:pt x="12807" y="733"/>
                </a:lnTo>
                <a:lnTo>
                  <a:pt x="12665" y="616"/>
                </a:lnTo>
                <a:lnTo>
                  <a:pt x="12505" y="511"/>
                </a:lnTo>
                <a:lnTo>
                  <a:pt x="12327" y="406"/>
                </a:lnTo>
                <a:lnTo>
                  <a:pt x="12132" y="314"/>
                </a:lnTo>
                <a:lnTo>
                  <a:pt x="11883" y="235"/>
                </a:lnTo>
                <a:lnTo>
                  <a:pt x="11652" y="183"/>
                </a:lnTo>
                <a:lnTo>
                  <a:pt x="11368" y="104"/>
                </a:lnTo>
                <a:lnTo>
                  <a:pt x="11101" y="78"/>
                </a:lnTo>
                <a:lnTo>
                  <a:pt x="10800" y="52"/>
                </a:lnTo>
                <a:lnTo>
                  <a:pt x="10444" y="52"/>
                </a:lnTo>
                <a:lnTo>
                  <a:pt x="10142" y="52"/>
                </a:lnTo>
                <a:lnTo>
                  <a:pt x="9840" y="78"/>
                </a:lnTo>
                <a:lnTo>
                  <a:pt x="9574" y="104"/>
                </a:lnTo>
                <a:lnTo>
                  <a:pt x="9325" y="157"/>
                </a:lnTo>
                <a:lnTo>
                  <a:pt x="9094" y="209"/>
                </a:lnTo>
                <a:lnTo>
                  <a:pt x="8846" y="262"/>
                </a:lnTo>
                <a:lnTo>
                  <a:pt x="8650" y="340"/>
                </a:lnTo>
                <a:lnTo>
                  <a:pt x="8437" y="432"/>
                </a:lnTo>
                <a:lnTo>
                  <a:pt x="8277" y="511"/>
                </a:lnTo>
                <a:lnTo>
                  <a:pt x="8100" y="616"/>
                </a:lnTo>
                <a:lnTo>
                  <a:pt x="7957" y="707"/>
                </a:lnTo>
                <a:lnTo>
                  <a:pt x="7833" y="838"/>
                </a:lnTo>
                <a:lnTo>
                  <a:pt x="7620" y="1061"/>
                </a:lnTo>
                <a:lnTo>
                  <a:pt x="7442" y="1336"/>
                </a:lnTo>
                <a:lnTo>
                  <a:pt x="7353" y="1599"/>
                </a:lnTo>
                <a:lnTo>
                  <a:pt x="7318" y="1900"/>
                </a:lnTo>
                <a:lnTo>
                  <a:pt x="7318" y="2175"/>
                </a:lnTo>
                <a:lnTo>
                  <a:pt x="7353" y="2450"/>
                </a:lnTo>
                <a:lnTo>
                  <a:pt x="7442" y="2726"/>
                </a:lnTo>
                <a:lnTo>
                  <a:pt x="7620" y="2975"/>
                </a:lnTo>
                <a:lnTo>
                  <a:pt x="7833" y="3198"/>
                </a:lnTo>
                <a:lnTo>
                  <a:pt x="8064" y="3433"/>
                </a:lnTo>
                <a:lnTo>
                  <a:pt x="8295" y="3630"/>
                </a:lnTo>
                <a:lnTo>
                  <a:pt x="8508" y="3853"/>
                </a:lnTo>
                <a:lnTo>
                  <a:pt x="8686" y="4089"/>
                </a:lnTo>
                <a:lnTo>
                  <a:pt x="8775" y="4312"/>
                </a:lnTo>
                <a:lnTo>
                  <a:pt x="8846" y="4561"/>
                </a:lnTo>
                <a:lnTo>
                  <a:pt x="8846" y="4810"/>
                </a:lnTo>
                <a:lnTo>
                  <a:pt x="8810" y="5059"/>
                </a:lnTo>
                <a:lnTo>
                  <a:pt x="8721" y="5295"/>
                </a:lnTo>
                <a:lnTo>
                  <a:pt x="8579" y="5544"/>
                </a:lnTo>
                <a:lnTo>
                  <a:pt x="8366" y="5766"/>
                </a:lnTo>
                <a:lnTo>
                  <a:pt x="8135" y="5976"/>
                </a:lnTo>
                <a:lnTo>
                  <a:pt x="7833" y="6199"/>
                </a:lnTo>
                <a:lnTo>
                  <a:pt x="7478" y="6369"/>
                </a:lnTo>
                <a:lnTo>
                  <a:pt x="7069" y="6527"/>
                </a:lnTo>
                <a:lnTo>
                  <a:pt x="6590" y="6671"/>
                </a:lnTo>
                <a:lnTo>
                  <a:pt x="6092" y="6802"/>
                </a:lnTo>
                <a:lnTo>
                  <a:pt x="5684" y="6802"/>
                </a:lnTo>
                <a:lnTo>
                  <a:pt x="5133" y="6802"/>
                </a:lnTo>
                <a:lnTo>
                  <a:pt x="4547" y="6802"/>
                </a:lnTo>
                <a:lnTo>
                  <a:pt x="3872" y="6802"/>
                </a:lnTo>
                <a:lnTo>
                  <a:pt x="3144" y="6802"/>
                </a:lnTo>
                <a:lnTo>
                  <a:pt x="2362" y="6802"/>
                </a:lnTo>
                <a:lnTo>
                  <a:pt x="1545" y="6802"/>
                </a:lnTo>
                <a:lnTo>
                  <a:pt x="692" y="6802"/>
                </a:lnTo>
                <a:lnTo>
                  <a:pt x="586" y="7234"/>
                </a:lnTo>
                <a:lnTo>
                  <a:pt x="461" y="7837"/>
                </a:lnTo>
                <a:lnTo>
                  <a:pt x="355" y="8493"/>
                </a:lnTo>
                <a:lnTo>
                  <a:pt x="248" y="9187"/>
                </a:lnTo>
                <a:lnTo>
                  <a:pt x="142" y="9869"/>
                </a:lnTo>
                <a:lnTo>
                  <a:pt x="106" y="10498"/>
                </a:lnTo>
                <a:lnTo>
                  <a:pt x="106" y="10983"/>
                </a:lnTo>
                <a:lnTo>
                  <a:pt x="106" y="11311"/>
                </a:lnTo>
                <a:lnTo>
                  <a:pt x="213" y="11481"/>
                </a:lnTo>
                <a:lnTo>
                  <a:pt x="319" y="11651"/>
                </a:lnTo>
                <a:lnTo>
                  <a:pt x="497" y="11783"/>
                </a:lnTo>
                <a:lnTo>
                  <a:pt x="692" y="11914"/>
                </a:lnTo>
                <a:lnTo>
                  <a:pt x="941" y="12032"/>
                </a:lnTo>
                <a:lnTo>
                  <a:pt x="1207" y="12110"/>
                </a:lnTo>
                <a:lnTo>
                  <a:pt x="1509" y="12189"/>
                </a:lnTo>
                <a:lnTo>
                  <a:pt x="1794" y="12241"/>
                </a:lnTo>
                <a:lnTo>
                  <a:pt x="2131" y="12267"/>
                </a:lnTo>
                <a:lnTo>
                  <a:pt x="2433" y="12281"/>
                </a:lnTo>
                <a:lnTo>
                  <a:pt x="2735" y="12267"/>
                </a:lnTo>
                <a:lnTo>
                  <a:pt x="3055" y="12241"/>
                </a:lnTo>
                <a:lnTo>
                  <a:pt x="3357" y="12189"/>
                </a:lnTo>
                <a:lnTo>
                  <a:pt x="3623" y="12084"/>
                </a:lnTo>
                <a:lnTo>
                  <a:pt x="3872" y="11979"/>
                </a:lnTo>
                <a:lnTo>
                  <a:pt x="4103" y="11861"/>
                </a:lnTo>
                <a:lnTo>
                  <a:pt x="4316" y="11704"/>
                </a:lnTo>
                <a:lnTo>
                  <a:pt x="4582" y="11612"/>
                </a:lnTo>
                <a:lnTo>
                  <a:pt x="4849" y="11533"/>
                </a:lnTo>
                <a:lnTo>
                  <a:pt x="5169" y="11507"/>
                </a:lnTo>
                <a:lnTo>
                  <a:pt x="5506" y="11481"/>
                </a:lnTo>
                <a:lnTo>
                  <a:pt x="5808" y="11507"/>
                </a:lnTo>
                <a:lnTo>
                  <a:pt x="6146" y="11560"/>
                </a:lnTo>
                <a:lnTo>
                  <a:pt x="6501" y="11651"/>
                </a:lnTo>
                <a:lnTo>
                  <a:pt x="6803" y="11783"/>
                </a:lnTo>
                <a:lnTo>
                  <a:pt x="7105" y="11940"/>
                </a:lnTo>
                <a:lnTo>
                  <a:pt x="7353" y="12110"/>
                </a:lnTo>
                <a:lnTo>
                  <a:pt x="7584" y="12333"/>
                </a:lnTo>
                <a:lnTo>
                  <a:pt x="7798" y="12595"/>
                </a:lnTo>
                <a:lnTo>
                  <a:pt x="7922" y="12870"/>
                </a:lnTo>
                <a:lnTo>
                  <a:pt x="8028" y="13198"/>
                </a:lnTo>
                <a:lnTo>
                  <a:pt x="8064" y="13526"/>
                </a:lnTo>
                <a:lnTo>
                  <a:pt x="8028" y="13775"/>
                </a:lnTo>
                <a:lnTo>
                  <a:pt x="7922" y="13998"/>
                </a:lnTo>
                <a:lnTo>
                  <a:pt x="7798" y="14220"/>
                </a:lnTo>
                <a:lnTo>
                  <a:pt x="7584" y="14404"/>
                </a:lnTo>
                <a:lnTo>
                  <a:pt x="7353" y="14574"/>
                </a:lnTo>
                <a:lnTo>
                  <a:pt x="7105" y="14732"/>
                </a:lnTo>
                <a:lnTo>
                  <a:pt x="6803" y="14850"/>
                </a:lnTo>
                <a:lnTo>
                  <a:pt x="6501" y="14954"/>
                </a:lnTo>
                <a:lnTo>
                  <a:pt x="6146" y="15033"/>
                </a:lnTo>
                <a:lnTo>
                  <a:pt x="5808" y="15085"/>
                </a:lnTo>
                <a:lnTo>
                  <a:pt x="5506" y="15085"/>
                </a:lnTo>
                <a:lnTo>
                  <a:pt x="5169" y="15059"/>
                </a:lnTo>
                <a:lnTo>
                  <a:pt x="4849" y="15007"/>
                </a:lnTo>
                <a:lnTo>
                  <a:pt x="4582" y="14902"/>
                </a:lnTo>
                <a:lnTo>
                  <a:pt x="4316" y="14784"/>
                </a:lnTo>
                <a:lnTo>
                  <a:pt x="4103" y="14600"/>
                </a:lnTo>
                <a:lnTo>
                  <a:pt x="3907" y="14430"/>
                </a:lnTo>
                <a:lnTo>
                  <a:pt x="3659" y="14299"/>
                </a:lnTo>
                <a:lnTo>
                  <a:pt x="3428" y="14194"/>
                </a:lnTo>
                <a:lnTo>
                  <a:pt x="3179" y="14129"/>
                </a:lnTo>
                <a:lnTo>
                  <a:pt x="2913" y="14102"/>
                </a:lnTo>
                <a:lnTo>
                  <a:pt x="2646" y="14102"/>
                </a:lnTo>
                <a:lnTo>
                  <a:pt x="2362" y="14129"/>
                </a:lnTo>
                <a:lnTo>
                  <a:pt x="2096" y="14168"/>
                </a:lnTo>
                <a:lnTo>
                  <a:pt x="1811" y="14273"/>
                </a:lnTo>
                <a:lnTo>
                  <a:pt x="1545" y="14378"/>
                </a:lnTo>
                <a:lnTo>
                  <a:pt x="1314" y="14496"/>
                </a:lnTo>
                <a:lnTo>
                  <a:pt x="1065" y="14653"/>
                </a:lnTo>
                <a:lnTo>
                  <a:pt x="870" y="14797"/>
                </a:lnTo>
                <a:lnTo>
                  <a:pt x="657" y="14981"/>
                </a:lnTo>
                <a:lnTo>
                  <a:pt x="497" y="15177"/>
                </a:lnTo>
                <a:lnTo>
                  <a:pt x="390" y="15413"/>
                </a:lnTo>
                <a:lnTo>
                  <a:pt x="284" y="15636"/>
                </a:lnTo>
                <a:lnTo>
                  <a:pt x="248" y="15911"/>
                </a:lnTo>
                <a:lnTo>
                  <a:pt x="284" y="16239"/>
                </a:lnTo>
                <a:lnTo>
                  <a:pt x="319" y="16566"/>
                </a:lnTo>
                <a:lnTo>
                  <a:pt x="497" y="17340"/>
                </a:lnTo>
                <a:lnTo>
                  <a:pt x="692" y="18152"/>
                </a:lnTo>
                <a:lnTo>
                  <a:pt x="799" y="18559"/>
                </a:lnTo>
                <a:lnTo>
                  <a:pt x="905" y="18978"/>
                </a:lnTo>
                <a:lnTo>
                  <a:pt x="959" y="19384"/>
                </a:lnTo>
                <a:lnTo>
                  <a:pt x="994" y="19791"/>
                </a:lnTo>
                <a:lnTo>
                  <a:pt x="994" y="20132"/>
                </a:lnTo>
                <a:lnTo>
                  <a:pt x="959" y="20485"/>
                </a:lnTo>
                <a:lnTo>
                  <a:pt x="941" y="20669"/>
                </a:lnTo>
                <a:lnTo>
                  <a:pt x="870" y="20813"/>
                </a:lnTo>
                <a:lnTo>
                  <a:pt x="799" y="20970"/>
                </a:lnTo>
                <a:lnTo>
                  <a:pt x="692" y="21088"/>
                </a:lnTo>
                <a:lnTo>
                  <a:pt x="1474" y="20997"/>
                </a:lnTo>
                <a:lnTo>
                  <a:pt x="2291" y="20866"/>
                </a:lnTo>
                <a:lnTo>
                  <a:pt x="3108" y="20787"/>
                </a:lnTo>
                <a:lnTo>
                  <a:pt x="3907" y="20721"/>
                </a:lnTo>
                <a:lnTo>
                  <a:pt x="4653" y="20695"/>
                </a:lnTo>
                <a:lnTo>
                  <a:pt x="5364" y="20695"/>
                </a:lnTo>
                <a:lnTo>
                  <a:pt x="5701" y="20721"/>
                </a:lnTo>
                <a:lnTo>
                  <a:pt x="6057" y="20761"/>
                </a:lnTo>
                <a:lnTo>
                  <a:pt x="6323" y="20813"/>
                </a:lnTo>
                <a:lnTo>
                  <a:pt x="6625" y="20892"/>
                </a:lnTo>
                <a:close/>
              </a:path>
            </a:pathLst>
          </a:custGeom>
          <a:solidFill>
            <a:srgbClr val="0070C0"/>
          </a:solidFill>
          <a:ln w="28575">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lt"/>
            </a:endParaRPr>
          </a:p>
        </p:txBody>
      </p:sp>
      <p:sp>
        <p:nvSpPr>
          <p:cNvPr id="13" name="MH_Other_3"/>
          <p:cNvSpPr>
            <a:spLocks noEditPoints="1" noChangeArrowheads="1"/>
          </p:cNvSpPr>
          <p:nvPr>
            <p:custDataLst>
              <p:tags r:id="rId5"/>
            </p:custDataLst>
          </p:nvPr>
        </p:nvSpPr>
        <p:spPr bwMode="auto">
          <a:xfrm>
            <a:off x="5590859" y="3188336"/>
            <a:ext cx="2135187" cy="1495425"/>
          </a:xfrm>
          <a:custGeom>
            <a:avLst/>
            <a:gdLst>
              <a:gd name="T0" fmla="*/ 11 w 21600"/>
              <a:gd name="T1" fmla="*/ 13386 h 21600"/>
              <a:gd name="T2" fmla="*/ 4202 w 21600"/>
              <a:gd name="T3" fmla="*/ 21161 h 21600"/>
              <a:gd name="T4" fmla="*/ 10400 w 21600"/>
              <a:gd name="T5" fmla="*/ 13909 h 21600"/>
              <a:gd name="T6" fmla="*/ 16821 w 21600"/>
              <a:gd name="T7" fmla="*/ 21190 h 21600"/>
              <a:gd name="T8" fmla="*/ 21600 w 21600"/>
              <a:gd name="T9" fmla="*/ 15083 h 21600"/>
              <a:gd name="T10" fmla="*/ 16889 w 21600"/>
              <a:gd name="T11" fmla="*/ 5739 h 21600"/>
              <a:gd name="T12" fmla="*/ 10800 w 21600"/>
              <a:gd name="T13" fmla="*/ 28 h 21600"/>
              <a:gd name="T14" fmla="*/ 4202 w 21600"/>
              <a:gd name="T15" fmla="*/ 5894 h 21600"/>
              <a:gd name="T16" fmla="*/ 5388 w 21600"/>
              <a:gd name="T17" fmla="*/ 6742 h 21600"/>
              <a:gd name="T18" fmla="*/ 16177 w 21600"/>
              <a:gd name="T19" fmla="*/ 20441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4247" y="12354"/>
                </a:moveTo>
                <a:lnTo>
                  <a:pt x="4134" y="12468"/>
                </a:lnTo>
                <a:lnTo>
                  <a:pt x="4010" y="12581"/>
                </a:lnTo>
                <a:lnTo>
                  <a:pt x="3897" y="12637"/>
                </a:lnTo>
                <a:lnTo>
                  <a:pt x="3773" y="12694"/>
                </a:lnTo>
                <a:lnTo>
                  <a:pt x="3637" y="12694"/>
                </a:lnTo>
                <a:lnTo>
                  <a:pt x="3524" y="12694"/>
                </a:lnTo>
                <a:lnTo>
                  <a:pt x="3400" y="12665"/>
                </a:lnTo>
                <a:lnTo>
                  <a:pt x="3287" y="12609"/>
                </a:lnTo>
                <a:lnTo>
                  <a:pt x="3027" y="12496"/>
                </a:lnTo>
                <a:lnTo>
                  <a:pt x="2790" y="12340"/>
                </a:lnTo>
                <a:lnTo>
                  <a:pt x="2530" y="12142"/>
                </a:lnTo>
                <a:lnTo>
                  <a:pt x="2293" y="11987"/>
                </a:lnTo>
                <a:lnTo>
                  <a:pt x="2033" y="11817"/>
                </a:lnTo>
                <a:lnTo>
                  <a:pt x="1773" y="11676"/>
                </a:lnTo>
                <a:lnTo>
                  <a:pt x="1638" y="11662"/>
                </a:lnTo>
                <a:lnTo>
                  <a:pt x="1513" y="11634"/>
                </a:lnTo>
                <a:lnTo>
                  <a:pt x="1378" y="11634"/>
                </a:lnTo>
                <a:lnTo>
                  <a:pt x="1253" y="11634"/>
                </a:lnTo>
                <a:lnTo>
                  <a:pt x="1118" y="11662"/>
                </a:lnTo>
                <a:lnTo>
                  <a:pt x="971" y="11732"/>
                </a:lnTo>
                <a:lnTo>
                  <a:pt x="835" y="11817"/>
                </a:lnTo>
                <a:lnTo>
                  <a:pt x="711" y="11959"/>
                </a:lnTo>
                <a:lnTo>
                  <a:pt x="553" y="12086"/>
                </a:lnTo>
                <a:lnTo>
                  <a:pt x="429" y="12284"/>
                </a:lnTo>
                <a:lnTo>
                  <a:pt x="271" y="12524"/>
                </a:lnTo>
                <a:lnTo>
                  <a:pt x="146" y="12793"/>
                </a:lnTo>
                <a:lnTo>
                  <a:pt x="79" y="12962"/>
                </a:lnTo>
                <a:lnTo>
                  <a:pt x="33" y="13146"/>
                </a:lnTo>
                <a:lnTo>
                  <a:pt x="11" y="13386"/>
                </a:lnTo>
                <a:lnTo>
                  <a:pt x="11" y="13641"/>
                </a:lnTo>
                <a:lnTo>
                  <a:pt x="33" y="13881"/>
                </a:lnTo>
                <a:lnTo>
                  <a:pt x="101" y="14150"/>
                </a:lnTo>
                <a:lnTo>
                  <a:pt x="192" y="14404"/>
                </a:lnTo>
                <a:lnTo>
                  <a:pt x="293" y="14645"/>
                </a:lnTo>
                <a:lnTo>
                  <a:pt x="451" y="14857"/>
                </a:lnTo>
                <a:lnTo>
                  <a:pt x="621" y="15054"/>
                </a:lnTo>
                <a:lnTo>
                  <a:pt x="734" y="15125"/>
                </a:lnTo>
                <a:lnTo>
                  <a:pt x="835" y="15210"/>
                </a:lnTo>
                <a:lnTo>
                  <a:pt x="948" y="15267"/>
                </a:lnTo>
                <a:lnTo>
                  <a:pt x="1084" y="15323"/>
                </a:lnTo>
                <a:lnTo>
                  <a:pt x="1208" y="15351"/>
                </a:lnTo>
                <a:lnTo>
                  <a:pt x="1355" y="15380"/>
                </a:lnTo>
                <a:lnTo>
                  <a:pt x="1513" y="15380"/>
                </a:lnTo>
                <a:lnTo>
                  <a:pt x="1683" y="15380"/>
                </a:lnTo>
                <a:lnTo>
                  <a:pt x="1864" y="15351"/>
                </a:lnTo>
                <a:lnTo>
                  <a:pt x="2033" y="15323"/>
                </a:lnTo>
                <a:lnTo>
                  <a:pt x="2225" y="15238"/>
                </a:lnTo>
                <a:lnTo>
                  <a:pt x="2428" y="15153"/>
                </a:lnTo>
                <a:lnTo>
                  <a:pt x="2745" y="15026"/>
                </a:lnTo>
                <a:lnTo>
                  <a:pt x="3005" y="14913"/>
                </a:lnTo>
                <a:lnTo>
                  <a:pt x="3264" y="14828"/>
                </a:lnTo>
                <a:lnTo>
                  <a:pt x="3513" y="14800"/>
                </a:lnTo>
                <a:lnTo>
                  <a:pt x="3615" y="14828"/>
                </a:lnTo>
                <a:lnTo>
                  <a:pt x="3728" y="14857"/>
                </a:lnTo>
                <a:lnTo>
                  <a:pt x="3807" y="14913"/>
                </a:lnTo>
                <a:lnTo>
                  <a:pt x="3920" y="14998"/>
                </a:lnTo>
                <a:lnTo>
                  <a:pt x="4010" y="15097"/>
                </a:lnTo>
                <a:lnTo>
                  <a:pt x="4089" y="15238"/>
                </a:lnTo>
                <a:lnTo>
                  <a:pt x="4179" y="15408"/>
                </a:lnTo>
                <a:lnTo>
                  <a:pt x="4247" y="15620"/>
                </a:lnTo>
                <a:lnTo>
                  <a:pt x="4326" y="15860"/>
                </a:lnTo>
                <a:lnTo>
                  <a:pt x="4394" y="16129"/>
                </a:lnTo>
                <a:lnTo>
                  <a:pt x="4439" y="16440"/>
                </a:lnTo>
                <a:lnTo>
                  <a:pt x="4507" y="16737"/>
                </a:lnTo>
                <a:lnTo>
                  <a:pt x="4552" y="17090"/>
                </a:lnTo>
                <a:lnTo>
                  <a:pt x="4575" y="17443"/>
                </a:lnTo>
                <a:lnTo>
                  <a:pt x="4586" y="17825"/>
                </a:lnTo>
                <a:lnTo>
                  <a:pt x="4586" y="18193"/>
                </a:lnTo>
                <a:lnTo>
                  <a:pt x="4586" y="18574"/>
                </a:lnTo>
                <a:lnTo>
                  <a:pt x="4586" y="18984"/>
                </a:lnTo>
                <a:lnTo>
                  <a:pt x="4552" y="19366"/>
                </a:lnTo>
                <a:lnTo>
                  <a:pt x="4507" y="19748"/>
                </a:lnTo>
                <a:lnTo>
                  <a:pt x="4462" y="20129"/>
                </a:lnTo>
                <a:lnTo>
                  <a:pt x="4371" y="20483"/>
                </a:lnTo>
                <a:lnTo>
                  <a:pt x="4292" y="20836"/>
                </a:lnTo>
                <a:lnTo>
                  <a:pt x="4202" y="21161"/>
                </a:lnTo>
                <a:lnTo>
                  <a:pt x="4744" y="21161"/>
                </a:lnTo>
                <a:lnTo>
                  <a:pt x="5264" y="21161"/>
                </a:lnTo>
                <a:lnTo>
                  <a:pt x="5784" y="21161"/>
                </a:lnTo>
                <a:lnTo>
                  <a:pt x="6235" y="21161"/>
                </a:lnTo>
                <a:lnTo>
                  <a:pt x="6676" y="21161"/>
                </a:lnTo>
                <a:lnTo>
                  <a:pt x="7060" y="21161"/>
                </a:lnTo>
                <a:lnTo>
                  <a:pt x="7410" y="21161"/>
                </a:lnTo>
                <a:lnTo>
                  <a:pt x="7670" y="21161"/>
                </a:lnTo>
                <a:lnTo>
                  <a:pt x="8020" y="21020"/>
                </a:lnTo>
                <a:lnTo>
                  <a:pt x="8303" y="20893"/>
                </a:lnTo>
                <a:lnTo>
                  <a:pt x="8563" y="20695"/>
                </a:lnTo>
                <a:lnTo>
                  <a:pt x="8800" y="20511"/>
                </a:lnTo>
                <a:lnTo>
                  <a:pt x="8969" y="20285"/>
                </a:lnTo>
                <a:lnTo>
                  <a:pt x="9150" y="20045"/>
                </a:lnTo>
                <a:lnTo>
                  <a:pt x="9252" y="19804"/>
                </a:lnTo>
                <a:lnTo>
                  <a:pt x="9342" y="19550"/>
                </a:lnTo>
                <a:lnTo>
                  <a:pt x="9410" y="19281"/>
                </a:lnTo>
                <a:lnTo>
                  <a:pt x="9433" y="19013"/>
                </a:lnTo>
                <a:lnTo>
                  <a:pt x="9433" y="18744"/>
                </a:lnTo>
                <a:lnTo>
                  <a:pt x="9387" y="18504"/>
                </a:lnTo>
                <a:lnTo>
                  <a:pt x="9320" y="18221"/>
                </a:lnTo>
                <a:lnTo>
                  <a:pt x="9207" y="17981"/>
                </a:lnTo>
                <a:lnTo>
                  <a:pt x="9105" y="17740"/>
                </a:lnTo>
                <a:lnTo>
                  <a:pt x="8924" y="17514"/>
                </a:lnTo>
                <a:lnTo>
                  <a:pt x="8777" y="17274"/>
                </a:lnTo>
                <a:lnTo>
                  <a:pt x="8642" y="17034"/>
                </a:lnTo>
                <a:lnTo>
                  <a:pt x="8563" y="16765"/>
                </a:lnTo>
                <a:lnTo>
                  <a:pt x="8472" y="16468"/>
                </a:lnTo>
                <a:lnTo>
                  <a:pt x="8450" y="16157"/>
                </a:lnTo>
                <a:lnTo>
                  <a:pt x="8450" y="15860"/>
                </a:lnTo>
                <a:lnTo>
                  <a:pt x="8472" y="15563"/>
                </a:lnTo>
                <a:lnTo>
                  <a:pt x="8540" y="15267"/>
                </a:lnTo>
                <a:lnTo>
                  <a:pt x="8642" y="14998"/>
                </a:lnTo>
                <a:lnTo>
                  <a:pt x="8777" y="14729"/>
                </a:lnTo>
                <a:lnTo>
                  <a:pt x="8868" y="14616"/>
                </a:lnTo>
                <a:lnTo>
                  <a:pt x="8969" y="14475"/>
                </a:lnTo>
                <a:lnTo>
                  <a:pt x="9060" y="14376"/>
                </a:lnTo>
                <a:lnTo>
                  <a:pt x="9184" y="14291"/>
                </a:lnTo>
                <a:lnTo>
                  <a:pt x="9297" y="14206"/>
                </a:lnTo>
                <a:lnTo>
                  <a:pt x="9433" y="14121"/>
                </a:lnTo>
                <a:lnTo>
                  <a:pt x="9579" y="14051"/>
                </a:lnTo>
                <a:lnTo>
                  <a:pt x="9726" y="13994"/>
                </a:lnTo>
                <a:lnTo>
                  <a:pt x="9884" y="13938"/>
                </a:lnTo>
                <a:lnTo>
                  <a:pt x="10054" y="13909"/>
                </a:lnTo>
                <a:lnTo>
                  <a:pt x="10257" y="13881"/>
                </a:lnTo>
                <a:lnTo>
                  <a:pt x="10449" y="13881"/>
                </a:lnTo>
                <a:lnTo>
                  <a:pt x="10664" y="13881"/>
                </a:lnTo>
                <a:lnTo>
                  <a:pt x="10856" y="13909"/>
                </a:lnTo>
                <a:lnTo>
                  <a:pt x="11037" y="13966"/>
                </a:lnTo>
                <a:lnTo>
                  <a:pt x="11206" y="14023"/>
                </a:lnTo>
                <a:lnTo>
                  <a:pt x="11353" y="14093"/>
                </a:lnTo>
                <a:lnTo>
                  <a:pt x="11511" y="14178"/>
                </a:lnTo>
                <a:lnTo>
                  <a:pt x="11635" y="14263"/>
                </a:lnTo>
                <a:lnTo>
                  <a:pt x="11748" y="14376"/>
                </a:lnTo>
                <a:lnTo>
                  <a:pt x="11861" y="14475"/>
                </a:lnTo>
                <a:lnTo>
                  <a:pt x="11941" y="14616"/>
                </a:lnTo>
                <a:lnTo>
                  <a:pt x="12031" y="14758"/>
                </a:lnTo>
                <a:lnTo>
                  <a:pt x="12099" y="14885"/>
                </a:lnTo>
                <a:lnTo>
                  <a:pt x="12200" y="15210"/>
                </a:lnTo>
                <a:lnTo>
                  <a:pt x="12268" y="15507"/>
                </a:lnTo>
                <a:lnTo>
                  <a:pt x="12291" y="15832"/>
                </a:lnTo>
                <a:lnTo>
                  <a:pt x="12291" y="16157"/>
                </a:lnTo>
                <a:lnTo>
                  <a:pt x="12246" y="16482"/>
                </a:lnTo>
                <a:lnTo>
                  <a:pt x="12178" y="16807"/>
                </a:lnTo>
                <a:lnTo>
                  <a:pt x="12099" y="17090"/>
                </a:lnTo>
                <a:lnTo>
                  <a:pt x="12008" y="17330"/>
                </a:lnTo>
                <a:lnTo>
                  <a:pt x="11884" y="17542"/>
                </a:lnTo>
                <a:lnTo>
                  <a:pt x="11748" y="17712"/>
                </a:lnTo>
                <a:lnTo>
                  <a:pt x="11613" y="17839"/>
                </a:lnTo>
                <a:lnTo>
                  <a:pt x="11489" y="18037"/>
                </a:lnTo>
                <a:lnTo>
                  <a:pt x="11398" y="18221"/>
                </a:lnTo>
                <a:lnTo>
                  <a:pt x="11319" y="18447"/>
                </a:lnTo>
                <a:lnTo>
                  <a:pt x="11251" y="18659"/>
                </a:lnTo>
                <a:lnTo>
                  <a:pt x="11206" y="18900"/>
                </a:lnTo>
                <a:lnTo>
                  <a:pt x="11184" y="19154"/>
                </a:lnTo>
                <a:lnTo>
                  <a:pt x="11184" y="19423"/>
                </a:lnTo>
                <a:lnTo>
                  <a:pt x="11229" y="19663"/>
                </a:lnTo>
                <a:lnTo>
                  <a:pt x="11297" y="19903"/>
                </a:lnTo>
                <a:lnTo>
                  <a:pt x="11376" y="20158"/>
                </a:lnTo>
                <a:lnTo>
                  <a:pt x="11511" y="20398"/>
                </a:lnTo>
                <a:lnTo>
                  <a:pt x="11681" y="20610"/>
                </a:lnTo>
                <a:lnTo>
                  <a:pt x="11884" y="20808"/>
                </a:lnTo>
                <a:lnTo>
                  <a:pt x="12121" y="20992"/>
                </a:lnTo>
                <a:lnTo>
                  <a:pt x="12404" y="21161"/>
                </a:lnTo>
                <a:lnTo>
                  <a:pt x="12528" y="21190"/>
                </a:lnTo>
                <a:lnTo>
                  <a:pt x="12856" y="21274"/>
                </a:lnTo>
                <a:lnTo>
                  <a:pt x="13330" y="21373"/>
                </a:lnTo>
                <a:lnTo>
                  <a:pt x="13963" y="21486"/>
                </a:lnTo>
                <a:lnTo>
                  <a:pt x="14313" y="21543"/>
                </a:lnTo>
                <a:lnTo>
                  <a:pt x="14652" y="21571"/>
                </a:lnTo>
                <a:lnTo>
                  <a:pt x="15025" y="21600"/>
                </a:lnTo>
                <a:lnTo>
                  <a:pt x="15409" y="21600"/>
                </a:lnTo>
                <a:lnTo>
                  <a:pt x="15782" y="21600"/>
                </a:lnTo>
                <a:lnTo>
                  <a:pt x="16177" y="21571"/>
                </a:lnTo>
                <a:lnTo>
                  <a:pt x="16516" y="21486"/>
                </a:lnTo>
                <a:lnTo>
                  <a:pt x="16889" y="21402"/>
                </a:lnTo>
                <a:lnTo>
                  <a:pt x="16821" y="21190"/>
                </a:lnTo>
                <a:lnTo>
                  <a:pt x="16776" y="20935"/>
                </a:lnTo>
                <a:lnTo>
                  <a:pt x="16742" y="20667"/>
                </a:lnTo>
                <a:lnTo>
                  <a:pt x="16719" y="20370"/>
                </a:lnTo>
                <a:lnTo>
                  <a:pt x="16697" y="19719"/>
                </a:lnTo>
                <a:lnTo>
                  <a:pt x="16697" y="19013"/>
                </a:lnTo>
                <a:lnTo>
                  <a:pt x="16719" y="18306"/>
                </a:lnTo>
                <a:lnTo>
                  <a:pt x="16753" y="17599"/>
                </a:lnTo>
                <a:lnTo>
                  <a:pt x="16821" y="16949"/>
                </a:lnTo>
                <a:lnTo>
                  <a:pt x="16889" y="16383"/>
                </a:lnTo>
                <a:lnTo>
                  <a:pt x="16934" y="16129"/>
                </a:lnTo>
                <a:lnTo>
                  <a:pt x="17002" y="15945"/>
                </a:lnTo>
                <a:lnTo>
                  <a:pt x="17081" y="15790"/>
                </a:lnTo>
                <a:lnTo>
                  <a:pt x="17194" y="15648"/>
                </a:lnTo>
                <a:lnTo>
                  <a:pt x="17318" y="15563"/>
                </a:lnTo>
                <a:lnTo>
                  <a:pt x="17453" y="15507"/>
                </a:lnTo>
                <a:lnTo>
                  <a:pt x="17600" y="15450"/>
                </a:lnTo>
                <a:lnTo>
                  <a:pt x="17758" y="15450"/>
                </a:lnTo>
                <a:lnTo>
                  <a:pt x="17905" y="15479"/>
                </a:lnTo>
                <a:lnTo>
                  <a:pt x="18064" y="15535"/>
                </a:lnTo>
                <a:lnTo>
                  <a:pt x="18233" y="15620"/>
                </a:lnTo>
                <a:lnTo>
                  <a:pt x="18380" y="15733"/>
                </a:lnTo>
                <a:lnTo>
                  <a:pt x="18561" y="15832"/>
                </a:lnTo>
                <a:lnTo>
                  <a:pt x="18707" y="15973"/>
                </a:lnTo>
                <a:lnTo>
                  <a:pt x="18866" y="16129"/>
                </a:lnTo>
                <a:lnTo>
                  <a:pt x="18990" y="16327"/>
                </a:lnTo>
                <a:lnTo>
                  <a:pt x="19125" y="16482"/>
                </a:lnTo>
                <a:lnTo>
                  <a:pt x="19295" y="16624"/>
                </a:lnTo>
                <a:lnTo>
                  <a:pt x="19464" y="16737"/>
                </a:lnTo>
                <a:lnTo>
                  <a:pt x="19668" y="16807"/>
                </a:lnTo>
                <a:lnTo>
                  <a:pt x="19860" y="16836"/>
                </a:lnTo>
                <a:lnTo>
                  <a:pt x="20052" y="16864"/>
                </a:lnTo>
                <a:lnTo>
                  <a:pt x="20266" y="16836"/>
                </a:lnTo>
                <a:lnTo>
                  <a:pt x="20470" y="16793"/>
                </a:lnTo>
                <a:lnTo>
                  <a:pt x="20662" y="16708"/>
                </a:lnTo>
                <a:lnTo>
                  <a:pt x="20854" y="16567"/>
                </a:lnTo>
                <a:lnTo>
                  <a:pt x="21035" y="16412"/>
                </a:lnTo>
                <a:lnTo>
                  <a:pt x="21182" y="16214"/>
                </a:lnTo>
                <a:lnTo>
                  <a:pt x="21340" y="16002"/>
                </a:lnTo>
                <a:lnTo>
                  <a:pt x="21441" y="15733"/>
                </a:lnTo>
                <a:lnTo>
                  <a:pt x="21532" y="15436"/>
                </a:lnTo>
                <a:lnTo>
                  <a:pt x="21600" y="15083"/>
                </a:lnTo>
                <a:lnTo>
                  <a:pt x="21600" y="14885"/>
                </a:lnTo>
                <a:lnTo>
                  <a:pt x="21600" y="14729"/>
                </a:lnTo>
                <a:lnTo>
                  <a:pt x="21600" y="14531"/>
                </a:lnTo>
                <a:lnTo>
                  <a:pt x="21577" y="14376"/>
                </a:lnTo>
                <a:lnTo>
                  <a:pt x="21532" y="14206"/>
                </a:lnTo>
                <a:lnTo>
                  <a:pt x="21487" y="14051"/>
                </a:lnTo>
                <a:lnTo>
                  <a:pt x="21419" y="13909"/>
                </a:lnTo>
                <a:lnTo>
                  <a:pt x="21351" y="13768"/>
                </a:lnTo>
                <a:lnTo>
                  <a:pt x="21204" y="13500"/>
                </a:lnTo>
                <a:lnTo>
                  <a:pt x="21035" y="13287"/>
                </a:lnTo>
                <a:lnTo>
                  <a:pt x="20809" y="13090"/>
                </a:lnTo>
                <a:lnTo>
                  <a:pt x="20594" y="12962"/>
                </a:lnTo>
                <a:lnTo>
                  <a:pt x="20357" y="12821"/>
                </a:lnTo>
                <a:lnTo>
                  <a:pt x="20120" y="12764"/>
                </a:lnTo>
                <a:lnTo>
                  <a:pt x="19882" y="12708"/>
                </a:lnTo>
                <a:lnTo>
                  <a:pt x="19645" y="12736"/>
                </a:lnTo>
                <a:lnTo>
                  <a:pt x="19430" y="12793"/>
                </a:lnTo>
                <a:lnTo>
                  <a:pt x="19227" y="12906"/>
                </a:lnTo>
                <a:lnTo>
                  <a:pt x="19148" y="12962"/>
                </a:lnTo>
                <a:lnTo>
                  <a:pt x="19058" y="13047"/>
                </a:lnTo>
                <a:lnTo>
                  <a:pt x="18990" y="13146"/>
                </a:lnTo>
                <a:lnTo>
                  <a:pt x="18911" y="13259"/>
                </a:lnTo>
                <a:lnTo>
                  <a:pt x="18775" y="13471"/>
                </a:lnTo>
                <a:lnTo>
                  <a:pt x="18628" y="13641"/>
                </a:lnTo>
                <a:lnTo>
                  <a:pt x="18470" y="13740"/>
                </a:lnTo>
                <a:lnTo>
                  <a:pt x="18301" y="13825"/>
                </a:lnTo>
                <a:lnTo>
                  <a:pt x="18143" y="13853"/>
                </a:lnTo>
                <a:lnTo>
                  <a:pt x="17973" y="13881"/>
                </a:lnTo>
                <a:lnTo>
                  <a:pt x="17804" y="13853"/>
                </a:lnTo>
                <a:lnTo>
                  <a:pt x="17646" y="13796"/>
                </a:lnTo>
                <a:lnTo>
                  <a:pt x="17499" y="13726"/>
                </a:lnTo>
                <a:lnTo>
                  <a:pt x="17341" y="13641"/>
                </a:lnTo>
                <a:lnTo>
                  <a:pt x="17216" y="13528"/>
                </a:lnTo>
                <a:lnTo>
                  <a:pt x="17103" y="13386"/>
                </a:lnTo>
                <a:lnTo>
                  <a:pt x="17024" y="13259"/>
                </a:lnTo>
                <a:lnTo>
                  <a:pt x="16934" y="13118"/>
                </a:lnTo>
                <a:lnTo>
                  <a:pt x="16889" y="12991"/>
                </a:lnTo>
                <a:lnTo>
                  <a:pt x="16889" y="12849"/>
                </a:lnTo>
                <a:lnTo>
                  <a:pt x="16889" y="12383"/>
                </a:lnTo>
                <a:lnTo>
                  <a:pt x="16889" y="11662"/>
                </a:lnTo>
                <a:lnTo>
                  <a:pt x="16889" y="10701"/>
                </a:lnTo>
                <a:lnTo>
                  <a:pt x="16889" y="9640"/>
                </a:lnTo>
                <a:lnTo>
                  <a:pt x="16889" y="8566"/>
                </a:lnTo>
                <a:lnTo>
                  <a:pt x="16889" y="7478"/>
                </a:lnTo>
                <a:lnTo>
                  <a:pt x="16889" y="6502"/>
                </a:lnTo>
                <a:lnTo>
                  <a:pt x="16889" y="5739"/>
                </a:lnTo>
                <a:lnTo>
                  <a:pt x="16674" y="5894"/>
                </a:lnTo>
                <a:lnTo>
                  <a:pt x="16414" y="6036"/>
                </a:lnTo>
                <a:lnTo>
                  <a:pt x="16154" y="6177"/>
                </a:lnTo>
                <a:lnTo>
                  <a:pt x="15849" y="6248"/>
                </a:lnTo>
                <a:lnTo>
                  <a:pt x="15544" y="6304"/>
                </a:lnTo>
                <a:lnTo>
                  <a:pt x="15217" y="6332"/>
                </a:lnTo>
                <a:lnTo>
                  <a:pt x="14866" y="6361"/>
                </a:lnTo>
                <a:lnTo>
                  <a:pt x="14550" y="6361"/>
                </a:lnTo>
                <a:lnTo>
                  <a:pt x="14200" y="6332"/>
                </a:lnTo>
                <a:lnTo>
                  <a:pt x="13850" y="6276"/>
                </a:lnTo>
                <a:lnTo>
                  <a:pt x="13522" y="6219"/>
                </a:lnTo>
                <a:lnTo>
                  <a:pt x="13206" y="6149"/>
                </a:lnTo>
                <a:lnTo>
                  <a:pt x="12901" y="6064"/>
                </a:lnTo>
                <a:lnTo>
                  <a:pt x="12618" y="5951"/>
                </a:lnTo>
                <a:lnTo>
                  <a:pt x="12358" y="5838"/>
                </a:lnTo>
                <a:lnTo>
                  <a:pt x="12121" y="5739"/>
                </a:lnTo>
                <a:lnTo>
                  <a:pt x="11941" y="5626"/>
                </a:lnTo>
                <a:lnTo>
                  <a:pt x="11794" y="5513"/>
                </a:lnTo>
                <a:lnTo>
                  <a:pt x="11658" y="5414"/>
                </a:lnTo>
                <a:lnTo>
                  <a:pt x="11556" y="5301"/>
                </a:lnTo>
                <a:lnTo>
                  <a:pt x="11466" y="5187"/>
                </a:lnTo>
                <a:lnTo>
                  <a:pt x="11398" y="5089"/>
                </a:lnTo>
                <a:lnTo>
                  <a:pt x="11376" y="4947"/>
                </a:lnTo>
                <a:lnTo>
                  <a:pt x="11353" y="4834"/>
                </a:lnTo>
                <a:lnTo>
                  <a:pt x="11353" y="4707"/>
                </a:lnTo>
                <a:lnTo>
                  <a:pt x="11376" y="4565"/>
                </a:lnTo>
                <a:lnTo>
                  <a:pt x="11443" y="4410"/>
                </a:lnTo>
                <a:lnTo>
                  <a:pt x="11511" y="4240"/>
                </a:lnTo>
                <a:lnTo>
                  <a:pt x="11703" y="3887"/>
                </a:lnTo>
                <a:lnTo>
                  <a:pt x="11986" y="3505"/>
                </a:lnTo>
                <a:lnTo>
                  <a:pt x="12144" y="3265"/>
                </a:lnTo>
                <a:lnTo>
                  <a:pt x="12246" y="3025"/>
                </a:lnTo>
                <a:lnTo>
                  <a:pt x="12336" y="2756"/>
                </a:lnTo>
                <a:lnTo>
                  <a:pt x="12404" y="2445"/>
                </a:lnTo>
                <a:lnTo>
                  <a:pt x="12438" y="2176"/>
                </a:lnTo>
                <a:lnTo>
                  <a:pt x="12438" y="1880"/>
                </a:lnTo>
                <a:lnTo>
                  <a:pt x="12404" y="1583"/>
                </a:lnTo>
                <a:lnTo>
                  <a:pt x="12336" y="1314"/>
                </a:lnTo>
                <a:lnTo>
                  <a:pt x="12246" y="1046"/>
                </a:lnTo>
                <a:lnTo>
                  <a:pt x="12099" y="791"/>
                </a:lnTo>
                <a:lnTo>
                  <a:pt x="12008" y="692"/>
                </a:lnTo>
                <a:lnTo>
                  <a:pt x="11918" y="579"/>
                </a:lnTo>
                <a:lnTo>
                  <a:pt x="11816" y="466"/>
                </a:lnTo>
                <a:lnTo>
                  <a:pt x="11703" y="381"/>
                </a:lnTo>
                <a:lnTo>
                  <a:pt x="11579" y="310"/>
                </a:lnTo>
                <a:lnTo>
                  <a:pt x="11443" y="226"/>
                </a:lnTo>
                <a:lnTo>
                  <a:pt x="11297" y="169"/>
                </a:lnTo>
                <a:lnTo>
                  <a:pt x="11138" y="113"/>
                </a:lnTo>
                <a:lnTo>
                  <a:pt x="10969" y="56"/>
                </a:lnTo>
                <a:lnTo>
                  <a:pt x="10800" y="28"/>
                </a:lnTo>
                <a:lnTo>
                  <a:pt x="10619" y="28"/>
                </a:lnTo>
                <a:lnTo>
                  <a:pt x="10404" y="28"/>
                </a:lnTo>
                <a:lnTo>
                  <a:pt x="10257" y="28"/>
                </a:lnTo>
                <a:lnTo>
                  <a:pt x="10076" y="56"/>
                </a:lnTo>
                <a:lnTo>
                  <a:pt x="9952" y="84"/>
                </a:lnTo>
                <a:lnTo>
                  <a:pt x="9794" y="141"/>
                </a:lnTo>
                <a:lnTo>
                  <a:pt x="9692" y="226"/>
                </a:lnTo>
                <a:lnTo>
                  <a:pt x="9557" y="282"/>
                </a:lnTo>
                <a:lnTo>
                  <a:pt x="9455" y="381"/>
                </a:lnTo>
                <a:lnTo>
                  <a:pt x="9365" y="466"/>
                </a:lnTo>
                <a:lnTo>
                  <a:pt x="9274" y="579"/>
                </a:lnTo>
                <a:lnTo>
                  <a:pt x="9184" y="692"/>
                </a:lnTo>
                <a:lnTo>
                  <a:pt x="9128" y="791"/>
                </a:lnTo>
                <a:lnTo>
                  <a:pt x="9060" y="932"/>
                </a:lnTo>
                <a:lnTo>
                  <a:pt x="8969" y="1201"/>
                </a:lnTo>
                <a:lnTo>
                  <a:pt x="8913" y="1498"/>
                </a:lnTo>
                <a:lnTo>
                  <a:pt x="8890" y="1795"/>
                </a:lnTo>
                <a:lnTo>
                  <a:pt x="8890" y="2120"/>
                </a:lnTo>
                <a:lnTo>
                  <a:pt x="8913" y="2445"/>
                </a:lnTo>
                <a:lnTo>
                  <a:pt x="8969" y="2756"/>
                </a:lnTo>
                <a:lnTo>
                  <a:pt x="9060" y="3081"/>
                </a:lnTo>
                <a:lnTo>
                  <a:pt x="9173" y="3378"/>
                </a:lnTo>
                <a:lnTo>
                  <a:pt x="9297" y="3647"/>
                </a:lnTo>
                <a:lnTo>
                  <a:pt x="9466" y="3887"/>
                </a:lnTo>
                <a:lnTo>
                  <a:pt x="9579" y="4085"/>
                </a:lnTo>
                <a:lnTo>
                  <a:pt x="9670" y="4269"/>
                </a:lnTo>
                <a:lnTo>
                  <a:pt x="9726" y="4467"/>
                </a:lnTo>
                <a:lnTo>
                  <a:pt x="9771" y="4650"/>
                </a:lnTo>
                <a:lnTo>
                  <a:pt x="9771" y="4834"/>
                </a:lnTo>
                <a:lnTo>
                  <a:pt x="9749" y="5032"/>
                </a:lnTo>
                <a:lnTo>
                  <a:pt x="9715" y="5216"/>
                </a:lnTo>
                <a:lnTo>
                  <a:pt x="9625" y="5385"/>
                </a:lnTo>
                <a:lnTo>
                  <a:pt x="9534" y="5513"/>
                </a:lnTo>
                <a:lnTo>
                  <a:pt x="9410" y="5626"/>
                </a:lnTo>
                <a:lnTo>
                  <a:pt x="9229" y="5710"/>
                </a:lnTo>
                <a:lnTo>
                  <a:pt x="9060" y="5767"/>
                </a:lnTo>
                <a:lnTo>
                  <a:pt x="8845" y="5767"/>
                </a:lnTo>
                <a:lnTo>
                  <a:pt x="8585" y="5739"/>
                </a:lnTo>
                <a:lnTo>
                  <a:pt x="8325" y="5654"/>
                </a:lnTo>
                <a:lnTo>
                  <a:pt x="8020" y="5513"/>
                </a:lnTo>
                <a:lnTo>
                  <a:pt x="7840" y="5442"/>
                </a:lnTo>
                <a:lnTo>
                  <a:pt x="7648" y="5385"/>
                </a:lnTo>
                <a:lnTo>
                  <a:pt x="7433" y="5329"/>
                </a:lnTo>
                <a:lnTo>
                  <a:pt x="7241" y="5301"/>
                </a:lnTo>
                <a:lnTo>
                  <a:pt x="6755" y="5301"/>
                </a:lnTo>
                <a:lnTo>
                  <a:pt x="6281" y="5329"/>
                </a:lnTo>
                <a:lnTo>
                  <a:pt x="5784" y="5385"/>
                </a:lnTo>
                <a:lnTo>
                  <a:pt x="5264" y="5498"/>
                </a:lnTo>
                <a:lnTo>
                  <a:pt x="4744" y="5597"/>
                </a:lnTo>
                <a:lnTo>
                  <a:pt x="4247" y="5739"/>
                </a:lnTo>
                <a:lnTo>
                  <a:pt x="4202" y="5894"/>
                </a:lnTo>
                <a:lnTo>
                  <a:pt x="4202" y="6191"/>
                </a:lnTo>
                <a:lnTo>
                  <a:pt x="4202" y="6545"/>
                </a:lnTo>
                <a:lnTo>
                  <a:pt x="4225" y="6954"/>
                </a:lnTo>
                <a:lnTo>
                  <a:pt x="4315" y="7930"/>
                </a:lnTo>
                <a:lnTo>
                  <a:pt x="4394" y="9018"/>
                </a:lnTo>
                <a:lnTo>
                  <a:pt x="4439" y="9570"/>
                </a:lnTo>
                <a:lnTo>
                  <a:pt x="4462" y="10107"/>
                </a:lnTo>
                <a:lnTo>
                  <a:pt x="4484" y="10630"/>
                </a:lnTo>
                <a:lnTo>
                  <a:pt x="4507" y="11082"/>
                </a:lnTo>
                <a:lnTo>
                  <a:pt x="4484" y="11520"/>
                </a:lnTo>
                <a:lnTo>
                  <a:pt x="4439" y="11874"/>
                </a:lnTo>
                <a:lnTo>
                  <a:pt x="4394" y="12029"/>
                </a:lnTo>
                <a:lnTo>
                  <a:pt x="4349" y="12171"/>
                </a:lnTo>
                <a:lnTo>
                  <a:pt x="4315" y="12284"/>
                </a:lnTo>
                <a:lnTo>
                  <a:pt x="4247" y="12354"/>
                </a:lnTo>
                <a:close/>
              </a:path>
            </a:pathLst>
          </a:custGeom>
          <a:solidFill>
            <a:srgbClr val="0070C0"/>
          </a:solidFill>
          <a:ln w="28575">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lt"/>
            </a:endParaRPr>
          </a:p>
        </p:txBody>
      </p:sp>
      <p:sp>
        <p:nvSpPr>
          <p:cNvPr id="14" name="MH_Other_4"/>
          <p:cNvSpPr>
            <a:spLocks noEditPoints="1" noChangeArrowheads="1"/>
          </p:cNvSpPr>
          <p:nvPr>
            <p:custDataLst>
              <p:tags r:id="rId6"/>
            </p:custDataLst>
          </p:nvPr>
        </p:nvSpPr>
        <p:spPr bwMode="auto">
          <a:xfrm>
            <a:off x="4763771" y="3170873"/>
            <a:ext cx="1287463" cy="1909762"/>
          </a:xfrm>
          <a:custGeom>
            <a:avLst/>
            <a:gdLst>
              <a:gd name="T0" fmla="*/ 8307 w 21600"/>
              <a:gd name="T1" fmla="*/ 11593 h 21600"/>
              <a:gd name="T2" fmla="*/ 453 w 21600"/>
              <a:gd name="T3" fmla="*/ 16938 h 21600"/>
              <a:gd name="T4" fmla="*/ 11500 w 21600"/>
              <a:gd name="T5" fmla="*/ 21600 h 21600"/>
              <a:gd name="T6" fmla="*/ 20920 w 21600"/>
              <a:gd name="T7" fmla="*/ 16751 h 21600"/>
              <a:gd name="T8" fmla="*/ 13972 w 21600"/>
              <a:gd name="T9" fmla="*/ 10888 h 21600"/>
              <a:gd name="T10" fmla="*/ 21033 w 21600"/>
              <a:gd name="T11" fmla="*/ 4716 h 21600"/>
              <a:gd name="T12" fmla="*/ 11102 w 21600"/>
              <a:gd name="T13" fmla="*/ 11 h 21600"/>
              <a:gd name="T14" fmla="*/ 453 w 21600"/>
              <a:gd name="T15" fmla="*/ 4716 h 21600"/>
              <a:gd name="T16" fmla="*/ 2076 w 21600"/>
              <a:gd name="T17" fmla="*/ 5664 h 21600"/>
              <a:gd name="T18" fmla="*/ 20203 w 21600"/>
              <a:gd name="T19" fmla="*/ 15980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3813" y="10590"/>
                </a:moveTo>
                <a:lnTo>
                  <a:pt x="3927" y="10513"/>
                </a:lnTo>
                <a:lnTo>
                  <a:pt x="4078" y="10425"/>
                </a:lnTo>
                <a:lnTo>
                  <a:pt x="4210" y="10359"/>
                </a:lnTo>
                <a:lnTo>
                  <a:pt x="4361" y="10315"/>
                </a:lnTo>
                <a:lnTo>
                  <a:pt x="4682" y="10237"/>
                </a:lnTo>
                <a:lnTo>
                  <a:pt x="5041" y="10193"/>
                </a:lnTo>
                <a:lnTo>
                  <a:pt x="5456" y="10171"/>
                </a:lnTo>
                <a:lnTo>
                  <a:pt x="5853" y="10193"/>
                </a:lnTo>
                <a:lnTo>
                  <a:pt x="6249" y="10260"/>
                </a:lnTo>
                <a:lnTo>
                  <a:pt x="6646" y="10337"/>
                </a:lnTo>
                <a:lnTo>
                  <a:pt x="7004" y="10469"/>
                </a:lnTo>
                <a:lnTo>
                  <a:pt x="7363" y="10612"/>
                </a:lnTo>
                <a:lnTo>
                  <a:pt x="7665" y="10788"/>
                </a:lnTo>
                <a:lnTo>
                  <a:pt x="7911" y="10998"/>
                </a:lnTo>
                <a:lnTo>
                  <a:pt x="8024" y="11097"/>
                </a:lnTo>
                <a:lnTo>
                  <a:pt x="8137" y="11207"/>
                </a:lnTo>
                <a:lnTo>
                  <a:pt x="8194" y="11340"/>
                </a:lnTo>
                <a:lnTo>
                  <a:pt x="8269" y="11461"/>
                </a:lnTo>
                <a:lnTo>
                  <a:pt x="8307" y="11593"/>
                </a:lnTo>
                <a:lnTo>
                  <a:pt x="8307" y="11714"/>
                </a:lnTo>
                <a:lnTo>
                  <a:pt x="8307" y="11868"/>
                </a:lnTo>
                <a:lnTo>
                  <a:pt x="8307" y="12012"/>
                </a:lnTo>
                <a:lnTo>
                  <a:pt x="8194" y="12265"/>
                </a:lnTo>
                <a:lnTo>
                  <a:pt x="8062" y="12519"/>
                </a:lnTo>
                <a:lnTo>
                  <a:pt x="7873" y="12706"/>
                </a:lnTo>
                <a:lnTo>
                  <a:pt x="7627" y="12904"/>
                </a:lnTo>
                <a:lnTo>
                  <a:pt x="7363" y="13048"/>
                </a:lnTo>
                <a:lnTo>
                  <a:pt x="7080" y="13180"/>
                </a:lnTo>
                <a:lnTo>
                  <a:pt x="6759" y="13257"/>
                </a:lnTo>
                <a:lnTo>
                  <a:pt x="6419" y="13345"/>
                </a:lnTo>
                <a:lnTo>
                  <a:pt x="6098" y="13389"/>
                </a:lnTo>
                <a:lnTo>
                  <a:pt x="5739" y="13389"/>
                </a:lnTo>
                <a:lnTo>
                  <a:pt x="5418" y="13389"/>
                </a:lnTo>
                <a:lnTo>
                  <a:pt x="5079" y="13345"/>
                </a:lnTo>
                <a:lnTo>
                  <a:pt x="4758" y="13301"/>
                </a:lnTo>
                <a:lnTo>
                  <a:pt x="4474" y="13213"/>
                </a:lnTo>
                <a:lnTo>
                  <a:pt x="4172" y="13114"/>
                </a:lnTo>
                <a:lnTo>
                  <a:pt x="3965" y="12982"/>
                </a:lnTo>
                <a:lnTo>
                  <a:pt x="3738" y="12838"/>
                </a:lnTo>
                <a:lnTo>
                  <a:pt x="3493" y="12706"/>
                </a:lnTo>
                <a:lnTo>
                  <a:pt x="3228" y="12607"/>
                </a:lnTo>
                <a:lnTo>
                  <a:pt x="2945" y="12519"/>
                </a:lnTo>
                <a:lnTo>
                  <a:pt x="2700" y="12431"/>
                </a:lnTo>
                <a:lnTo>
                  <a:pt x="2397" y="12375"/>
                </a:lnTo>
                <a:lnTo>
                  <a:pt x="2152" y="12331"/>
                </a:lnTo>
                <a:lnTo>
                  <a:pt x="1888" y="12309"/>
                </a:lnTo>
                <a:lnTo>
                  <a:pt x="1642" y="12309"/>
                </a:lnTo>
                <a:lnTo>
                  <a:pt x="1397" y="12331"/>
                </a:lnTo>
                <a:lnTo>
                  <a:pt x="1170" y="12397"/>
                </a:lnTo>
                <a:lnTo>
                  <a:pt x="962" y="12453"/>
                </a:lnTo>
                <a:lnTo>
                  <a:pt x="774" y="12563"/>
                </a:lnTo>
                <a:lnTo>
                  <a:pt x="623" y="12684"/>
                </a:lnTo>
                <a:lnTo>
                  <a:pt x="528" y="12838"/>
                </a:lnTo>
                <a:lnTo>
                  <a:pt x="453" y="13026"/>
                </a:lnTo>
                <a:lnTo>
                  <a:pt x="339" y="13477"/>
                </a:lnTo>
                <a:lnTo>
                  <a:pt x="226" y="13984"/>
                </a:lnTo>
                <a:lnTo>
                  <a:pt x="151" y="14535"/>
                </a:lnTo>
                <a:lnTo>
                  <a:pt x="113" y="15075"/>
                </a:lnTo>
                <a:lnTo>
                  <a:pt x="113" y="15626"/>
                </a:lnTo>
                <a:lnTo>
                  <a:pt x="151" y="16133"/>
                </a:lnTo>
                <a:lnTo>
                  <a:pt x="188" y="16376"/>
                </a:lnTo>
                <a:lnTo>
                  <a:pt x="264" y="16585"/>
                </a:lnTo>
                <a:lnTo>
                  <a:pt x="339" y="16773"/>
                </a:lnTo>
                <a:lnTo>
                  <a:pt x="453" y="16938"/>
                </a:lnTo>
                <a:lnTo>
                  <a:pt x="1095" y="16883"/>
                </a:lnTo>
                <a:lnTo>
                  <a:pt x="1963" y="16795"/>
                </a:lnTo>
                <a:lnTo>
                  <a:pt x="2945" y="16751"/>
                </a:lnTo>
                <a:lnTo>
                  <a:pt x="3965" y="16706"/>
                </a:lnTo>
                <a:lnTo>
                  <a:pt x="5022" y="16684"/>
                </a:lnTo>
                <a:lnTo>
                  <a:pt x="5947" y="16684"/>
                </a:lnTo>
                <a:lnTo>
                  <a:pt x="6759" y="16706"/>
                </a:lnTo>
                <a:lnTo>
                  <a:pt x="7363" y="16751"/>
                </a:lnTo>
                <a:lnTo>
                  <a:pt x="7948" y="16839"/>
                </a:lnTo>
                <a:lnTo>
                  <a:pt x="8458" y="16916"/>
                </a:lnTo>
                <a:lnTo>
                  <a:pt x="8893" y="17026"/>
                </a:lnTo>
                <a:lnTo>
                  <a:pt x="9289" y="17158"/>
                </a:lnTo>
                <a:lnTo>
                  <a:pt x="9572" y="17280"/>
                </a:lnTo>
                <a:lnTo>
                  <a:pt x="9799" y="17412"/>
                </a:lnTo>
                <a:lnTo>
                  <a:pt x="9969" y="17555"/>
                </a:lnTo>
                <a:lnTo>
                  <a:pt x="10120" y="17687"/>
                </a:lnTo>
                <a:lnTo>
                  <a:pt x="10158" y="17831"/>
                </a:lnTo>
                <a:lnTo>
                  <a:pt x="10195" y="17974"/>
                </a:lnTo>
                <a:lnTo>
                  <a:pt x="10158" y="18128"/>
                </a:lnTo>
                <a:lnTo>
                  <a:pt x="10082" y="18271"/>
                </a:lnTo>
                <a:lnTo>
                  <a:pt x="9969" y="18426"/>
                </a:lnTo>
                <a:lnTo>
                  <a:pt x="9837" y="18569"/>
                </a:lnTo>
                <a:lnTo>
                  <a:pt x="9648" y="18701"/>
                </a:lnTo>
                <a:lnTo>
                  <a:pt x="9440" y="18822"/>
                </a:lnTo>
                <a:lnTo>
                  <a:pt x="9213" y="18999"/>
                </a:lnTo>
                <a:lnTo>
                  <a:pt x="9044" y="19186"/>
                </a:lnTo>
                <a:lnTo>
                  <a:pt x="8893" y="19395"/>
                </a:lnTo>
                <a:lnTo>
                  <a:pt x="8817" y="19627"/>
                </a:lnTo>
                <a:lnTo>
                  <a:pt x="8779" y="19858"/>
                </a:lnTo>
                <a:lnTo>
                  <a:pt x="8779" y="20112"/>
                </a:lnTo>
                <a:lnTo>
                  <a:pt x="8855" y="20354"/>
                </a:lnTo>
                <a:lnTo>
                  <a:pt x="8968" y="20586"/>
                </a:lnTo>
                <a:lnTo>
                  <a:pt x="9138" y="20817"/>
                </a:lnTo>
                <a:lnTo>
                  <a:pt x="9365" y="21026"/>
                </a:lnTo>
                <a:lnTo>
                  <a:pt x="9610" y="21192"/>
                </a:lnTo>
                <a:lnTo>
                  <a:pt x="9950" y="21368"/>
                </a:lnTo>
                <a:lnTo>
                  <a:pt x="10120" y="21445"/>
                </a:lnTo>
                <a:lnTo>
                  <a:pt x="10346" y="21511"/>
                </a:lnTo>
                <a:lnTo>
                  <a:pt x="10516" y="21555"/>
                </a:lnTo>
                <a:lnTo>
                  <a:pt x="10743" y="21600"/>
                </a:lnTo>
                <a:lnTo>
                  <a:pt x="10988" y="21644"/>
                </a:lnTo>
                <a:lnTo>
                  <a:pt x="11215" y="21666"/>
                </a:lnTo>
                <a:lnTo>
                  <a:pt x="11498" y="21666"/>
                </a:lnTo>
                <a:lnTo>
                  <a:pt x="11762" y="21666"/>
                </a:lnTo>
                <a:lnTo>
                  <a:pt x="12253" y="21644"/>
                </a:lnTo>
                <a:lnTo>
                  <a:pt x="12763" y="21577"/>
                </a:lnTo>
                <a:lnTo>
                  <a:pt x="13197" y="21467"/>
                </a:lnTo>
                <a:lnTo>
                  <a:pt x="13556" y="21346"/>
                </a:lnTo>
                <a:lnTo>
                  <a:pt x="13896" y="21192"/>
                </a:lnTo>
                <a:lnTo>
                  <a:pt x="14179" y="21026"/>
                </a:lnTo>
                <a:lnTo>
                  <a:pt x="14444" y="20839"/>
                </a:lnTo>
                <a:lnTo>
                  <a:pt x="14576" y="20641"/>
                </a:lnTo>
                <a:lnTo>
                  <a:pt x="14727" y="20431"/>
                </a:lnTo>
                <a:lnTo>
                  <a:pt x="14765" y="20200"/>
                </a:lnTo>
                <a:lnTo>
                  <a:pt x="14802" y="19991"/>
                </a:lnTo>
                <a:lnTo>
                  <a:pt x="14727" y="19759"/>
                </a:lnTo>
                <a:lnTo>
                  <a:pt x="14613" y="19550"/>
                </a:lnTo>
                <a:lnTo>
                  <a:pt x="14444" y="19307"/>
                </a:lnTo>
                <a:lnTo>
                  <a:pt x="14217" y="19098"/>
                </a:lnTo>
                <a:lnTo>
                  <a:pt x="13934" y="18911"/>
                </a:lnTo>
                <a:lnTo>
                  <a:pt x="13669" y="18745"/>
                </a:lnTo>
                <a:lnTo>
                  <a:pt x="13462" y="18547"/>
                </a:lnTo>
                <a:lnTo>
                  <a:pt x="13311" y="18337"/>
                </a:lnTo>
                <a:lnTo>
                  <a:pt x="13197" y="18150"/>
                </a:lnTo>
                <a:lnTo>
                  <a:pt x="13122" y="17941"/>
                </a:lnTo>
                <a:lnTo>
                  <a:pt x="13122" y="17720"/>
                </a:lnTo>
                <a:lnTo>
                  <a:pt x="13122" y="17533"/>
                </a:lnTo>
                <a:lnTo>
                  <a:pt x="13197" y="17346"/>
                </a:lnTo>
                <a:lnTo>
                  <a:pt x="13273" y="17158"/>
                </a:lnTo>
                <a:lnTo>
                  <a:pt x="13386" y="16982"/>
                </a:lnTo>
                <a:lnTo>
                  <a:pt x="13537" y="16839"/>
                </a:lnTo>
                <a:lnTo>
                  <a:pt x="13707" y="16706"/>
                </a:lnTo>
                <a:lnTo>
                  <a:pt x="13896" y="16607"/>
                </a:lnTo>
                <a:lnTo>
                  <a:pt x="14104" y="16519"/>
                </a:lnTo>
                <a:lnTo>
                  <a:pt x="14330" y="16453"/>
                </a:lnTo>
                <a:lnTo>
                  <a:pt x="14538" y="16431"/>
                </a:lnTo>
                <a:lnTo>
                  <a:pt x="14897" y="16453"/>
                </a:lnTo>
                <a:lnTo>
                  <a:pt x="15406" y="16497"/>
                </a:lnTo>
                <a:lnTo>
                  <a:pt x="16105" y="16541"/>
                </a:lnTo>
                <a:lnTo>
                  <a:pt x="16898" y="16607"/>
                </a:lnTo>
                <a:lnTo>
                  <a:pt x="17804" y="16651"/>
                </a:lnTo>
                <a:lnTo>
                  <a:pt x="18786" y="16684"/>
                </a:lnTo>
                <a:lnTo>
                  <a:pt x="19844" y="16728"/>
                </a:lnTo>
                <a:lnTo>
                  <a:pt x="20920" y="16751"/>
                </a:lnTo>
                <a:lnTo>
                  <a:pt x="21109" y="16497"/>
                </a:lnTo>
                <a:lnTo>
                  <a:pt x="21241" y="16222"/>
                </a:lnTo>
                <a:lnTo>
                  <a:pt x="21392" y="15946"/>
                </a:lnTo>
                <a:lnTo>
                  <a:pt x="21467" y="15648"/>
                </a:lnTo>
                <a:lnTo>
                  <a:pt x="21543" y="15351"/>
                </a:lnTo>
                <a:lnTo>
                  <a:pt x="21618" y="15042"/>
                </a:lnTo>
                <a:lnTo>
                  <a:pt x="21618" y="14745"/>
                </a:lnTo>
                <a:lnTo>
                  <a:pt x="21618" y="14447"/>
                </a:lnTo>
                <a:lnTo>
                  <a:pt x="21618" y="14150"/>
                </a:lnTo>
                <a:lnTo>
                  <a:pt x="21581" y="13852"/>
                </a:lnTo>
                <a:lnTo>
                  <a:pt x="21505" y="13577"/>
                </a:lnTo>
                <a:lnTo>
                  <a:pt x="21430" y="13301"/>
                </a:lnTo>
                <a:lnTo>
                  <a:pt x="21354" y="13048"/>
                </a:lnTo>
                <a:lnTo>
                  <a:pt x="21241" y="12816"/>
                </a:lnTo>
                <a:lnTo>
                  <a:pt x="21146" y="12607"/>
                </a:lnTo>
                <a:lnTo>
                  <a:pt x="21033" y="12431"/>
                </a:lnTo>
                <a:lnTo>
                  <a:pt x="20920" y="12265"/>
                </a:lnTo>
                <a:lnTo>
                  <a:pt x="20769" y="12144"/>
                </a:lnTo>
                <a:lnTo>
                  <a:pt x="20637" y="12034"/>
                </a:lnTo>
                <a:lnTo>
                  <a:pt x="20486" y="11946"/>
                </a:lnTo>
                <a:lnTo>
                  <a:pt x="20297" y="11891"/>
                </a:lnTo>
                <a:lnTo>
                  <a:pt x="20165" y="11846"/>
                </a:lnTo>
                <a:lnTo>
                  <a:pt x="19976" y="11824"/>
                </a:lnTo>
                <a:lnTo>
                  <a:pt x="19806" y="11802"/>
                </a:lnTo>
                <a:lnTo>
                  <a:pt x="19390" y="11824"/>
                </a:lnTo>
                <a:lnTo>
                  <a:pt x="18956" y="11891"/>
                </a:lnTo>
                <a:lnTo>
                  <a:pt x="18503" y="11968"/>
                </a:lnTo>
                <a:lnTo>
                  <a:pt x="17993" y="12078"/>
                </a:lnTo>
                <a:lnTo>
                  <a:pt x="17653" y="12144"/>
                </a:lnTo>
                <a:lnTo>
                  <a:pt x="17332" y="12199"/>
                </a:lnTo>
                <a:lnTo>
                  <a:pt x="17049" y="12221"/>
                </a:lnTo>
                <a:lnTo>
                  <a:pt x="16747" y="12243"/>
                </a:lnTo>
                <a:lnTo>
                  <a:pt x="16464" y="12243"/>
                </a:lnTo>
                <a:lnTo>
                  <a:pt x="16218" y="12243"/>
                </a:lnTo>
                <a:lnTo>
                  <a:pt x="15992" y="12221"/>
                </a:lnTo>
                <a:lnTo>
                  <a:pt x="15746" y="12199"/>
                </a:lnTo>
                <a:lnTo>
                  <a:pt x="15520" y="12155"/>
                </a:lnTo>
                <a:lnTo>
                  <a:pt x="15350" y="12122"/>
                </a:lnTo>
                <a:lnTo>
                  <a:pt x="15161" y="12056"/>
                </a:lnTo>
                <a:lnTo>
                  <a:pt x="14972" y="11990"/>
                </a:lnTo>
                <a:lnTo>
                  <a:pt x="14689" y="11846"/>
                </a:lnTo>
                <a:lnTo>
                  <a:pt x="14444" y="11670"/>
                </a:lnTo>
                <a:lnTo>
                  <a:pt x="14255" y="11483"/>
                </a:lnTo>
                <a:lnTo>
                  <a:pt x="14104" y="11295"/>
                </a:lnTo>
                <a:lnTo>
                  <a:pt x="14028" y="11086"/>
                </a:lnTo>
                <a:lnTo>
                  <a:pt x="13972" y="10888"/>
                </a:lnTo>
                <a:lnTo>
                  <a:pt x="13972" y="10700"/>
                </a:lnTo>
                <a:lnTo>
                  <a:pt x="14009" y="10513"/>
                </a:lnTo>
                <a:lnTo>
                  <a:pt x="14066" y="10359"/>
                </a:lnTo>
                <a:lnTo>
                  <a:pt x="14179" y="10215"/>
                </a:lnTo>
                <a:lnTo>
                  <a:pt x="14406" y="10006"/>
                </a:lnTo>
                <a:lnTo>
                  <a:pt x="14651" y="9830"/>
                </a:lnTo>
                <a:lnTo>
                  <a:pt x="14878" y="9686"/>
                </a:lnTo>
                <a:lnTo>
                  <a:pt x="15123" y="9554"/>
                </a:lnTo>
                <a:lnTo>
                  <a:pt x="15350" y="9477"/>
                </a:lnTo>
                <a:lnTo>
                  <a:pt x="15558" y="9411"/>
                </a:lnTo>
                <a:lnTo>
                  <a:pt x="15803" y="9345"/>
                </a:lnTo>
                <a:lnTo>
                  <a:pt x="16030" y="9323"/>
                </a:lnTo>
                <a:lnTo>
                  <a:pt x="16256" y="9301"/>
                </a:lnTo>
                <a:lnTo>
                  <a:pt x="16464" y="9323"/>
                </a:lnTo>
                <a:lnTo>
                  <a:pt x="16690" y="9345"/>
                </a:lnTo>
                <a:lnTo>
                  <a:pt x="16898" y="9367"/>
                </a:lnTo>
                <a:lnTo>
                  <a:pt x="17332" y="9477"/>
                </a:lnTo>
                <a:lnTo>
                  <a:pt x="17767" y="9598"/>
                </a:lnTo>
                <a:lnTo>
                  <a:pt x="18163" y="9731"/>
                </a:lnTo>
                <a:lnTo>
                  <a:pt x="18597" y="9874"/>
                </a:lnTo>
                <a:lnTo>
                  <a:pt x="18994" y="10006"/>
                </a:lnTo>
                <a:lnTo>
                  <a:pt x="19428" y="10083"/>
                </a:lnTo>
                <a:lnTo>
                  <a:pt x="19617" y="10127"/>
                </a:lnTo>
                <a:lnTo>
                  <a:pt x="19844" y="10149"/>
                </a:lnTo>
                <a:lnTo>
                  <a:pt x="20013" y="10149"/>
                </a:lnTo>
                <a:lnTo>
                  <a:pt x="20240" y="10127"/>
                </a:lnTo>
                <a:lnTo>
                  <a:pt x="20410" y="10105"/>
                </a:lnTo>
                <a:lnTo>
                  <a:pt x="20637" y="10061"/>
                </a:lnTo>
                <a:lnTo>
                  <a:pt x="20844" y="9984"/>
                </a:lnTo>
                <a:lnTo>
                  <a:pt x="21033" y="9896"/>
                </a:lnTo>
                <a:lnTo>
                  <a:pt x="21146" y="9830"/>
                </a:lnTo>
                <a:lnTo>
                  <a:pt x="21203" y="9753"/>
                </a:lnTo>
                <a:lnTo>
                  <a:pt x="21279" y="9642"/>
                </a:lnTo>
                <a:lnTo>
                  <a:pt x="21354" y="9521"/>
                </a:lnTo>
                <a:lnTo>
                  <a:pt x="21430" y="9246"/>
                </a:lnTo>
                <a:lnTo>
                  <a:pt x="21430" y="8904"/>
                </a:lnTo>
                <a:lnTo>
                  <a:pt x="21430" y="8540"/>
                </a:lnTo>
                <a:lnTo>
                  <a:pt x="21392" y="8144"/>
                </a:lnTo>
                <a:lnTo>
                  <a:pt x="21354" y="7714"/>
                </a:lnTo>
                <a:lnTo>
                  <a:pt x="21279" y="7295"/>
                </a:lnTo>
                <a:lnTo>
                  <a:pt x="21146" y="6446"/>
                </a:lnTo>
                <a:lnTo>
                  <a:pt x="20995" y="5686"/>
                </a:lnTo>
                <a:lnTo>
                  <a:pt x="20958" y="5366"/>
                </a:lnTo>
                <a:lnTo>
                  <a:pt x="20958" y="5091"/>
                </a:lnTo>
                <a:lnTo>
                  <a:pt x="20958" y="4860"/>
                </a:lnTo>
                <a:lnTo>
                  <a:pt x="21033" y="4716"/>
                </a:lnTo>
                <a:lnTo>
                  <a:pt x="20637" y="4860"/>
                </a:lnTo>
                <a:lnTo>
                  <a:pt x="20127" y="4992"/>
                </a:lnTo>
                <a:lnTo>
                  <a:pt x="19617" y="5069"/>
                </a:lnTo>
                <a:lnTo>
                  <a:pt x="19032" y="5157"/>
                </a:lnTo>
                <a:lnTo>
                  <a:pt x="18465" y="5201"/>
                </a:lnTo>
                <a:lnTo>
                  <a:pt x="17842" y="5245"/>
                </a:lnTo>
                <a:lnTo>
                  <a:pt x="17219" y="5267"/>
                </a:lnTo>
                <a:lnTo>
                  <a:pt x="16615" y="5267"/>
                </a:lnTo>
                <a:lnTo>
                  <a:pt x="15992" y="5245"/>
                </a:lnTo>
                <a:lnTo>
                  <a:pt x="15369" y="5201"/>
                </a:lnTo>
                <a:lnTo>
                  <a:pt x="14840" y="5157"/>
                </a:lnTo>
                <a:lnTo>
                  <a:pt x="14293" y="5091"/>
                </a:lnTo>
                <a:lnTo>
                  <a:pt x="13783" y="5014"/>
                </a:lnTo>
                <a:lnTo>
                  <a:pt x="13386" y="4926"/>
                </a:lnTo>
                <a:lnTo>
                  <a:pt x="13027" y="4815"/>
                </a:lnTo>
                <a:lnTo>
                  <a:pt x="12725" y="4716"/>
                </a:lnTo>
                <a:lnTo>
                  <a:pt x="12480" y="4606"/>
                </a:lnTo>
                <a:lnTo>
                  <a:pt x="12291" y="4496"/>
                </a:lnTo>
                <a:lnTo>
                  <a:pt x="12197" y="4397"/>
                </a:lnTo>
                <a:lnTo>
                  <a:pt x="12083" y="4286"/>
                </a:lnTo>
                <a:lnTo>
                  <a:pt x="12046" y="4187"/>
                </a:lnTo>
                <a:lnTo>
                  <a:pt x="12008" y="4077"/>
                </a:lnTo>
                <a:lnTo>
                  <a:pt x="12046" y="3967"/>
                </a:lnTo>
                <a:lnTo>
                  <a:pt x="12121" y="3868"/>
                </a:lnTo>
                <a:lnTo>
                  <a:pt x="12197" y="3735"/>
                </a:lnTo>
                <a:lnTo>
                  <a:pt x="12291" y="3614"/>
                </a:lnTo>
                <a:lnTo>
                  <a:pt x="12442" y="3482"/>
                </a:lnTo>
                <a:lnTo>
                  <a:pt x="12631" y="3361"/>
                </a:lnTo>
                <a:lnTo>
                  <a:pt x="13065" y="3085"/>
                </a:lnTo>
                <a:lnTo>
                  <a:pt x="13537" y="2766"/>
                </a:lnTo>
                <a:lnTo>
                  <a:pt x="13783" y="2578"/>
                </a:lnTo>
                <a:lnTo>
                  <a:pt x="13934" y="2380"/>
                </a:lnTo>
                <a:lnTo>
                  <a:pt x="14028" y="2171"/>
                </a:lnTo>
                <a:lnTo>
                  <a:pt x="14104" y="1961"/>
                </a:lnTo>
                <a:lnTo>
                  <a:pt x="14104" y="1730"/>
                </a:lnTo>
                <a:lnTo>
                  <a:pt x="14066" y="1498"/>
                </a:lnTo>
                <a:lnTo>
                  <a:pt x="13972" y="1267"/>
                </a:lnTo>
                <a:lnTo>
                  <a:pt x="13820" y="1057"/>
                </a:lnTo>
                <a:lnTo>
                  <a:pt x="13594" y="837"/>
                </a:lnTo>
                <a:lnTo>
                  <a:pt x="13386" y="628"/>
                </a:lnTo>
                <a:lnTo>
                  <a:pt x="13103" y="462"/>
                </a:lnTo>
                <a:lnTo>
                  <a:pt x="12763" y="308"/>
                </a:lnTo>
                <a:lnTo>
                  <a:pt x="12404" y="187"/>
                </a:lnTo>
                <a:lnTo>
                  <a:pt x="12008" y="77"/>
                </a:lnTo>
                <a:lnTo>
                  <a:pt x="11574" y="33"/>
                </a:lnTo>
                <a:lnTo>
                  <a:pt x="11102" y="11"/>
                </a:lnTo>
                <a:lnTo>
                  <a:pt x="10667" y="11"/>
                </a:lnTo>
                <a:lnTo>
                  <a:pt x="10233" y="77"/>
                </a:lnTo>
                <a:lnTo>
                  <a:pt x="9837" y="187"/>
                </a:lnTo>
                <a:lnTo>
                  <a:pt x="9440" y="286"/>
                </a:lnTo>
                <a:lnTo>
                  <a:pt x="9062" y="462"/>
                </a:lnTo>
                <a:lnTo>
                  <a:pt x="8741" y="628"/>
                </a:lnTo>
                <a:lnTo>
                  <a:pt x="8458" y="815"/>
                </a:lnTo>
                <a:lnTo>
                  <a:pt x="8232" y="1035"/>
                </a:lnTo>
                <a:lnTo>
                  <a:pt x="8062" y="1245"/>
                </a:lnTo>
                <a:lnTo>
                  <a:pt x="7911" y="1476"/>
                </a:lnTo>
                <a:lnTo>
                  <a:pt x="7835" y="1708"/>
                </a:lnTo>
                <a:lnTo>
                  <a:pt x="7797" y="1961"/>
                </a:lnTo>
                <a:lnTo>
                  <a:pt x="7835" y="2193"/>
                </a:lnTo>
                <a:lnTo>
                  <a:pt x="7948" y="2402"/>
                </a:lnTo>
                <a:lnTo>
                  <a:pt x="8062" y="2534"/>
                </a:lnTo>
                <a:lnTo>
                  <a:pt x="8175" y="2644"/>
                </a:lnTo>
                <a:lnTo>
                  <a:pt x="8269" y="2744"/>
                </a:lnTo>
                <a:lnTo>
                  <a:pt x="8420" y="2832"/>
                </a:lnTo>
                <a:lnTo>
                  <a:pt x="8704" y="3019"/>
                </a:lnTo>
                <a:lnTo>
                  <a:pt x="8968" y="3206"/>
                </a:lnTo>
                <a:lnTo>
                  <a:pt x="9138" y="3405"/>
                </a:lnTo>
                <a:lnTo>
                  <a:pt x="9327" y="3570"/>
                </a:lnTo>
                <a:lnTo>
                  <a:pt x="9440" y="3735"/>
                </a:lnTo>
                <a:lnTo>
                  <a:pt x="9516" y="3890"/>
                </a:lnTo>
                <a:lnTo>
                  <a:pt x="9534" y="4033"/>
                </a:lnTo>
                <a:lnTo>
                  <a:pt x="9534" y="4165"/>
                </a:lnTo>
                <a:lnTo>
                  <a:pt x="9516" y="4286"/>
                </a:lnTo>
                <a:lnTo>
                  <a:pt x="9440" y="4397"/>
                </a:lnTo>
                <a:lnTo>
                  <a:pt x="9327" y="4496"/>
                </a:lnTo>
                <a:lnTo>
                  <a:pt x="9176" y="4562"/>
                </a:lnTo>
                <a:lnTo>
                  <a:pt x="9006" y="4628"/>
                </a:lnTo>
                <a:lnTo>
                  <a:pt x="8779" y="4694"/>
                </a:lnTo>
                <a:lnTo>
                  <a:pt x="8534" y="4716"/>
                </a:lnTo>
                <a:lnTo>
                  <a:pt x="8232" y="4716"/>
                </a:lnTo>
                <a:lnTo>
                  <a:pt x="7118" y="4738"/>
                </a:lnTo>
                <a:lnTo>
                  <a:pt x="5947" y="4771"/>
                </a:lnTo>
                <a:lnTo>
                  <a:pt x="4795" y="4815"/>
                </a:lnTo>
                <a:lnTo>
                  <a:pt x="3681" y="4860"/>
                </a:lnTo>
                <a:lnTo>
                  <a:pt x="2662" y="4882"/>
                </a:lnTo>
                <a:lnTo>
                  <a:pt x="1755" y="4882"/>
                </a:lnTo>
                <a:lnTo>
                  <a:pt x="1359" y="4860"/>
                </a:lnTo>
                <a:lnTo>
                  <a:pt x="981" y="4837"/>
                </a:lnTo>
                <a:lnTo>
                  <a:pt x="698" y="4771"/>
                </a:lnTo>
                <a:lnTo>
                  <a:pt x="453" y="4716"/>
                </a:lnTo>
                <a:lnTo>
                  <a:pt x="453" y="5322"/>
                </a:lnTo>
                <a:lnTo>
                  <a:pt x="453" y="6083"/>
                </a:lnTo>
                <a:lnTo>
                  <a:pt x="453" y="6909"/>
                </a:lnTo>
                <a:lnTo>
                  <a:pt x="453" y="7780"/>
                </a:lnTo>
                <a:lnTo>
                  <a:pt x="453" y="8606"/>
                </a:lnTo>
                <a:lnTo>
                  <a:pt x="453" y="9345"/>
                </a:lnTo>
                <a:lnTo>
                  <a:pt x="453" y="9918"/>
                </a:lnTo>
                <a:lnTo>
                  <a:pt x="453" y="10282"/>
                </a:lnTo>
                <a:lnTo>
                  <a:pt x="490" y="10381"/>
                </a:lnTo>
                <a:lnTo>
                  <a:pt x="547" y="10491"/>
                </a:lnTo>
                <a:lnTo>
                  <a:pt x="660" y="10590"/>
                </a:lnTo>
                <a:lnTo>
                  <a:pt x="811" y="10700"/>
                </a:lnTo>
                <a:lnTo>
                  <a:pt x="981" y="10811"/>
                </a:lnTo>
                <a:lnTo>
                  <a:pt x="1208" y="10888"/>
                </a:lnTo>
                <a:lnTo>
                  <a:pt x="1453" y="10954"/>
                </a:lnTo>
                <a:lnTo>
                  <a:pt x="1718" y="11020"/>
                </a:lnTo>
                <a:lnTo>
                  <a:pt x="1963" y="11064"/>
                </a:lnTo>
                <a:lnTo>
                  <a:pt x="2265" y="11086"/>
                </a:lnTo>
                <a:lnTo>
                  <a:pt x="2548" y="11064"/>
                </a:lnTo>
                <a:lnTo>
                  <a:pt x="2794" y="11042"/>
                </a:lnTo>
                <a:lnTo>
                  <a:pt x="3096" y="10976"/>
                </a:lnTo>
                <a:lnTo>
                  <a:pt x="3341" y="10888"/>
                </a:lnTo>
                <a:lnTo>
                  <a:pt x="3606" y="10766"/>
                </a:lnTo>
                <a:lnTo>
                  <a:pt x="3813" y="10590"/>
                </a:lnTo>
                <a:close/>
              </a:path>
            </a:pathLst>
          </a:custGeom>
          <a:solidFill>
            <a:srgbClr val="0070C0"/>
          </a:solidFill>
          <a:ln w="28575">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lt"/>
            </a:endParaRPr>
          </a:p>
        </p:txBody>
      </p:sp>
      <p:sp>
        <p:nvSpPr>
          <p:cNvPr id="15" name="MH_Other_5"/>
          <p:cNvSpPr>
            <a:spLocks noEditPoints="1" noChangeArrowheads="1"/>
          </p:cNvSpPr>
          <p:nvPr>
            <p:custDataLst>
              <p:tags r:id="rId7"/>
            </p:custDataLst>
          </p:nvPr>
        </p:nvSpPr>
        <p:spPr bwMode="auto">
          <a:xfrm>
            <a:off x="4322445" y="2489835"/>
            <a:ext cx="2160588" cy="1138238"/>
          </a:xfrm>
          <a:custGeom>
            <a:avLst/>
            <a:gdLst>
              <a:gd name="T0" fmla="*/ 16740 w 21600"/>
              <a:gd name="T1" fmla="*/ 21078 h 21600"/>
              <a:gd name="T2" fmla="*/ 16976 w 21600"/>
              <a:gd name="T3" fmla="*/ 521 h 21600"/>
              <a:gd name="T4" fmla="*/ 4725 w 21600"/>
              <a:gd name="T5" fmla="*/ 856 h 21600"/>
              <a:gd name="T6" fmla="*/ 5040 w 21600"/>
              <a:gd name="T7" fmla="*/ 21004 h 21600"/>
              <a:gd name="T8" fmla="*/ 10811 w 21600"/>
              <a:gd name="T9" fmla="*/ 12885 h 21600"/>
              <a:gd name="T10" fmla="*/ 10845 w 21600"/>
              <a:gd name="T11" fmla="*/ 8714 h 21600"/>
              <a:gd name="T12" fmla="*/ 21600 w 21600"/>
              <a:gd name="T13" fmla="*/ 10000 h 21600"/>
              <a:gd name="T14" fmla="*/ 56 w 21600"/>
              <a:gd name="T15" fmla="*/ 10000 h 21600"/>
              <a:gd name="T16" fmla="*/ 6086 w 21600"/>
              <a:gd name="T17" fmla="*/ 2569 h 21600"/>
              <a:gd name="T18" fmla="*/ 16132 w 21600"/>
              <a:gd name="T19" fmla="*/ 19552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9360" y="20836"/>
                </a:moveTo>
                <a:lnTo>
                  <a:pt x="9528" y="20836"/>
                </a:lnTo>
                <a:lnTo>
                  <a:pt x="9686" y="20762"/>
                </a:lnTo>
                <a:lnTo>
                  <a:pt x="9810" y="20687"/>
                </a:lnTo>
                <a:lnTo>
                  <a:pt x="9922" y="20575"/>
                </a:lnTo>
                <a:lnTo>
                  <a:pt x="10012" y="20426"/>
                </a:lnTo>
                <a:lnTo>
                  <a:pt x="10068" y="20296"/>
                </a:lnTo>
                <a:lnTo>
                  <a:pt x="10113" y="20110"/>
                </a:lnTo>
                <a:lnTo>
                  <a:pt x="10136" y="19905"/>
                </a:lnTo>
                <a:lnTo>
                  <a:pt x="10136" y="19682"/>
                </a:lnTo>
                <a:lnTo>
                  <a:pt x="10113" y="19440"/>
                </a:lnTo>
                <a:lnTo>
                  <a:pt x="10068" y="19142"/>
                </a:lnTo>
                <a:lnTo>
                  <a:pt x="10012" y="18900"/>
                </a:lnTo>
                <a:lnTo>
                  <a:pt x="9900" y="18620"/>
                </a:lnTo>
                <a:lnTo>
                  <a:pt x="9787" y="18285"/>
                </a:lnTo>
                <a:lnTo>
                  <a:pt x="9641" y="17968"/>
                </a:lnTo>
                <a:lnTo>
                  <a:pt x="9472" y="17652"/>
                </a:lnTo>
                <a:lnTo>
                  <a:pt x="9382" y="17466"/>
                </a:lnTo>
                <a:lnTo>
                  <a:pt x="9315" y="17298"/>
                </a:lnTo>
                <a:lnTo>
                  <a:pt x="9258" y="17112"/>
                </a:lnTo>
                <a:lnTo>
                  <a:pt x="9191" y="16926"/>
                </a:lnTo>
                <a:lnTo>
                  <a:pt x="9123" y="16535"/>
                </a:lnTo>
                <a:lnTo>
                  <a:pt x="9101" y="16144"/>
                </a:lnTo>
                <a:lnTo>
                  <a:pt x="9101" y="15753"/>
                </a:lnTo>
                <a:lnTo>
                  <a:pt x="9168" y="15362"/>
                </a:lnTo>
                <a:lnTo>
                  <a:pt x="9236" y="14971"/>
                </a:lnTo>
                <a:lnTo>
                  <a:pt x="9360" y="14580"/>
                </a:lnTo>
                <a:lnTo>
                  <a:pt x="9495" y="14244"/>
                </a:lnTo>
                <a:lnTo>
                  <a:pt x="9663" y="13891"/>
                </a:lnTo>
                <a:lnTo>
                  <a:pt x="9855" y="13611"/>
                </a:lnTo>
                <a:lnTo>
                  <a:pt x="10068" y="13351"/>
                </a:lnTo>
                <a:lnTo>
                  <a:pt x="10293" y="13146"/>
                </a:lnTo>
                <a:lnTo>
                  <a:pt x="10552" y="12997"/>
                </a:lnTo>
                <a:lnTo>
                  <a:pt x="10811" y="12885"/>
                </a:lnTo>
                <a:lnTo>
                  <a:pt x="11069" y="12866"/>
                </a:lnTo>
                <a:lnTo>
                  <a:pt x="11351" y="12885"/>
                </a:lnTo>
                <a:lnTo>
                  <a:pt x="11610" y="12997"/>
                </a:lnTo>
                <a:lnTo>
                  <a:pt x="11846" y="13183"/>
                </a:lnTo>
                <a:lnTo>
                  <a:pt x="12060" y="13388"/>
                </a:lnTo>
                <a:lnTo>
                  <a:pt x="12251" y="13648"/>
                </a:lnTo>
                <a:lnTo>
                  <a:pt x="12419" y="13928"/>
                </a:lnTo>
                <a:lnTo>
                  <a:pt x="12555" y="14244"/>
                </a:lnTo>
                <a:lnTo>
                  <a:pt x="12690" y="14617"/>
                </a:lnTo>
                <a:lnTo>
                  <a:pt x="12768" y="15008"/>
                </a:lnTo>
                <a:lnTo>
                  <a:pt x="12836" y="15399"/>
                </a:lnTo>
                <a:lnTo>
                  <a:pt x="12858" y="15753"/>
                </a:lnTo>
                <a:lnTo>
                  <a:pt x="12858" y="16144"/>
                </a:lnTo>
                <a:lnTo>
                  <a:pt x="12813" y="16535"/>
                </a:lnTo>
                <a:lnTo>
                  <a:pt x="12746" y="16888"/>
                </a:lnTo>
                <a:lnTo>
                  <a:pt x="12667" y="17224"/>
                </a:lnTo>
                <a:lnTo>
                  <a:pt x="12510" y="17503"/>
                </a:lnTo>
                <a:lnTo>
                  <a:pt x="12228" y="18043"/>
                </a:lnTo>
                <a:lnTo>
                  <a:pt x="11970" y="18546"/>
                </a:lnTo>
                <a:lnTo>
                  <a:pt x="11868" y="18751"/>
                </a:lnTo>
                <a:lnTo>
                  <a:pt x="11778" y="18974"/>
                </a:lnTo>
                <a:lnTo>
                  <a:pt x="11711" y="19179"/>
                </a:lnTo>
                <a:lnTo>
                  <a:pt x="11666" y="19365"/>
                </a:lnTo>
                <a:lnTo>
                  <a:pt x="11632" y="19570"/>
                </a:lnTo>
                <a:lnTo>
                  <a:pt x="11632" y="19756"/>
                </a:lnTo>
                <a:lnTo>
                  <a:pt x="11632" y="19942"/>
                </a:lnTo>
                <a:lnTo>
                  <a:pt x="11643" y="20110"/>
                </a:lnTo>
                <a:lnTo>
                  <a:pt x="11711" y="20296"/>
                </a:lnTo>
                <a:lnTo>
                  <a:pt x="11801" y="20464"/>
                </a:lnTo>
                <a:lnTo>
                  <a:pt x="11891" y="20650"/>
                </a:lnTo>
                <a:lnTo>
                  <a:pt x="12037" y="20836"/>
                </a:lnTo>
                <a:lnTo>
                  <a:pt x="12206" y="21004"/>
                </a:lnTo>
                <a:lnTo>
                  <a:pt x="12419" y="21190"/>
                </a:lnTo>
                <a:lnTo>
                  <a:pt x="12667" y="21320"/>
                </a:lnTo>
                <a:lnTo>
                  <a:pt x="12960" y="21432"/>
                </a:lnTo>
                <a:lnTo>
                  <a:pt x="13286" y="21544"/>
                </a:lnTo>
                <a:lnTo>
                  <a:pt x="13612" y="21655"/>
                </a:lnTo>
                <a:lnTo>
                  <a:pt x="13983" y="21693"/>
                </a:lnTo>
                <a:lnTo>
                  <a:pt x="14343" y="21730"/>
                </a:lnTo>
                <a:lnTo>
                  <a:pt x="14715" y="21730"/>
                </a:lnTo>
                <a:lnTo>
                  <a:pt x="15075" y="21730"/>
                </a:lnTo>
                <a:lnTo>
                  <a:pt x="15446" y="21655"/>
                </a:lnTo>
                <a:lnTo>
                  <a:pt x="15794" y="21581"/>
                </a:lnTo>
                <a:lnTo>
                  <a:pt x="16132" y="21432"/>
                </a:lnTo>
                <a:lnTo>
                  <a:pt x="16458" y="21302"/>
                </a:lnTo>
                <a:lnTo>
                  <a:pt x="16740" y="21078"/>
                </a:lnTo>
                <a:lnTo>
                  <a:pt x="16976" y="20836"/>
                </a:lnTo>
                <a:lnTo>
                  <a:pt x="17043" y="20650"/>
                </a:lnTo>
                <a:lnTo>
                  <a:pt x="17088" y="20426"/>
                </a:lnTo>
                <a:lnTo>
                  <a:pt x="17133" y="20222"/>
                </a:lnTo>
                <a:lnTo>
                  <a:pt x="17156" y="19980"/>
                </a:lnTo>
                <a:lnTo>
                  <a:pt x="17167" y="19477"/>
                </a:lnTo>
                <a:lnTo>
                  <a:pt x="17167" y="18974"/>
                </a:lnTo>
                <a:lnTo>
                  <a:pt x="17156" y="18397"/>
                </a:lnTo>
                <a:lnTo>
                  <a:pt x="17111" y="17820"/>
                </a:lnTo>
                <a:lnTo>
                  <a:pt x="17066" y="17261"/>
                </a:lnTo>
                <a:lnTo>
                  <a:pt x="16998" y="16646"/>
                </a:lnTo>
                <a:lnTo>
                  <a:pt x="16852" y="15511"/>
                </a:lnTo>
                <a:lnTo>
                  <a:pt x="16740" y="14393"/>
                </a:lnTo>
                <a:lnTo>
                  <a:pt x="16717" y="13928"/>
                </a:lnTo>
                <a:lnTo>
                  <a:pt x="16695" y="13462"/>
                </a:lnTo>
                <a:lnTo>
                  <a:pt x="16717" y="13071"/>
                </a:lnTo>
                <a:lnTo>
                  <a:pt x="16785" y="12755"/>
                </a:lnTo>
                <a:lnTo>
                  <a:pt x="16852" y="12419"/>
                </a:lnTo>
                <a:lnTo>
                  <a:pt x="16953" y="12140"/>
                </a:lnTo>
                <a:lnTo>
                  <a:pt x="17088" y="11898"/>
                </a:lnTo>
                <a:lnTo>
                  <a:pt x="17212" y="11675"/>
                </a:lnTo>
                <a:lnTo>
                  <a:pt x="17370" y="11470"/>
                </a:lnTo>
                <a:lnTo>
                  <a:pt x="17516" y="11284"/>
                </a:lnTo>
                <a:lnTo>
                  <a:pt x="17696" y="11135"/>
                </a:lnTo>
                <a:lnTo>
                  <a:pt x="17865" y="11042"/>
                </a:lnTo>
                <a:lnTo>
                  <a:pt x="18033" y="10930"/>
                </a:lnTo>
                <a:lnTo>
                  <a:pt x="18213" y="10893"/>
                </a:lnTo>
                <a:lnTo>
                  <a:pt x="18382" y="10893"/>
                </a:lnTo>
                <a:lnTo>
                  <a:pt x="18551" y="10967"/>
                </a:lnTo>
                <a:lnTo>
                  <a:pt x="18708" y="11042"/>
                </a:lnTo>
                <a:lnTo>
                  <a:pt x="18855" y="11172"/>
                </a:lnTo>
                <a:lnTo>
                  <a:pt x="19012" y="11358"/>
                </a:lnTo>
                <a:lnTo>
                  <a:pt x="19136" y="11600"/>
                </a:lnTo>
                <a:lnTo>
                  <a:pt x="19271" y="11861"/>
                </a:lnTo>
                <a:lnTo>
                  <a:pt x="19440" y="12028"/>
                </a:lnTo>
                <a:lnTo>
                  <a:pt x="19608" y="12177"/>
                </a:lnTo>
                <a:lnTo>
                  <a:pt x="19822" y="12289"/>
                </a:lnTo>
                <a:lnTo>
                  <a:pt x="20025" y="12289"/>
                </a:lnTo>
                <a:lnTo>
                  <a:pt x="20238" y="12289"/>
                </a:lnTo>
                <a:lnTo>
                  <a:pt x="20452" y="12215"/>
                </a:lnTo>
                <a:lnTo>
                  <a:pt x="20643" y="12103"/>
                </a:lnTo>
                <a:lnTo>
                  <a:pt x="20846" y="11973"/>
                </a:lnTo>
                <a:lnTo>
                  <a:pt x="21037" y="11786"/>
                </a:lnTo>
                <a:lnTo>
                  <a:pt x="21206" y="11563"/>
                </a:lnTo>
                <a:lnTo>
                  <a:pt x="21363" y="11321"/>
                </a:lnTo>
                <a:lnTo>
                  <a:pt x="21465" y="11079"/>
                </a:lnTo>
                <a:lnTo>
                  <a:pt x="21577" y="10744"/>
                </a:lnTo>
                <a:lnTo>
                  <a:pt x="21622" y="10427"/>
                </a:lnTo>
                <a:lnTo>
                  <a:pt x="21645" y="10111"/>
                </a:lnTo>
                <a:lnTo>
                  <a:pt x="21622" y="9608"/>
                </a:lnTo>
                <a:lnTo>
                  <a:pt x="21577" y="9142"/>
                </a:lnTo>
                <a:lnTo>
                  <a:pt x="21465" y="8751"/>
                </a:lnTo>
                <a:lnTo>
                  <a:pt x="21363" y="8397"/>
                </a:lnTo>
                <a:lnTo>
                  <a:pt x="21206" y="8062"/>
                </a:lnTo>
                <a:lnTo>
                  <a:pt x="21037" y="7820"/>
                </a:lnTo>
                <a:lnTo>
                  <a:pt x="20846" y="7597"/>
                </a:lnTo>
                <a:lnTo>
                  <a:pt x="20643" y="7429"/>
                </a:lnTo>
                <a:lnTo>
                  <a:pt x="20452" y="7317"/>
                </a:lnTo>
                <a:lnTo>
                  <a:pt x="20238" y="7206"/>
                </a:lnTo>
                <a:lnTo>
                  <a:pt x="20025" y="7168"/>
                </a:lnTo>
                <a:lnTo>
                  <a:pt x="19822" y="7206"/>
                </a:lnTo>
                <a:lnTo>
                  <a:pt x="19608" y="7243"/>
                </a:lnTo>
                <a:lnTo>
                  <a:pt x="19440" y="7355"/>
                </a:lnTo>
                <a:lnTo>
                  <a:pt x="19271" y="7504"/>
                </a:lnTo>
                <a:lnTo>
                  <a:pt x="19136" y="7708"/>
                </a:lnTo>
                <a:lnTo>
                  <a:pt x="19012" y="7895"/>
                </a:lnTo>
                <a:lnTo>
                  <a:pt x="18832" y="8025"/>
                </a:lnTo>
                <a:lnTo>
                  <a:pt x="18663" y="8174"/>
                </a:lnTo>
                <a:lnTo>
                  <a:pt x="18472" y="8248"/>
                </a:lnTo>
                <a:lnTo>
                  <a:pt x="18270" y="8286"/>
                </a:lnTo>
                <a:lnTo>
                  <a:pt x="18078" y="8323"/>
                </a:lnTo>
                <a:lnTo>
                  <a:pt x="17887" y="8323"/>
                </a:lnTo>
                <a:lnTo>
                  <a:pt x="17696" y="8248"/>
                </a:lnTo>
                <a:lnTo>
                  <a:pt x="17493" y="8174"/>
                </a:lnTo>
                <a:lnTo>
                  <a:pt x="17302" y="8062"/>
                </a:lnTo>
                <a:lnTo>
                  <a:pt x="17133" y="7969"/>
                </a:lnTo>
                <a:lnTo>
                  <a:pt x="16976" y="7783"/>
                </a:lnTo>
                <a:lnTo>
                  <a:pt x="16852" y="7597"/>
                </a:lnTo>
                <a:lnTo>
                  <a:pt x="16740" y="7429"/>
                </a:lnTo>
                <a:lnTo>
                  <a:pt x="16672" y="7168"/>
                </a:lnTo>
                <a:lnTo>
                  <a:pt x="16638" y="6926"/>
                </a:lnTo>
                <a:lnTo>
                  <a:pt x="16616" y="6498"/>
                </a:lnTo>
                <a:lnTo>
                  <a:pt x="16616" y="5772"/>
                </a:lnTo>
                <a:lnTo>
                  <a:pt x="16650" y="4915"/>
                </a:lnTo>
                <a:lnTo>
                  <a:pt x="16695" y="3928"/>
                </a:lnTo>
                <a:lnTo>
                  <a:pt x="16762" y="2960"/>
                </a:lnTo>
                <a:lnTo>
                  <a:pt x="16830" y="1992"/>
                </a:lnTo>
                <a:lnTo>
                  <a:pt x="16908" y="1173"/>
                </a:lnTo>
                <a:lnTo>
                  <a:pt x="16976" y="521"/>
                </a:lnTo>
                <a:lnTo>
                  <a:pt x="16953" y="521"/>
                </a:lnTo>
                <a:lnTo>
                  <a:pt x="16931" y="521"/>
                </a:lnTo>
                <a:lnTo>
                  <a:pt x="16267" y="484"/>
                </a:lnTo>
                <a:lnTo>
                  <a:pt x="15637" y="428"/>
                </a:lnTo>
                <a:lnTo>
                  <a:pt x="15063" y="353"/>
                </a:lnTo>
                <a:lnTo>
                  <a:pt x="14523" y="279"/>
                </a:lnTo>
                <a:lnTo>
                  <a:pt x="14040" y="167"/>
                </a:lnTo>
                <a:lnTo>
                  <a:pt x="13635" y="93"/>
                </a:lnTo>
                <a:lnTo>
                  <a:pt x="13331" y="18"/>
                </a:lnTo>
                <a:lnTo>
                  <a:pt x="13117" y="18"/>
                </a:lnTo>
                <a:lnTo>
                  <a:pt x="12982" y="18"/>
                </a:lnTo>
                <a:lnTo>
                  <a:pt x="12858" y="130"/>
                </a:lnTo>
                <a:lnTo>
                  <a:pt x="12723" y="279"/>
                </a:lnTo>
                <a:lnTo>
                  <a:pt x="12622" y="446"/>
                </a:lnTo>
                <a:lnTo>
                  <a:pt x="12510" y="670"/>
                </a:lnTo>
                <a:lnTo>
                  <a:pt x="12419" y="912"/>
                </a:lnTo>
                <a:lnTo>
                  <a:pt x="12363" y="1210"/>
                </a:lnTo>
                <a:lnTo>
                  <a:pt x="12318" y="1526"/>
                </a:lnTo>
                <a:lnTo>
                  <a:pt x="12273" y="1843"/>
                </a:lnTo>
                <a:lnTo>
                  <a:pt x="12251" y="2215"/>
                </a:lnTo>
                <a:lnTo>
                  <a:pt x="12273" y="2532"/>
                </a:lnTo>
                <a:lnTo>
                  <a:pt x="12318" y="2886"/>
                </a:lnTo>
                <a:lnTo>
                  <a:pt x="12386" y="3240"/>
                </a:lnTo>
                <a:lnTo>
                  <a:pt x="12464" y="3556"/>
                </a:lnTo>
                <a:lnTo>
                  <a:pt x="12577" y="3891"/>
                </a:lnTo>
                <a:lnTo>
                  <a:pt x="12746" y="4171"/>
                </a:lnTo>
                <a:lnTo>
                  <a:pt x="12926" y="4487"/>
                </a:lnTo>
                <a:lnTo>
                  <a:pt x="13050" y="4860"/>
                </a:lnTo>
                <a:lnTo>
                  <a:pt x="13162" y="5251"/>
                </a:lnTo>
                <a:lnTo>
                  <a:pt x="13218" y="5604"/>
                </a:lnTo>
                <a:lnTo>
                  <a:pt x="13263" y="5995"/>
                </a:lnTo>
                <a:lnTo>
                  <a:pt x="13241" y="6386"/>
                </a:lnTo>
                <a:lnTo>
                  <a:pt x="13218" y="6740"/>
                </a:lnTo>
                <a:lnTo>
                  <a:pt x="13139" y="7094"/>
                </a:lnTo>
                <a:lnTo>
                  <a:pt x="13050" y="7429"/>
                </a:lnTo>
                <a:lnTo>
                  <a:pt x="12903" y="7746"/>
                </a:lnTo>
                <a:lnTo>
                  <a:pt x="12723" y="8025"/>
                </a:lnTo>
                <a:lnTo>
                  <a:pt x="12532" y="8286"/>
                </a:lnTo>
                <a:lnTo>
                  <a:pt x="12318" y="8491"/>
                </a:lnTo>
                <a:lnTo>
                  <a:pt x="12060" y="8677"/>
                </a:lnTo>
                <a:lnTo>
                  <a:pt x="11756" y="8788"/>
                </a:lnTo>
                <a:lnTo>
                  <a:pt x="11452" y="8826"/>
                </a:lnTo>
                <a:lnTo>
                  <a:pt x="11283" y="8826"/>
                </a:lnTo>
                <a:lnTo>
                  <a:pt x="11126" y="8826"/>
                </a:lnTo>
                <a:lnTo>
                  <a:pt x="11002" y="8788"/>
                </a:lnTo>
                <a:lnTo>
                  <a:pt x="10845" y="8714"/>
                </a:lnTo>
                <a:lnTo>
                  <a:pt x="10721" y="8640"/>
                </a:lnTo>
                <a:lnTo>
                  <a:pt x="10608" y="8565"/>
                </a:lnTo>
                <a:lnTo>
                  <a:pt x="10485" y="8453"/>
                </a:lnTo>
                <a:lnTo>
                  <a:pt x="10372" y="8323"/>
                </a:lnTo>
                <a:lnTo>
                  <a:pt x="10181" y="8062"/>
                </a:lnTo>
                <a:lnTo>
                  <a:pt x="10035" y="7746"/>
                </a:lnTo>
                <a:lnTo>
                  <a:pt x="9900" y="7392"/>
                </a:lnTo>
                <a:lnTo>
                  <a:pt x="9787" y="7001"/>
                </a:lnTo>
                <a:lnTo>
                  <a:pt x="9731" y="6610"/>
                </a:lnTo>
                <a:lnTo>
                  <a:pt x="9686" y="6219"/>
                </a:lnTo>
                <a:lnTo>
                  <a:pt x="9663" y="5772"/>
                </a:lnTo>
                <a:lnTo>
                  <a:pt x="9686" y="5381"/>
                </a:lnTo>
                <a:lnTo>
                  <a:pt x="9753" y="4990"/>
                </a:lnTo>
                <a:lnTo>
                  <a:pt x="9832" y="4636"/>
                </a:lnTo>
                <a:lnTo>
                  <a:pt x="9945" y="4320"/>
                </a:lnTo>
                <a:lnTo>
                  <a:pt x="10068" y="4022"/>
                </a:lnTo>
                <a:lnTo>
                  <a:pt x="10203" y="3817"/>
                </a:lnTo>
                <a:lnTo>
                  <a:pt x="10316" y="3593"/>
                </a:lnTo>
                <a:lnTo>
                  <a:pt x="10395" y="3351"/>
                </a:lnTo>
                <a:lnTo>
                  <a:pt x="10462" y="3109"/>
                </a:lnTo>
                <a:lnTo>
                  <a:pt x="10507" y="2848"/>
                </a:lnTo>
                <a:lnTo>
                  <a:pt x="10530" y="2606"/>
                </a:lnTo>
                <a:lnTo>
                  <a:pt x="10507" y="2346"/>
                </a:lnTo>
                <a:lnTo>
                  <a:pt x="10462" y="2141"/>
                </a:lnTo>
                <a:lnTo>
                  <a:pt x="10395" y="1880"/>
                </a:lnTo>
                <a:lnTo>
                  <a:pt x="10293" y="1638"/>
                </a:lnTo>
                <a:lnTo>
                  <a:pt x="10158" y="1415"/>
                </a:lnTo>
                <a:lnTo>
                  <a:pt x="9967" y="1210"/>
                </a:lnTo>
                <a:lnTo>
                  <a:pt x="9753" y="986"/>
                </a:lnTo>
                <a:lnTo>
                  <a:pt x="9495" y="819"/>
                </a:lnTo>
                <a:lnTo>
                  <a:pt x="9191" y="670"/>
                </a:lnTo>
                <a:lnTo>
                  <a:pt x="8842" y="521"/>
                </a:lnTo>
                <a:lnTo>
                  <a:pt x="8471" y="446"/>
                </a:lnTo>
                <a:lnTo>
                  <a:pt x="7998" y="428"/>
                </a:lnTo>
                <a:lnTo>
                  <a:pt x="7413" y="428"/>
                </a:lnTo>
                <a:lnTo>
                  <a:pt x="6817" y="446"/>
                </a:lnTo>
                <a:lnTo>
                  <a:pt x="6187" y="521"/>
                </a:lnTo>
                <a:lnTo>
                  <a:pt x="5602" y="633"/>
                </a:lnTo>
                <a:lnTo>
                  <a:pt x="5107" y="744"/>
                </a:lnTo>
                <a:lnTo>
                  <a:pt x="4725" y="856"/>
                </a:lnTo>
                <a:lnTo>
                  <a:pt x="4848" y="1564"/>
                </a:lnTo>
                <a:lnTo>
                  <a:pt x="5028" y="2495"/>
                </a:lnTo>
                <a:lnTo>
                  <a:pt x="5175" y="3556"/>
                </a:lnTo>
                <a:lnTo>
                  <a:pt x="5298" y="4673"/>
                </a:lnTo>
                <a:lnTo>
                  <a:pt x="5343" y="5213"/>
                </a:lnTo>
                <a:lnTo>
                  <a:pt x="5388" y="5753"/>
                </a:lnTo>
                <a:lnTo>
                  <a:pt x="5411" y="6275"/>
                </a:lnTo>
                <a:lnTo>
                  <a:pt x="5411" y="6740"/>
                </a:lnTo>
                <a:lnTo>
                  <a:pt x="5366" y="7168"/>
                </a:lnTo>
                <a:lnTo>
                  <a:pt x="5321" y="7541"/>
                </a:lnTo>
                <a:lnTo>
                  <a:pt x="5287" y="7708"/>
                </a:lnTo>
                <a:lnTo>
                  <a:pt x="5242" y="7857"/>
                </a:lnTo>
                <a:lnTo>
                  <a:pt x="5197" y="7969"/>
                </a:lnTo>
                <a:lnTo>
                  <a:pt x="5130" y="8062"/>
                </a:lnTo>
                <a:lnTo>
                  <a:pt x="5006" y="8248"/>
                </a:lnTo>
                <a:lnTo>
                  <a:pt x="4848" y="8397"/>
                </a:lnTo>
                <a:lnTo>
                  <a:pt x="4725" y="8528"/>
                </a:lnTo>
                <a:lnTo>
                  <a:pt x="4567" y="8640"/>
                </a:lnTo>
                <a:lnTo>
                  <a:pt x="4421" y="8714"/>
                </a:lnTo>
                <a:lnTo>
                  <a:pt x="4263" y="8751"/>
                </a:lnTo>
                <a:lnTo>
                  <a:pt x="4095" y="8788"/>
                </a:lnTo>
                <a:lnTo>
                  <a:pt x="3948" y="8788"/>
                </a:lnTo>
                <a:lnTo>
                  <a:pt x="3791" y="8751"/>
                </a:lnTo>
                <a:lnTo>
                  <a:pt x="3667" y="8714"/>
                </a:lnTo>
                <a:lnTo>
                  <a:pt x="3510" y="8677"/>
                </a:lnTo>
                <a:lnTo>
                  <a:pt x="3386" y="8602"/>
                </a:lnTo>
                <a:lnTo>
                  <a:pt x="3251" y="8491"/>
                </a:lnTo>
                <a:lnTo>
                  <a:pt x="3127" y="8360"/>
                </a:lnTo>
                <a:lnTo>
                  <a:pt x="3015" y="8248"/>
                </a:lnTo>
                <a:lnTo>
                  <a:pt x="2925" y="8062"/>
                </a:lnTo>
                <a:lnTo>
                  <a:pt x="2778" y="7857"/>
                </a:lnTo>
                <a:lnTo>
                  <a:pt x="2610" y="7671"/>
                </a:lnTo>
                <a:lnTo>
                  <a:pt x="2407" y="7541"/>
                </a:lnTo>
                <a:lnTo>
                  <a:pt x="2171" y="7466"/>
                </a:lnTo>
                <a:lnTo>
                  <a:pt x="1957" y="7429"/>
                </a:lnTo>
                <a:lnTo>
                  <a:pt x="1698" y="7429"/>
                </a:lnTo>
                <a:lnTo>
                  <a:pt x="1462" y="7466"/>
                </a:lnTo>
                <a:lnTo>
                  <a:pt x="1226" y="7559"/>
                </a:lnTo>
                <a:lnTo>
                  <a:pt x="989" y="7708"/>
                </a:lnTo>
                <a:lnTo>
                  <a:pt x="776" y="7932"/>
                </a:lnTo>
                <a:lnTo>
                  <a:pt x="551" y="8211"/>
                </a:lnTo>
                <a:lnTo>
                  <a:pt x="382" y="8528"/>
                </a:lnTo>
                <a:lnTo>
                  <a:pt x="315" y="8714"/>
                </a:lnTo>
                <a:lnTo>
                  <a:pt x="236" y="8919"/>
                </a:lnTo>
                <a:lnTo>
                  <a:pt x="191" y="9142"/>
                </a:lnTo>
                <a:lnTo>
                  <a:pt x="123" y="9347"/>
                </a:lnTo>
                <a:lnTo>
                  <a:pt x="78" y="9608"/>
                </a:lnTo>
                <a:lnTo>
                  <a:pt x="56" y="9887"/>
                </a:lnTo>
                <a:lnTo>
                  <a:pt x="33" y="10185"/>
                </a:lnTo>
                <a:lnTo>
                  <a:pt x="33" y="10464"/>
                </a:lnTo>
                <a:lnTo>
                  <a:pt x="33" y="10706"/>
                </a:lnTo>
                <a:lnTo>
                  <a:pt x="56" y="10967"/>
                </a:lnTo>
                <a:lnTo>
                  <a:pt x="78" y="11172"/>
                </a:lnTo>
                <a:lnTo>
                  <a:pt x="123" y="11395"/>
                </a:lnTo>
                <a:lnTo>
                  <a:pt x="168" y="11600"/>
                </a:lnTo>
                <a:lnTo>
                  <a:pt x="236" y="11786"/>
                </a:lnTo>
                <a:lnTo>
                  <a:pt x="292" y="11973"/>
                </a:lnTo>
                <a:lnTo>
                  <a:pt x="382" y="12140"/>
                </a:lnTo>
                <a:lnTo>
                  <a:pt x="540" y="12419"/>
                </a:lnTo>
                <a:lnTo>
                  <a:pt x="731" y="12680"/>
                </a:lnTo>
                <a:lnTo>
                  <a:pt x="944" y="12866"/>
                </a:lnTo>
                <a:lnTo>
                  <a:pt x="1158" y="12997"/>
                </a:lnTo>
                <a:lnTo>
                  <a:pt x="1395" y="13108"/>
                </a:lnTo>
                <a:lnTo>
                  <a:pt x="1608" y="13183"/>
                </a:lnTo>
                <a:lnTo>
                  <a:pt x="1856" y="13183"/>
                </a:lnTo>
                <a:lnTo>
                  <a:pt x="2070" y="13146"/>
                </a:lnTo>
                <a:lnTo>
                  <a:pt x="2261" y="13071"/>
                </a:lnTo>
                <a:lnTo>
                  <a:pt x="2430" y="12960"/>
                </a:lnTo>
                <a:lnTo>
                  <a:pt x="2587" y="12792"/>
                </a:lnTo>
                <a:lnTo>
                  <a:pt x="2688" y="12606"/>
                </a:lnTo>
                <a:lnTo>
                  <a:pt x="2801" y="12419"/>
                </a:lnTo>
                <a:lnTo>
                  <a:pt x="2925" y="12289"/>
                </a:lnTo>
                <a:lnTo>
                  <a:pt x="3082" y="12177"/>
                </a:lnTo>
                <a:lnTo>
                  <a:pt x="3228" y="12103"/>
                </a:lnTo>
                <a:lnTo>
                  <a:pt x="3408" y="12103"/>
                </a:lnTo>
                <a:lnTo>
                  <a:pt x="3577" y="12103"/>
                </a:lnTo>
                <a:lnTo>
                  <a:pt x="3723" y="12177"/>
                </a:lnTo>
                <a:lnTo>
                  <a:pt x="3903" y="12252"/>
                </a:lnTo>
                <a:lnTo>
                  <a:pt x="4072" y="12364"/>
                </a:lnTo>
                <a:lnTo>
                  <a:pt x="4230" y="12494"/>
                </a:lnTo>
                <a:lnTo>
                  <a:pt x="4353" y="12643"/>
                </a:lnTo>
                <a:lnTo>
                  <a:pt x="4488" y="12829"/>
                </a:lnTo>
                <a:lnTo>
                  <a:pt x="4567" y="13034"/>
                </a:lnTo>
                <a:lnTo>
                  <a:pt x="4657" y="13257"/>
                </a:lnTo>
                <a:lnTo>
                  <a:pt x="4702" y="13462"/>
                </a:lnTo>
                <a:lnTo>
                  <a:pt x="4725" y="13686"/>
                </a:lnTo>
                <a:lnTo>
                  <a:pt x="4702" y="14282"/>
                </a:lnTo>
                <a:lnTo>
                  <a:pt x="4657" y="15045"/>
                </a:lnTo>
                <a:lnTo>
                  <a:pt x="4612" y="15976"/>
                </a:lnTo>
                <a:lnTo>
                  <a:pt x="4590" y="16926"/>
                </a:lnTo>
                <a:lnTo>
                  <a:pt x="4567" y="17968"/>
                </a:lnTo>
                <a:lnTo>
                  <a:pt x="4567" y="19011"/>
                </a:lnTo>
                <a:lnTo>
                  <a:pt x="4590" y="19514"/>
                </a:lnTo>
                <a:lnTo>
                  <a:pt x="4612" y="19980"/>
                </a:lnTo>
                <a:lnTo>
                  <a:pt x="4657" y="20426"/>
                </a:lnTo>
                <a:lnTo>
                  <a:pt x="4725" y="20836"/>
                </a:lnTo>
                <a:lnTo>
                  <a:pt x="4848" y="20929"/>
                </a:lnTo>
                <a:lnTo>
                  <a:pt x="5040" y="21004"/>
                </a:lnTo>
                <a:lnTo>
                  <a:pt x="5265" y="21078"/>
                </a:lnTo>
                <a:lnTo>
                  <a:pt x="5478" y="21115"/>
                </a:lnTo>
                <a:lnTo>
                  <a:pt x="6041" y="21115"/>
                </a:lnTo>
                <a:lnTo>
                  <a:pt x="6637" y="21078"/>
                </a:lnTo>
                <a:lnTo>
                  <a:pt x="7312" y="21004"/>
                </a:lnTo>
                <a:lnTo>
                  <a:pt x="7998" y="20929"/>
                </a:lnTo>
                <a:lnTo>
                  <a:pt x="8696" y="20855"/>
                </a:lnTo>
                <a:lnTo>
                  <a:pt x="9360" y="20836"/>
                </a:lnTo>
                <a:close/>
              </a:path>
            </a:pathLst>
          </a:custGeom>
          <a:solidFill>
            <a:srgbClr val="0070C0"/>
          </a:solidFill>
          <a:ln w="28575">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lt"/>
            </a:endParaRPr>
          </a:p>
        </p:txBody>
      </p:sp>
      <p:cxnSp>
        <p:nvCxnSpPr>
          <p:cNvPr id="16" name="MH_Other_6"/>
          <p:cNvCxnSpPr>
            <a:cxnSpLocks noChangeShapeType="1"/>
          </p:cNvCxnSpPr>
          <p:nvPr>
            <p:custDataLst>
              <p:tags r:id="rId8"/>
            </p:custDataLst>
          </p:nvPr>
        </p:nvCxnSpPr>
        <p:spPr bwMode="auto">
          <a:xfrm>
            <a:off x="6792596" y="2205673"/>
            <a:ext cx="2570163" cy="284162"/>
          </a:xfrm>
          <a:prstGeom prst="bentConnector3">
            <a:avLst>
              <a:gd name="adj1" fmla="val 34458"/>
            </a:avLst>
          </a:prstGeom>
          <a:noFill/>
          <a:ln w="3175" algn="ctr">
            <a:solidFill>
              <a:srgbClr val="014076"/>
            </a:solidFill>
            <a:prstDash val="sysDash"/>
            <a:miter lim="800000"/>
          </a:ln>
          <a:extLst>
            <a:ext uri="{909E8E84-426E-40DD-AFC4-6F175D3DCCD1}">
              <a14:hiddenFill xmlns:a14="http://schemas.microsoft.com/office/drawing/2010/main">
                <a:noFill/>
              </a14:hiddenFill>
            </a:ext>
          </a:extLst>
        </p:spPr>
      </p:cxnSp>
      <p:sp>
        <p:nvSpPr>
          <p:cNvPr id="17" name="MH_SubTitle_2"/>
          <p:cNvSpPr txBox="1">
            <a:spLocks noChangeArrowheads="1"/>
          </p:cNvSpPr>
          <p:nvPr>
            <p:custDataLst>
              <p:tags r:id="rId9"/>
            </p:custDataLst>
          </p:nvPr>
        </p:nvSpPr>
        <p:spPr bwMode="auto">
          <a:xfrm>
            <a:off x="7832705" y="2052278"/>
            <a:ext cx="321353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lvl="0" defTabSz="914400">
              <a:lnSpc>
                <a:spcPct val="90000"/>
              </a:lnSpc>
              <a:defRPr/>
            </a:pPr>
            <a:r>
              <a:rPr lang="en-US" altLang="zh-CN" sz="2000" b="1" dirty="0" err="1">
                <a:solidFill>
                  <a:srgbClr val="595959"/>
                </a:solidFill>
                <a:latin typeface="微软雅黑" panose="020B0503020204020204" pitchFamily="34" charset="-122"/>
                <a:cs typeface="+mn-ea"/>
              </a:rPr>
              <a:t>assertEqual</a:t>
            </a:r>
            <a:r>
              <a:rPr lang="en-US" altLang="zh-CN" sz="2000" b="1" dirty="0">
                <a:solidFill>
                  <a:srgbClr val="595959"/>
                </a:solidFill>
                <a:latin typeface="微软雅黑" panose="020B0503020204020204" pitchFamily="34" charset="-122"/>
                <a:cs typeface="+mn-ea"/>
              </a:rPr>
              <a:t>(</a:t>
            </a:r>
            <a:r>
              <a:rPr lang="en-US" altLang="zh-CN" sz="2000" b="1" dirty="0" err="1">
                <a:solidFill>
                  <a:srgbClr val="595959"/>
                </a:solidFill>
                <a:latin typeface="微软雅黑" panose="020B0503020204020204" pitchFamily="34" charset="-122"/>
                <a:cs typeface="+mn-ea"/>
              </a:rPr>
              <a:t>first,second</a:t>
            </a:r>
            <a:r>
              <a:rPr lang="en-US" altLang="zh-CN" sz="2000" b="1" dirty="0">
                <a:solidFill>
                  <a:srgbClr val="595959"/>
                </a:solidFill>
                <a:latin typeface="微软雅黑" panose="020B0503020204020204" pitchFamily="34" charset="-122"/>
                <a:cs typeface="+mn-ea"/>
              </a:rPr>
              <a:t>)</a:t>
            </a:r>
            <a:endParaRPr lang="zh-CN" altLang="en-US" sz="2000" b="1" dirty="0">
              <a:solidFill>
                <a:srgbClr val="595959"/>
              </a:solidFill>
              <a:latin typeface="微软雅黑" panose="020B0503020204020204" pitchFamily="34" charset="-122"/>
              <a:cs typeface="+mn-ea"/>
              <a:sym typeface="+mn-ea"/>
            </a:endParaRPr>
          </a:p>
        </p:txBody>
      </p:sp>
      <p:sp>
        <p:nvSpPr>
          <p:cNvPr id="18" name="MH_Text_2"/>
          <p:cNvSpPr txBox="1">
            <a:spLocks noChangeArrowheads="1"/>
          </p:cNvSpPr>
          <p:nvPr>
            <p:custDataLst>
              <p:tags r:id="rId10"/>
            </p:custDataLst>
          </p:nvPr>
        </p:nvSpPr>
        <p:spPr bwMode="auto">
          <a:xfrm>
            <a:off x="7785941" y="2815021"/>
            <a:ext cx="3153635" cy="842963"/>
          </a:xfrm>
          <a:prstGeom prst="rect">
            <a:avLst/>
          </a:prstGeom>
          <a:noFill/>
          <a:ln>
            <a:noFill/>
          </a:ln>
          <a:extLst>
            <a:ext uri="{909E8E84-426E-40DD-AFC4-6F175D3DCCD1}">
              <a14:hiddenFill xmlns:a14="http://schemas.microsoft.com/office/drawing/2010/main">
                <a:solidFill>
                  <a:srgbClr val="FFFFFF"/>
                </a:solidFill>
              </a14:hiddenFill>
            </a:ext>
          </a:extLst>
        </p:spPr>
        <p:txBody>
          <a:bodyPr>
            <a:no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lvl="0" defTabSz="508000" eaLnBrk="0">
              <a:lnSpc>
                <a:spcPct val="150000"/>
              </a:lnSpc>
              <a:spcBef>
                <a:spcPts val="0"/>
              </a:spcBef>
              <a:spcAft>
                <a:spcPts val="0"/>
              </a:spcAft>
              <a:buClrTx/>
              <a:buSzTx/>
              <a:buFontTx/>
              <a:defRPr/>
            </a:pPr>
            <a:r>
              <a:rPr lang="zh-CN" altLang="zh-CN" sz="1800" dirty="0">
                <a:solidFill>
                  <a:srgbClr val="595959"/>
                </a:solidFill>
                <a:latin typeface="微软雅黑" panose="020B0503020204020204" pitchFamily="34" charset="-122"/>
                <a:cs typeface="+mn-ea"/>
              </a:rPr>
              <a:t>该方法用于</a:t>
            </a:r>
            <a:r>
              <a:rPr lang="zh-CN" altLang="zh-CN" sz="1800" dirty="0">
                <a:solidFill>
                  <a:srgbClr val="1369B2"/>
                </a:solidFill>
                <a:latin typeface="微软雅黑" panose="020B0503020204020204" pitchFamily="34" charset="-122"/>
                <a:cs typeface="+mn-ea"/>
              </a:rPr>
              <a:t>验证</a:t>
            </a:r>
            <a:r>
              <a:rPr lang="en-US" altLang="zh-CN" sz="1800" dirty="0">
                <a:solidFill>
                  <a:srgbClr val="1369B2"/>
                </a:solidFill>
                <a:latin typeface="微软雅黑" panose="020B0503020204020204" pitchFamily="34" charset="-122"/>
                <a:cs typeface="+mn-ea"/>
              </a:rPr>
              <a:t>first</a:t>
            </a:r>
            <a:r>
              <a:rPr lang="zh-CN" altLang="zh-CN" sz="1800" dirty="0">
                <a:solidFill>
                  <a:srgbClr val="1369B2"/>
                </a:solidFill>
                <a:latin typeface="微软雅黑" panose="020B0503020204020204" pitchFamily="34" charset="-122"/>
                <a:cs typeface="+mn-ea"/>
              </a:rPr>
              <a:t>是否等于</a:t>
            </a:r>
            <a:r>
              <a:rPr lang="en-US" altLang="zh-CN" sz="1800" dirty="0">
                <a:solidFill>
                  <a:srgbClr val="1369B2"/>
                </a:solidFill>
                <a:latin typeface="微软雅黑" panose="020B0503020204020204" pitchFamily="34" charset="-122"/>
                <a:cs typeface="+mn-ea"/>
              </a:rPr>
              <a:t>second</a:t>
            </a:r>
            <a:r>
              <a:rPr lang="zh-CN" altLang="zh-CN" sz="1800" dirty="0">
                <a:solidFill>
                  <a:srgbClr val="595959"/>
                </a:solidFill>
                <a:latin typeface="微软雅黑" panose="020B0503020204020204" pitchFamily="34" charset="-122"/>
                <a:cs typeface="+mn-ea"/>
              </a:rPr>
              <a:t>。</a:t>
            </a:r>
            <a:endParaRPr lang="zh-CN" altLang="en-US" sz="1800" dirty="0">
              <a:solidFill>
                <a:srgbClr val="595959"/>
              </a:solidFill>
              <a:latin typeface="微软雅黑" panose="020B0503020204020204" pitchFamily="34" charset="-122"/>
              <a:cs typeface="+mn-ea"/>
              <a:sym typeface="+mn-ea"/>
            </a:endParaRPr>
          </a:p>
        </p:txBody>
      </p:sp>
      <p:sp>
        <p:nvSpPr>
          <p:cNvPr id="19" name="MH_SubTitle_4"/>
          <p:cNvSpPr txBox="1"/>
          <p:nvPr>
            <p:custDataLst>
              <p:tags r:id="rId11"/>
            </p:custDataLst>
          </p:nvPr>
        </p:nvSpPr>
        <p:spPr>
          <a:xfrm>
            <a:off x="1137341" y="4111182"/>
            <a:ext cx="3194631" cy="412750"/>
          </a:xfrm>
          <a:prstGeom prst="rect">
            <a:avLst/>
          </a:prstGeom>
          <a:noFill/>
        </p:spPr>
        <p:txBody>
          <a:bodyPr wrap="none" anchor="ctr"/>
          <a:lstStyle>
            <a:defPPr>
              <a:defRPr lang="zh-CN"/>
            </a:defPPr>
            <a:lvl1pPr>
              <a:defRPr sz="2000">
                <a:solidFill>
                  <a:schemeClr val="tx1">
                    <a:lumMod val="65000"/>
                    <a:lumOff val="35000"/>
                  </a:schemeClr>
                </a:solidFill>
                <a:latin typeface="华文行楷" panose="02010800040101010101" pitchFamily="2" charset="-122"/>
                <a:ea typeface="华文行楷" panose="02010800040101010101" pitchFamily="2" charset="-122"/>
              </a:defRPr>
            </a:lvl1pPr>
          </a:lstStyle>
          <a:p>
            <a:pPr defTabSz="914400">
              <a:lnSpc>
                <a:spcPct val="90000"/>
              </a:lnSpc>
              <a:defRPr/>
            </a:pPr>
            <a:r>
              <a:rPr lang="en-US" altLang="zh-CN" b="1" dirty="0" err="1">
                <a:solidFill>
                  <a:srgbClr val="595959"/>
                </a:solidFill>
                <a:latin typeface="微软雅黑" panose="020B0503020204020204" pitchFamily="34" charset="-122"/>
                <a:ea typeface="微软雅黑" panose="020B0503020204020204" pitchFamily="34" charset="-122"/>
                <a:cs typeface="+mn-ea"/>
              </a:rPr>
              <a:t>assertIn</a:t>
            </a:r>
            <a:r>
              <a:rPr lang="en-US" altLang="zh-CN" b="1" dirty="0">
                <a:solidFill>
                  <a:srgbClr val="595959"/>
                </a:solidFill>
                <a:latin typeface="微软雅黑" panose="020B0503020204020204" pitchFamily="34" charset="-122"/>
                <a:ea typeface="微软雅黑" panose="020B0503020204020204" pitchFamily="34" charset="-122"/>
                <a:cs typeface="+mn-ea"/>
              </a:rPr>
              <a:t>(</a:t>
            </a:r>
            <a:r>
              <a:rPr lang="en-US" altLang="zh-CN" b="1" dirty="0" err="1">
                <a:solidFill>
                  <a:srgbClr val="595959"/>
                </a:solidFill>
                <a:latin typeface="微软雅黑" panose="020B0503020204020204" pitchFamily="34" charset="-122"/>
                <a:ea typeface="微软雅黑" panose="020B0503020204020204" pitchFamily="34" charset="-122"/>
                <a:cs typeface="+mn-ea"/>
              </a:rPr>
              <a:t>member,container</a:t>
            </a:r>
            <a:r>
              <a:rPr lang="en-US" altLang="zh-CN" b="1" dirty="0">
                <a:solidFill>
                  <a:srgbClr val="595959"/>
                </a:solidFill>
                <a:latin typeface="微软雅黑" panose="020B0503020204020204" pitchFamily="34" charset="-122"/>
                <a:ea typeface="微软雅黑" panose="020B0503020204020204" pitchFamily="34" charset="-122"/>
                <a:cs typeface="+mn-ea"/>
              </a:rPr>
              <a:t>)</a:t>
            </a:r>
            <a:endParaRPr lang="zh-CN" altLang="en-US" b="1" dirty="0">
              <a:solidFill>
                <a:srgbClr val="595959"/>
              </a:solidFill>
              <a:latin typeface="微软雅黑" panose="020B0503020204020204" pitchFamily="34" charset="-122"/>
              <a:ea typeface="微软雅黑" panose="020B0503020204020204" pitchFamily="34" charset="-122"/>
              <a:cs typeface="+mn-ea"/>
              <a:sym typeface="+mn-ea"/>
            </a:endParaRPr>
          </a:p>
        </p:txBody>
      </p:sp>
      <p:sp>
        <p:nvSpPr>
          <p:cNvPr id="20" name="MH_Text_4"/>
          <p:cNvSpPr txBox="1">
            <a:spLocks noChangeArrowheads="1"/>
          </p:cNvSpPr>
          <p:nvPr>
            <p:custDataLst>
              <p:tags r:id="rId12"/>
            </p:custDataLst>
          </p:nvPr>
        </p:nvSpPr>
        <p:spPr bwMode="auto">
          <a:xfrm>
            <a:off x="1088496" y="4660383"/>
            <a:ext cx="3391323" cy="842962"/>
          </a:xfrm>
          <a:prstGeom prst="rect">
            <a:avLst/>
          </a:prstGeom>
          <a:noFill/>
          <a:ln>
            <a:noFill/>
          </a:ln>
          <a:extLst>
            <a:ext uri="{909E8E84-426E-40DD-AFC4-6F175D3DCCD1}">
              <a14:hiddenFill xmlns:a14="http://schemas.microsoft.com/office/drawing/2010/main">
                <a:solidFill>
                  <a:srgbClr val="FFFFFF"/>
                </a:solidFill>
              </a14:hiddenFill>
            </a:ext>
          </a:extLst>
        </p:spPr>
        <p:txBody>
          <a:bodyPr>
            <a:no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lvl="0" defTabSz="508000" eaLnBrk="0">
              <a:lnSpc>
                <a:spcPct val="150000"/>
              </a:lnSpc>
              <a:spcBef>
                <a:spcPts val="0"/>
              </a:spcBef>
              <a:spcAft>
                <a:spcPts val="0"/>
              </a:spcAft>
              <a:buClrTx/>
              <a:buSzTx/>
              <a:buFontTx/>
              <a:defRPr/>
            </a:pPr>
            <a:r>
              <a:rPr lang="zh-CN" altLang="zh-CN" sz="1800" dirty="0">
                <a:solidFill>
                  <a:srgbClr val="595959"/>
                </a:solidFill>
                <a:latin typeface="微软雅黑" panose="020B0503020204020204" pitchFamily="34" charset="-122"/>
                <a:cs typeface="+mn-ea"/>
              </a:rPr>
              <a:t>该方法</a:t>
            </a:r>
            <a:r>
              <a:rPr lang="zh-CN" altLang="zh-CN" sz="1800" dirty="0">
                <a:solidFill>
                  <a:srgbClr val="1369B2"/>
                </a:solidFill>
                <a:latin typeface="微软雅黑" panose="020B0503020204020204" pitchFamily="34" charset="-122"/>
                <a:cs typeface="+mn-ea"/>
              </a:rPr>
              <a:t>用于验证</a:t>
            </a:r>
            <a:r>
              <a:rPr lang="en-US" altLang="zh-CN" sz="1800" dirty="0">
                <a:solidFill>
                  <a:srgbClr val="1369B2"/>
                </a:solidFill>
                <a:latin typeface="微软雅黑" panose="020B0503020204020204" pitchFamily="34" charset="-122"/>
                <a:cs typeface="+mn-ea"/>
              </a:rPr>
              <a:t>container</a:t>
            </a:r>
            <a:r>
              <a:rPr lang="zh-CN" altLang="zh-CN" sz="1800" dirty="0">
                <a:solidFill>
                  <a:srgbClr val="1369B2"/>
                </a:solidFill>
                <a:latin typeface="微软雅黑" panose="020B0503020204020204" pitchFamily="34" charset="-122"/>
                <a:cs typeface="+mn-ea"/>
              </a:rPr>
              <a:t>中是否包含</a:t>
            </a:r>
            <a:r>
              <a:rPr lang="en-US" altLang="zh-CN" sz="1800" dirty="0">
                <a:solidFill>
                  <a:srgbClr val="1369B2"/>
                </a:solidFill>
                <a:latin typeface="微软雅黑" panose="020B0503020204020204" pitchFamily="34" charset="-122"/>
                <a:cs typeface="+mn-ea"/>
              </a:rPr>
              <a:t>member</a:t>
            </a:r>
            <a:r>
              <a:rPr lang="zh-CN" altLang="zh-CN" sz="1800" dirty="0">
                <a:solidFill>
                  <a:srgbClr val="595959"/>
                </a:solidFill>
                <a:latin typeface="微软雅黑" panose="020B0503020204020204" pitchFamily="34" charset="-122"/>
                <a:cs typeface="+mn-ea"/>
              </a:rPr>
              <a:t>。</a:t>
            </a:r>
            <a:endParaRPr lang="zh-CN" altLang="en-US" sz="1800" dirty="0">
              <a:solidFill>
                <a:srgbClr val="595959"/>
              </a:solidFill>
              <a:latin typeface="微软雅黑" panose="020B0503020204020204" pitchFamily="34" charset="-122"/>
              <a:cs typeface="+mn-ea"/>
              <a:sym typeface="+mn-ea"/>
            </a:endParaRPr>
          </a:p>
        </p:txBody>
      </p:sp>
      <p:sp>
        <p:nvSpPr>
          <p:cNvPr id="21" name="MH_SubTitle_3"/>
          <p:cNvSpPr txBox="1"/>
          <p:nvPr>
            <p:custDataLst>
              <p:tags r:id="rId13"/>
            </p:custDataLst>
          </p:nvPr>
        </p:nvSpPr>
        <p:spPr>
          <a:xfrm>
            <a:off x="7882669" y="3798570"/>
            <a:ext cx="2249488" cy="411163"/>
          </a:xfrm>
          <a:prstGeom prst="rect">
            <a:avLst/>
          </a:prstGeom>
          <a:noFill/>
        </p:spPr>
        <p:txBody>
          <a:bodyPr wrap="none" anchor="ctr"/>
          <a:lstStyle>
            <a:defPPr>
              <a:defRPr lang="zh-CN"/>
            </a:defPPr>
            <a:lvl1pPr>
              <a:defRPr>
                <a:solidFill>
                  <a:schemeClr val="tx1">
                    <a:lumMod val="85000"/>
                    <a:lumOff val="15000"/>
                  </a:schemeClr>
                </a:solidFill>
                <a:latin typeface="华文行楷" panose="02010800040101010101" pitchFamily="2" charset="-122"/>
                <a:ea typeface="华文行楷" panose="02010800040101010101" pitchFamily="2" charset="-122"/>
              </a:defRPr>
            </a:lvl1pPr>
          </a:lstStyle>
          <a:p>
            <a:pPr defTabSz="914400">
              <a:lnSpc>
                <a:spcPct val="90000"/>
              </a:lnSpc>
              <a:defRPr/>
            </a:pPr>
            <a:r>
              <a:rPr lang="en-US" altLang="zh-CN" sz="2000" b="1" dirty="0" err="1">
                <a:solidFill>
                  <a:srgbClr val="595959"/>
                </a:solidFill>
                <a:latin typeface="微软雅黑" panose="020B0503020204020204" pitchFamily="34" charset="-122"/>
                <a:ea typeface="微软雅黑" panose="020B0503020204020204" pitchFamily="34" charset="-122"/>
                <a:cs typeface="+mn-ea"/>
              </a:rPr>
              <a:t>assertIsNone</a:t>
            </a:r>
            <a:r>
              <a:rPr lang="en-US" altLang="zh-CN" sz="2000" b="1" dirty="0">
                <a:solidFill>
                  <a:srgbClr val="595959"/>
                </a:solidFill>
                <a:latin typeface="微软雅黑" panose="020B0503020204020204" pitchFamily="34" charset="-122"/>
                <a:ea typeface="微软雅黑" panose="020B0503020204020204" pitchFamily="34" charset="-122"/>
                <a:cs typeface="+mn-ea"/>
              </a:rPr>
              <a:t>(</a:t>
            </a:r>
            <a:r>
              <a:rPr lang="en-US" altLang="zh-CN" sz="2000" b="1" dirty="0" err="1">
                <a:solidFill>
                  <a:srgbClr val="595959"/>
                </a:solidFill>
                <a:latin typeface="微软雅黑" panose="020B0503020204020204" pitchFamily="34" charset="-122"/>
                <a:ea typeface="微软雅黑" panose="020B0503020204020204" pitchFamily="34" charset="-122"/>
                <a:cs typeface="+mn-ea"/>
              </a:rPr>
              <a:t>obj</a:t>
            </a:r>
            <a:r>
              <a:rPr lang="en-US" altLang="zh-CN" sz="2000" b="1" dirty="0">
                <a:solidFill>
                  <a:srgbClr val="595959"/>
                </a:solidFill>
                <a:latin typeface="微软雅黑" panose="020B0503020204020204" pitchFamily="34" charset="-122"/>
                <a:ea typeface="微软雅黑" panose="020B0503020204020204" pitchFamily="34" charset="-122"/>
                <a:cs typeface="+mn-ea"/>
              </a:rPr>
              <a:t>)</a:t>
            </a:r>
            <a:endParaRPr lang="zh-CN" altLang="en-US" sz="2000" b="1" dirty="0">
              <a:solidFill>
                <a:srgbClr val="595959"/>
              </a:solidFill>
              <a:latin typeface="微软雅黑" panose="020B0503020204020204" pitchFamily="34" charset="-122"/>
              <a:ea typeface="微软雅黑" panose="020B0503020204020204" pitchFamily="34" charset="-122"/>
              <a:cs typeface="+mn-ea"/>
              <a:sym typeface="+mn-ea"/>
            </a:endParaRPr>
          </a:p>
        </p:txBody>
      </p:sp>
      <p:sp>
        <p:nvSpPr>
          <p:cNvPr id="22" name="MH_Text_3"/>
          <p:cNvSpPr txBox="1">
            <a:spLocks noChangeArrowheads="1"/>
          </p:cNvSpPr>
          <p:nvPr>
            <p:custDataLst>
              <p:tags r:id="rId14"/>
            </p:custDataLst>
          </p:nvPr>
        </p:nvSpPr>
        <p:spPr bwMode="auto">
          <a:xfrm>
            <a:off x="7744848" y="4591159"/>
            <a:ext cx="3640606" cy="489476"/>
          </a:xfrm>
          <a:prstGeom prst="rect">
            <a:avLst/>
          </a:prstGeom>
          <a:noFill/>
          <a:ln>
            <a:noFill/>
          </a:ln>
          <a:extLst>
            <a:ext uri="{909E8E84-426E-40DD-AFC4-6F175D3DCCD1}">
              <a14:hiddenFill xmlns:a14="http://schemas.microsoft.com/office/drawing/2010/main">
                <a:solidFill>
                  <a:srgbClr val="FFFFFF"/>
                </a:solidFill>
              </a14:hiddenFill>
            </a:ext>
          </a:extLst>
        </p:spPr>
        <p:txBody>
          <a:bodyPr>
            <a:no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defTabSz="508000" eaLnBrk="0">
              <a:lnSpc>
                <a:spcPts val="1800"/>
              </a:lnSpc>
              <a:defRPr/>
            </a:pPr>
            <a:r>
              <a:rPr lang="zh-CN" altLang="zh-CN" sz="1800" dirty="0">
                <a:solidFill>
                  <a:srgbClr val="595959"/>
                </a:solidFill>
                <a:latin typeface="微软雅黑" panose="020B0503020204020204" pitchFamily="34" charset="-122"/>
                <a:cs typeface="+mn-ea"/>
              </a:rPr>
              <a:t>该方法用于</a:t>
            </a:r>
            <a:r>
              <a:rPr lang="zh-CN" altLang="zh-CN" sz="1800" dirty="0">
                <a:solidFill>
                  <a:srgbClr val="1369B2"/>
                </a:solidFill>
                <a:latin typeface="微软雅黑" panose="020B0503020204020204" pitchFamily="34" charset="-122"/>
                <a:cs typeface="+mn-ea"/>
              </a:rPr>
              <a:t>验证</a:t>
            </a:r>
            <a:r>
              <a:rPr lang="en-US" altLang="zh-CN" sz="1800" dirty="0" err="1">
                <a:solidFill>
                  <a:srgbClr val="1369B2"/>
                </a:solidFill>
                <a:latin typeface="微软雅黑" panose="020B0503020204020204" pitchFamily="34" charset="-122"/>
                <a:cs typeface="+mn-ea"/>
              </a:rPr>
              <a:t>obj</a:t>
            </a:r>
            <a:r>
              <a:rPr lang="zh-CN" altLang="zh-CN" sz="1800" dirty="0">
                <a:solidFill>
                  <a:srgbClr val="1369B2"/>
                </a:solidFill>
                <a:latin typeface="微软雅黑" panose="020B0503020204020204" pitchFamily="34" charset="-122"/>
                <a:cs typeface="+mn-ea"/>
              </a:rPr>
              <a:t>是否为</a:t>
            </a:r>
            <a:r>
              <a:rPr lang="en-US" altLang="zh-CN" sz="1800" dirty="0">
                <a:solidFill>
                  <a:srgbClr val="1369B2"/>
                </a:solidFill>
                <a:latin typeface="微软雅黑" panose="020B0503020204020204" pitchFamily="34" charset="-122"/>
                <a:cs typeface="+mn-ea"/>
              </a:rPr>
              <a:t>None</a:t>
            </a:r>
            <a:r>
              <a:rPr lang="zh-CN" altLang="zh-CN" sz="1800" dirty="0">
                <a:solidFill>
                  <a:srgbClr val="595959"/>
                </a:solidFill>
                <a:latin typeface="微软雅黑" panose="020B0503020204020204" pitchFamily="34" charset="-122"/>
                <a:cs typeface="+mn-ea"/>
              </a:rPr>
              <a:t>。</a:t>
            </a:r>
            <a:endParaRPr lang="zh-CN" altLang="en-US" sz="1800" dirty="0">
              <a:solidFill>
                <a:srgbClr val="595959"/>
              </a:solidFill>
              <a:latin typeface="微软雅黑" panose="020B0503020204020204" pitchFamily="34" charset="-122"/>
              <a:cs typeface="+mn-ea"/>
              <a:sym typeface="+mn-ea"/>
            </a:endParaRPr>
          </a:p>
        </p:txBody>
      </p:sp>
      <p:cxnSp>
        <p:nvCxnSpPr>
          <p:cNvPr id="23" name="MH_Other_7"/>
          <p:cNvCxnSpPr>
            <a:cxnSpLocks noChangeShapeType="1"/>
          </p:cNvCxnSpPr>
          <p:nvPr>
            <p:custDataLst>
              <p:tags r:id="rId15"/>
            </p:custDataLst>
          </p:nvPr>
        </p:nvCxnSpPr>
        <p:spPr bwMode="auto">
          <a:xfrm>
            <a:off x="7726046" y="4241165"/>
            <a:ext cx="1420813" cy="0"/>
          </a:xfrm>
          <a:prstGeom prst="line">
            <a:avLst/>
          </a:prstGeom>
          <a:noFill/>
          <a:ln w="3175" algn="ctr">
            <a:solidFill>
              <a:srgbClr val="014076"/>
            </a:solidFill>
            <a:prstDash val="sysDash"/>
            <a:round/>
          </a:ln>
          <a:extLst>
            <a:ext uri="{909E8E84-426E-40DD-AFC4-6F175D3DCCD1}">
              <a14:hiddenFill xmlns:a14="http://schemas.microsoft.com/office/drawing/2010/main">
                <a:noFill/>
              </a14:hiddenFill>
            </a:ext>
          </a:extLst>
        </p:spPr>
      </p:cxnSp>
      <p:cxnSp>
        <p:nvCxnSpPr>
          <p:cNvPr id="24" name="MH_Other_8"/>
          <p:cNvCxnSpPr>
            <a:cxnSpLocks noChangeShapeType="1"/>
          </p:cNvCxnSpPr>
          <p:nvPr>
            <p:custDataLst>
              <p:tags r:id="rId16"/>
            </p:custDataLst>
          </p:nvPr>
        </p:nvCxnSpPr>
        <p:spPr bwMode="auto">
          <a:xfrm>
            <a:off x="2665096" y="3059748"/>
            <a:ext cx="1673225" cy="0"/>
          </a:xfrm>
          <a:prstGeom prst="line">
            <a:avLst/>
          </a:prstGeom>
          <a:noFill/>
          <a:ln w="3175" algn="ctr">
            <a:solidFill>
              <a:srgbClr val="014076"/>
            </a:solidFill>
            <a:prstDash val="sysDash"/>
            <a:round/>
          </a:ln>
          <a:extLst>
            <a:ext uri="{909E8E84-426E-40DD-AFC4-6F175D3DCCD1}">
              <a14:hiddenFill xmlns:a14="http://schemas.microsoft.com/office/drawing/2010/main">
                <a:noFill/>
              </a14:hiddenFill>
            </a:ext>
          </a:extLst>
        </p:spPr>
      </p:cxn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6.5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自动化测试框架</a:t>
            </a:r>
          </a:p>
        </p:txBody>
      </p:sp>
      <p:sp>
        <p:nvSpPr>
          <p:cNvPr id="10" name="原创设计师QQ598969553          _9"/>
          <p:cNvSpPr txBox="1"/>
          <p:nvPr/>
        </p:nvSpPr>
        <p:spPr>
          <a:xfrm>
            <a:off x="1120508" y="1938206"/>
            <a:ext cx="9798698" cy="1491588"/>
          </a:xfrm>
          <a:prstGeom prst="rect">
            <a:avLst/>
          </a:prstGeom>
          <a:noFill/>
        </p:spPr>
        <p:txBody>
          <a:bodyPr wrap="square" rtlCol="0">
            <a:spAutoFit/>
          </a:bodyPr>
          <a:lstStyle/>
          <a:p>
            <a:pPr>
              <a:lnSpc>
                <a:spcPct val="150000"/>
              </a:lnSpc>
            </a:pPr>
            <a:r>
              <a:rPr lang="en-US" altLang="zh-CN" sz="2000" dirty="0" err="1">
                <a:solidFill>
                  <a:srgbClr val="1369B2"/>
                </a:solidFill>
                <a:latin typeface="微软雅黑" panose="020B0503020204020204" pitchFamily="34" charset="-122"/>
                <a:ea typeface="微软雅黑" panose="020B0503020204020204" pitchFamily="34" charset="-122"/>
                <a:cs typeface="+mn-ea"/>
              </a:rPr>
              <a:t>pytest</a:t>
            </a:r>
            <a:r>
              <a:rPr lang="zh-CN" altLang="zh-CN" sz="2000" dirty="0">
                <a:solidFill>
                  <a:srgbClr val="1369B2"/>
                </a:solidFill>
                <a:latin typeface="微软雅黑" panose="020B0503020204020204" pitchFamily="34" charset="-122"/>
                <a:ea typeface="微软雅黑" panose="020B0503020204020204" pitchFamily="34" charset="-122"/>
                <a:cs typeface="+mn-ea"/>
              </a:rPr>
              <a:t>是</a:t>
            </a:r>
            <a:r>
              <a:rPr lang="en-US" altLang="zh-CN" sz="2000" dirty="0">
                <a:solidFill>
                  <a:srgbClr val="1369B2"/>
                </a:solidFill>
                <a:latin typeface="微软雅黑" panose="020B0503020204020204" pitchFamily="34" charset="-122"/>
                <a:ea typeface="微软雅黑" panose="020B0503020204020204" pitchFamily="34" charset="-122"/>
                <a:cs typeface="+mn-ea"/>
              </a:rPr>
              <a:t>Python</a:t>
            </a:r>
            <a:r>
              <a:rPr lang="zh-CN" altLang="zh-CN" sz="2000" dirty="0">
                <a:solidFill>
                  <a:srgbClr val="1369B2"/>
                </a:solidFill>
                <a:latin typeface="微软雅黑" panose="020B0503020204020204" pitchFamily="34" charset="-122"/>
                <a:ea typeface="微软雅黑" panose="020B0503020204020204" pitchFamily="34" charset="-122"/>
                <a:cs typeface="+mn-ea"/>
              </a:rPr>
              <a:t>中的第三方测试框架</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它是</a:t>
            </a:r>
            <a:r>
              <a:rPr lang="en-US" altLang="zh-CN" sz="2000">
                <a:solidFill>
                  <a:srgbClr val="595959"/>
                </a:solidFill>
                <a:latin typeface="微软雅黑" panose="020B0503020204020204" pitchFamily="34" charset="-122"/>
                <a:ea typeface="微软雅黑" panose="020B0503020204020204" pitchFamily="34" charset="-122"/>
                <a:cs typeface="+mn-ea"/>
              </a:rPr>
              <a:t>unittest</a:t>
            </a:r>
            <a:r>
              <a:rPr lang="zh-CN" altLang="zh-CN" sz="2000">
                <a:solidFill>
                  <a:srgbClr val="595959"/>
                </a:solidFill>
                <a:latin typeface="微软雅黑" panose="020B0503020204020204" pitchFamily="34" charset="-122"/>
                <a:ea typeface="微软雅黑" panose="020B0503020204020204" pitchFamily="34" charset="-122"/>
                <a:cs typeface="+mn-ea"/>
              </a:rPr>
              <a:t>的</a:t>
            </a:r>
            <a:r>
              <a:rPr lang="zh-CN" altLang="zh-CN" sz="2000" dirty="0">
                <a:solidFill>
                  <a:srgbClr val="595959"/>
                </a:solidFill>
                <a:latin typeface="微软雅黑" panose="020B0503020204020204" pitchFamily="34" charset="-122"/>
                <a:ea typeface="微软雅黑" panose="020B0503020204020204" pitchFamily="34" charset="-122"/>
                <a:cs typeface="+mn-ea"/>
              </a:rPr>
              <a:t>扩展框架</a:t>
            </a:r>
            <a:r>
              <a:rPr lang="zh-CN" altLang="zh-CN" sz="2000">
                <a:solidFill>
                  <a:srgbClr val="595959"/>
                </a:solidFill>
                <a:latin typeface="微软雅黑" panose="020B0503020204020204" pitchFamily="34" charset="-122"/>
                <a:ea typeface="微软雅黑" panose="020B0503020204020204" pitchFamily="34" charset="-122"/>
                <a:cs typeface="+mn-ea"/>
              </a:rPr>
              <a:t>，相</a:t>
            </a:r>
            <a:r>
              <a:rPr lang="zh-CN" altLang="en-US" sz="2000">
                <a:solidFill>
                  <a:srgbClr val="595959"/>
                </a:solidFill>
                <a:latin typeface="微软雅黑" panose="020B0503020204020204" pitchFamily="34" charset="-122"/>
                <a:ea typeface="微软雅黑" panose="020B0503020204020204" pitchFamily="34" charset="-122"/>
                <a:cs typeface="+mn-ea"/>
              </a:rPr>
              <a:t>较</a:t>
            </a:r>
            <a:r>
              <a:rPr lang="zh-CN" altLang="zh-CN" sz="2000">
                <a:solidFill>
                  <a:srgbClr val="595959"/>
                </a:solidFill>
                <a:latin typeface="微软雅黑" panose="020B0503020204020204" pitchFamily="34" charset="-122"/>
                <a:ea typeface="微软雅黑" panose="020B0503020204020204" pitchFamily="34" charset="-122"/>
                <a:cs typeface="+mn-ea"/>
              </a:rPr>
              <a:t>于</a:t>
            </a:r>
            <a:r>
              <a:rPr lang="en-US" altLang="zh-CN" sz="2000">
                <a:solidFill>
                  <a:srgbClr val="595959"/>
                </a:solidFill>
                <a:latin typeface="微软雅黑" panose="020B0503020204020204" pitchFamily="34" charset="-122"/>
                <a:ea typeface="微软雅黑" panose="020B0503020204020204" pitchFamily="34" charset="-122"/>
                <a:cs typeface="+mn-ea"/>
              </a:rPr>
              <a:t>unittest</a:t>
            </a:r>
            <a:r>
              <a:rPr lang="zh-CN" altLang="zh-CN" sz="2000">
                <a:solidFill>
                  <a:srgbClr val="595959"/>
                </a:solidFill>
                <a:latin typeface="微软雅黑" panose="020B0503020204020204" pitchFamily="34" charset="-122"/>
                <a:ea typeface="微软雅黑" panose="020B0503020204020204" pitchFamily="34" charset="-122"/>
                <a:cs typeface="+mn-ea"/>
              </a:rPr>
              <a:t>框架</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mn-ea"/>
              </a:rPr>
              <a:t>pytest</a:t>
            </a:r>
            <a:r>
              <a:rPr lang="zh-CN" altLang="zh-CN" sz="2000" dirty="0">
                <a:solidFill>
                  <a:srgbClr val="595959"/>
                </a:solidFill>
                <a:latin typeface="微软雅黑" panose="020B0503020204020204" pitchFamily="34" charset="-122"/>
                <a:ea typeface="微软雅黑" panose="020B0503020204020204" pitchFamily="34" charset="-122"/>
                <a:cs typeface="+mn-ea"/>
              </a:rPr>
              <a:t>框架更加</a:t>
            </a:r>
            <a:r>
              <a:rPr lang="zh-CN" altLang="zh-CN" sz="2000" dirty="0">
                <a:solidFill>
                  <a:srgbClr val="1369B2"/>
                </a:solidFill>
                <a:latin typeface="微软雅黑" panose="020B0503020204020204" pitchFamily="34" charset="-122"/>
                <a:ea typeface="微软雅黑" panose="020B0503020204020204" pitchFamily="34" charset="-122"/>
                <a:cs typeface="+mn-ea"/>
              </a:rPr>
              <a:t>简洁</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高效</a:t>
            </a:r>
            <a:r>
              <a:rPr lang="zh-CN" altLang="zh-CN" sz="2000" dirty="0">
                <a:solidFill>
                  <a:srgbClr val="595959"/>
                </a:solidFill>
                <a:latin typeface="微软雅黑" panose="020B0503020204020204" pitchFamily="34" charset="-122"/>
                <a:ea typeface="微软雅黑" panose="020B0503020204020204" pitchFamily="34" charset="-122"/>
                <a:cs typeface="+mn-ea"/>
              </a:rPr>
              <a:t>，它能够与主流的自动化</a:t>
            </a:r>
            <a:r>
              <a:rPr lang="zh-CN" altLang="zh-CN" sz="2000">
                <a:solidFill>
                  <a:srgbClr val="595959"/>
                </a:solidFill>
                <a:latin typeface="微软雅黑" panose="020B0503020204020204" pitchFamily="34" charset="-122"/>
                <a:ea typeface="微软雅黑" panose="020B0503020204020204" pitchFamily="34" charset="-122"/>
                <a:cs typeface="+mn-ea"/>
              </a:rPr>
              <a:t>测试工具</a:t>
            </a:r>
            <a:r>
              <a:rPr lang="en-US" altLang="zh-CN" sz="2000">
                <a:solidFill>
                  <a:srgbClr val="1369B2"/>
                </a:solidFill>
                <a:latin typeface="微软雅黑" panose="020B0503020204020204" pitchFamily="34" charset="-122"/>
                <a:ea typeface="微软雅黑" panose="020B0503020204020204" pitchFamily="34" charset="-122"/>
                <a:cs typeface="+mn-ea"/>
              </a:rPr>
              <a:t>Selenium</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mn-ea"/>
              </a:rPr>
              <a:t>Appium</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en-US" altLang="zh-CN" sz="2000" dirty="0">
                <a:solidFill>
                  <a:srgbClr val="595959"/>
                </a:solidFill>
                <a:latin typeface="微软雅黑" panose="020B0503020204020204" pitchFamily="34" charset="-122"/>
                <a:ea typeface="微软雅黑" panose="020B0503020204020204" pitchFamily="34" charset="-122"/>
                <a:cs typeface="+mn-ea"/>
              </a:rPr>
              <a:t>requests</a:t>
            </a:r>
            <a:r>
              <a:rPr lang="zh-CN" altLang="zh-CN" sz="2000" dirty="0">
                <a:solidFill>
                  <a:srgbClr val="595959"/>
                </a:solidFill>
                <a:latin typeface="微软雅黑" panose="020B0503020204020204" pitchFamily="34" charset="-122"/>
                <a:ea typeface="微软雅黑" panose="020B0503020204020204" pitchFamily="34" charset="-122"/>
                <a:cs typeface="+mn-ea"/>
              </a:rPr>
              <a:t>等结合使用，实现</a:t>
            </a:r>
            <a:r>
              <a:rPr lang="en-US" altLang="zh-CN" sz="2000" dirty="0">
                <a:solidFill>
                  <a:srgbClr val="595959"/>
                </a:solidFill>
                <a:latin typeface="微软雅黑" panose="020B0503020204020204" pitchFamily="34" charset="-122"/>
                <a:ea typeface="微软雅黑" panose="020B0503020204020204" pitchFamily="34" charset="-122"/>
                <a:cs typeface="+mn-ea"/>
              </a:rPr>
              <a:t>Web</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mn-ea"/>
              </a:rPr>
              <a:t>App</a:t>
            </a:r>
            <a:r>
              <a:rPr lang="zh-CN" altLang="zh-CN" sz="2000" dirty="0">
                <a:solidFill>
                  <a:srgbClr val="595959"/>
                </a:solidFill>
                <a:latin typeface="微软雅黑" panose="020B0503020204020204" pitchFamily="34" charset="-122"/>
                <a:ea typeface="微软雅黑" panose="020B0503020204020204" pitchFamily="34" charset="-122"/>
                <a:cs typeface="+mn-ea"/>
              </a:rPr>
              <a:t>和接口自动化测试。</a:t>
            </a:r>
          </a:p>
        </p:txBody>
      </p:sp>
      <p:sp>
        <p:nvSpPr>
          <p:cNvPr id="8" name="矩形 7"/>
          <p:cNvSpPr/>
          <p:nvPr/>
        </p:nvSpPr>
        <p:spPr>
          <a:xfrm>
            <a:off x="1143691" y="1091982"/>
            <a:ext cx="1735732" cy="499624"/>
          </a:xfrm>
          <a:prstGeom prst="rect">
            <a:avLst/>
          </a:prstGeom>
        </p:spPr>
        <p:txBody>
          <a:bodyPr wrap="none">
            <a:spAutoFit/>
          </a:bodyPr>
          <a:lstStyle/>
          <a:p>
            <a:pPr lvl="0">
              <a:lnSpc>
                <a:spcPct val="150000"/>
              </a:lnSpc>
            </a:pPr>
            <a:r>
              <a:rPr lang="en-US" altLang="zh-CN" sz="2000" b="1" dirty="0">
                <a:solidFill>
                  <a:srgbClr val="595959"/>
                </a:solidFill>
                <a:latin typeface="微软雅黑" panose="020B0503020204020204" pitchFamily="34" charset="-122"/>
                <a:ea typeface="微软雅黑" panose="020B0503020204020204" pitchFamily="34" charset="-122"/>
                <a:cs typeface="+mn-ea"/>
              </a:rPr>
              <a:t>2.pytest</a:t>
            </a:r>
            <a:r>
              <a:rPr lang="zh-CN" altLang="zh-CN" sz="2000" b="1" dirty="0">
                <a:solidFill>
                  <a:srgbClr val="595959"/>
                </a:solidFill>
                <a:latin typeface="微软雅黑" panose="020B0503020204020204" pitchFamily="34" charset="-122"/>
                <a:ea typeface="微软雅黑" panose="020B0503020204020204" pitchFamily="34" charset="-122"/>
                <a:cs typeface="+mn-ea"/>
              </a:rPr>
              <a:t>框架</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6.5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自动化测试框架</a:t>
            </a:r>
          </a:p>
        </p:txBody>
      </p:sp>
      <p:sp>
        <p:nvSpPr>
          <p:cNvPr id="10" name="原创设计师QQ598969553          _9"/>
          <p:cNvSpPr txBox="1"/>
          <p:nvPr/>
        </p:nvSpPr>
        <p:spPr>
          <a:xfrm>
            <a:off x="1068112" y="906892"/>
            <a:ext cx="10185532" cy="961289"/>
          </a:xfrm>
          <a:prstGeom prst="rect">
            <a:avLst/>
          </a:prstGeom>
          <a:noFill/>
        </p:spPr>
        <p:txBody>
          <a:bodyPr wrap="square" rtlCol="0">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在使用</a:t>
            </a:r>
            <a:r>
              <a:rPr lang="en-US" altLang="zh-CN" sz="2000" dirty="0" err="1">
                <a:solidFill>
                  <a:srgbClr val="1369B2"/>
                </a:solidFill>
                <a:latin typeface="微软雅黑" panose="020B0503020204020204" pitchFamily="34" charset="-122"/>
                <a:ea typeface="微软雅黑" panose="020B0503020204020204" pitchFamily="34" charset="-122"/>
                <a:cs typeface="+mn-ea"/>
              </a:rPr>
              <a:t>pytest</a:t>
            </a:r>
            <a:r>
              <a:rPr lang="zh-CN" altLang="zh-CN" sz="2000" dirty="0">
                <a:solidFill>
                  <a:srgbClr val="1369B2"/>
                </a:solidFill>
                <a:latin typeface="微软雅黑" panose="020B0503020204020204" pitchFamily="34" charset="-122"/>
                <a:ea typeface="微软雅黑" panose="020B0503020204020204" pitchFamily="34" charset="-122"/>
                <a:cs typeface="+mn-ea"/>
              </a:rPr>
              <a:t>框架</a:t>
            </a:r>
            <a:r>
              <a:rPr lang="zh-CN" altLang="zh-CN" sz="2000" dirty="0">
                <a:solidFill>
                  <a:srgbClr val="595959"/>
                </a:solidFill>
                <a:latin typeface="微软雅黑" panose="020B0503020204020204" pitchFamily="34" charset="-122"/>
                <a:ea typeface="微软雅黑" panose="020B0503020204020204" pitchFamily="34" charset="-122"/>
                <a:cs typeface="+mn-ea"/>
              </a:rPr>
              <a:t>时，</a:t>
            </a:r>
            <a:r>
              <a:rPr lang="zh-CN" altLang="zh-CN" sz="2000" dirty="0">
                <a:solidFill>
                  <a:srgbClr val="1369B2"/>
                </a:solidFill>
                <a:latin typeface="微软雅黑" panose="020B0503020204020204" pitchFamily="34" charset="-122"/>
                <a:ea typeface="微软雅黑" panose="020B0503020204020204" pitchFamily="34" charset="-122"/>
                <a:cs typeface="+mn-ea"/>
              </a:rPr>
              <a:t>测试类的名称要以</a:t>
            </a:r>
            <a:r>
              <a:rPr lang="en-US" altLang="zh-CN" sz="2000" dirty="0">
                <a:solidFill>
                  <a:srgbClr val="1369B2"/>
                </a:solidFill>
                <a:latin typeface="微软雅黑" panose="020B0503020204020204" pitchFamily="34" charset="-122"/>
                <a:ea typeface="微软雅黑" panose="020B0503020204020204" pitchFamily="34" charset="-122"/>
                <a:cs typeface="+mn-ea"/>
              </a:rPr>
              <a:t>Test</a:t>
            </a:r>
            <a:r>
              <a:rPr lang="zh-CN" altLang="zh-CN" sz="2000" dirty="0">
                <a:solidFill>
                  <a:srgbClr val="1369B2"/>
                </a:solidFill>
                <a:latin typeface="微软雅黑" panose="020B0503020204020204" pitchFamily="34" charset="-122"/>
                <a:ea typeface="微软雅黑" panose="020B0503020204020204" pitchFamily="34" charset="-122"/>
                <a:cs typeface="+mn-ea"/>
              </a:rPr>
              <a:t>开头</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测试方法或函数的名称要以</a:t>
            </a:r>
            <a:r>
              <a:rPr lang="en-US" altLang="zh-CN" sz="2000" dirty="0">
                <a:solidFill>
                  <a:srgbClr val="1369B2"/>
                </a:solidFill>
                <a:latin typeface="微软雅黑" panose="020B0503020204020204" pitchFamily="34" charset="-122"/>
                <a:ea typeface="微软雅黑" panose="020B0503020204020204" pitchFamily="34" charset="-122"/>
                <a:cs typeface="+mn-ea"/>
              </a:rPr>
              <a:t>test</a:t>
            </a:r>
            <a:r>
              <a:rPr lang="zh-CN" altLang="zh-CN" sz="2000" dirty="0">
                <a:solidFill>
                  <a:srgbClr val="1369B2"/>
                </a:solidFill>
                <a:latin typeface="微软雅黑" panose="020B0503020204020204" pitchFamily="34" charset="-122"/>
                <a:ea typeface="微软雅黑" panose="020B0503020204020204" pitchFamily="34" charset="-122"/>
                <a:cs typeface="+mn-ea"/>
              </a:rPr>
              <a:t>开头</a:t>
            </a:r>
            <a:r>
              <a:rPr lang="zh-CN" altLang="zh-CN" sz="2000">
                <a:solidFill>
                  <a:srgbClr val="595959"/>
                </a:solidFill>
                <a:latin typeface="微软雅黑" panose="020B0503020204020204" pitchFamily="34" charset="-122"/>
                <a:ea typeface="微软雅黑" panose="020B0503020204020204" pitchFamily="34" charset="-122"/>
                <a:cs typeface="+mn-ea"/>
              </a:rPr>
              <a:t>。与</a:t>
            </a:r>
            <a:r>
              <a:rPr lang="en-US" altLang="zh-CN" sz="2000">
                <a:solidFill>
                  <a:srgbClr val="595959"/>
                </a:solidFill>
                <a:latin typeface="微软雅黑" panose="020B0503020204020204" pitchFamily="34" charset="-122"/>
                <a:ea typeface="微软雅黑" panose="020B0503020204020204" pitchFamily="34" charset="-122"/>
                <a:cs typeface="+mn-ea"/>
              </a:rPr>
              <a:t>unittest</a:t>
            </a:r>
            <a:r>
              <a:rPr lang="zh-CN" altLang="zh-CN" sz="2000">
                <a:solidFill>
                  <a:srgbClr val="595959"/>
                </a:solidFill>
                <a:latin typeface="微软雅黑" panose="020B0503020204020204" pitchFamily="34" charset="-122"/>
                <a:ea typeface="微软雅黑" panose="020B0503020204020204" pitchFamily="34" charset="-122"/>
                <a:cs typeface="+mn-ea"/>
              </a:rPr>
              <a:t>框架</a:t>
            </a:r>
            <a:r>
              <a:rPr lang="zh-CN" altLang="zh-CN" sz="2000" dirty="0">
                <a:solidFill>
                  <a:srgbClr val="595959"/>
                </a:solidFill>
                <a:latin typeface="微软雅黑" panose="020B0503020204020204" pitchFamily="34" charset="-122"/>
                <a:ea typeface="微软雅黑" panose="020B0503020204020204" pitchFamily="34" charset="-122"/>
                <a:cs typeface="+mn-ea"/>
              </a:rPr>
              <a:t>的</a:t>
            </a:r>
            <a:r>
              <a:rPr lang="en-US" altLang="zh-CN" sz="2000" dirty="0">
                <a:solidFill>
                  <a:srgbClr val="595959"/>
                </a:solidFill>
                <a:latin typeface="微软雅黑" panose="020B0503020204020204" pitchFamily="34" charset="-122"/>
                <a:ea typeface="微软雅黑" panose="020B0503020204020204" pitchFamily="34" charset="-122"/>
                <a:cs typeface="+mn-ea"/>
              </a:rPr>
              <a:t>Fixture</a:t>
            </a:r>
            <a:r>
              <a:rPr lang="zh-CN" altLang="zh-CN" sz="2000" dirty="0">
                <a:solidFill>
                  <a:srgbClr val="595959"/>
                </a:solidFill>
                <a:latin typeface="微软雅黑" panose="020B0503020204020204" pitchFamily="34" charset="-122"/>
                <a:ea typeface="微软雅黑" panose="020B0503020204020204" pitchFamily="34" charset="-122"/>
                <a:cs typeface="+mn-ea"/>
              </a:rPr>
              <a:t>类似，</a:t>
            </a:r>
            <a:r>
              <a:rPr lang="en-US" altLang="zh-CN" sz="2000" dirty="0" err="1">
                <a:solidFill>
                  <a:srgbClr val="595959"/>
                </a:solidFill>
                <a:latin typeface="微软雅黑" panose="020B0503020204020204" pitchFamily="34" charset="-122"/>
                <a:ea typeface="微软雅黑" panose="020B0503020204020204" pitchFamily="34" charset="-122"/>
                <a:cs typeface="+mn-ea"/>
              </a:rPr>
              <a:t>pytest</a:t>
            </a:r>
            <a:r>
              <a:rPr lang="zh-CN" altLang="zh-CN" sz="2000" dirty="0">
                <a:solidFill>
                  <a:srgbClr val="595959"/>
                </a:solidFill>
                <a:latin typeface="微软雅黑" panose="020B0503020204020204" pitchFamily="34" charset="-122"/>
                <a:ea typeface="微软雅黑" panose="020B0503020204020204" pitchFamily="34" charset="-122"/>
                <a:cs typeface="+mn-ea"/>
              </a:rPr>
              <a:t>框架中也有</a:t>
            </a:r>
            <a:r>
              <a:rPr lang="zh-CN" altLang="zh-CN" sz="2000">
                <a:solidFill>
                  <a:srgbClr val="1369B2"/>
                </a:solidFill>
                <a:latin typeface="微软雅黑" panose="020B0503020204020204" pitchFamily="34" charset="-122"/>
                <a:ea typeface="微软雅黑" panose="020B0503020204020204" pitchFamily="34" charset="-122"/>
                <a:cs typeface="+mn-ea"/>
              </a:rPr>
              <a:t>测试固件</a:t>
            </a:r>
            <a:r>
              <a:rPr lang="zh-CN" altLang="en-US" sz="2000">
                <a:solidFill>
                  <a:srgbClr val="595959"/>
                </a:solidFill>
                <a:latin typeface="微软雅黑" panose="020B0503020204020204" pitchFamily="34" charset="-122"/>
                <a:ea typeface="微软雅黑" panose="020B0503020204020204" pitchFamily="34" charset="-122"/>
                <a:cs typeface="+mn-ea"/>
              </a:rPr>
              <a:t>，具体如下。</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3" name="矩形 2"/>
          <p:cNvSpPr/>
          <p:nvPr/>
        </p:nvSpPr>
        <p:spPr>
          <a:xfrm>
            <a:off x="1052981" y="2349794"/>
            <a:ext cx="9989877" cy="2862322"/>
          </a:xfrm>
          <a:prstGeom prst="rect">
            <a:avLst/>
          </a:prstGeom>
        </p:spPr>
        <p:txBody>
          <a:bodyPr wrap="square">
            <a:spAutoFit/>
          </a:bodyPr>
          <a:lstStyle/>
          <a:p>
            <a:pPr marL="285750" lvl="0" indent="-285750">
              <a:lnSpc>
                <a:spcPct val="150000"/>
              </a:lnSpc>
              <a:buFont typeface="Wingdings" panose="05000000000000000000" pitchFamily="2" charset="2"/>
              <a:buChar char="l"/>
            </a:pPr>
            <a:r>
              <a:rPr lang="zh-CN" altLang="zh-CN" sz="2000">
                <a:solidFill>
                  <a:srgbClr val="595959"/>
                </a:solidFill>
                <a:latin typeface="微软雅黑" panose="020B0503020204020204" pitchFamily="34" charset="-122"/>
                <a:ea typeface="微软雅黑" panose="020B0503020204020204" pitchFamily="34" charset="-122"/>
                <a:cs typeface="+mn-ea"/>
              </a:rPr>
              <a:t>模块级别</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在</a:t>
            </a:r>
            <a:r>
              <a:rPr lang="zh-CN" altLang="zh-CN" sz="2000" dirty="0">
                <a:solidFill>
                  <a:srgbClr val="595959"/>
                </a:solidFill>
                <a:latin typeface="微软雅黑" panose="020B0503020204020204" pitchFamily="34" charset="-122"/>
                <a:ea typeface="微软雅黑" panose="020B0503020204020204" pitchFamily="34" charset="-122"/>
                <a:cs typeface="+mn-ea"/>
              </a:rPr>
              <a:t>模块中定义</a:t>
            </a:r>
            <a:r>
              <a:rPr lang="en-US" altLang="zh-CN" sz="2000" dirty="0" err="1">
                <a:solidFill>
                  <a:srgbClr val="1369B2"/>
                </a:solidFill>
                <a:latin typeface="微软雅黑" panose="020B0503020204020204" pitchFamily="34" charset="-122"/>
                <a:ea typeface="微软雅黑" panose="020B0503020204020204" pitchFamily="34" charset="-122"/>
                <a:cs typeface="+mn-ea"/>
              </a:rPr>
              <a:t>setup_module</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方法与</a:t>
            </a:r>
            <a:r>
              <a:rPr lang="en-US" altLang="zh-CN" sz="2000" dirty="0" err="1">
                <a:solidFill>
                  <a:srgbClr val="1369B2"/>
                </a:solidFill>
                <a:latin typeface="微软雅黑" panose="020B0503020204020204" pitchFamily="34" charset="-122"/>
                <a:ea typeface="微软雅黑" panose="020B0503020204020204" pitchFamily="34" charset="-122"/>
                <a:cs typeface="+mn-ea"/>
              </a:rPr>
              <a:t>teardown_module</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方法，这</a:t>
            </a:r>
            <a:r>
              <a:rPr lang="en-US" altLang="zh-CN" sz="2000" dirty="0">
                <a:solidFill>
                  <a:srgbClr val="595959"/>
                </a:solidFill>
                <a:latin typeface="微软雅黑" panose="020B0503020204020204" pitchFamily="34" charset="-122"/>
                <a:ea typeface="微软雅黑" panose="020B0503020204020204" pitchFamily="34" charset="-122"/>
                <a:cs typeface="+mn-ea"/>
              </a:rPr>
              <a:t>2</a:t>
            </a:r>
            <a:r>
              <a:rPr lang="zh-CN" altLang="zh-CN" sz="2000" dirty="0">
                <a:solidFill>
                  <a:srgbClr val="595959"/>
                </a:solidFill>
                <a:latin typeface="微软雅黑" panose="020B0503020204020204" pitchFamily="34" charset="-122"/>
                <a:ea typeface="微软雅黑" panose="020B0503020204020204" pitchFamily="34" charset="-122"/>
                <a:cs typeface="+mn-ea"/>
              </a:rPr>
              <a:t>个方法分别在</a:t>
            </a:r>
            <a:r>
              <a:rPr lang="zh-CN" altLang="zh-CN" sz="2000" dirty="0">
                <a:solidFill>
                  <a:srgbClr val="1369B2"/>
                </a:solidFill>
                <a:latin typeface="微软雅黑" panose="020B0503020204020204" pitchFamily="34" charset="-122"/>
                <a:ea typeface="微软雅黑" panose="020B0503020204020204" pitchFamily="34" charset="-122"/>
                <a:cs typeface="+mn-ea"/>
              </a:rPr>
              <a:t>模块运行前后被调用</a:t>
            </a:r>
            <a:r>
              <a:rPr lang="zh-CN" altLang="zh-CN" sz="2000" dirty="0">
                <a:solidFill>
                  <a:srgbClr val="595959"/>
                </a:solidFill>
                <a:latin typeface="微软雅黑" panose="020B0503020204020204" pitchFamily="34" charset="-122"/>
                <a:ea typeface="微软雅黑" panose="020B0503020204020204" pitchFamily="34" charset="-122"/>
                <a:cs typeface="+mn-ea"/>
              </a:rPr>
              <a:t>，在整个模块运行中</a:t>
            </a:r>
            <a:r>
              <a:rPr lang="zh-CN" altLang="zh-CN" sz="2000" dirty="0">
                <a:solidFill>
                  <a:srgbClr val="1369B2"/>
                </a:solidFill>
                <a:latin typeface="微软雅黑" panose="020B0503020204020204" pitchFamily="34" charset="-122"/>
                <a:ea typeface="微软雅黑" panose="020B0503020204020204" pitchFamily="34" charset="-122"/>
                <a:cs typeface="+mn-ea"/>
              </a:rPr>
              <a:t>只执行一次</a:t>
            </a:r>
            <a:r>
              <a:rPr lang="zh-CN" altLang="zh-CN" sz="2000" dirty="0">
                <a:solidFill>
                  <a:srgbClr val="595959"/>
                </a:solidFill>
                <a:latin typeface="微软雅黑" panose="020B0503020204020204" pitchFamily="34" charset="-122"/>
                <a:ea typeface="微软雅黑" panose="020B0503020204020204" pitchFamily="34" charset="-122"/>
                <a:cs typeface="+mn-ea"/>
              </a:rPr>
              <a:t>，作用于</a:t>
            </a:r>
            <a:r>
              <a:rPr lang="zh-CN" altLang="zh-CN" sz="2000" dirty="0">
                <a:solidFill>
                  <a:srgbClr val="1369B2"/>
                </a:solidFill>
                <a:latin typeface="微软雅黑" panose="020B0503020204020204" pitchFamily="34" charset="-122"/>
                <a:ea typeface="微软雅黑" panose="020B0503020204020204" pitchFamily="34" charset="-122"/>
                <a:cs typeface="+mn-ea"/>
              </a:rPr>
              <a:t>模块中的</a:t>
            </a:r>
            <a:r>
              <a:rPr lang="zh-CN" altLang="zh-CN" sz="2000">
                <a:solidFill>
                  <a:srgbClr val="1369B2"/>
                </a:solidFill>
                <a:latin typeface="微软雅黑" panose="020B0503020204020204" pitchFamily="34" charset="-122"/>
                <a:ea typeface="微软雅黑" panose="020B0503020204020204" pitchFamily="34" charset="-122"/>
                <a:cs typeface="+mn-ea"/>
              </a:rPr>
              <a:t>测试用例</a:t>
            </a:r>
            <a:r>
              <a:rPr lang="zh-CN" altLang="zh-CN" sz="2000">
                <a:solidFill>
                  <a:srgbClr val="595959"/>
                </a:solidFill>
                <a:latin typeface="微软雅黑" panose="020B0503020204020204" pitchFamily="34" charset="-122"/>
                <a:ea typeface="微软雅黑" panose="020B0503020204020204" pitchFamily="34" charset="-122"/>
                <a:cs typeface="+mn-ea"/>
              </a:rPr>
              <a:t>。</a:t>
            </a:r>
            <a:endParaRPr lang="en-US" altLang="zh-CN" sz="2000">
              <a:solidFill>
                <a:srgbClr val="595959"/>
              </a:solidFill>
              <a:latin typeface="微软雅黑" panose="020B0503020204020204" pitchFamily="34" charset="-122"/>
              <a:ea typeface="微软雅黑" panose="020B0503020204020204" pitchFamily="34" charset="-122"/>
              <a:cs typeface="+mn-ea"/>
            </a:endParaRPr>
          </a:p>
          <a:p>
            <a:pPr lvl="0">
              <a:lnSpc>
                <a:spcPct val="150000"/>
              </a:lnSpc>
            </a:pPr>
            <a:endParaRPr lang="en-US" altLang="zh-CN" sz="2000">
              <a:solidFill>
                <a:srgbClr val="595959"/>
              </a:solidFill>
              <a:latin typeface="微软雅黑" panose="020B0503020204020204" pitchFamily="34" charset="-122"/>
              <a:ea typeface="微软雅黑" panose="020B0503020204020204" pitchFamily="34" charset="-122"/>
              <a:cs typeface="+mn-ea"/>
            </a:endParaRPr>
          </a:p>
          <a:p>
            <a:pPr marL="285750" indent="-285750">
              <a:lnSpc>
                <a:spcPct val="150000"/>
              </a:lnSpc>
              <a:buFont typeface="Wingdings" panose="05000000000000000000" pitchFamily="2" charset="2"/>
              <a:buChar char="l"/>
            </a:pPr>
            <a:r>
              <a:rPr lang="zh-CN" altLang="zh-CN" sz="2000">
                <a:solidFill>
                  <a:srgbClr val="595959"/>
                </a:solidFill>
                <a:latin typeface="微软雅黑" panose="020B0503020204020204" pitchFamily="34" charset="-122"/>
                <a:ea typeface="微软雅黑" panose="020B0503020204020204" pitchFamily="34" charset="-122"/>
                <a:cs typeface="+mn-ea"/>
              </a:rPr>
              <a:t>函数级别</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在模块中定义</a:t>
            </a:r>
            <a:r>
              <a:rPr lang="en-US" altLang="zh-CN" sz="2000">
                <a:solidFill>
                  <a:srgbClr val="1369B2"/>
                </a:solidFill>
                <a:latin typeface="微软雅黑" panose="020B0503020204020204" pitchFamily="34" charset="-122"/>
                <a:ea typeface="微软雅黑" panose="020B0503020204020204" pitchFamily="34" charset="-122"/>
                <a:cs typeface="+mn-ea"/>
              </a:rPr>
              <a:t>setup_function()</a:t>
            </a:r>
            <a:r>
              <a:rPr lang="zh-CN" altLang="zh-CN" sz="2000">
                <a:solidFill>
                  <a:srgbClr val="595959"/>
                </a:solidFill>
                <a:latin typeface="微软雅黑" panose="020B0503020204020204" pitchFamily="34" charset="-122"/>
                <a:ea typeface="微软雅黑" panose="020B0503020204020204" pitchFamily="34" charset="-122"/>
                <a:cs typeface="+mn-ea"/>
              </a:rPr>
              <a:t>方法与</a:t>
            </a:r>
            <a:r>
              <a:rPr lang="en-US" altLang="zh-CN" sz="2000">
                <a:solidFill>
                  <a:srgbClr val="1369B2"/>
                </a:solidFill>
                <a:latin typeface="微软雅黑" panose="020B0503020204020204" pitchFamily="34" charset="-122"/>
                <a:ea typeface="微软雅黑" panose="020B0503020204020204" pitchFamily="34" charset="-122"/>
                <a:cs typeface="+mn-ea"/>
              </a:rPr>
              <a:t>teardown_function()</a:t>
            </a:r>
            <a:r>
              <a:rPr lang="zh-CN" altLang="zh-CN" sz="2000">
                <a:solidFill>
                  <a:srgbClr val="595959"/>
                </a:solidFill>
                <a:latin typeface="微软雅黑" panose="020B0503020204020204" pitchFamily="34" charset="-122"/>
                <a:ea typeface="微软雅黑" panose="020B0503020204020204" pitchFamily="34" charset="-122"/>
                <a:cs typeface="+mn-ea"/>
              </a:rPr>
              <a:t>方法，这</a:t>
            </a:r>
            <a:r>
              <a:rPr lang="en-US" altLang="zh-CN" sz="2000">
                <a:solidFill>
                  <a:srgbClr val="595959"/>
                </a:solidFill>
                <a:latin typeface="微软雅黑" panose="020B0503020204020204" pitchFamily="34" charset="-122"/>
                <a:ea typeface="微软雅黑" panose="020B0503020204020204" pitchFamily="34" charset="-122"/>
                <a:cs typeface="+mn-ea"/>
              </a:rPr>
              <a:t>2</a:t>
            </a:r>
            <a:r>
              <a:rPr lang="zh-CN" altLang="zh-CN" sz="2000">
                <a:solidFill>
                  <a:srgbClr val="595959"/>
                </a:solidFill>
                <a:latin typeface="微软雅黑" panose="020B0503020204020204" pitchFamily="34" charset="-122"/>
                <a:ea typeface="微软雅黑" panose="020B0503020204020204" pitchFamily="34" charset="-122"/>
                <a:cs typeface="+mn-ea"/>
              </a:rPr>
              <a:t>个方法分别</a:t>
            </a:r>
            <a:r>
              <a:rPr lang="zh-CN" altLang="zh-CN" sz="2000">
                <a:solidFill>
                  <a:srgbClr val="1369B2"/>
                </a:solidFill>
                <a:latin typeface="微软雅黑" panose="020B0503020204020204" pitchFamily="34" charset="-122"/>
                <a:ea typeface="微软雅黑" panose="020B0503020204020204" pitchFamily="34" charset="-122"/>
                <a:cs typeface="+mn-ea"/>
              </a:rPr>
              <a:t>在函数运行前后被调用</a:t>
            </a:r>
            <a:r>
              <a:rPr lang="zh-CN" altLang="zh-CN" sz="2000">
                <a:solidFill>
                  <a:srgbClr val="595959"/>
                </a:solidFill>
                <a:latin typeface="微软雅黑" panose="020B0503020204020204" pitchFamily="34" charset="-122"/>
                <a:ea typeface="微软雅黑" panose="020B0503020204020204" pitchFamily="34" charset="-122"/>
                <a:cs typeface="+mn-ea"/>
              </a:rPr>
              <a:t>。</a:t>
            </a:r>
            <a:endParaRPr lang="en-US" altLang="zh-CN" sz="200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6.5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自动化测试框架</a:t>
            </a:r>
          </a:p>
        </p:txBody>
      </p:sp>
      <p:sp>
        <p:nvSpPr>
          <p:cNvPr id="3" name="矩形 2"/>
          <p:cNvSpPr/>
          <p:nvPr/>
        </p:nvSpPr>
        <p:spPr>
          <a:xfrm>
            <a:off x="1055206" y="1773794"/>
            <a:ext cx="9989877" cy="3323987"/>
          </a:xfrm>
          <a:prstGeom prst="rect">
            <a:avLst/>
          </a:prstGeom>
        </p:spPr>
        <p:txBody>
          <a:bodyPr wrap="square">
            <a:spAutoFit/>
          </a:bodyPr>
          <a:lstStyle/>
          <a:p>
            <a:pPr marL="285750" indent="-285750">
              <a:lnSpc>
                <a:spcPct val="150000"/>
              </a:lnSpc>
              <a:buFont typeface="Wingdings" panose="05000000000000000000" pitchFamily="2" charset="2"/>
              <a:buChar char="l"/>
            </a:pPr>
            <a:r>
              <a:rPr lang="en-US" altLang="zh-CN" sz="2000">
                <a:solidFill>
                  <a:srgbClr val="595959"/>
                </a:solidFill>
                <a:latin typeface="微软雅黑" panose="020B0503020204020204" pitchFamily="34" charset="-122"/>
                <a:ea typeface="微软雅黑" panose="020B0503020204020204" pitchFamily="34" charset="-122"/>
                <a:cs typeface="+mn-ea"/>
              </a:rPr>
              <a:t>Fixture</a:t>
            </a:r>
            <a:r>
              <a:rPr lang="zh-CN" altLang="zh-CN" sz="2000">
                <a:solidFill>
                  <a:srgbClr val="595959"/>
                </a:solidFill>
                <a:latin typeface="微软雅黑" panose="020B0503020204020204" pitchFamily="34" charset="-122"/>
                <a:ea typeface="微软雅黑" panose="020B0503020204020204" pitchFamily="34" charset="-122"/>
                <a:cs typeface="+mn-ea"/>
              </a:rPr>
              <a:t>的方法级别指的是在类中定义</a:t>
            </a:r>
            <a:r>
              <a:rPr lang="en-US" altLang="zh-CN" sz="2000">
                <a:solidFill>
                  <a:srgbClr val="1369B2"/>
                </a:solidFill>
                <a:latin typeface="微软雅黑" panose="020B0503020204020204" pitchFamily="34" charset="-122"/>
                <a:ea typeface="微软雅黑" panose="020B0503020204020204" pitchFamily="34" charset="-122"/>
                <a:cs typeface="+mn-ea"/>
              </a:rPr>
              <a:t>setup_method()</a:t>
            </a:r>
            <a:r>
              <a:rPr lang="zh-CN" altLang="zh-CN" sz="2000">
                <a:solidFill>
                  <a:srgbClr val="595959"/>
                </a:solidFill>
                <a:latin typeface="微软雅黑" panose="020B0503020204020204" pitchFamily="34" charset="-122"/>
                <a:ea typeface="微软雅黑" panose="020B0503020204020204" pitchFamily="34" charset="-122"/>
                <a:cs typeface="+mn-ea"/>
              </a:rPr>
              <a:t>方法或</a:t>
            </a:r>
            <a:r>
              <a:rPr lang="en-US" altLang="zh-CN" sz="2000">
                <a:solidFill>
                  <a:srgbClr val="1369B2"/>
                </a:solidFill>
                <a:latin typeface="微软雅黑" panose="020B0503020204020204" pitchFamily="34" charset="-122"/>
                <a:ea typeface="微软雅黑" panose="020B0503020204020204" pitchFamily="34" charset="-122"/>
                <a:cs typeface="+mn-ea"/>
              </a:rPr>
              <a:t>setup()</a:t>
            </a:r>
            <a:r>
              <a:rPr lang="zh-CN" altLang="zh-CN" sz="2000">
                <a:solidFill>
                  <a:srgbClr val="595959"/>
                </a:solidFill>
                <a:latin typeface="微软雅黑" panose="020B0503020204020204" pitchFamily="34" charset="-122"/>
                <a:ea typeface="微软雅黑" panose="020B0503020204020204" pitchFamily="34" charset="-122"/>
                <a:cs typeface="+mn-ea"/>
              </a:rPr>
              <a:t>方法、</a:t>
            </a:r>
            <a:r>
              <a:rPr lang="en-US" altLang="zh-CN" sz="2000">
                <a:solidFill>
                  <a:srgbClr val="1369B2"/>
                </a:solidFill>
                <a:latin typeface="微软雅黑" panose="020B0503020204020204" pitchFamily="34" charset="-122"/>
                <a:ea typeface="微软雅黑" panose="020B0503020204020204" pitchFamily="34" charset="-122"/>
                <a:cs typeface="+mn-ea"/>
              </a:rPr>
              <a:t>teardown_method()</a:t>
            </a:r>
            <a:r>
              <a:rPr lang="zh-CN" altLang="zh-CN" sz="2000">
                <a:solidFill>
                  <a:srgbClr val="595959"/>
                </a:solidFill>
                <a:latin typeface="微软雅黑" panose="020B0503020204020204" pitchFamily="34" charset="-122"/>
                <a:ea typeface="微软雅黑" panose="020B0503020204020204" pitchFamily="34" charset="-122"/>
                <a:cs typeface="+mn-ea"/>
              </a:rPr>
              <a:t>方法或</a:t>
            </a:r>
            <a:r>
              <a:rPr lang="en-US" altLang="zh-CN" sz="2000">
                <a:solidFill>
                  <a:srgbClr val="1369B2"/>
                </a:solidFill>
                <a:latin typeface="微软雅黑" panose="020B0503020204020204" pitchFamily="34" charset="-122"/>
                <a:ea typeface="微软雅黑" panose="020B0503020204020204" pitchFamily="34" charset="-122"/>
                <a:cs typeface="+mn-ea"/>
              </a:rPr>
              <a:t>teardown()</a:t>
            </a:r>
            <a:r>
              <a:rPr lang="zh-CN" altLang="zh-CN" sz="2000">
                <a:solidFill>
                  <a:srgbClr val="595959"/>
                </a:solidFill>
                <a:latin typeface="微软雅黑" panose="020B0503020204020204" pitchFamily="34" charset="-122"/>
                <a:ea typeface="微软雅黑" panose="020B0503020204020204" pitchFamily="34" charset="-122"/>
                <a:cs typeface="+mn-ea"/>
              </a:rPr>
              <a:t>方法，这</a:t>
            </a:r>
            <a:r>
              <a:rPr lang="en-US" altLang="zh-CN" sz="2000">
                <a:solidFill>
                  <a:srgbClr val="595959"/>
                </a:solidFill>
                <a:latin typeface="微软雅黑" panose="020B0503020204020204" pitchFamily="34" charset="-122"/>
                <a:ea typeface="微软雅黑" panose="020B0503020204020204" pitchFamily="34" charset="-122"/>
                <a:cs typeface="+mn-ea"/>
              </a:rPr>
              <a:t>2</a:t>
            </a:r>
            <a:r>
              <a:rPr lang="zh-CN" altLang="zh-CN" sz="2000">
                <a:solidFill>
                  <a:srgbClr val="595959"/>
                </a:solidFill>
                <a:latin typeface="微软雅黑" panose="020B0503020204020204" pitchFamily="34" charset="-122"/>
                <a:ea typeface="微软雅黑" panose="020B0503020204020204" pitchFamily="34" charset="-122"/>
                <a:cs typeface="+mn-ea"/>
              </a:rPr>
              <a:t>个方法分别</a:t>
            </a:r>
            <a:r>
              <a:rPr lang="zh-CN" altLang="zh-CN" sz="2000">
                <a:solidFill>
                  <a:srgbClr val="1369B2"/>
                </a:solidFill>
                <a:latin typeface="微软雅黑" panose="020B0503020204020204" pitchFamily="34" charset="-122"/>
                <a:ea typeface="微软雅黑" panose="020B0503020204020204" pitchFamily="34" charset="-122"/>
                <a:cs typeface="+mn-ea"/>
              </a:rPr>
              <a:t>在测试方法运行前后被调用</a:t>
            </a:r>
            <a:r>
              <a:rPr lang="zh-CN" altLang="zh-CN" sz="2000">
                <a:solidFill>
                  <a:srgbClr val="595959"/>
                </a:solidFill>
                <a:latin typeface="微软雅黑" panose="020B0503020204020204" pitchFamily="34" charset="-122"/>
                <a:ea typeface="微软雅黑" panose="020B0503020204020204" pitchFamily="34" charset="-122"/>
                <a:cs typeface="+mn-ea"/>
              </a:rPr>
              <a:t>，在每个测试方法运行的过程中</a:t>
            </a:r>
            <a:r>
              <a:rPr lang="zh-CN" altLang="zh-CN" sz="2000">
                <a:solidFill>
                  <a:srgbClr val="1369B2"/>
                </a:solidFill>
                <a:latin typeface="微软雅黑" panose="020B0503020204020204" pitchFamily="34" charset="-122"/>
                <a:ea typeface="微软雅黑" panose="020B0503020204020204" pitchFamily="34" charset="-122"/>
                <a:cs typeface="+mn-ea"/>
              </a:rPr>
              <a:t>只执行一次</a:t>
            </a:r>
            <a:r>
              <a:rPr lang="zh-CN" altLang="zh-CN" sz="2000">
                <a:solidFill>
                  <a:srgbClr val="595959"/>
                </a:solidFill>
                <a:latin typeface="微软雅黑" panose="020B0503020204020204" pitchFamily="34" charset="-122"/>
                <a:ea typeface="微软雅黑" panose="020B0503020204020204" pitchFamily="34" charset="-122"/>
                <a:cs typeface="+mn-ea"/>
              </a:rPr>
              <a:t>，作用于</a:t>
            </a:r>
            <a:r>
              <a:rPr lang="zh-CN" altLang="zh-CN" sz="2000">
                <a:solidFill>
                  <a:srgbClr val="1369B2"/>
                </a:solidFill>
                <a:latin typeface="微软雅黑" panose="020B0503020204020204" pitchFamily="34" charset="-122"/>
                <a:ea typeface="微软雅黑" panose="020B0503020204020204" pitchFamily="34" charset="-122"/>
                <a:cs typeface="+mn-ea"/>
              </a:rPr>
              <a:t>类中的所有测试方法</a:t>
            </a:r>
            <a:r>
              <a:rPr lang="zh-CN" altLang="zh-CN" sz="2000">
                <a:solidFill>
                  <a:srgbClr val="595959"/>
                </a:solidFill>
                <a:latin typeface="微软雅黑" panose="020B0503020204020204" pitchFamily="34" charset="-122"/>
                <a:ea typeface="微软雅黑" panose="020B0503020204020204" pitchFamily="34" charset="-122"/>
                <a:cs typeface="+mn-ea"/>
              </a:rPr>
              <a:t>。</a:t>
            </a:r>
            <a:endParaRPr lang="en-US" altLang="zh-CN" sz="200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2000">
              <a:solidFill>
                <a:srgbClr val="595959"/>
              </a:solidFill>
              <a:latin typeface="微软雅黑" panose="020B0503020204020204" pitchFamily="34" charset="-122"/>
              <a:ea typeface="微软雅黑" panose="020B0503020204020204" pitchFamily="34" charset="-122"/>
              <a:cs typeface="+mn-ea"/>
            </a:endParaRPr>
          </a:p>
          <a:p>
            <a:pPr marL="285750" indent="-285750">
              <a:lnSpc>
                <a:spcPct val="150000"/>
              </a:lnSpc>
              <a:buFont typeface="Wingdings" panose="05000000000000000000" pitchFamily="2" charset="2"/>
              <a:buChar char="l"/>
            </a:pPr>
            <a:r>
              <a:rPr lang="en-US" altLang="zh-CN" sz="2000">
                <a:solidFill>
                  <a:srgbClr val="595959"/>
                </a:solidFill>
                <a:latin typeface="微软雅黑" panose="020B0503020204020204" pitchFamily="34" charset="-122"/>
                <a:ea typeface="微软雅黑" panose="020B0503020204020204" pitchFamily="34" charset="-122"/>
                <a:cs typeface="+mn-ea"/>
              </a:rPr>
              <a:t>Fixture</a:t>
            </a:r>
            <a:r>
              <a:rPr lang="zh-CN" altLang="zh-CN" sz="2000">
                <a:solidFill>
                  <a:srgbClr val="595959"/>
                </a:solidFill>
                <a:latin typeface="微软雅黑" panose="020B0503020204020204" pitchFamily="34" charset="-122"/>
                <a:ea typeface="微软雅黑" panose="020B0503020204020204" pitchFamily="34" charset="-122"/>
                <a:cs typeface="+mn-ea"/>
              </a:rPr>
              <a:t>的类级别指的是在模块或类中定义</a:t>
            </a:r>
            <a:r>
              <a:rPr lang="en-US" altLang="zh-CN" sz="2000">
                <a:solidFill>
                  <a:srgbClr val="1369B2"/>
                </a:solidFill>
                <a:latin typeface="微软雅黑" panose="020B0503020204020204" pitchFamily="34" charset="-122"/>
                <a:ea typeface="微软雅黑" panose="020B0503020204020204" pitchFamily="34" charset="-122"/>
                <a:cs typeface="+mn-ea"/>
              </a:rPr>
              <a:t>setup_class()</a:t>
            </a:r>
            <a:r>
              <a:rPr lang="zh-CN" altLang="zh-CN" sz="2000">
                <a:solidFill>
                  <a:srgbClr val="595959"/>
                </a:solidFill>
                <a:latin typeface="微软雅黑" panose="020B0503020204020204" pitchFamily="34" charset="-122"/>
                <a:ea typeface="微软雅黑" panose="020B0503020204020204" pitchFamily="34" charset="-122"/>
                <a:cs typeface="+mn-ea"/>
              </a:rPr>
              <a:t>方法与</a:t>
            </a:r>
            <a:r>
              <a:rPr lang="en-US" altLang="zh-CN" sz="2000">
                <a:solidFill>
                  <a:srgbClr val="1369B2"/>
                </a:solidFill>
                <a:latin typeface="微软雅黑" panose="020B0503020204020204" pitchFamily="34" charset="-122"/>
                <a:ea typeface="微软雅黑" panose="020B0503020204020204" pitchFamily="34" charset="-122"/>
                <a:cs typeface="+mn-ea"/>
              </a:rPr>
              <a:t>teardown_class()</a:t>
            </a:r>
            <a:r>
              <a:rPr lang="zh-CN" altLang="zh-CN" sz="2000">
                <a:solidFill>
                  <a:srgbClr val="595959"/>
                </a:solidFill>
                <a:latin typeface="微软雅黑" panose="020B0503020204020204" pitchFamily="34" charset="-122"/>
                <a:ea typeface="微软雅黑" panose="020B0503020204020204" pitchFamily="34" charset="-122"/>
                <a:cs typeface="+mn-ea"/>
              </a:rPr>
              <a:t>方法，并在这</a:t>
            </a:r>
            <a:r>
              <a:rPr lang="en-US" altLang="zh-CN" sz="2000">
                <a:solidFill>
                  <a:srgbClr val="595959"/>
                </a:solidFill>
                <a:latin typeface="微软雅黑" panose="020B0503020204020204" pitchFamily="34" charset="-122"/>
                <a:ea typeface="微软雅黑" panose="020B0503020204020204" pitchFamily="34" charset="-122"/>
                <a:cs typeface="+mn-ea"/>
              </a:rPr>
              <a:t>2</a:t>
            </a:r>
            <a:r>
              <a:rPr lang="zh-CN" altLang="zh-CN" sz="2000">
                <a:solidFill>
                  <a:srgbClr val="595959"/>
                </a:solidFill>
                <a:latin typeface="微软雅黑" panose="020B0503020204020204" pitchFamily="34" charset="-122"/>
                <a:ea typeface="微软雅黑" panose="020B0503020204020204" pitchFamily="34" charset="-122"/>
                <a:cs typeface="+mn-ea"/>
              </a:rPr>
              <a:t>个方法上方添加</a:t>
            </a:r>
            <a:r>
              <a:rPr lang="zh-CN" altLang="zh-CN" sz="2000">
                <a:solidFill>
                  <a:srgbClr val="1369B2"/>
                </a:solidFill>
                <a:latin typeface="微软雅黑" panose="020B0503020204020204" pitchFamily="34" charset="-122"/>
                <a:ea typeface="微软雅黑" panose="020B0503020204020204" pitchFamily="34" charset="-122"/>
                <a:cs typeface="+mn-ea"/>
              </a:rPr>
              <a:t>装饰器</a:t>
            </a:r>
            <a:r>
              <a:rPr lang="en-US" altLang="zh-CN" sz="2000">
                <a:solidFill>
                  <a:srgbClr val="1369B2"/>
                </a:solidFill>
                <a:latin typeface="微软雅黑" panose="020B0503020204020204" pitchFamily="34" charset="-122"/>
                <a:ea typeface="微软雅黑" panose="020B0503020204020204" pitchFamily="34" charset="-122"/>
                <a:cs typeface="+mn-ea"/>
              </a:rPr>
              <a:t>@classmethod</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en-US" sz="2000">
                <a:solidFill>
                  <a:srgbClr val="595959"/>
                </a:solidFill>
                <a:latin typeface="微软雅黑" panose="020B0503020204020204" pitchFamily="34" charset="-122"/>
                <a:ea typeface="微软雅黑" panose="020B0503020204020204" pitchFamily="34" charset="-122"/>
                <a:cs typeface="+mn-ea"/>
              </a:rPr>
              <a:t>这</a:t>
            </a:r>
            <a:r>
              <a:rPr lang="en-US" altLang="zh-CN" sz="2000">
                <a:solidFill>
                  <a:srgbClr val="595959"/>
                </a:solidFill>
                <a:latin typeface="微软雅黑" panose="020B0503020204020204" pitchFamily="34" charset="-122"/>
                <a:ea typeface="微软雅黑" panose="020B0503020204020204" pitchFamily="34" charset="-122"/>
                <a:cs typeface="+mn-ea"/>
              </a:rPr>
              <a:t>2</a:t>
            </a:r>
            <a:r>
              <a:rPr lang="zh-CN" altLang="zh-CN" sz="2000">
                <a:solidFill>
                  <a:srgbClr val="595959"/>
                </a:solidFill>
                <a:latin typeface="微软雅黑" panose="020B0503020204020204" pitchFamily="34" charset="-122"/>
                <a:ea typeface="微软雅黑" panose="020B0503020204020204" pitchFamily="34" charset="-122"/>
                <a:cs typeface="+mn-ea"/>
              </a:rPr>
              <a:t>方法分别</a:t>
            </a:r>
            <a:r>
              <a:rPr lang="zh-CN" altLang="zh-CN" sz="2000">
                <a:solidFill>
                  <a:srgbClr val="1369B2"/>
                </a:solidFill>
                <a:latin typeface="微软雅黑" panose="020B0503020204020204" pitchFamily="34" charset="-122"/>
                <a:ea typeface="微软雅黑" panose="020B0503020204020204" pitchFamily="34" charset="-122"/>
                <a:cs typeface="+mn-ea"/>
              </a:rPr>
              <a:t>在类运行前后被调用</a:t>
            </a:r>
            <a:r>
              <a:rPr lang="zh-CN" altLang="zh-CN" sz="2000">
                <a:solidFill>
                  <a:srgbClr val="595959"/>
                </a:solidFill>
                <a:latin typeface="微软雅黑" panose="020B0503020204020204" pitchFamily="34" charset="-122"/>
                <a:ea typeface="微软雅黑" panose="020B0503020204020204" pitchFamily="34" charset="-122"/>
                <a:cs typeface="+mn-ea"/>
              </a:rPr>
              <a:t>，在类运行的过程中只执行一次，作用于类中的测试用例。</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6.5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自动化测试框架</a:t>
            </a:r>
          </a:p>
        </p:txBody>
      </p:sp>
      <p:sp>
        <p:nvSpPr>
          <p:cNvPr id="6" name="矩形 5"/>
          <p:cNvSpPr/>
          <p:nvPr/>
        </p:nvSpPr>
        <p:spPr>
          <a:xfrm>
            <a:off x="1143691" y="1485794"/>
            <a:ext cx="10063515" cy="3785652"/>
          </a:xfrm>
          <a:prstGeom prst="rect">
            <a:avLst/>
          </a:prstGeom>
        </p:spPr>
        <p:txBody>
          <a:bodyPr wrap="square">
            <a:spAutoFit/>
          </a:bodyPr>
          <a:lstStyle/>
          <a:p>
            <a:pPr>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pytest </a:t>
            </a:r>
            <a:r>
              <a:rPr lang="zh-CN" altLang="en-US" sz="2000">
                <a:solidFill>
                  <a:srgbClr val="595959"/>
                </a:solidFill>
                <a:latin typeface="微软雅黑" panose="020B0503020204020204" pitchFamily="34" charset="-122"/>
                <a:ea typeface="微软雅黑" panose="020B0503020204020204" pitchFamily="34" charset="-122"/>
                <a:cs typeface="+mn-ea"/>
              </a:rPr>
              <a:t>框架没有提供断言方法，而是直接使用</a:t>
            </a:r>
            <a:r>
              <a:rPr lang="en-US" altLang="zh-CN" sz="2000">
                <a:solidFill>
                  <a:srgbClr val="595959"/>
                </a:solidFill>
                <a:latin typeface="微软雅黑" panose="020B0503020204020204" pitchFamily="34" charset="-122"/>
                <a:ea typeface="微软雅黑" panose="020B0503020204020204" pitchFamily="34" charset="-122"/>
                <a:cs typeface="+mn-ea"/>
              </a:rPr>
              <a:t>Python </a:t>
            </a:r>
            <a:r>
              <a:rPr lang="zh-CN" altLang="en-US" sz="2000">
                <a:solidFill>
                  <a:srgbClr val="595959"/>
                </a:solidFill>
                <a:latin typeface="微软雅黑" panose="020B0503020204020204" pitchFamily="34" charset="-122"/>
                <a:ea typeface="微软雅黑" panose="020B0503020204020204" pitchFamily="34" charset="-122"/>
                <a:cs typeface="+mn-ea"/>
              </a:rPr>
              <a:t>中的</a:t>
            </a:r>
            <a:r>
              <a:rPr lang="en-US" altLang="zh-CN" sz="2000">
                <a:solidFill>
                  <a:srgbClr val="1369B2"/>
                </a:solidFill>
                <a:latin typeface="微软雅黑" panose="020B0503020204020204" pitchFamily="34" charset="-122"/>
                <a:ea typeface="微软雅黑" panose="020B0503020204020204" pitchFamily="34" charset="-122"/>
                <a:cs typeface="+mn-ea"/>
              </a:rPr>
              <a:t>assert </a:t>
            </a:r>
            <a:r>
              <a:rPr lang="zh-CN" altLang="en-US" sz="2000">
                <a:solidFill>
                  <a:srgbClr val="1369B2"/>
                </a:solidFill>
                <a:latin typeface="微软雅黑" panose="020B0503020204020204" pitchFamily="34" charset="-122"/>
                <a:ea typeface="微软雅黑" panose="020B0503020204020204" pitchFamily="34" charset="-122"/>
                <a:cs typeface="+mn-ea"/>
              </a:rPr>
              <a:t>关键字与表达式结合进行断言</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595959"/>
                </a:solidFill>
                <a:latin typeface="微软雅黑" panose="020B0503020204020204" pitchFamily="34" charset="-122"/>
                <a:ea typeface="微软雅黑" panose="020B0503020204020204" pitchFamily="34" charset="-122"/>
                <a:cs typeface="+mn-ea"/>
              </a:rPr>
              <a:t>pytest </a:t>
            </a:r>
            <a:r>
              <a:rPr lang="zh-CN" altLang="en-US" sz="2000">
                <a:solidFill>
                  <a:srgbClr val="595959"/>
                </a:solidFill>
                <a:latin typeface="微软雅黑" panose="020B0503020204020204" pitchFamily="34" charset="-122"/>
                <a:ea typeface="微软雅黑" panose="020B0503020204020204" pitchFamily="34" charset="-122"/>
                <a:cs typeface="+mn-ea"/>
              </a:rPr>
              <a:t>框架中常用的断言表达式如下。</a:t>
            </a:r>
            <a:endParaRPr lang="en-US" altLang="zh-CN" sz="200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2000">
              <a:solidFill>
                <a:srgbClr val="595959"/>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r>
              <a:rPr lang="en-US" altLang="zh-CN" sz="2000">
                <a:solidFill>
                  <a:srgbClr val="595959"/>
                </a:solidFill>
                <a:latin typeface="微软雅黑" panose="020B0503020204020204" pitchFamily="34" charset="-122"/>
                <a:ea typeface="微软雅黑" panose="020B0503020204020204" pitchFamily="34" charset="-122"/>
                <a:cs typeface="+mn-ea"/>
              </a:rPr>
              <a:t>assert a == b</a:t>
            </a:r>
            <a:r>
              <a:rPr lang="zh-CN" altLang="en-US" sz="2000">
                <a:solidFill>
                  <a:srgbClr val="595959"/>
                </a:solidFill>
                <a:latin typeface="微软雅黑" panose="020B0503020204020204" pitchFamily="34" charset="-122"/>
                <a:ea typeface="微软雅黑" panose="020B0503020204020204" pitchFamily="34" charset="-122"/>
                <a:cs typeface="+mn-ea"/>
              </a:rPr>
              <a:t>：用于</a:t>
            </a:r>
            <a:r>
              <a:rPr lang="zh-CN" altLang="en-US" sz="2000">
                <a:solidFill>
                  <a:srgbClr val="1369B2"/>
                </a:solidFill>
                <a:latin typeface="微软雅黑" panose="020B0503020204020204" pitchFamily="34" charset="-122"/>
                <a:ea typeface="微软雅黑" panose="020B0503020204020204" pitchFamily="34" charset="-122"/>
                <a:cs typeface="+mn-ea"/>
              </a:rPr>
              <a:t>判断</a:t>
            </a:r>
            <a:r>
              <a:rPr lang="en-US" altLang="zh-CN" sz="2000">
                <a:solidFill>
                  <a:srgbClr val="1369B2"/>
                </a:solidFill>
                <a:latin typeface="微软雅黑" panose="020B0503020204020204" pitchFamily="34" charset="-122"/>
                <a:ea typeface="微软雅黑" panose="020B0503020204020204" pitchFamily="34" charset="-122"/>
                <a:cs typeface="+mn-ea"/>
              </a:rPr>
              <a:t>a </a:t>
            </a:r>
            <a:r>
              <a:rPr lang="zh-CN" altLang="en-US" sz="2000">
                <a:solidFill>
                  <a:srgbClr val="1369B2"/>
                </a:solidFill>
                <a:latin typeface="微软雅黑" panose="020B0503020204020204" pitchFamily="34" charset="-122"/>
                <a:ea typeface="微软雅黑" panose="020B0503020204020204" pitchFamily="34" charset="-122"/>
                <a:cs typeface="+mn-ea"/>
              </a:rPr>
              <a:t>是否等于</a:t>
            </a:r>
            <a:r>
              <a:rPr lang="en-US" altLang="zh-CN" sz="2000">
                <a:solidFill>
                  <a:srgbClr val="1369B2"/>
                </a:solidFill>
                <a:latin typeface="微软雅黑" panose="020B0503020204020204" pitchFamily="34" charset="-122"/>
                <a:ea typeface="微软雅黑" panose="020B0503020204020204" pitchFamily="34" charset="-122"/>
                <a:cs typeface="+mn-ea"/>
              </a:rPr>
              <a:t>b</a:t>
            </a:r>
            <a:r>
              <a:rPr lang="zh-CN" altLang="en-US" sz="2000">
                <a:solidFill>
                  <a:srgbClr val="595959"/>
                </a:solidFill>
                <a:latin typeface="微软雅黑" panose="020B0503020204020204" pitchFamily="34" charset="-122"/>
                <a:ea typeface="微软雅黑" panose="020B0503020204020204" pitchFamily="34" charset="-122"/>
                <a:cs typeface="+mn-ea"/>
              </a:rPr>
              <a:t>。</a:t>
            </a:r>
          </a:p>
          <a:p>
            <a:pPr marL="342900" indent="-342900">
              <a:lnSpc>
                <a:spcPct val="150000"/>
              </a:lnSpc>
              <a:buFont typeface="Wingdings" panose="05000000000000000000" pitchFamily="2" charset="2"/>
              <a:buChar char="l"/>
            </a:pPr>
            <a:r>
              <a:rPr lang="en-US" altLang="zh-CN" sz="2000">
                <a:solidFill>
                  <a:srgbClr val="595959"/>
                </a:solidFill>
                <a:latin typeface="微软雅黑" panose="020B0503020204020204" pitchFamily="34" charset="-122"/>
                <a:ea typeface="微软雅黑" panose="020B0503020204020204" pitchFamily="34" charset="-122"/>
                <a:cs typeface="+mn-ea"/>
              </a:rPr>
              <a:t>assert a != b</a:t>
            </a:r>
            <a:r>
              <a:rPr lang="zh-CN" altLang="en-US" sz="2000">
                <a:solidFill>
                  <a:srgbClr val="595959"/>
                </a:solidFill>
                <a:latin typeface="微软雅黑" panose="020B0503020204020204" pitchFamily="34" charset="-122"/>
                <a:ea typeface="微软雅黑" panose="020B0503020204020204" pitchFamily="34" charset="-122"/>
                <a:cs typeface="+mn-ea"/>
              </a:rPr>
              <a:t>：用于</a:t>
            </a:r>
            <a:r>
              <a:rPr lang="zh-CN" altLang="en-US" sz="2000">
                <a:solidFill>
                  <a:srgbClr val="1369B2"/>
                </a:solidFill>
                <a:latin typeface="微软雅黑" panose="020B0503020204020204" pitchFamily="34" charset="-122"/>
                <a:ea typeface="微软雅黑" panose="020B0503020204020204" pitchFamily="34" charset="-122"/>
                <a:cs typeface="+mn-ea"/>
              </a:rPr>
              <a:t>判断</a:t>
            </a:r>
            <a:r>
              <a:rPr lang="en-US" altLang="zh-CN" sz="2000">
                <a:solidFill>
                  <a:srgbClr val="1369B2"/>
                </a:solidFill>
                <a:latin typeface="微软雅黑" panose="020B0503020204020204" pitchFamily="34" charset="-122"/>
                <a:ea typeface="微软雅黑" panose="020B0503020204020204" pitchFamily="34" charset="-122"/>
                <a:cs typeface="+mn-ea"/>
              </a:rPr>
              <a:t>a </a:t>
            </a:r>
            <a:r>
              <a:rPr lang="zh-CN" altLang="en-US" sz="2000">
                <a:solidFill>
                  <a:srgbClr val="1369B2"/>
                </a:solidFill>
                <a:latin typeface="微软雅黑" panose="020B0503020204020204" pitchFamily="34" charset="-122"/>
                <a:ea typeface="微软雅黑" panose="020B0503020204020204" pitchFamily="34" charset="-122"/>
                <a:cs typeface="+mn-ea"/>
              </a:rPr>
              <a:t>是否不等于</a:t>
            </a:r>
            <a:r>
              <a:rPr lang="en-US" altLang="zh-CN" sz="2000">
                <a:solidFill>
                  <a:srgbClr val="1369B2"/>
                </a:solidFill>
                <a:latin typeface="微软雅黑" panose="020B0503020204020204" pitchFamily="34" charset="-122"/>
                <a:ea typeface="微软雅黑" panose="020B0503020204020204" pitchFamily="34" charset="-122"/>
                <a:cs typeface="+mn-ea"/>
              </a:rPr>
              <a:t>b</a:t>
            </a:r>
            <a:r>
              <a:rPr lang="zh-CN" altLang="en-US" sz="2000">
                <a:solidFill>
                  <a:srgbClr val="595959"/>
                </a:solidFill>
                <a:latin typeface="微软雅黑" panose="020B0503020204020204" pitchFamily="34" charset="-122"/>
                <a:ea typeface="微软雅黑" panose="020B0503020204020204" pitchFamily="34" charset="-122"/>
                <a:cs typeface="+mn-ea"/>
              </a:rPr>
              <a:t>。</a:t>
            </a:r>
          </a:p>
          <a:p>
            <a:pPr marL="342900" indent="-342900">
              <a:lnSpc>
                <a:spcPct val="150000"/>
              </a:lnSpc>
              <a:buFont typeface="Wingdings" panose="05000000000000000000" pitchFamily="2" charset="2"/>
              <a:buChar char="l"/>
            </a:pPr>
            <a:r>
              <a:rPr lang="en-US" altLang="zh-CN" sz="2000">
                <a:solidFill>
                  <a:srgbClr val="595959"/>
                </a:solidFill>
                <a:latin typeface="微软雅黑" panose="020B0503020204020204" pitchFamily="34" charset="-122"/>
                <a:ea typeface="微软雅黑" panose="020B0503020204020204" pitchFamily="34" charset="-122"/>
                <a:cs typeface="+mn-ea"/>
              </a:rPr>
              <a:t>assert a</a:t>
            </a:r>
            <a:r>
              <a:rPr lang="zh-CN" altLang="en-US" sz="2000">
                <a:solidFill>
                  <a:srgbClr val="595959"/>
                </a:solidFill>
                <a:latin typeface="微软雅黑" panose="020B0503020204020204" pitchFamily="34" charset="-122"/>
                <a:ea typeface="微软雅黑" panose="020B0503020204020204" pitchFamily="34" charset="-122"/>
                <a:cs typeface="+mn-ea"/>
              </a:rPr>
              <a:t>：用于</a:t>
            </a:r>
            <a:r>
              <a:rPr lang="zh-CN" altLang="en-US" sz="2000">
                <a:solidFill>
                  <a:srgbClr val="1369B2"/>
                </a:solidFill>
                <a:latin typeface="微软雅黑" panose="020B0503020204020204" pitchFamily="34" charset="-122"/>
                <a:ea typeface="微软雅黑" panose="020B0503020204020204" pitchFamily="34" charset="-122"/>
                <a:cs typeface="+mn-ea"/>
              </a:rPr>
              <a:t>判断</a:t>
            </a:r>
            <a:r>
              <a:rPr lang="en-US" altLang="zh-CN" sz="2000">
                <a:solidFill>
                  <a:srgbClr val="1369B2"/>
                </a:solidFill>
                <a:latin typeface="微软雅黑" panose="020B0503020204020204" pitchFamily="34" charset="-122"/>
                <a:ea typeface="微软雅黑" panose="020B0503020204020204" pitchFamily="34" charset="-122"/>
                <a:cs typeface="+mn-ea"/>
              </a:rPr>
              <a:t>a </a:t>
            </a:r>
            <a:r>
              <a:rPr lang="zh-CN" altLang="en-US" sz="2000">
                <a:solidFill>
                  <a:srgbClr val="1369B2"/>
                </a:solidFill>
                <a:latin typeface="微软雅黑" panose="020B0503020204020204" pitchFamily="34" charset="-122"/>
                <a:ea typeface="微软雅黑" panose="020B0503020204020204" pitchFamily="34" charset="-122"/>
                <a:cs typeface="+mn-ea"/>
              </a:rPr>
              <a:t>是否为真</a:t>
            </a:r>
            <a:r>
              <a:rPr lang="zh-CN" altLang="en-US" sz="2000">
                <a:solidFill>
                  <a:srgbClr val="595959"/>
                </a:solidFill>
                <a:latin typeface="微软雅黑" panose="020B0503020204020204" pitchFamily="34" charset="-122"/>
                <a:ea typeface="微软雅黑" panose="020B0503020204020204" pitchFamily="34" charset="-122"/>
                <a:cs typeface="+mn-ea"/>
              </a:rPr>
              <a:t>。</a:t>
            </a:r>
          </a:p>
          <a:p>
            <a:pPr marL="342900" indent="-342900">
              <a:lnSpc>
                <a:spcPct val="150000"/>
              </a:lnSpc>
              <a:buFont typeface="Wingdings" panose="05000000000000000000" pitchFamily="2" charset="2"/>
              <a:buChar char="l"/>
            </a:pPr>
            <a:r>
              <a:rPr lang="en-US" altLang="zh-CN" sz="2000">
                <a:solidFill>
                  <a:srgbClr val="595959"/>
                </a:solidFill>
                <a:latin typeface="微软雅黑" panose="020B0503020204020204" pitchFamily="34" charset="-122"/>
                <a:ea typeface="微软雅黑" panose="020B0503020204020204" pitchFamily="34" charset="-122"/>
                <a:cs typeface="+mn-ea"/>
              </a:rPr>
              <a:t>assert a in b</a:t>
            </a:r>
            <a:r>
              <a:rPr lang="zh-CN" altLang="en-US" sz="2000">
                <a:solidFill>
                  <a:srgbClr val="595959"/>
                </a:solidFill>
                <a:latin typeface="微软雅黑" panose="020B0503020204020204" pitchFamily="34" charset="-122"/>
                <a:ea typeface="微软雅黑" panose="020B0503020204020204" pitchFamily="34" charset="-122"/>
                <a:cs typeface="+mn-ea"/>
              </a:rPr>
              <a:t>：用于</a:t>
            </a:r>
            <a:r>
              <a:rPr lang="zh-CN" altLang="en-US" sz="2000">
                <a:solidFill>
                  <a:srgbClr val="1369B2"/>
                </a:solidFill>
                <a:latin typeface="微软雅黑" panose="020B0503020204020204" pitchFamily="34" charset="-122"/>
                <a:ea typeface="微软雅黑" panose="020B0503020204020204" pitchFamily="34" charset="-122"/>
                <a:cs typeface="+mn-ea"/>
              </a:rPr>
              <a:t>判断</a:t>
            </a:r>
            <a:r>
              <a:rPr lang="en-US" altLang="zh-CN" sz="2000">
                <a:solidFill>
                  <a:srgbClr val="1369B2"/>
                </a:solidFill>
                <a:latin typeface="微软雅黑" panose="020B0503020204020204" pitchFamily="34" charset="-122"/>
                <a:ea typeface="微软雅黑" panose="020B0503020204020204" pitchFamily="34" charset="-122"/>
                <a:cs typeface="+mn-ea"/>
              </a:rPr>
              <a:t>b </a:t>
            </a:r>
            <a:r>
              <a:rPr lang="zh-CN" altLang="en-US" sz="2000">
                <a:solidFill>
                  <a:srgbClr val="1369B2"/>
                </a:solidFill>
                <a:latin typeface="微软雅黑" panose="020B0503020204020204" pitchFamily="34" charset="-122"/>
                <a:ea typeface="微软雅黑" panose="020B0503020204020204" pitchFamily="34" charset="-122"/>
                <a:cs typeface="+mn-ea"/>
              </a:rPr>
              <a:t>是否包含</a:t>
            </a:r>
            <a:r>
              <a:rPr lang="en-US" altLang="zh-CN" sz="2000">
                <a:solidFill>
                  <a:srgbClr val="1369B2"/>
                </a:solidFill>
                <a:latin typeface="微软雅黑" panose="020B0503020204020204" pitchFamily="34" charset="-122"/>
                <a:ea typeface="微软雅黑" panose="020B0503020204020204" pitchFamily="34" charset="-122"/>
                <a:cs typeface="+mn-ea"/>
              </a:rPr>
              <a:t>a</a:t>
            </a:r>
            <a:r>
              <a:rPr lang="zh-CN" altLang="en-US" sz="2000">
                <a:solidFill>
                  <a:srgbClr val="595959"/>
                </a:solidFill>
                <a:latin typeface="微软雅黑" panose="020B0503020204020204" pitchFamily="34" charset="-122"/>
                <a:ea typeface="微软雅黑" panose="020B0503020204020204" pitchFamily="34" charset="-122"/>
                <a:cs typeface="+mn-ea"/>
              </a:rPr>
              <a:t>。</a:t>
            </a:r>
          </a:p>
          <a:p>
            <a:pPr marL="342900" indent="-342900">
              <a:lnSpc>
                <a:spcPct val="150000"/>
              </a:lnSpc>
              <a:buFont typeface="Wingdings" panose="05000000000000000000" pitchFamily="2" charset="2"/>
              <a:buChar char="l"/>
            </a:pPr>
            <a:r>
              <a:rPr lang="en-US" altLang="zh-CN" sz="2000">
                <a:solidFill>
                  <a:srgbClr val="595959"/>
                </a:solidFill>
                <a:latin typeface="微软雅黑" panose="020B0503020204020204" pitchFamily="34" charset="-122"/>
                <a:ea typeface="微软雅黑" panose="020B0503020204020204" pitchFamily="34" charset="-122"/>
                <a:cs typeface="+mn-ea"/>
              </a:rPr>
              <a:t>assert a &gt; b</a:t>
            </a:r>
            <a:r>
              <a:rPr lang="zh-CN" altLang="en-US" sz="2000">
                <a:solidFill>
                  <a:srgbClr val="595959"/>
                </a:solidFill>
                <a:latin typeface="微软雅黑" panose="020B0503020204020204" pitchFamily="34" charset="-122"/>
                <a:ea typeface="微软雅黑" panose="020B0503020204020204" pitchFamily="34" charset="-122"/>
                <a:cs typeface="+mn-ea"/>
              </a:rPr>
              <a:t>：用于</a:t>
            </a:r>
            <a:r>
              <a:rPr lang="zh-CN" altLang="en-US" sz="2000">
                <a:solidFill>
                  <a:srgbClr val="1369B2"/>
                </a:solidFill>
                <a:latin typeface="微软雅黑" panose="020B0503020204020204" pitchFamily="34" charset="-122"/>
                <a:ea typeface="微软雅黑" panose="020B0503020204020204" pitchFamily="34" charset="-122"/>
                <a:cs typeface="+mn-ea"/>
              </a:rPr>
              <a:t>判断</a:t>
            </a:r>
            <a:r>
              <a:rPr lang="en-US" altLang="zh-CN" sz="2000">
                <a:solidFill>
                  <a:srgbClr val="1369B2"/>
                </a:solidFill>
                <a:latin typeface="微软雅黑" panose="020B0503020204020204" pitchFamily="34" charset="-122"/>
                <a:ea typeface="微软雅黑" panose="020B0503020204020204" pitchFamily="34" charset="-122"/>
                <a:cs typeface="+mn-ea"/>
              </a:rPr>
              <a:t>a </a:t>
            </a:r>
            <a:r>
              <a:rPr lang="zh-CN" altLang="en-US" sz="2000">
                <a:solidFill>
                  <a:srgbClr val="1369B2"/>
                </a:solidFill>
                <a:latin typeface="微软雅黑" panose="020B0503020204020204" pitchFamily="34" charset="-122"/>
                <a:ea typeface="微软雅黑" panose="020B0503020204020204" pitchFamily="34" charset="-122"/>
                <a:cs typeface="+mn-ea"/>
              </a:rPr>
              <a:t>是否大于</a:t>
            </a:r>
            <a:r>
              <a:rPr lang="en-US" altLang="zh-CN" sz="2000">
                <a:solidFill>
                  <a:srgbClr val="1369B2"/>
                </a:solidFill>
                <a:latin typeface="微软雅黑" panose="020B0503020204020204" pitchFamily="34" charset="-122"/>
                <a:ea typeface="微软雅黑" panose="020B0503020204020204" pitchFamily="34" charset="-122"/>
                <a:cs typeface="+mn-ea"/>
              </a:rPr>
              <a:t>b</a:t>
            </a:r>
            <a:r>
              <a:rPr lang="zh-CN" altLang="en-US" sz="2000">
                <a:solidFill>
                  <a:srgbClr val="595959"/>
                </a:solidFill>
                <a:latin typeface="微软雅黑" panose="020B0503020204020204" pitchFamily="34" charset="-122"/>
                <a:ea typeface="微软雅黑" panose="020B0503020204020204" pitchFamily="34" charset="-122"/>
                <a:cs typeface="+mn-ea"/>
              </a:rPr>
              <a:t>。</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169506" y="1165437"/>
            <a:ext cx="9720000" cy="936000"/>
          </a:xfrm>
          <a:prstGeom prst="rect">
            <a:avLst/>
          </a:prstGeom>
          <a:noFill/>
        </p:spPr>
        <p:txBody>
          <a:bodyPr wrap="square" rtlCol="0" anchor="t">
            <a:no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下面分别在</a:t>
            </a:r>
            <a:r>
              <a:rPr lang="en-US" altLang="zh-CN" sz="2000" dirty="0">
                <a:solidFill>
                  <a:srgbClr val="0070C0"/>
                </a:solidFill>
                <a:latin typeface="微软雅黑" panose="020B0503020204020204" pitchFamily="34" charset="-122"/>
                <a:ea typeface="微软雅黑" panose="020B0503020204020204" pitchFamily="34" charset="-122"/>
              </a:rPr>
              <a:t>Chapter06</a:t>
            </a:r>
            <a:r>
              <a:rPr lang="zh-CN" altLang="zh-CN" sz="2000" dirty="0">
                <a:solidFill>
                  <a:srgbClr val="595959"/>
                </a:solidFill>
                <a:latin typeface="微软雅黑" panose="020B0503020204020204" pitchFamily="34" charset="-122"/>
                <a:ea typeface="微软雅黑" panose="020B0503020204020204" pitchFamily="34" charset="-122"/>
              </a:rPr>
              <a:t>程序中创建</a:t>
            </a:r>
            <a:r>
              <a:rPr lang="en-US" altLang="zh-CN" sz="2000" dirty="0">
                <a:solidFill>
                  <a:srgbClr val="0070C0"/>
                </a:solidFill>
                <a:latin typeface="微软雅黑" panose="020B0503020204020204" pitchFamily="34" charset="-122"/>
                <a:ea typeface="微软雅黑" panose="020B0503020204020204" pitchFamily="34" charset="-122"/>
              </a:rPr>
              <a:t>test_sum.py</a:t>
            </a:r>
            <a:r>
              <a:rPr lang="zh-CN" altLang="zh-CN"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0070C0"/>
                </a:solidFill>
                <a:latin typeface="微软雅黑" panose="020B0503020204020204" pitchFamily="34" charset="-122"/>
                <a:ea typeface="微软雅黑" panose="020B0503020204020204" pitchFamily="34" charset="-122"/>
              </a:rPr>
              <a:t>test_add.py</a:t>
            </a:r>
            <a:r>
              <a:rPr lang="zh-CN" altLang="zh-CN" sz="2000" dirty="0">
                <a:solidFill>
                  <a:srgbClr val="595959"/>
                </a:solidFill>
                <a:latin typeface="微软雅黑" panose="020B0503020204020204" pitchFamily="34" charset="-122"/>
                <a:ea typeface="微软雅黑" panose="020B0503020204020204" pitchFamily="34" charset="-122"/>
              </a:rPr>
              <a:t>文件。在</a:t>
            </a:r>
            <a:r>
              <a:rPr lang="en-US" altLang="zh-CN" sz="2000" dirty="0">
                <a:solidFill>
                  <a:srgbClr val="595959"/>
                </a:solidFill>
                <a:latin typeface="微软雅黑" panose="020B0503020204020204" pitchFamily="34" charset="-122"/>
                <a:ea typeface="微软雅黑" panose="020B0503020204020204" pitchFamily="34" charset="-122"/>
              </a:rPr>
              <a:t>test_sum.py</a:t>
            </a:r>
            <a:r>
              <a:rPr lang="zh-CN" altLang="zh-CN" sz="2000" dirty="0">
                <a:solidFill>
                  <a:srgbClr val="595959"/>
                </a:solidFill>
                <a:latin typeface="微软雅黑" panose="020B0503020204020204" pitchFamily="34" charset="-122"/>
                <a:ea typeface="微软雅黑" panose="020B0503020204020204" pitchFamily="34" charset="-122"/>
              </a:rPr>
              <a:t>文件中</a:t>
            </a:r>
            <a:r>
              <a:rPr lang="zh-CN" altLang="zh-CN" sz="2000">
                <a:solidFill>
                  <a:srgbClr val="595959"/>
                </a:solidFill>
                <a:latin typeface="微软雅黑" panose="020B0503020204020204" pitchFamily="34" charset="-122"/>
                <a:ea typeface="微软雅黑" panose="020B0503020204020204" pitchFamily="34" charset="-122"/>
              </a:rPr>
              <a:t>，使用</a:t>
            </a:r>
            <a:r>
              <a:rPr lang="en-US" altLang="zh-CN" sz="2000">
                <a:solidFill>
                  <a:srgbClr val="0070C0"/>
                </a:solidFill>
                <a:latin typeface="微软雅黑" panose="020B0503020204020204" pitchFamily="34" charset="-122"/>
                <a:ea typeface="微软雅黑" panose="020B0503020204020204" pitchFamily="34" charset="-122"/>
              </a:rPr>
              <a:t>unittest</a:t>
            </a:r>
            <a:r>
              <a:rPr lang="zh-CN" altLang="zh-CN" sz="2000">
                <a:solidFill>
                  <a:srgbClr val="0070C0"/>
                </a:solidFill>
                <a:latin typeface="微软雅黑" panose="020B0503020204020204" pitchFamily="34" charset="-122"/>
                <a:ea typeface="微软雅黑" panose="020B0503020204020204" pitchFamily="34" charset="-122"/>
              </a:rPr>
              <a:t>框架</a:t>
            </a:r>
            <a:r>
              <a:rPr lang="zh-CN" altLang="zh-CN" sz="2000" dirty="0">
                <a:solidFill>
                  <a:srgbClr val="0070C0"/>
                </a:solidFill>
                <a:latin typeface="微软雅黑" panose="020B0503020204020204" pitchFamily="34" charset="-122"/>
                <a:ea typeface="微软雅黑" panose="020B0503020204020204" pitchFamily="34" charset="-122"/>
              </a:rPr>
              <a:t>测试定义的函数</a:t>
            </a:r>
            <a:r>
              <a:rPr lang="en-US" altLang="zh-CN" sz="2000" dirty="0" err="1">
                <a:solidFill>
                  <a:srgbClr val="0070C0"/>
                </a:solidFill>
                <a:latin typeface="微软雅黑" panose="020B0503020204020204" pitchFamily="34" charset="-122"/>
                <a:ea typeface="微软雅黑" panose="020B0503020204020204" pitchFamily="34" charset="-122"/>
              </a:rPr>
              <a:t>my_sum</a:t>
            </a:r>
            <a:r>
              <a:rPr lang="en-US" altLang="zh-CN" sz="2000" dirty="0">
                <a:solidFill>
                  <a:srgbClr val="0070C0"/>
                </a:solidFill>
                <a:latin typeface="微软雅黑" panose="020B0503020204020204" pitchFamily="34" charset="-122"/>
                <a:ea typeface="微软雅黑" panose="020B0503020204020204" pitchFamily="34" charset="-122"/>
              </a:rPr>
              <a:t>()</a:t>
            </a:r>
            <a:r>
              <a:rPr lang="zh-CN" altLang="zh-CN" sz="2000" dirty="0">
                <a:solidFill>
                  <a:srgbClr val="0070C0"/>
                </a:solidFill>
                <a:latin typeface="微软雅黑" panose="020B0503020204020204" pitchFamily="34" charset="-122"/>
                <a:ea typeface="微软雅黑" panose="020B0503020204020204" pitchFamily="34" charset="-122"/>
              </a:rPr>
              <a:t>是否为求和函数</a:t>
            </a:r>
            <a:r>
              <a:rPr lang="zh-CN" altLang="zh-CN" sz="2000" dirty="0">
                <a:solidFill>
                  <a:srgbClr val="595959"/>
                </a:solidFill>
                <a:latin typeface="微软雅黑" panose="020B0503020204020204" pitchFamily="34" charset="-122"/>
                <a:ea typeface="微软雅黑" panose="020B0503020204020204" pitchFamily="34" charset="-122"/>
              </a:rPr>
              <a:t>。</a:t>
            </a:r>
          </a:p>
          <a:p>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33" name="Title 1"/>
          <p:cNvSpPr txBox="1"/>
          <p:nvPr/>
        </p:nvSpPr>
        <p:spPr>
          <a:xfrm>
            <a:off x="1143690" y="266995"/>
            <a:ext cx="4519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6.5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自动化测试框架</a:t>
            </a:r>
          </a:p>
        </p:txBody>
      </p:sp>
      <p:sp>
        <p:nvSpPr>
          <p:cNvPr id="11" name="文本框 5"/>
          <p:cNvSpPr txBox="1"/>
          <p:nvPr/>
        </p:nvSpPr>
        <p:spPr>
          <a:xfrm>
            <a:off x="1271206" y="2504636"/>
            <a:ext cx="9704987" cy="3323987"/>
          </a:xfrm>
          <a:prstGeom prst="rect">
            <a:avLst/>
          </a:prstGeom>
          <a:solidFill>
            <a:srgbClr val="F2F2F2"/>
          </a:solidFill>
        </p:spPr>
        <p:txBody>
          <a:bodyPr wrap="square" rtlCol="0">
            <a:spAutoFit/>
          </a:bodyPr>
          <a:lstStyle/>
          <a:p>
            <a:pPr>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import unittest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def</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my_sum</a:t>
            </a:r>
            <a:r>
              <a:rPr lang="en-US" altLang="zh-CN" sz="2000" dirty="0">
                <a:solidFill>
                  <a:srgbClr val="595959"/>
                </a:solidFill>
                <a:latin typeface="微软雅黑" panose="020B0503020204020204" pitchFamily="34" charset="-122"/>
                <a:ea typeface="微软雅黑" panose="020B0503020204020204" pitchFamily="34" charset="-122"/>
                <a:cs typeface="+mn-ea"/>
              </a:rPr>
              <a:t>(a, b):</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return a + b</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class MyTest(unittest.TestCase</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def</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test_sum</a:t>
            </a:r>
            <a:r>
              <a:rPr lang="en-US" altLang="zh-CN" sz="2000" dirty="0">
                <a:solidFill>
                  <a:srgbClr val="595959"/>
                </a:solidFill>
                <a:latin typeface="微软雅黑" panose="020B0503020204020204" pitchFamily="34" charset="-122"/>
                <a:ea typeface="微软雅黑" panose="020B0503020204020204" pitchFamily="34" charset="-122"/>
                <a:cs typeface="+mn-ea"/>
              </a:rPr>
              <a:t>(self):</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result = </a:t>
            </a:r>
            <a:r>
              <a:rPr lang="en-US" altLang="zh-CN" sz="2000" dirty="0" err="1">
                <a:solidFill>
                  <a:srgbClr val="595959"/>
                </a:solidFill>
                <a:latin typeface="微软雅黑" panose="020B0503020204020204" pitchFamily="34" charset="-122"/>
                <a:ea typeface="微软雅黑" panose="020B0503020204020204" pitchFamily="34" charset="-122"/>
                <a:cs typeface="+mn-ea"/>
              </a:rPr>
              <a:t>my_sum</a:t>
            </a:r>
            <a:r>
              <a:rPr lang="en-US" altLang="zh-CN" sz="2000" dirty="0">
                <a:solidFill>
                  <a:srgbClr val="595959"/>
                </a:solidFill>
                <a:latin typeface="微软雅黑" panose="020B0503020204020204" pitchFamily="34" charset="-122"/>
                <a:ea typeface="微软雅黑" panose="020B0503020204020204" pitchFamily="34" charset="-122"/>
                <a:cs typeface="+mn-ea"/>
              </a:rPr>
              <a:t>(2, 3)</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self.assertEqual</a:t>
            </a:r>
            <a:r>
              <a:rPr lang="en-US" altLang="zh-CN" sz="2000" dirty="0">
                <a:solidFill>
                  <a:srgbClr val="595959"/>
                </a:solidFill>
                <a:latin typeface="微软雅黑" panose="020B0503020204020204" pitchFamily="34" charset="-122"/>
                <a:ea typeface="微软雅黑" panose="020B0503020204020204" pitchFamily="34" charset="-122"/>
                <a:cs typeface="+mn-ea"/>
              </a:rPr>
              <a:t>(result, 5)</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187577" y="1269794"/>
            <a:ext cx="9720000" cy="936000"/>
          </a:xfrm>
          <a:prstGeom prst="rect">
            <a:avLst/>
          </a:prstGeom>
          <a:noFill/>
        </p:spPr>
        <p:txBody>
          <a:bodyPr wrap="square" rtlCol="0" anchor="t">
            <a:no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下面在</a:t>
            </a:r>
            <a:r>
              <a:rPr lang="en-US" altLang="zh-CN" sz="2000" dirty="0">
                <a:solidFill>
                  <a:srgbClr val="0070C0"/>
                </a:solidFill>
                <a:latin typeface="微软雅黑" panose="020B0503020204020204" pitchFamily="34" charset="-122"/>
                <a:ea typeface="微软雅黑" panose="020B0503020204020204" pitchFamily="34" charset="-122"/>
              </a:rPr>
              <a:t>test_add.py</a:t>
            </a:r>
            <a:r>
              <a:rPr lang="zh-CN" altLang="zh-CN" sz="2000" dirty="0">
                <a:solidFill>
                  <a:srgbClr val="595959"/>
                </a:solidFill>
                <a:latin typeface="微软雅黑" panose="020B0503020204020204" pitchFamily="34" charset="-122"/>
                <a:ea typeface="微软雅黑" panose="020B0503020204020204" pitchFamily="34" charset="-122"/>
              </a:rPr>
              <a:t>文件中，使用</a:t>
            </a:r>
            <a:r>
              <a:rPr lang="en-US" altLang="zh-CN" sz="2000" dirty="0" err="1">
                <a:solidFill>
                  <a:srgbClr val="0070C0"/>
                </a:solidFill>
                <a:latin typeface="微软雅黑" panose="020B0503020204020204" pitchFamily="34" charset="-122"/>
                <a:ea typeface="微软雅黑" panose="020B0503020204020204" pitchFamily="34" charset="-122"/>
              </a:rPr>
              <a:t>pytest</a:t>
            </a:r>
            <a:r>
              <a:rPr lang="zh-CN" altLang="zh-CN" sz="2000" dirty="0">
                <a:solidFill>
                  <a:srgbClr val="0070C0"/>
                </a:solidFill>
                <a:latin typeface="微软雅黑" panose="020B0503020204020204" pitchFamily="34" charset="-122"/>
                <a:ea typeface="微软雅黑" panose="020B0503020204020204" pitchFamily="34" charset="-122"/>
              </a:rPr>
              <a:t>框架测试定义的函数</a:t>
            </a:r>
            <a:r>
              <a:rPr lang="en-US" altLang="zh-CN" sz="2000" dirty="0">
                <a:solidFill>
                  <a:srgbClr val="0070C0"/>
                </a:solidFill>
                <a:latin typeface="微软雅黑" panose="020B0503020204020204" pitchFamily="34" charset="-122"/>
                <a:ea typeface="微软雅黑" panose="020B0503020204020204" pitchFamily="34" charset="-122"/>
              </a:rPr>
              <a:t>add()</a:t>
            </a:r>
            <a:r>
              <a:rPr lang="zh-CN" altLang="zh-CN" sz="2000" dirty="0">
                <a:solidFill>
                  <a:srgbClr val="0070C0"/>
                </a:solidFill>
                <a:latin typeface="微软雅黑" panose="020B0503020204020204" pitchFamily="34" charset="-122"/>
                <a:ea typeface="微软雅黑" panose="020B0503020204020204" pitchFamily="34" charset="-122"/>
              </a:rPr>
              <a:t>是否为求和函数</a:t>
            </a:r>
            <a:r>
              <a:rPr lang="zh-CN" altLang="en-US" sz="2000" dirty="0">
                <a:solidFill>
                  <a:srgbClr val="0070C0"/>
                </a:solidFill>
                <a:latin typeface="微软雅黑" panose="020B0503020204020204" pitchFamily="34" charset="-122"/>
                <a:ea typeface="微软雅黑" panose="020B0503020204020204" pitchFamily="34" charset="-122"/>
              </a:rPr>
              <a:t>。</a:t>
            </a:r>
            <a:endParaRPr lang="zh-CN" altLang="zh-CN" sz="2000" dirty="0">
              <a:solidFill>
                <a:srgbClr val="0070C0"/>
              </a:solidFill>
              <a:latin typeface="微软雅黑" panose="020B0503020204020204" pitchFamily="34" charset="-122"/>
              <a:ea typeface="微软雅黑" panose="020B0503020204020204" pitchFamily="34" charset="-122"/>
            </a:endParaRPr>
          </a:p>
        </p:txBody>
      </p:sp>
      <p:sp>
        <p:nvSpPr>
          <p:cNvPr id="33" name="Title 1"/>
          <p:cNvSpPr txBox="1"/>
          <p:nvPr/>
        </p:nvSpPr>
        <p:spPr>
          <a:xfrm>
            <a:off x="1143690" y="266995"/>
            <a:ext cx="4519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6.5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自动化测试框架</a:t>
            </a:r>
          </a:p>
        </p:txBody>
      </p:sp>
      <p:sp>
        <p:nvSpPr>
          <p:cNvPr id="11" name="文本框 5"/>
          <p:cNvSpPr txBox="1"/>
          <p:nvPr/>
        </p:nvSpPr>
        <p:spPr>
          <a:xfrm>
            <a:off x="1343206" y="2493794"/>
            <a:ext cx="9704987" cy="2400657"/>
          </a:xfrm>
          <a:prstGeom prst="rect">
            <a:avLst/>
          </a:prstGeom>
          <a:solidFill>
            <a:srgbClr val="F2F2F2"/>
          </a:solidFill>
        </p:spPr>
        <p:txBody>
          <a:bodyPr wrap="square" rtlCol="0">
            <a:spAutoFit/>
          </a:bodyPr>
          <a:lstStyle/>
          <a:p>
            <a:pPr>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def</a:t>
            </a:r>
            <a:r>
              <a:rPr lang="en-US" altLang="zh-CN" sz="2000" dirty="0">
                <a:solidFill>
                  <a:srgbClr val="595959"/>
                </a:solidFill>
                <a:latin typeface="微软雅黑" panose="020B0503020204020204" pitchFamily="34" charset="-122"/>
                <a:ea typeface="微软雅黑" panose="020B0503020204020204" pitchFamily="34" charset="-122"/>
                <a:cs typeface="+mn-ea"/>
              </a:rPr>
              <a:t> add(a, b):</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return a + b</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class </a:t>
            </a:r>
            <a:r>
              <a:rPr lang="en-US" altLang="zh-CN" sz="2000" dirty="0" err="1">
                <a:solidFill>
                  <a:srgbClr val="595959"/>
                </a:solidFill>
                <a:latin typeface="微软雅黑" panose="020B0503020204020204" pitchFamily="34" charset="-122"/>
                <a:ea typeface="微软雅黑" panose="020B0503020204020204" pitchFamily="34" charset="-122"/>
                <a:cs typeface="+mn-ea"/>
              </a:rPr>
              <a:t>TestAdd</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def</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test_add</a:t>
            </a:r>
            <a:r>
              <a:rPr lang="en-US" altLang="zh-CN" sz="2000" dirty="0">
                <a:solidFill>
                  <a:srgbClr val="595959"/>
                </a:solidFill>
                <a:latin typeface="微软雅黑" panose="020B0503020204020204" pitchFamily="34" charset="-122"/>
                <a:ea typeface="微软雅黑" panose="020B0503020204020204" pitchFamily="34" charset="-122"/>
                <a:cs typeface="+mn-ea"/>
              </a:rPr>
              <a:t>(self, result=5):</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assert result == add(2, 3)</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形 22" descr="讲故事"/>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2767" y="1398145"/>
            <a:ext cx="1015842" cy="1015842"/>
          </a:xfrm>
          <a:prstGeom prst="rect">
            <a:avLst/>
          </a:prstGeom>
        </p:spPr>
      </p:pic>
      <p:sp>
        <p:nvSpPr>
          <p:cNvPr id="25" name="矩形 24"/>
          <p:cNvSpPr/>
          <p:nvPr/>
        </p:nvSpPr>
        <p:spPr>
          <a:xfrm>
            <a:off x="1872933" y="1608089"/>
            <a:ext cx="465427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6" name="文本框 25"/>
          <p:cNvSpPr txBox="1"/>
          <p:nvPr/>
        </p:nvSpPr>
        <p:spPr>
          <a:xfrm>
            <a:off x="1728609" y="1733684"/>
            <a:ext cx="4798597" cy="400110"/>
          </a:xfrm>
          <a:prstGeom prst="rect">
            <a:avLst/>
          </a:prstGeom>
          <a:noFill/>
        </p:spPr>
        <p:txBody>
          <a:bodyPr wrap="square" rtlCol="0">
            <a:spAutoFit/>
          </a:bodyPr>
          <a:lstStyle/>
          <a:p>
            <a:pPr algn="ctr"/>
            <a:r>
              <a:rPr lang="zh-CN" altLang="zh-CN" sz="2000" dirty="0">
                <a:solidFill>
                  <a:schemeClr val="bg1"/>
                </a:solidFill>
                <a:latin typeface="微软雅黑" panose="020B0503020204020204" pitchFamily="34" charset="-122"/>
                <a:ea typeface="微软雅黑" panose="020B0503020204020204" pitchFamily="34" charset="-122"/>
              </a:rPr>
              <a:t>在</a:t>
            </a:r>
            <a:r>
              <a:rPr lang="en-US" altLang="zh-CN" sz="2000" dirty="0" err="1">
                <a:solidFill>
                  <a:schemeClr val="bg1"/>
                </a:solidFill>
                <a:latin typeface="微软雅黑" panose="020B0503020204020204" pitchFamily="34" charset="-122"/>
                <a:ea typeface="微软雅黑" panose="020B0503020204020204" pitchFamily="34" charset="-122"/>
              </a:rPr>
              <a:t>PyCharm</a:t>
            </a:r>
            <a:r>
              <a:rPr lang="zh-CN" altLang="zh-CN" sz="2000" dirty="0">
                <a:solidFill>
                  <a:schemeClr val="bg1"/>
                </a:solidFill>
                <a:latin typeface="微软雅黑" panose="020B0503020204020204" pitchFamily="34" charset="-122"/>
                <a:ea typeface="微软雅黑" panose="020B0503020204020204" pitchFamily="34" charset="-122"/>
              </a:rPr>
              <a:t>中配置</a:t>
            </a:r>
            <a:r>
              <a:rPr lang="en-US" altLang="zh-CN" sz="2000" dirty="0" err="1">
                <a:solidFill>
                  <a:schemeClr val="bg1"/>
                </a:solidFill>
                <a:latin typeface="微软雅黑" panose="020B0503020204020204" pitchFamily="34" charset="-122"/>
                <a:ea typeface="微软雅黑" panose="020B0503020204020204" pitchFamily="34" charset="-122"/>
              </a:rPr>
              <a:t>pytest</a:t>
            </a:r>
            <a:r>
              <a:rPr lang="zh-CN" altLang="zh-CN" sz="2000" dirty="0">
                <a:solidFill>
                  <a:schemeClr val="bg1"/>
                </a:solidFill>
                <a:latin typeface="微软雅黑" panose="020B0503020204020204" pitchFamily="34" charset="-122"/>
                <a:ea typeface="微软雅黑" panose="020B0503020204020204" pitchFamily="34" charset="-122"/>
              </a:rPr>
              <a:t>运行环境</a:t>
            </a:r>
          </a:p>
        </p:txBody>
      </p:sp>
      <p:sp>
        <p:nvSpPr>
          <p:cNvPr id="27" name="矩形 26"/>
          <p:cNvSpPr/>
          <p:nvPr/>
        </p:nvSpPr>
        <p:spPr>
          <a:xfrm>
            <a:off x="6743206" y="1613373"/>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8" name="矩形 27"/>
          <p:cNvSpPr/>
          <p:nvPr/>
        </p:nvSpPr>
        <p:spPr>
          <a:xfrm>
            <a:off x="6930905" y="1613373"/>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4" name="文本框 3"/>
          <p:cNvSpPr txBox="1"/>
          <p:nvPr/>
        </p:nvSpPr>
        <p:spPr>
          <a:xfrm>
            <a:off x="1003564" y="2853794"/>
            <a:ext cx="9843641" cy="2016000"/>
          </a:xfrm>
          <a:prstGeom prst="rect">
            <a:avLst/>
          </a:prstGeom>
          <a:noFill/>
        </p:spPr>
        <p:txBody>
          <a:bodyPr wrap="square" rtlCol="0" anchor="t">
            <a:noAutofit/>
          </a:bodyPr>
          <a:lstStyle/>
          <a:p>
            <a:pPr>
              <a:lnSpc>
                <a:spcPct val="150000"/>
              </a:lnSpc>
            </a:pPr>
            <a:r>
              <a:rPr lang="zh-CN" altLang="zh-CN" sz="2000">
                <a:solidFill>
                  <a:srgbClr val="595959"/>
                </a:solidFill>
                <a:latin typeface="微软雅黑" panose="020B0503020204020204" pitchFamily="34" charset="-122"/>
                <a:ea typeface="微软雅黑" panose="020B0503020204020204" pitchFamily="34" charset="-122"/>
              </a:rPr>
              <a:t>由于</a:t>
            </a:r>
            <a:r>
              <a:rPr lang="en-US" altLang="zh-CN" sz="2000">
                <a:solidFill>
                  <a:srgbClr val="595959"/>
                </a:solidFill>
                <a:latin typeface="微软雅黑" panose="020B0503020204020204" pitchFamily="34" charset="-122"/>
                <a:ea typeface="微软雅黑" panose="020B0503020204020204" pitchFamily="34" charset="-122"/>
              </a:rPr>
              <a:t>unittest</a:t>
            </a:r>
            <a:r>
              <a:rPr lang="zh-CN" altLang="zh-CN" sz="2000">
                <a:solidFill>
                  <a:srgbClr val="595959"/>
                </a:solidFill>
                <a:latin typeface="微软雅黑" panose="020B0503020204020204" pitchFamily="34" charset="-122"/>
                <a:ea typeface="微软雅黑" panose="020B0503020204020204" pitchFamily="34" charset="-122"/>
              </a:rPr>
              <a:t>是</a:t>
            </a:r>
            <a:r>
              <a:rPr lang="en-US" altLang="zh-CN" sz="2000" dirty="0">
                <a:solidFill>
                  <a:srgbClr val="595959"/>
                </a:solidFill>
                <a:latin typeface="微软雅黑" panose="020B0503020204020204" pitchFamily="34" charset="-122"/>
                <a:ea typeface="微软雅黑" panose="020B0503020204020204" pitchFamily="34" charset="-122"/>
              </a:rPr>
              <a:t>Python</a:t>
            </a:r>
            <a:r>
              <a:rPr lang="zh-CN" altLang="zh-CN" sz="2000" dirty="0">
                <a:solidFill>
                  <a:srgbClr val="595959"/>
                </a:solidFill>
                <a:latin typeface="微软雅黑" panose="020B0503020204020204" pitchFamily="34" charset="-122"/>
                <a:ea typeface="微软雅黑" panose="020B0503020204020204" pitchFamily="34" charset="-122"/>
              </a:rPr>
              <a:t>标准库中自带的一个单元测试框架，所以在</a:t>
            </a:r>
            <a:r>
              <a:rPr lang="en-US" altLang="zh-CN" sz="2000" dirty="0" err="1">
                <a:solidFill>
                  <a:srgbClr val="595959"/>
                </a:solidFill>
                <a:latin typeface="微软雅黑" panose="020B0503020204020204" pitchFamily="34" charset="-122"/>
                <a:ea typeface="微软雅黑" panose="020B0503020204020204" pitchFamily="34" charset="-122"/>
              </a:rPr>
              <a:t>PyCharm</a:t>
            </a:r>
            <a:r>
              <a:rPr lang="zh-CN" altLang="zh-CN" sz="2000" dirty="0">
                <a:solidFill>
                  <a:srgbClr val="595959"/>
                </a:solidFill>
                <a:latin typeface="微软雅黑" panose="020B0503020204020204" pitchFamily="34" charset="-122"/>
                <a:ea typeface="微软雅黑" panose="020B0503020204020204" pitchFamily="34" charset="-122"/>
              </a:rPr>
              <a:t>中运行程序时，</a:t>
            </a:r>
            <a:r>
              <a:rPr lang="zh-CN" altLang="zh-CN" sz="2000" dirty="0">
                <a:solidFill>
                  <a:srgbClr val="0070C0"/>
                </a:solidFill>
                <a:latin typeface="微软雅黑" panose="020B0503020204020204" pitchFamily="34" charset="-122"/>
                <a:ea typeface="微软雅黑" panose="020B0503020204020204" pitchFamily="34" charset="-122"/>
              </a:rPr>
              <a:t>默认使用</a:t>
            </a:r>
            <a:r>
              <a:rPr lang="zh-CN" altLang="zh-CN" sz="2000">
                <a:solidFill>
                  <a:srgbClr val="0070C0"/>
                </a:solidFill>
                <a:latin typeface="微软雅黑" panose="020B0503020204020204" pitchFamily="34" charset="-122"/>
                <a:ea typeface="微软雅黑" panose="020B0503020204020204" pitchFamily="34" charset="-122"/>
              </a:rPr>
              <a:t>的是</a:t>
            </a:r>
            <a:r>
              <a:rPr lang="en-US" altLang="zh-CN" sz="2000">
                <a:solidFill>
                  <a:srgbClr val="0070C0"/>
                </a:solidFill>
                <a:latin typeface="微软雅黑" panose="020B0503020204020204" pitchFamily="34" charset="-122"/>
                <a:ea typeface="微软雅黑" panose="020B0503020204020204" pitchFamily="34" charset="-122"/>
              </a:rPr>
              <a:t>unittest</a:t>
            </a:r>
            <a:r>
              <a:rPr lang="zh-CN" altLang="zh-CN" sz="2000">
                <a:solidFill>
                  <a:srgbClr val="0070C0"/>
                </a:solidFill>
                <a:latin typeface="微软雅黑" panose="020B0503020204020204" pitchFamily="34" charset="-122"/>
                <a:ea typeface="微软雅黑" panose="020B0503020204020204" pitchFamily="34" charset="-122"/>
              </a:rPr>
              <a:t>框架</a:t>
            </a:r>
            <a:r>
              <a:rPr lang="zh-CN" altLang="zh-CN" sz="2000" dirty="0">
                <a:solidFill>
                  <a:srgbClr val="595959"/>
                </a:solidFill>
                <a:latin typeface="微软雅黑" panose="020B0503020204020204" pitchFamily="34" charset="-122"/>
                <a:ea typeface="微软雅黑" panose="020B0503020204020204" pitchFamily="34" charset="-122"/>
              </a:rPr>
              <a:t>。在编写自动化测试代码时，如果使用了</a:t>
            </a:r>
            <a:r>
              <a:rPr lang="en-US" altLang="zh-CN" sz="2000" dirty="0" err="1">
                <a:solidFill>
                  <a:srgbClr val="0070C0"/>
                </a:solidFill>
                <a:latin typeface="微软雅黑" panose="020B0503020204020204" pitchFamily="34" charset="-122"/>
                <a:ea typeface="微软雅黑" panose="020B0503020204020204" pitchFamily="34" charset="-122"/>
              </a:rPr>
              <a:t>pytest</a:t>
            </a:r>
            <a:r>
              <a:rPr lang="zh-CN" altLang="zh-CN" sz="2000" dirty="0">
                <a:solidFill>
                  <a:srgbClr val="0070C0"/>
                </a:solidFill>
                <a:latin typeface="微软雅黑" panose="020B0503020204020204" pitchFamily="34" charset="-122"/>
                <a:ea typeface="微软雅黑" panose="020B0503020204020204" pitchFamily="34" charset="-122"/>
              </a:rPr>
              <a:t>框架</a:t>
            </a:r>
            <a:r>
              <a:rPr lang="zh-CN" altLang="zh-CN" sz="2000" dirty="0">
                <a:solidFill>
                  <a:srgbClr val="595959"/>
                </a:solidFill>
                <a:latin typeface="微软雅黑" panose="020B0503020204020204" pitchFamily="34" charset="-122"/>
                <a:ea typeface="微软雅黑" panose="020B0503020204020204" pitchFamily="34" charset="-122"/>
              </a:rPr>
              <a:t>，则</a:t>
            </a:r>
            <a:r>
              <a:rPr lang="zh-CN" altLang="zh-CN" sz="2000" dirty="0">
                <a:solidFill>
                  <a:srgbClr val="0070C0"/>
                </a:solidFill>
                <a:latin typeface="微软雅黑" panose="020B0503020204020204" pitchFamily="34" charset="-122"/>
                <a:ea typeface="微软雅黑" panose="020B0503020204020204" pitchFamily="34" charset="-122"/>
              </a:rPr>
              <a:t>在运行程序前需要在</a:t>
            </a:r>
            <a:r>
              <a:rPr lang="en-US" altLang="zh-CN" sz="2000" dirty="0" err="1">
                <a:solidFill>
                  <a:srgbClr val="0070C0"/>
                </a:solidFill>
                <a:latin typeface="微软雅黑" panose="020B0503020204020204" pitchFamily="34" charset="-122"/>
                <a:ea typeface="微软雅黑" panose="020B0503020204020204" pitchFamily="34" charset="-122"/>
              </a:rPr>
              <a:t>PyCharm</a:t>
            </a:r>
            <a:r>
              <a:rPr lang="zh-CN" altLang="zh-CN" sz="2000" dirty="0">
                <a:solidFill>
                  <a:srgbClr val="0070C0"/>
                </a:solidFill>
                <a:latin typeface="微软雅黑" panose="020B0503020204020204" pitchFamily="34" charset="-122"/>
                <a:ea typeface="微软雅黑" panose="020B0503020204020204" pitchFamily="34" charset="-122"/>
              </a:rPr>
              <a:t>中配置</a:t>
            </a:r>
            <a:r>
              <a:rPr lang="en-US" altLang="zh-CN" sz="2000" dirty="0" err="1">
                <a:solidFill>
                  <a:srgbClr val="0070C0"/>
                </a:solidFill>
                <a:latin typeface="微软雅黑" panose="020B0503020204020204" pitchFamily="34" charset="-122"/>
                <a:ea typeface="微软雅黑" panose="020B0503020204020204" pitchFamily="34" charset="-122"/>
              </a:rPr>
              <a:t>pytest</a:t>
            </a:r>
            <a:r>
              <a:rPr lang="zh-CN" altLang="zh-CN" sz="2000" dirty="0">
                <a:solidFill>
                  <a:srgbClr val="0070C0"/>
                </a:solidFill>
                <a:latin typeface="微软雅黑" panose="020B0503020204020204" pitchFamily="34" charset="-122"/>
                <a:ea typeface="微软雅黑" panose="020B0503020204020204" pitchFamily="34" charset="-122"/>
              </a:rPr>
              <a:t>运行环境</a:t>
            </a:r>
            <a:r>
              <a:rPr lang="zh-CN" altLang="zh-CN" sz="2000" dirty="0">
                <a:solidFill>
                  <a:srgbClr val="595959"/>
                </a:solidFill>
                <a:latin typeface="微软雅黑" panose="020B0503020204020204" pitchFamily="34" charset="-122"/>
                <a:ea typeface="微软雅黑" panose="020B0503020204020204" pitchFamily="34" charset="-122"/>
              </a:rPr>
              <a:t>，否则运行程序会报错。下面介绍在</a:t>
            </a:r>
            <a:r>
              <a:rPr lang="en-US" altLang="zh-CN" sz="2000" dirty="0" err="1">
                <a:solidFill>
                  <a:srgbClr val="595959"/>
                </a:solidFill>
                <a:latin typeface="微软雅黑" panose="020B0503020204020204" pitchFamily="34" charset="-122"/>
                <a:ea typeface="微软雅黑" panose="020B0503020204020204" pitchFamily="34" charset="-122"/>
              </a:rPr>
              <a:t>PyCharm</a:t>
            </a:r>
            <a:r>
              <a:rPr lang="zh-CN" altLang="zh-CN" sz="2000" dirty="0">
                <a:solidFill>
                  <a:srgbClr val="595959"/>
                </a:solidFill>
                <a:latin typeface="微软雅黑" panose="020B0503020204020204" pitchFamily="34" charset="-122"/>
                <a:ea typeface="微软雅黑" panose="020B0503020204020204" pitchFamily="34" charset="-122"/>
              </a:rPr>
              <a:t>中配置</a:t>
            </a:r>
            <a:r>
              <a:rPr lang="en-US" altLang="zh-CN" sz="2000" dirty="0" err="1">
                <a:solidFill>
                  <a:srgbClr val="595959"/>
                </a:solidFill>
                <a:latin typeface="微软雅黑" panose="020B0503020204020204" pitchFamily="34" charset="-122"/>
                <a:ea typeface="微软雅黑" panose="020B0503020204020204" pitchFamily="34" charset="-122"/>
              </a:rPr>
              <a:t>pytest</a:t>
            </a:r>
            <a:r>
              <a:rPr lang="zh-CN" altLang="zh-CN" sz="2000" dirty="0">
                <a:solidFill>
                  <a:srgbClr val="595959"/>
                </a:solidFill>
                <a:latin typeface="微软雅黑" panose="020B0503020204020204" pitchFamily="34" charset="-122"/>
                <a:ea typeface="微软雅黑" panose="020B0503020204020204" pitchFamily="34" charset="-122"/>
              </a:rPr>
              <a:t>运行环境的具体操作过程。</a:t>
            </a:r>
          </a:p>
          <a:p>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33" name="Title 1"/>
          <p:cNvSpPr txBox="1"/>
          <p:nvPr/>
        </p:nvSpPr>
        <p:spPr>
          <a:xfrm>
            <a:off x="1143690" y="266995"/>
            <a:ext cx="4519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6.5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自动化测试框架</a:t>
            </a:r>
          </a:p>
        </p:txBody>
      </p:sp>
      <p:sp>
        <p:nvSpPr>
          <p:cNvPr id="10" name="矩形 9"/>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1"/>
          <p:cNvSpPr txBox="1"/>
          <p:nvPr/>
        </p:nvSpPr>
        <p:spPr>
          <a:xfrm>
            <a:off x="1143690" y="266995"/>
            <a:ext cx="4519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6.5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自动化测试框架</a:t>
            </a:r>
          </a:p>
        </p:txBody>
      </p:sp>
      <p:sp>
        <p:nvSpPr>
          <p:cNvPr id="2" name="矩形 1"/>
          <p:cNvSpPr/>
          <p:nvPr/>
        </p:nvSpPr>
        <p:spPr>
          <a:xfrm>
            <a:off x="911206" y="1989794"/>
            <a:ext cx="10656000" cy="1938992"/>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首先单击</a:t>
            </a:r>
            <a:r>
              <a:rPr lang="en-US" altLang="zh-CN" sz="2000" dirty="0" err="1">
                <a:solidFill>
                  <a:srgbClr val="595959"/>
                </a:solidFill>
                <a:latin typeface="微软雅黑" panose="020B0503020204020204" pitchFamily="34" charset="-122"/>
                <a:ea typeface="微软雅黑" panose="020B0503020204020204" pitchFamily="34" charset="-122"/>
              </a:rPr>
              <a:t>PyCharm</a:t>
            </a:r>
            <a:r>
              <a:rPr lang="zh-CN" altLang="zh-CN" sz="2000" dirty="0">
                <a:solidFill>
                  <a:srgbClr val="595959"/>
                </a:solidFill>
                <a:latin typeface="微软雅黑" panose="020B0503020204020204" pitchFamily="34" charset="-122"/>
                <a:ea typeface="微软雅黑" panose="020B0503020204020204" pitchFamily="34" charset="-122"/>
              </a:rPr>
              <a:t>菜单栏中的</a:t>
            </a:r>
            <a:r>
              <a:rPr lang="en-US" altLang="zh-CN" sz="2000" dirty="0">
                <a:solidFill>
                  <a:srgbClr val="0070C0"/>
                </a:solidFill>
                <a:latin typeface="微软雅黑" panose="020B0503020204020204" pitchFamily="34" charset="-122"/>
                <a:ea typeface="微软雅黑" panose="020B0503020204020204" pitchFamily="34" charset="-122"/>
              </a:rPr>
              <a:t>File</a:t>
            </a:r>
            <a:r>
              <a:rPr lang="zh-CN" altLang="zh-CN" sz="2000" dirty="0">
                <a:solidFill>
                  <a:srgbClr val="595959"/>
                </a:solidFill>
                <a:latin typeface="微软雅黑" panose="020B0503020204020204" pitchFamily="34" charset="-122"/>
                <a:ea typeface="微软雅黑" panose="020B0503020204020204" pitchFamily="34" charset="-122"/>
              </a:rPr>
              <a:t>，会弹出一个菜单列表</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单击</a:t>
            </a:r>
            <a:r>
              <a:rPr lang="zh-CN" altLang="zh-CN" sz="2000" dirty="0">
                <a:solidFill>
                  <a:srgbClr val="0070C0"/>
                </a:solidFill>
                <a:latin typeface="微软雅黑" panose="020B0503020204020204" pitchFamily="34" charset="-122"/>
                <a:ea typeface="微软雅黑" panose="020B0503020204020204" pitchFamily="34" charset="-122"/>
              </a:rPr>
              <a:t>“</a:t>
            </a:r>
            <a:r>
              <a:rPr lang="en-US" altLang="zh-CN" sz="2000" dirty="0">
                <a:solidFill>
                  <a:srgbClr val="0070C0"/>
                </a:solidFill>
                <a:latin typeface="微软雅黑" panose="020B0503020204020204" pitchFamily="34" charset="-122"/>
                <a:ea typeface="微软雅黑" panose="020B0503020204020204" pitchFamily="34" charset="-122"/>
              </a:rPr>
              <a:t>Settings...</a:t>
            </a:r>
            <a:r>
              <a:rPr lang="zh-CN" altLang="zh-CN" sz="2000" dirty="0">
                <a:solidFill>
                  <a:srgbClr val="0070C0"/>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选项会弹出一个</a:t>
            </a:r>
            <a:r>
              <a:rPr lang="en-US" altLang="zh-CN" sz="2000" dirty="0">
                <a:solidFill>
                  <a:srgbClr val="595959"/>
                </a:solidFill>
                <a:latin typeface="微软雅黑" panose="020B0503020204020204" pitchFamily="34" charset="-122"/>
                <a:ea typeface="微软雅黑" panose="020B0503020204020204" pitchFamily="34" charset="-122"/>
              </a:rPr>
              <a:t>Settings</a:t>
            </a:r>
            <a:r>
              <a:rPr lang="zh-CN" altLang="zh-CN" sz="2000" dirty="0">
                <a:solidFill>
                  <a:srgbClr val="595959"/>
                </a:solidFill>
                <a:latin typeface="微软雅黑" panose="020B0503020204020204" pitchFamily="34" charset="-122"/>
                <a:ea typeface="微软雅黑" panose="020B0503020204020204" pitchFamily="34" charset="-122"/>
              </a:rPr>
              <a:t>对话框</a:t>
            </a:r>
            <a:r>
              <a:rPr lang="zh-CN" altLang="en-US" sz="2000" dirty="0">
                <a:solidFill>
                  <a:srgbClr val="595959"/>
                </a:solidFill>
                <a:latin typeface="微软雅黑" panose="020B0503020204020204" pitchFamily="34" charset="-122"/>
                <a:ea typeface="微软雅黑" panose="020B0503020204020204" pitchFamily="34" charset="-122"/>
              </a:rPr>
              <a:t>，在该对话框中</a:t>
            </a:r>
            <a:r>
              <a:rPr lang="zh-CN" altLang="zh-CN" sz="2000" dirty="0">
                <a:solidFill>
                  <a:srgbClr val="595959"/>
                </a:solidFill>
                <a:latin typeface="微软雅黑" panose="020B0503020204020204" pitchFamily="34" charset="-122"/>
                <a:ea typeface="微软雅黑" panose="020B0503020204020204" pitchFamily="34" charset="-122"/>
              </a:rPr>
              <a:t>首先单击左侧</a:t>
            </a:r>
            <a:r>
              <a:rPr lang="en-US" altLang="zh-CN" sz="2000" dirty="0">
                <a:solidFill>
                  <a:srgbClr val="595959"/>
                </a:solidFill>
                <a:latin typeface="微软雅黑" panose="020B0503020204020204" pitchFamily="34" charset="-122"/>
                <a:ea typeface="微软雅黑" panose="020B0503020204020204" pitchFamily="34" charset="-122"/>
              </a:rPr>
              <a:t>Tools</a:t>
            </a:r>
            <a:r>
              <a:rPr lang="zh-CN" altLang="zh-CN" sz="2000" dirty="0">
                <a:solidFill>
                  <a:srgbClr val="595959"/>
                </a:solidFill>
                <a:latin typeface="微软雅黑" panose="020B0503020204020204" pitchFamily="34" charset="-122"/>
                <a:ea typeface="微软雅黑" panose="020B0503020204020204" pitchFamily="34" charset="-122"/>
              </a:rPr>
              <a:t>下方的</a:t>
            </a:r>
            <a:r>
              <a:rPr lang="en-US" altLang="zh-CN" sz="2000" dirty="0">
                <a:solidFill>
                  <a:srgbClr val="0070C0"/>
                </a:solidFill>
                <a:latin typeface="微软雅黑" panose="020B0503020204020204" pitchFamily="34" charset="-122"/>
                <a:ea typeface="微软雅黑" panose="020B0503020204020204" pitchFamily="34" charset="-122"/>
              </a:rPr>
              <a:t>Python Integrated Tools</a:t>
            </a:r>
            <a:r>
              <a:rPr lang="zh-CN" altLang="zh-CN" sz="2000" dirty="0">
                <a:solidFill>
                  <a:srgbClr val="595959"/>
                </a:solidFill>
                <a:latin typeface="微软雅黑" panose="020B0503020204020204" pitchFamily="34" charset="-122"/>
                <a:ea typeface="微软雅黑" panose="020B0503020204020204" pitchFamily="34" charset="-122"/>
              </a:rPr>
              <a:t>，然后在右侧单击</a:t>
            </a:r>
            <a:r>
              <a:rPr lang="en-US" altLang="zh-CN" sz="2000" dirty="0">
                <a:solidFill>
                  <a:srgbClr val="0070C0"/>
                </a:solidFill>
                <a:latin typeface="微软雅黑" panose="020B0503020204020204" pitchFamily="34" charset="-122"/>
                <a:ea typeface="微软雅黑" panose="020B0503020204020204" pitchFamily="34" charset="-122"/>
              </a:rPr>
              <a:t>Default test runner</a:t>
            </a:r>
            <a:r>
              <a:rPr lang="zh-CN" altLang="zh-CN" sz="2000" dirty="0">
                <a:solidFill>
                  <a:srgbClr val="595959"/>
                </a:solidFill>
                <a:latin typeface="微软雅黑" panose="020B0503020204020204" pitchFamily="34" charset="-122"/>
                <a:ea typeface="微软雅黑" panose="020B0503020204020204" pitchFamily="34" charset="-122"/>
              </a:rPr>
              <a:t>后方的图标“</a:t>
            </a:r>
            <a:r>
              <a:rPr lang="en-US" altLang="zh-CN" sz="2000" dirty="0">
                <a:solidFill>
                  <a:srgbClr val="595959"/>
                </a:solidFill>
                <a:latin typeface="微软雅黑" panose="020B0503020204020204" pitchFamily="34" charset="-122"/>
                <a:ea typeface="微软雅黑" panose="020B0503020204020204" pitchFamily="34" charset="-122"/>
              </a:rPr>
              <a:t>   </a:t>
            </a:r>
            <a:r>
              <a:rPr lang="zh-CN" altLang="zh-CN" sz="2000" dirty="0">
                <a:solidFill>
                  <a:srgbClr val="595959"/>
                </a:solidFill>
                <a:latin typeface="微软雅黑" panose="020B0503020204020204" pitchFamily="34" charset="-122"/>
                <a:ea typeface="微软雅黑" panose="020B0503020204020204" pitchFamily="34" charset="-122"/>
              </a:rPr>
              <a:t>”，会弹出一个列表，单击该列表中的</a:t>
            </a:r>
            <a:r>
              <a:rPr lang="en-US" altLang="zh-CN" sz="2000" dirty="0" err="1">
                <a:solidFill>
                  <a:srgbClr val="0070C0"/>
                </a:solidFill>
                <a:latin typeface="微软雅黑" panose="020B0503020204020204" pitchFamily="34" charset="-122"/>
                <a:ea typeface="微软雅黑" panose="020B0503020204020204" pitchFamily="34" charset="-122"/>
              </a:rPr>
              <a:t>pytest</a:t>
            </a:r>
            <a:r>
              <a:rPr lang="zh-CN" altLang="zh-CN" sz="2000" dirty="0">
                <a:solidFill>
                  <a:srgbClr val="595959"/>
                </a:solidFill>
                <a:latin typeface="微软雅黑" panose="020B0503020204020204" pitchFamily="34" charset="-122"/>
                <a:ea typeface="微软雅黑" panose="020B0503020204020204" pitchFamily="34" charset="-122"/>
              </a:rPr>
              <a:t>选项，最后单击</a:t>
            </a:r>
            <a:r>
              <a:rPr lang="zh-CN" altLang="zh-CN" sz="2000" dirty="0">
                <a:solidFill>
                  <a:srgbClr val="0070C0"/>
                </a:solidFill>
                <a:latin typeface="微软雅黑" panose="020B0503020204020204" pitchFamily="34" charset="-122"/>
                <a:ea typeface="微软雅黑" panose="020B0503020204020204" pitchFamily="34" charset="-122"/>
              </a:rPr>
              <a:t>“</a:t>
            </a:r>
            <a:r>
              <a:rPr lang="en-US" altLang="zh-CN" sz="2000" dirty="0">
                <a:solidFill>
                  <a:srgbClr val="0070C0"/>
                </a:solidFill>
                <a:latin typeface="微软雅黑" panose="020B0503020204020204" pitchFamily="34" charset="-122"/>
                <a:ea typeface="微软雅黑" panose="020B0503020204020204" pitchFamily="34" charset="-122"/>
              </a:rPr>
              <a:t>OK</a:t>
            </a:r>
            <a:r>
              <a:rPr lang="zh-CN" altLang="zh-CN" sz="2000" dirty="0">
                <a:solidFill>
                  <a:srgbClr val="0070C0"/>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按钮即可成功配置</a:t>
            </a:r>
            <a:r>
              <a:rPr lang="en-US" altLang="zh-CN" sz="2000" dirty="0" err="1">
                <a:solidFill>
                  <a:srgbClr val="595959"/>
                </a:solidFill>
                <a:latin typeface="微软雅黑" panose="020B0503020204020204" pitchFamily="34" charset="-122"/>
                <a:ea typeface="微软雅黑" panose="020B0503020204020204" pitchFamily="34" charset="-122"/>
              </a:rPr>
              <a:t>pytest</a:t>
            </a:r>
            <a:r>
              <a:rPr lang="zh-CN" altLang="zh-CN" sz="2000" dirty="0">
                <a:solidFill>
                  <a:srgbClr val="595959"/>
                </a:solidFill>
                <a:latin typeface="微软雅黑" panose="020B0503020204020204" pitchFamily="34" charset="-122"/>
                <a:ea typeface="微软雅黑" panose="020B0503020204020204" pitchFamily="34" charset="-122"/>
              </a:rPr>
              <a:t>的运行环境。</a:t>
            </a:r>
          </a:p>
        </p:txBody>
      </p:sp>
      <p:pic>
        <p:nvPicPr>
          <p:cNvPr id="11" name="图片 10"/>
          <p:cNvPicPr/>
          <p:nvPr/>
        </p:nvPicPr>
        <p:blipFill>
          <a:blip r:embed="rId3"/>
          <a:stretch>
            <a:fillRect/>
          </a:stretch>
        </p:blipFill>
        <p:spPr>
          <a:xfrm>
            <a:off x="6095206" y="3069794"/>
            <a:ext cx="182100" cy="190093"/>
          </a:xfrm>
          <a:prstGeom prst="rect">
            <a:avLst/>
          </a:prstGeom>
          <a:noFill/>
          <a:ln>
            <a:noFill/>
          </a:ln>
        </p:spPr>
      </p:pic>
      <p:sp>
        <p:nvSpPr>
          <p:cNvPr id="6" name="矩形 5"/>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417f8e4a56fc57c2e92e6fdc581ab83ee55365e"/>
  <p:tag name="KSO_WPP_MARK_KEY" val="f71d5144-0573-45f9-bb21-9102466a32de"/>
  <p:tag name="COMMONDATA" val="eyJoZGlkIjoiZmIyYTRhZmU2ZjA1MzE5NWYzOWIzNGFiZmU1NDg0OTM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SubTitle"/>
  <p:tag name="MH_ORDER" val="1"/>
</p:tagLst>
</file>

<file path=ppt/tags/tag5.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Other"/>
  <p:tag name="MH_ORDER" val="1"/>
</p:tagLst>
</file>

<file path=ppt/tags/tag6.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Text"/>
  <p:tag name="MH_ORDER" val="1"/>
</p:tagLst>
</file>

<file path=ppt/tags/tag7.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SubTitle"/>
  <p:tag name="MH_ORDER" val="2"/>
</p:tagLst>
</file>

<file path=ppt/tags/tag8.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Other"/>
  <p:tag name="MH_ORDER" val="2"/>
</p:tagLst>
</file>

<file path=ppt/tags/tag9.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Text"/>
  <p:tag name="MH_ORDER" val="2"/>
</p:tagLst>
</file>

<file path=ppt/tags/tag10.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SubTitle"/>
  <p:tag name="MH_ORDER" val="3"/>
</p:tagLst>
</file>

<file path=ppt/tags/tag11.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Other"/>
  <p:tag name="MH_ORDER" val="3"/>
</p:tagLst>
</file>

<file path=ppt/tags/tag12.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Text"/>
  <p:tag name="MH_ORDER" val="3"/>
</p:tagLst>
</file>

<file path=ppt/tags/tag13.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Title"/>
  <p:tag name="MH_ORDER" val="1"/>
</p:tagLst>
</file>

<file path=ppt/tags/tag14.xml><?xml version="1.0" encoding="utf-8"?>
<p:tagLst xmlns:a="http://schemas.openxmlformats.org/drawingml/2006/main" xmlns:r="http://schemas.openxmlformats.org/officeDocument/2006/relationships" xmlns:p="http://schemas.openxmlformats.org/presentationml/2006/main">
  <p:tag name="PA" val="v3.2.0"/>
</p:tagLst>
</file>

<file path=ppt/tags/tag15.xml><?xml version="1.0" encoding="utf-8"?>
<p:tagLst xmlns:a="http://schemas.openxmlformats.org/drawingml/2006/main" xmlns:r="http://schemas.openxmlformats.org/officeDocument/2006/relationships" xmlns:p="http://schemas.openxmlformats.org/presentationml/2006/main">
  <p:tag name="PA" val="v3.2.0"/>
</p:tagLst>
</file>

<file path=ppt/tags/tag16.xml><?xml version="1.0" encoding="utf-8"?>
<p:tagLst xmlns:a="http://schemas.openxmlformats.org/drawingml/2006/main" xmlns:r="http://schemas.openxmlformats.org/officeDocument/2006/relationships" xmlns:p="http://schemas.openxmlformats.org/presentationml/2006/main">
  <p:tag name="PA" val="v3.2.0"/>
</p:tagLst>
</file>

<file path=ppt/tags/tag17.xml><?xml version="1.0" encoding="utf-8"?>
<p:tagLst xmlns:a="http://schemas.openxmlformats.org/drawingml/2006/main" xmlns:r="http://schemas.openxmlformats.org/officeDocument/2006/relationships" xmlns:p="http://schemas.openxmlformats.org/presentationml/2006/main">
  <p:tag name="PA" val="v3.2.0"/>
</p:tagLst>
</file>

<file path=ppt/tags/tag18.xml><?xml version="1.0" encoding="utf-8"?>
<p:tagLst xmlns:a="http://schemas.openxmlformats.org/drawingml/2006/main" xmlns:r="http://schemas.openxmlformats.org/officeDocument/2006/relationships" xmlns:p="http://schemas.openxmlformats.org/presentationml/2006/main">
  <p:tag name="PA" val="v3.2.0"/>
</p:tagLst>
</file>

<file path=ppt/tags/tag19.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89*367"/>
  <p:tag name="TABLE_ENDDRAG_RECT" val="148*117*689*367"/>
</p:tagLst>
</file>

<file path=ppt/tags/tag20.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89*367"/>
  <p:tag name="TABLE_ENDDRAG_RECT" val="148*117*689*367"/>
</p:tagLst>
</file>

<file path=ppt/tags/tag21.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89*367"/>
  <p:tag name="TABLE_ENDDRAG_RECT" val="148*117*689*367"/>
</p:tagLst>
</file>

<file path=ppt/tags/tag22.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89*367"/>
  <p:tag name="TABLE_ENDDRAG_RECT" val="148*117*689*367"/>
</p:tagLst>
</file>

<file path=ppt/tags/tag23.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89*367"/>
  <p:tag name="TABLE_ENDDRAG_RECT" val="148*117*689*367"/>
</p:tagLst>
</file>

<file path=ppt/tags/tag24.xml><?xml version="1.0" encoding="utf-8"?>
<p:tagLst xmlns:a="http://schemas.openxmlformats.org/drawingml/2006/main" xmlns:r="http://schemas.openxmlformats.org/officeDocument/2006/relationships" xmlns:p="http://schemas.openxmlformats.org/presentationml/2006/main">
  <p:tag name="MH" val="20170719155452"/>
  <p:tag name="MH_LIBRARY" val="GRAPHIC"/>
  <p:tag name="MH_TYPE" val="SubTitle"/>
  <p:tag name="MH_ORDER" val="1"/>
</p:tagLst>
</file>

<file path=ppt/tags/tag25.xml><?xml version="1.0" encoding="utf-8"?>
<p:tagLst xmlns:a="http://schemas.openxmlformats.org/drawingml/2006/main" xmlns:r="http://schemas.openxmlformats.org/officeDocument/2006/relationships" xmlns:p="http://schemas.openxmlformats.org/presentationml/2006/main">
  <p:tag name="MH" val="20170719155452"/>
  <p:tag name="MH_LIBRARY" val="GRAPHIC"/>
  <p:tag name="MH_TYPE" val="Text"/>
  <p:tag name="MH_ORDER" val="1"/>
</p:tagLst>
</file>

<file path=ppt/tags/tag26.xml><?xml version="1.0" encoding="utf-8"?>
<p:tagLst xmlns:a="http://schemas.openxmlformats.org/drawingml/2006/main" xmlns:r="http://schemas.openxmlformats.org/officeDocument/2006/relationships" xmlns:p="http://schemas.openxmlformats.org/presentationml/2006/main">
  <p:tag name="MH" val="20170719155452"/>
  <p:tag name="MH_LIBRARY" val="GRAPHIC"/>
  <p:tag name="MH_TYPE" val="Other"/>
  <p:tag name="MH_ORDER" val="1"/>
</p:tagLst>
</file>

<file path=ppt/tags/tag27.xml><?xml version="1.0" encoding="utf-8"?>
<p:tagLst xmlns:a="http://schemas.openxmlformats.org/drawingml/2006/main" xmlns:r="http://schemas.openxmlformats.org/officeDocument/2006/relationships" xmlns:p="http://schemas.openxmlformats.org/presentationml/2006/main">
  <p:tag name="MH" val="20170719155452"/>
  <p:tag name="MH_LIBRARY" val="GRAPHIC"/>
  <p:tag name="MH_TYPE" val="Other"/>
  <p:tag name="MH_ORDER" val="2"/>
</p:tagLst>
</file>

<file path=ppt/tags/tag28.xml><?xml version="1.0" encoding="utf-8"?>
<p:tagLst xmlns:a="http://schemas.openxmlformats.org/drawingml/2006/main" xmlns:r="http://schemas.openxmlformats.org/officeDocument/2006/relationships" xmlns:p="http://schemas.openxmlformats.org/presentationml/2006/main">
  <p:tag name="MH" val="20170719155452"/>
  <p:tag name="MH_LIBRARY" val="GRAPHIC"/>
  <p:tag name="MH_TYPE" val="Other"/>
  <p:tag name="MH_ORDER" val="3"/>
</p:tagLst>
</file>

<file path=ppt/tags/tag29.xml><?xml version="1.0" encoding="utf-8"?>
<p:tagLst xmlns:a="http://schemas.openxmlformats.org/drawingml/2006/main" xmlns:r="http://schemas.openxmlformats.org/officeDocument/2006/relationships" xmlns:p="http://schemas.openxmlformats.org/presentationml/2006/main">
  <p:tag name="MH" val="20170719155452"/>
  <p:tag name="MH_LIBRARY" val="GRAPHIC"/>
  <p:tag name="MH_TYPE" val="Other"/>
  <p:tag name="MH_ORDER" val="4"/>
</p:tagLst>
</file>

<file path=ppt/tags/tag30.xml><?xml version="1.0" encoding="utf-8"?>
<p:tagLst xmlns:a="http://schemas.openxmlformats.org/drawingml/2006/main" xmlns:r="http://schemas.openxmlformats.org/officeDocument/2006/relationships" xmlns:p="http://schemas.openxmlformats.org/presentationml/2006/main">
  <p:tag name="MH" val="20170719155452"/>
  <p:tag name="MH_LIBRARY" val="GRAPHIC"/>
  <p:tag name="MH_TYPE" val="Other"/>
  <p:tag name="MH_ORDER" val="5"/>
</p:tagLst>
</file>

<file path=ppt/tags/tag31.xml><?xml version="1.0" encoding="utf-8"?>
<p:tagLst xmlns:a="http://schemas.openxmlformats.org/drawingml/2006/main" xmlns:r="http://schemas.openxmlformats.org/officeDocument/2006/relationships" xmlns:p="http://schemas.openxmlformats.org/presentationml/2006/main">
  <p:tag name="MH" val="20170719155452"/>
  <p:tag name="MH_LIBRARY" val="GRAPHIC"/>
  <p:tag name="MH_TYPE" val="Other"/>
  <p:tag name="MH_ORDER" val="6"/>
</p:tagLst>
</file>

<file path=ppt/tags/tag32.xml><?xml version="1.0" encoding="utf-8"?>
<p:tagLst xmlns:a="http://schemas.openxmlformats.org/drawingml/2006/main" xmlns:r="http://schemas.openxmlformats.org/officeDocument/2006/relationships" xmlns:p="http://schemas.openxmlformats.org/presentationml/2006/main">
  <p:tag name="MH" val="20170719155452"/>
  <p:tag name="MH_LIBRARY" val="GRAPHIC"/>
  <p:tag name="MH_TYPE" val="SubTitle"/>
  <p:tag name="MH_ORDER" val="2"/>
</p:tagLst>
</file>

<file path=ppt/tags/tag33.xml><?xml version="1.0" encoding="utf-8"?>
<p:tagLst xmlns:a="http://schemas.openxmlformats.org/drawingml/2006/main" xmlns:r="http://schemas.openxmlformats.org/officeDocument/2006/relationships" xmlns:p="http://schemas.openxmlformats.org/presentationml/2006/main">
  <p:tag name="MH" val="20170719155452"/>
  <p:tag name="MH_LIBRARY" val="GRAPHIC"/>
  <p:tag name="MH_TYPE" val="Text"/>
  <p:tag name="MH_ORDER" val="2"/>
</p:tagLst>
</file>

<file path=ppt/tags/tag34.xml><?xml version="1.0" encoding="utf-8"?>
<p:tagLst xmlns:a="http://schemas.openxmlformats.org/drawingml/2006/main" xmlns:r="http://schemas.openxmlformats.org/officeDocument/2006/relationships" xmlns:p="http://schemas.openxmlformats.org/presentationml/2006/main">
  <p:tag name="MH" val="20170719155452"/>
  <p:tag name="MH_LIBRARY" val="GRAPHIC"/>
  <p:tag name="MH_TYPE" val="SubTitle"/>
  <p:tag name="MH_ORDER" val="4"/>
</p:tagLst>
</file>

<file path=ppt/tags/tag35.xml><?xml version="1.0" encoding="utf-8"?>
<p:tagLst xmlns:a="http://schemas.openxmlformats.org/drawingml/2006/main" xmlns:r="http://schemas.openxmlformats.org/officeDocument/2006/relationships" xmlns:p="http://schemas.openxmlformats.org/presentationml/2006/main">
  <p:tag name="MH" val="20170719155452"/>
  <p:tag name="MH_LIBRARY" val="GRAPHIC"/>
  <p:tag name="MH_TYPE" val="Text"/>
  <p:tag name="MH_ORDER" val="4"/>
</p:tagLst>
</file>

<file path=ppt/tags/tag36.xml><?xml version="1.0" encoding="utf-8"?>
<p:tagLst xmlns:a="http://schemas.openxmlformats.org/drawingml/2006/main" xmlns:r="http://schemas.openxmlformats.org/officeDocument/2006/relationships" xmlns:p="http://schemas.openxmlformats.org/presentationml/2006/main">
  <p:tag name="MH" val="20170719155452"/>
  <p:tag name="MH_LIBRARY" val="GRAPHIC"/>
  <p:tag name="MH_TYPE" val="SubTitle"/>
  <p:tag name="MH_ORDER" val="3"/>
</p:tagLst>
</file>

<file path=ppt/tags/tag37.xml><?xml version="1.0" encoding="utf-8"?>
<p:tagLst xmlns:a="http://schemas.openxmlformats.org/drawingml/2006/main" xmlns:r="http://schemas.openxmlformats.org/officeDocument/2006/relationships" xmlns:p="http://schemas.openxmlformats.org/presentationml/2006/main">
  <p:tag name="MH" val="20170719155452"/>
  <p:tag name="MH_LIBRARY" val="GRAPHIC"/>
  <p:tag name="MH_TYPE" val="Text"/>
  <p:tag name="MH_ORDER" val="3"/>
</p:tagLst>
</file>

<file path=ppt/tags/tag38.xml><?xml version="1.0" encoding="utf-8"?>
<p:tagLst xmlns:a="http://schemas.openxmlformats.org/drawingml/2006/main" xmlns:r="http://schemas.openxmlformats.org/officeDocument/2006/relationships" xmlns:p="http://schemas.openxmlformats.org/presentationml/2006/main">
  <p:tag name="MH" val="20170719155452"/>
  <p:tag name="MH_LIBRARY" val="GRAPHIC"/>
  <p:tag name="MH_TYPE" val="Other"/>
  <p:tag name="MH_ORDER" val="7"/>
</p:tagLst>
</file>

<file path=ppt/tags/tag39.xml><?xml version="1.0" encoding="utf-8"?>
<p:tagLst xmlns:a="http://schemas.openxmlformats.org/drawingml/2006/main" xmlns:r="http://schemas.openxmlformats.org/officeDocument/2006/relationships" xmlns:p="http://schemas.openxmlformats.org/presentationml/2006/main">
  <p:tag name="MH" val="20170719155452"/>
  <p:tag name="MH_LIBRARY" val="GRAPHIC"/>
  <p:tag name="MH_TYPE" val="Other"/>
  <p:tag name="MH_ORDER" val="8"/>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5291</Words>
  <Application>Microsoft Office PowerPoint</Application>
  <PresentationFormat>自定义</PresentationFormat>
  <Paragraphs>385</Paragraphs>
  <Slides>56</Slides>
  <Notes>54</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56</vt:i4>
      </vt:variant>
    </vt:vector>
  </HeadingPairs>
  <TitlesOfParts>
    <vt:vector size="66" baseType="lpstr">
      <vt:lpstr>Source Han Sans K Bold</vt:lpstr>
      <vt:lpstr>思源黑体旧字形 ExtraLight</vt:lpstr>
      <vt:lpstr>宋体</vt:lpstr>
      <vt:lpstr>微软雅黑</vt:lpstr>
      <vt:lpstr>字魂105号-简雅黑</vt:lpstr>
      <vt:lpstr>Arial</vt:lpstr>
      <vt:lpstr>Calibri</vt:lpstr>
      <vt:lpstr>Wingdings</vt:lpstr>
      <vt:lpstr>webwppDefTheme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蓝白商务述职报告工作总结ppt模板</dc:title>
  <dc:creator>常董</dc:creator>
  <cp:lastModifiedBy>欧 李</cp:lastModifiedBy>
  <cp:revision>1476</cp:revision>
  <dcterms:created xsi:type="dcterms:W3CDTF">2020-09-03T07:01:00Z</dcterms:created>
  <dcterms:modified xsi:type="dcterms:W3CDTF">2025-11-04T16:36:37Z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2052-12.1.0.17857</vt:lpwstr>
  </property>
  <property fmtid="{D5CDD505-2E9C-101B-9397-08002B2CF9AE}" pid="3" name="ICV">
    <vt:lpwstr>8E24EF48347A484FAA61BC810723EE31_13</vt:lpwstr>
  </property>
</Properties>
</file>