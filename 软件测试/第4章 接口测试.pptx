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tags/tag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6.xml" ContentType="application/vnd.openxmlformats-officedocument.presentationml.tags+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8.xml" ContentType="application/vnd.openxmlformats-officedocument.presentationml.tags+xml"/>
  <Override PartName="/ppt/notesSlides/notesSlide27.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42"/>
  </p:notesMasterIdLst>
  <p:handoutMasterIdLst>
    <p:handoutMasterId r:id="rId43"/>
  </p:handoutMasterIdLst>
  <p:sldIdLst>
    <p:sldId id="325" r:id="rId3"/>
    <p:sldId id="924" r:id="rId4"/>
    <p:sldId id="926" r:id="rId5"/>
    <p:sldId id="927" r:id="rId6"/>
    <p:sldId id="1744" r:id="rId7"/>
    <p:sldId id="2044" r:id="rId8"/>
    <p:sldId id="1745" r:id="rId9"/>
    <p:sldId id="2045" r:id="rId10"/>
    <p:sldId id="1746" r:id="rId11"/>
    <p:sldId id="1748" r:id="rId12"/>
    <p:sldId id="1749" r:id="rId13"/>
    <p:sldId id="2046" r:id="rId14"/>
    <p:sldId id="1750" r:id="rId15"/>
    <p:sldId id="1751" r:id="rId16"/>
    <p:sldId id="1752" r:id="rId17"/>
    <p:sldId id="1753" r:id="rId18"/>
    <p:sldId id="1754" r:id="rId19"/>
    <p:sldId id="1756" r:id="rId20"/>
    <p:sldId id="1757" r:id="rId21"/>
    <p:sldId id="1758" r:id="rId22"/>
    <p:sldId id="1759" r:id="rId23"/>
    <p:sldId id="1760" r:id="rId24"/>
    <p:sldId id="1761" r:id="rId25"/>
    <p:sldId id="2047" r:id="rId26"/>
    <p:sldId id="1767" r:id="rId27"/>
    <p:sldId id="2048" r:id="rId28"/>
    <p:sldId id="2049" r:id="rId29"/>
    <p:sldId id="1782" r:id="rId30"/>
    <p:sldId id="1784" r:id="rId31"/>
    <p:sldId id="1785" r:id="rId32"/>
    <p:sldId id="1786" r:id="rId33"/>
    <p:sldId id="1787" r:id="rId34"/>
    <p:sldId id="1794" r:id="rId35"/>
    <p:sldId id="1788" r:id="rId36"/>
    <p:sldId id="1865" r:id="rId37"/>
    <p:sldId id="1866" r:id="rId38"/>
    <p:sldId id="1867" r:id="rId39"/>
    <p:sldId id="1904" r:id="rId40"/>
    <p:sldId id="1906" r:id="rId41"/>
  </p:sldIdLst>
  <p:sldSz cx="12190413" cy="6859588"/>
  <p:notesSz cx="6858000" cy="9144000"/>
  <p:custDataLst>
    <p:tags r:id="rId44"/>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3" userDrawn="1">
          <p15:clr>
            <a:srgbClr val="A4A3A4"/>
          </p15:clr>
        </p15:guide>
        <p15:guide id="2" pos="640" userDrawn="1">
          <p15:clr>
            <a:srgbClr val="A4A3A4"/>
          </p15:clr>
        </p15:guide>
        <p15:guide id="3" pos="7230" userDrawn="1">
          <p15:clr>
            <a:srgbClr val="A4A3A4"/>
          </p15:clr>
        </p15:guide>
      </p15:sldGuideLst>
    </p:ext>
    <p:ext uri="{2D200454-40CA-4A62-9FC3-DE9A4176ACB9}">
      <p15:notesGuideLst xmlns:p15="http://schemas.microsoft.com/office/powerpoint/2012/main">
        <p15:guide id="1" orient="horz" pos="3120">
          <p15:clr>
            <a:srgbClr val="A4A3A4"/>
          </p15:clr>
        </p15:guide>
        <p15:guide id="2" pos="221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孟方思" initials="mfs" lastIdx="1" clrIdx="0"/>
  <p:cmAuthor id="2" name="LD" initials="L" lastIdx="2" clrIdx="1"/>
  <p:cmAuthor id="3" name="Lv0593" initials="L" lastIdx="15"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595959"/>
    <a:srgbClr val="1369B2"/>
    <a:srgbClr val="FAFAFA"/>
    <a:srgbClr val="F2F2F2"/>
    <a:srgbClr val="006BBC"/>
    <a:srgbClr val="0075CC"/>
    <a:srgbClr val="008DF6"/>
    <a:srgbClr val="005DA2"/>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autoAdjust="0"/>
    <p:restoredTop sz="94590" autoAdjust="0"/>
  </p:normalViewPr>
  <p:slideViewPr>
    <p:cSldViewPr showGuides="1">
      <p:cViewPr varScale="1">
        <p:scale>
          <a:sx n="90" d="100"/>
          <a:sy n="90" d="100"/>
        </p:scale>
        <p:origin x="628" y="72"/>
      </p:cViewPr>
      <p:guideLst>
        <p:guide orient="horz" pos="2303"/>
        <p:guide pos="640"/>
        <p:guide pos="723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7" d="100"/>
          <a:sy n="87" d="100"/>
        </p:scale>
        <p:origin x="3840" y="96"/>
      </p:cViewPr>
      <p:guideLst>
        <p:guide orient="horz" pos="3120"/>
        <p:guide pos="2210"/>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2025/11/5</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5794"/>
            <a:ext cx="12190413" cy="2413577"/>
            <a:chOff x="170694" y="178255"/>
            <a:chExt cx="3936004" cy="779007"/>
          </a:xfrm>
        </p:grpSpPr>
        <p:sp>
          <p:nvSpPr>
            <p:cNvPr id="44" name="等腰三角形 43"/>
            <p:cNvSpPr/>
            <p:nvPr/>
          </p:nvSpPr>
          <p:spPr>
            <a:xfrm>
              <a:off x="1270819" y="178255"/>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70694" y="600746"/>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666" y="178257"/>
              <a:ext cx="1100951"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8484731"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756764"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620748"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5028797"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892781"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6"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ags" Target="../tags/tag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2025/11/5</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
        <p:nvSpPr>
          <p:cNvPr id="2" name="矩形 1"/>
          <p:cNvSpPr/>
          <p:nvPr userDrawn="1"/>
        </p:nvSpPr>
        <p:spPr>
          <a:xfrm>
            <a:off x="278765" y="160020"/>
            <a:ext cx="391795" cy="236855"/>
          </a:xfrm>
          <a:prstGeom prst="rect">
            <a:avLst/>
          </a:prstGeom>
          <a:solidFill>
            <a:srgbClr val="4F7D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pic>
        <p:nvPicPr>
          <p:cNvPr id="10" name="图片 9" descr="数字技术产业学院 标志设计2"/>
          <p:cNvPicPr>
            <a:picLocks noChangeAspect="1"/>
          </p:cNvPicPr>
          <p:nvPr userDrawn="1">
            <p:custDataLst>
              <p:tags r:id="rId10"/>
            </p:custDataLst>
          </p:nvPr>
        </p:nvPicPr>
        <p:blipFill>
          <a:blip r:embed="rId11"/>
          <a:stretch>
            <a:fillRect/>
          </a:stretch>
        </p:blipFill>
        <p:spPr>
          <a:xfrm>
            <a:off x="9622790" y="56515"/>
            <a:ext cx="2418715" cy="52451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
        <p:nvSpPr>
          <p:cNvPr id="9" name="矩形 8"/>
          <p:cNvSpPr/>
          <p:nvPr userDrawn="1"/>
        </p:nvSpPr>
        <p:spPr>
          <a:xfrm>
            <a:off x="278765" y="160020"/>
            <a:ext cx="391795" cy="236855"/>
          </a:xfrm>
          <a:prstGeom prst="rect">
            <a:avLst/>
          </a:prstGeom>
          <a:solidFill>
            <a:srgbClr val="4F7D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pic>
        <p:nvPicPr>
          <p:cNvPr id="10" name="图片 9" descr="数字技术产业学院 标志设计2"/>
          <p:cNvPicPr>
            <a:picLocks noChangeAspect="1"/>
          </p:cNvPicPr>
          <p:nvPr userDrawn="1">
            <p:custDataLst>
              <p:tags r:id="rId15"/>
            </p:custDataLst>
          </p:nvPr>
        </p:nvPicPr>
        <p:blipFill>
          <a:blip r:embed="rId16"/>
          <a:stretch>
            <a:fillRect/>
          </a:stretch>
        </p:blipFill>
        <p:spPr>
          <a:xfrm>
            <a:off x="9622790" y="56515"/>
            <a:ext cx="2418715" cy="524510"/>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openxmlformats.org/officeDocument/2006/relationships/image" Target="../media/image9.sv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0.xml"/><Relationship Id="rId1" Type="http://schemas.openxmlformats.org/officeDocument/2006/relationships/tags" Target="../tags/tag1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0.xml"/><Relationship Id="rId1" Type="http://schemas.openxmlformats.org/officeDocument/2006/relationships/tags" Target="../tags/tag13.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0.xml"/><Relationship Id="rId1" Type="http://schemas.openxmlformats.org/officeDocument/2006/relationships/tags" Target="../tags/tag1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8.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3935095" y="2637790"/>
            <a:ext cx="4257040" cy="783590"/>
          </a:xfrm>
          <a:prstGeom prst="rect">
            <a:avLst/>
          </a:prstGeom>
          <a:noFill/>
        </p:spPr>
        <p:txBody>
          <a:bodyPr wrap="square" rtlCol="0">
            <a:spAutoFit/>
          </a:bodyPr>
          <a:lstStyle/>
          <a:p>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第4章</a:t>
            </a:r>
            <a:r>
              <a:rPr 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 </a:t>
            </a: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接口测试</a:t>
            </a:r>
          </a:p>
        </p:txBody>
      </p:sp>
      <p:sp>
        <p:nvSpPr>
          <p:cNvPr id="4" name="Rectangle 4"/>
          <p:cNvSpPr txBox="1">
            <a:spLocks noChangeArrowheads="1"/>
          </p:cNvSpPr>
          <p:nvPr/>
        </p:nvSpPr>
        <p:spPr>
          <a:xfrm>
            <a:off x="6598920" y="3933825"/>
            <a:ext cx="352425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zh-CN" sz="2400" dirty="0">
                <a:solidFill>
                  <a:srgbClr val="595959"/>
                </a:solidFill>
                <a:latin typeface="微软雅黑" panose="020B0503020204020204" pitchFamily="34" charset="-122"/>
                <a:ea typeface="微软雅黑" panose="020B0503020204020204" pitchFamily="34" charset="-122"/>
                <a:cs typeface="+mn-ea"/>
                <a:sym typeface="+mn-lt"/>
              </a:rPr>
              <a:t>软件测试（第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78968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71008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19265" y="3640665"/>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767510"/>
            <a:ext cx="5691600" cy="613062"/>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接口测试</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简介</a:t>
              </a: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693261"/>
            <a:ext cx="5691600" cy="613062"/>
            <a:chOff x="4315150" y="1647579"/>
            <a:chExt cx="3857250" cy="540057"/>
          </a:xfrm>
        </p:grpSpPr>
        <p:sp>
          <p:nvSpPr>
            <p:cNvPr id="64" name="矩形 63"/>
            <p:cNvSpPr/>
            <p:nvPr/>
          </p:nvSpPr>
          <p:spPr>
            <a:xfrm>
              <a:off x="4841196" y="1730243"/>
              <a:ext cx="2827147" cy="331154"/>
            </a:xfrm>
            <a:prstGeom prst="rect">
              <a:avLst/>
            </a:prstGeom>
            <a:ln w="15875">
              <a:noFill/>
            </a:ln>
          </p:spPr>
          <p:txBody>
            <a:bodyPr wrap="square" lIns="68580" tIns="34290" rIns="68580" bIns="34290">
              <a:spAutoFit/>
            </a:bodyPr>
            <a:lstStyle/>
            <a:p>
              <a:pPr algn="l">
                <a:buClrTx/>
                <a:buSzTx/>
                <a:buFontTx/>
              </a:pPr>
              <a:r>
                <a:rPr lang="zh-CN" altLang="en-US" sz="200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HTTP</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24630" y="3618865"/>
            <a:ext cx="5691600" cy="612775"/>
            <a:chOff x="4315150" y="2341731"/>
            <a:chExt cx="3857250" cy="540057"/>
          </a:xfrm>
        </p:grpSpPr>
        <p:sp>
          <p:nvSpPr>
            <p:cNvPr id="67" name="矩形 66"/>
            <p:cNvSpPr/>
            <p:nvPr/>
          </p:nvSpPr>
          <p:spPr>
            <a:xfrm>
              <a:off x="4841197" y="2424395"/>
              <a:ext cx="2827146" cy="331310"/>
            </a:xfrm>
            <a:prstGeom prst="rect">
              <a:avLst/>
            </a:prstGeom>
            <a:ln w="15875">
              <a:noFill/>
            </a:ln>
          </p:spPr>
          <p:txBody>
            <a:bodyPr wrap="square" lIns="68580" tIns="34290" rIns="68580" bIns="34290">
              <a:spAutoFit/>
            </a:bodyPr>
            <a:lstStyle/>
            <a:p>
              <a:pPr algn="l">
                <a:buClrTx/>
                <a:buSzTx/>
                <a:buFontTx/>
              </a:pP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Postman</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入门</a:t>
              </a: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4" name="组合 13"/>
          <p:cNvGrpSpPr/>
          <p:nvPr/>
        </p:nvGrpSpPr>
        <p:grpSpPr>
          <a:xfrm>
            <a:off x="3101485" y="4582702"/>
            <a:ext cx="1192190" cy="618406"/>
            <a:chOff x="2215144" y="2026500"/>
            <a:chExt cx="1244730" cy="850129"/>
          </a:xfrm>
        </p:grpSpPr>
        <p:sp>
          <p:nvSpPr>
            <p:cNvPr id="16" name="平行四边形 15"/>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7" name="文本框 10"/>
            <p:cNvSpPr txBox="1"/>
            <p:nvPr/>
          </p:nvSpPr>
          <p:spPr>
            <a:xfrm>
              <a:off x="2393075" y="2026500"/>
              <a:ext cx="1066799" cy="80223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8" name="组合 17"/>
          <p:cNvGrpSpPr/>
          <p:nvPr/>
        </p:nvGrpSpPr>
        <p:grpSpPr>
          <a:xfrm>
            <a:off x="3101485" y="5513280"/>
            <a:ext cx="1192190" cy="613315"/>
            <a:chOff x="2215144" y="3084852"/>
            <a:chExt cx="1244730" cy="843130"/>
          </a:xfrm>
        </p:grpSpPr>
        <p:sp>
          <p:nvSpPr>
            <p:cNvPr id="19" name="平行四边形 18"/>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0"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1" name="组合 20"/>
          <p:cNvGrpSpPr/>
          <p:nvPr/>
        </p:nvGrpSpPr>
        <p:grpSpPr>
          <a:xfrm>
            <a:off x="4006850" y="4565650"/>
            <a:ext cx="5690235" cy="612775"/>
            <a:chOff x="4315150" y="1647579"/>
            <a:chExt cx="3857250" cy="540057"/>
          </a:xfrm>
        </p:grpSpPr>
        <p:sp>
          <p:nvSpPr>
            <p:cNvPr id="22" name="矩形 21"/>
            <p:cNvSpPr/>
            <p:nvPr/>
          </p:nvSpPr>
          <p:spPr>
            <a:xfrm>
              <a:off x="4841196" y="1730243"/>
              <a:ext cx="2827147" cy="331310"/>
            </a:xfrm>
            <a:prstGeom prst="rect">
              <a:avLst/>
            </a:prstGeom>
            <a:ln w="15875">
              <a:noFill/>
            </a:ln>
          </p:spPr>
          <p:txBody>
            <a:bodyPr wrap="square" lIns="68580" tIns="34290" rIns="68580" bIns="34290">
              <a:spAutoFit/>
            </a:bodyPr>
            <a:lstStyle/>
            <a:p>
              <a:pPr algn="l">
                <a:buClrTx/>
                <a:buSzTx/>
                <a:buFontTx/>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Postman的</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基本使用</a:t>
              </a:r>
            </a:p>
          </p:txBody>
        </p:sp>
        <p:sp>
          <p:nvSpPr>
            <p:cNvPr id="23" name="平行四边形 22"/>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4" name="组合 23"/>
          <p:cNvGrpSpPr/>
          <p:nvPr/>
        </p:nvGrpSpPr>
        <p:grpSpPr>
          <a:xfrm>
            <a:off x="4006850" y="5491480"/>
            <a:ext cx="5691600" cy="612775"/>
            <a:chOff x="4315150" y="2341731"/>
            <a:chExt cx="3857250" cy="540057"/>
          </a:xfrm>
        </p:grpSpPr>
        <p:sp>
          <p:nvSpPr>
            <p:cNvPr id="25" name="矩形 24"/>
            <p:cNvSpPr/>
            <p:nvPr/>
          </p:nvSpPr>
          <p:spPr>
            <a:xfrm>
              <a:off x="4803173" y="2406090"/>
              <a:ext cx="3155053" cy="331310"/>
            </a:xfrm>
            <a:prstGeom prst="rect">
              <a:avLst/>
            </a:prstGeom>
            <a:ln w="15875">
              <a:noFill/>
            </a:ln>
          </p:spPr>
          <p:txBody>
            <a:bodyPr wrap="square" lIns="68580" tIns="34290" rIns="68580" bIns="34290">
              <a:spAutoFit/>
            </a:bodyPr>
            <a:lstStyle/>
            <a:p>
              <a:pPr algn="l">
                <a:buClrTx/>
                <a:buSzTx/>
                <a:buFontTx/>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实例：iHRM</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人力资源管理系统接口测试</a:t>
              </a:r>
            </a:p>
          </p:txBody>
        </p:sp>
        <p:sp>
          <p:nvSpPr>
            <p:cNvPr id="26" name="平行四边形 25"/>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接口测试</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简介</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77255" y="1413794"/>
            <a:ext cx="9864000" cy="344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接口</a:t>
            </a:r>
            <a:r>
              <a:rPr lang="zh-CN" altLang="en-US" sz="1800" dirty="0">
                <a:solidFill>
                  <a:srgbClr val="595959"/>
                </a:solidFill>
                <a:latin typeface="微软雅黑" panose="020B0503020204020204" pitchFamily="34" charset="-122"/>
                <a:ea typeface="微软雅黑" panose="020B0503020204020204" pitchFamily="34" charset="-122"/>
              </a:rPr>
              <a:t>是指</a:t>
            </a:r>
            <a:r>
              <a:rPr lang="zh-CN" altLang="en-US" sz="1800" dirty="0">
                <a:solidFill>
                  <a:srgbClr val="0070C0"/>
                </a:solidFill>
                <a:latin typeface="微软雅黑" panose="020B0503020204020204" pitchFamily="34" charset="-122"/>
                <a:ea typeface="微软雅黑" panose="020B0503020204020204" pitchFamily="34" charset="-122"/>
              </a:rPr>
              <a:t>系统或组件之间进行信息交互的通道</a:t>
            </a:r>
            <a:r>
              <a:rPr lang="zh-CN" altLang="en-US" sz="1800" dirty="0">
                <a:solidFill>
                  <a:srgbClr val="595959"/>
                </a:solidFill>
                <a:latin typeface="微软雅黑" panose="020B0503020204020204" pitchFamily="34" charset="-122"/>
                <a:ea typeface="微软雅黑" panose="020B0503020204020204" pitchFamily="34" charset="-122"/>
              </a:rPr>
              <a:t>。在软件开发的过程中，随着项目需求越来越多，软件的功能会越来越复杂，接口也会</a:t>
            </a:r>
            <a:r>
              <a:rPr lang="zh-CN" altLang="en-US" sz="1800">
                <a:solidFill>
                  <a:srgbClr val="595959"/>
                </a:solidFill>
                <a:latin typeface="微软雅黑" panose="020B0503020204020204" pitchFamily="34" charset="-122"/>
                <a:ea typeface="微软雅黑" panose="020B0503020204020204" pitchFamily="34" charset="-122"/>
              </a:rPr>
              <a:t>不断增多。为了</a:t>
            </a:r>
            <a:r>
              <a:rPr lang="zh-CN" altLang="en-US" sz="1800" dirty="0">
                <a:solidFill>
                  <a:srgbClr val="595959"/>
                </a:solidFill>
                <a:latin typeface="微软雅黑" panose="020B0503020204020204" pitchFamily="34" charset="-122"/>
                <a:ea typeface="微软雅黑" panose="020B0503020204020204" pitchFamily="34" charset="-122"/>
              </a:rPr>
              <a:t>确保软件系统中的接口能够正常进行信息交互和传输数据，就需要开展</a:t>
            </a:r>
            <a:r>
              <a:rPr lang="zh-CN" altLang="en-US" sz="1800">
                <a:solidFill>
                  <a:srgbClr val="595959"/>
                </a:solidFill>
                <a:latin typeface="微软雅黑" panose="020B0503020204020204" pitchFamily="34" charset="-122"/>
                <a:ea typeface="微软雅黑" panose="020B0503020204020204" pitchFamily="34" charset="-122"/>
              </a:rPr>
              <a:t>接口测试。</a:t>
            </a:r>
            <a:endParaRPr lang="en-US" altLang="zh-CN" sz="180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接口测试是对系统组件</a:t>
            </a:r>
            <a:r>
              <a:rPr lang="zh-CN" altLang="en-US" sz="1800">
                <a:solidFill>
                  <a:srgbClr val="0070C0"/>
                </a:solidFill>
                <a:latin typeface="微软雅黑" panose="020B0503020204020204" pitchFamily="34" charset="-122"/>
                <a:ea typeface="微软雅黑" panose="020B0503020204020204" pitchFamily="34" charset="-122"/>
              </a:rPr>
              <a:t>间接口进行的测试</a:t>
            </a:r>
            <a:r>
              <a:rPr lang="zh-CN" altLang="en-US" sz="1800" dirty="0">
                <a:solidFill>
                  <a:srgbClr val="595959"/>
                </a:solidFill>
                <a:latin typeface="微软雅黑" panose="020B0503020204020204" pitchFamily="34" charset="-122"/>
                <a:ea typeface="微软雅黑" panose="020B0503020204020204" pitchFamily="34" charset="-122"/>
              </a:rPr>
              <a:t>，其</a:t>
            </a:r>
            <a:r>
              <a:rPr lang="zh-CN" altLang="en-US" sz="1800" dirty="0">
                <a:solidFill>
                  <a:srgbClr val="0070C0"/>
                </a:solidFill>
                <a:latin typeface="微软雅黑" panose="020B0503020204020204" pitchFamily="34" charset="-122"/>
                <a:ea typeface="微软雅黑" panose="020B0503020204020204" pitchFamily="34" charset="-122"/>
              </a:rPr>
              <a:t>原理</a:t>
            </a:r>
            <a:r>
              <a:rPr lang="zh-CN" altLang="en-US" sz="1800" dirty="0">
                <a:solidFill>
                  <a:srgbClr val="595959"/>
                </a:solidFill>
                <a:latin typeface="微软雅黑" panose="020B0503020204020204" pitchFamily="34" charset="-122"/>
                <a:ea typeface="微软雅黑" panose="020B0503020204020204" pitchFamily="34" charset="-122"/>
              </a:rPr>
              <a:t>是</a:t>
            </a:r>
            <a:r>
              <a:rPr lang="zh-CN" altLang="en-US" sz="1800" dirty="0">
                <a:solidFill>
                  <a:srgbClr val="0070C0"/>
                </a:solidFill>
                <a:latin typeface="微软雅黑" panose="020B0503020204020204" pitchFamily="34" charset="-122"/>
                <a:ea typeface="微软雅黑" panose="020B0503020204020204" pitchFamily="34" charset="-122"/>
              </a:rPr>
              <a:t>模拟</a:t>
            </a:r>
            <a:r>
              <a:rPr lang="zh-CN" altLang="en-US" sz="1800" dirty="0">
                <a:solidFill>
                  <a:srgbClr val="595959"/>
                </a:solidFill>
                <a:latin typeface="微软雅黑" panose="020B0503020204020204" pitchFamily="34" charset="-122"/>
                <a:ea typeface="微软雅黑" panose="020B0503020204020204" pitchFamily="34" charset="-122"/>
              </a:rPr>
              <a:t>客户端向服务器</a:t>
            </a:r>
            <a:r>
              <a:rPr lang="zh-CN" altLang="en-US" sz="1800" dirty="0">
                <a:solidFill>
                  <a:srgbClr val="0070C0"/>
                </a:solidFill>
                <a:latin typeface="微软雅黑" panose="020B0503020204020204" pitchFamily="34" charset="-122"/>
                <a:ea typeface="微软雅黑" panose="020B0503020204020204" pitchFamily="34" charset="-122"/>
              </a:rPr>
              <a:t>发送请求</a:t>
            </a:r>
            <a:r>
              <a:rPr lang="zh-CN" altLang="en-US" sz="1800" dirty="0">
                <a:solidFill>
                  <a:srgbClr val="595959"/>
                </a:solidFill>
                <a:latin typeface="微软雅黑" panose="020B0503020204020204" pitchFamily="34" charset="-122"/>
                <a:ea typeface="微软雅黑" panose="020B0503020204020204" pitchFamily="34" charset="-122"/>
              </a:rPr>
              <a:t>，服务器</a:t>
            </a:r>
            <a:r>
              <a:rPr lang="zh-CN" altLang="en-US" sz="1800" dirty="0">
                <a:solidFill>
                  <a:srgbClr val="0070C0"/>
                </a:solidFill>
                <a:latin typeface="微软雅黑" panose="020B0503020204020204" pitchFamily="34" charset="-122"/>
                <a:ea typeface="微软雅黑" panose="020B0503020204020204" pitchFamily="34" charset="-122"/>
              </a:rPr>
              <a:t>接收到请求</a:t>
            </a:r>
            <a:r>
              <a:rPr lang="zh-CN" altLang="en-US" sz="1800" dirty="0">
                <a:solidFill>
                  <a:srgbClr val="595959"/>
                </a:solidFill>
                <a:latin typeface="微软雅黑" panose="020B0503020204020204" pitchFamily="34" charset="-122"/>
                <a:ea typeface="微软雅黑" panose="020B0503020204020204" pitchFamily="34" charset="-122"/>
              </a:rPr>
              <a:t>后进行相应的业务处理，并</a:t>
            </a:r>
            <a:r>
              <a:rPr lang="zh-CN" altLang="en-US" sz="1800" dirty="0">
                <a:solidFill>
                  <a:srgbClr val="0070C0"/>
                </a:solidFill>
                <a:latin typeface="微软雅黑" panose="020B0503020204020204" pitchFamily="34" charset="-122"/>
                <a:ea typeface="微软雅黑" panose="020B0503020204020204" pitchFamily="34" charset="-122"/>
              </a:rPr>
              <a:t>向客户端返回响应数据</a:t>
            </a:r>
            <a:r>
              <a:rPr lang="zh-CN" altLang="en-US" sz="1800" dirty="0">
                <a:solidFill>
                  <a:srgbClr val="595959"/>
                </a:solidFill>
                <a:latin typeface="微软雅黑" panose="020B0503020204020204" pitchFamily="34" charset="-122"/>
                <a:ea typeface="微软雅黑" panose="020B0503020204020204" pitchFamily="34" charset="-122"/>
              </a:rPr>
              <a:t>。测试人员在进行接口测试时，需要关注软件系统中被测接口之间数据的传递、交换和控制管理过程，以及接口与接口之间是否存在逻辑依赖关系，并检测服务器向客户端返回的响应数据是否符合预期结果。</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4.1</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接口测试简介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36650" y="957270"/>
            <a:ext cx="1034161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实现接口测试</a:t>
            </a:r>
            <a:r>
              <a:rPr lang="zh-CN" altLang="en-US" sz="1800" dirty="0">
                <a:solidFill>
                  <a:srgbClr val="595959"/>
                </a:solidFill>
                <a:latin typeface="微软雅黑" panose="020B0503020204020204" pitchFamily="34" charset="-122"/>
                <a:ea typeface="微软雅黑" panose="020B0503020204020204" pitchFamily="34" charset="-122"/>
              </a:rPr>
              <a:t>的方式有两种，分别是</a:t>
            </a:r>
            <a:r>
              <a:rPr lang="zh-CN" altLang="en-US" sz="1800" dirty="0">
                <a:solidFill>
                  <a:srgbClr val="0070C0"/>
                </a:solidFill>
                <a:latin typeface="微软雅黑" panose="020B0503020204020204" pitchFamily="34" charset="-122"/>
                <a:ea typeface="微软雅黑" panose="020B0503020204020204" pitchFamily="34" charset="-122"/>
              </a:rPr>
              <a:t>通过工具实现和通过代码实现</a:t>
            </a:r>
            <a:r>
              <a:rPr lang="zh-CN" altLang="en-US" sz="1800" dirty="0">
                <a:solidFill>
                  <a:srgbClr val="595959"/>
                </a:solidFill>
                <a:latin typeface="微软雅黑" panose="020B0503020204020204" pitchFamily="34" charset="-122"/>
                <a:ea typeface="微软雅黑" panose="020B0503020204020204" pitchFamily="34" charset="-122"/>
              </a:rPr>
              <a:t>，关于这两种方式的介绍如下。</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4.1</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接口测试简介</a:t>
            </a:r>
          </a:p>
        </p:txBody>
      </p:sp>
      <p:sp>
        <p:nvSpPr>
          <p:cNvPr id="9" name="原创设计师QQ598969553          _4"/>
          <p:cNvSpPr/>
          <p:nvPr/>
        </p:nvSpPr>
        <p:spPr>
          <a:xfrm>
            <a:off x="1211515" y="2230920"/>
            <a:ext cx="9436771" cy="2951898"/>
          </a:xfrm>
          <a:prstGeom prst="rect">
            <a:avLst/>
          </a:prstGeom>
        </p:spPr>
        <p:txBody>
          <a:bodyPr wrap="square">
            <a:spAutoFit/>
          </a:bodyPr>
          <a:lstStyle/>
          <a:p>
            <a:pPr>
              <a:lnSpc>
                <a:spcPct val="150000"/>
              </a:lnSpc>
            </a:pPr>
            <a:r>
              <a:rPr lang="en-US" altLang="zh-CN" sz="1800">
                <a:solidFill>
                  <a:srgbClr val="595959"/>
                </a:solidFill>
                <a:latin typeface="微软雅黑" panose="020B0503020204020204" pitchFamily="34" charset="-122"/>
                <a:ea typeface="微软雅黑" panose="020B0503020204020204" pitchFamily="34" charset="-122"/>
              </a:rPr>
              <a:t>常用的接口测试工具有</a:t>
            </a:r>
            <a:r>
              <a:rPr lang="en-US" altLang="zh-CN" sz="1800">
                <a:solidFill>
                  <a:srgbClr val="0070C0"/>
                </a:solidFill>
                <a:latin typeface="微软雅黑" panose="020B0503020204020204" pitchFamily="34" charset="-122"/>
                <a:ea typeface="微软雅黑" panose="020B0503020204020204" pitchFamily="34" charset="-122"/>
              </a:rPr>
              <a:t> Postman、JMeter </a:t>
            </a:r>
            <a:r>
              <a:rPr lang="en-US" altLang="zh-CN" sz="1800">
                <a:solidFill>
                  <a:srgbClr val="595959"/>
                </a:solidFill>
                <a:latin typeface="微软雅黑" panose="020B0503020204020204" pitchFamily="34" charset="-122"/>
                <a:ea typeface="微软雅黑" panose="020B0503020204020204" pitchFamily="34" charset="-122"/>
              </a:rPr>
              <a:t>等。Postman 是一款</a:t>
            </a:r>
            <a:r>
              <a:rPr lang="en-US" altLang="zh-CN" sz="1800">
                <a:solidFill>
                  <a:srgbClr val="0070C0"/>
                </a:solidFill>
                <a:latin typeface="微软雅黑" panose="020B0503020204020204" pitchFamily="34" charset="-122"/>
                <a:ea typeface="微软雅黑" panose="020B0503020204020204" pitchFamily="34" charset="-122"/>
              </a:rPr>
              <a:t>简单易操作</a:t>
            </a:r>
            <a:r>
              <a:rPr lang="en-US" altLang="zh-CN" sz="1800">
                <a:solidFill>
                  <a:srgbClr val="595959"/>
                </a:solidFill>
                <a:latin typeface="微软雅黑" panose="020B0503020204020204" pitchFamily="34" charset="-122"/>
                <a:ea typeface="微软雅黑" panose="020B0503020204020204" pitchFamily="34" charset="-122"/>
              </a:rPr>
              <a:t>的接口测试工具，有很多强大的功能，例如</a:t>
            </a:r>
            <a:r>
              <a:rPr lang="en-US" altLang="zh-CN" sz="1800">
                <a:solidFill>
                  <a:srgbClr val="0070C0"/>
                </a:solidFill>
                <a:latin typeface="微软雅黑" panose="020B0503020204020204" pitchFamily="34" charset="-122"/>
                <a:ea typeface="微软雅黑" panose="020B0503020204020204" pitchFamily="34" charset="-122"/>
              </a:rPr>
              <a:t>支持批量运行</a:t>
            </a:r>
            <a:r>
              <a:rPr lang="en-US" altLang="zh-CN" sz="1800">
                <a:solidFill>
                  <a:srgbClr val="595959"/>
                </a:solidFill>
                <a:latin typeface="微软雅黑" panose="020B0503020204020204" pitchFamily="34" charset="-122"/>
                <a:ea typeface="微软雅黑" panose="020B0503020204020204" pitchFamily="34" charset="-122"/>
              </a:rPr>
              <a:t>、</a:t>
            </a:r>
            <a:r>
              <a:rPr lang="en-US" altLang="zh-CN" sz="1800">
                <a:solidFill>
                  <a:srgbClr val="0070C0"/>
                </a:solidFill>
                <a:latin typeface="微软雅黑" panose="020B0503020204020204" pitchFamily="34" charset="-122"/>
                <a:ea typeface="微软雅黑" panose="020B0503020204020204" pitchFamily="34" charset="-122"/>
              </a:rPr>
              <a:t>保存历史记录</a:t>
            </a:r>
            <a:r>
              <a:rPr lang="en-US" altLang="zh-CN" sz="1800">
                <a:solidFill>
                  <a:srgbClr val="595959"/>
                </a:solidFill>
                <a:latin typeface="微软雅黑" panose="020B0503020204020204" pitchFamily="34" charset="-122"/>
                <a:ea typeface="微软雅黑" panose="020B0503020204020204" pitchFamily="34" charset="-122"/>
              </a:rPr>
              <a:t>。JMeter 是Apache 基于Java 开发的一款免费开源工具，它支持多个协议，具有丰富的第三方插件，不仅可以进行性能测试，而且可以进行接口测试。</a:t>
            </a:r>
          </a:p>
          <a:p>
            <a:pPr>
              <a:lnSpc>
                <a:spcPct val="150000"/>
              </a:lnSpc>
            </a:pPr>
            <a:endParaRPr lang="en-US" altLang="zh-CN" sz="180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a:solidFill>
                  <a:srgbClr val="595959"/>
                </a:solidFill>
                <a:latin typeface="微软雅黑" panose="020B0503020204020204" pitchFamily="34" charset="-122"/>
                <a:ea typeface="微软雅黑" panose="020B0503020204020204" pitchFamily="34" charset="-122"/>
              </a:rPr>
              <a:t>通常情况下会使用    Postman 工具来实现接口测试，使用该工具实现接口测试可以提高测试效率，并且对于编程能力弱的测试人员， Postman 更容易学习、掌握。</a:t>
            </a:r>
            <a:endParaRPr lang="zh-CN" altLang="zh-CN" sz="180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1211515" y="1677399"/>
            <a:ext cx="2683748" cy="369332"/>
          </a:xfrm>
          <a:prstGeom prst="rect">
            <a:avLst/>
          </a:prstGeom>
        </p:spPr>
        <p:txBody>
          <a:bodyPr wrap="none">
            <a:spAutoFit/>
          </a:bodyPr>
          <a:lstStyle/>
          <a:p>
            <a:r>
              <a:rPr lang="en-US" altLang="zh-CN" sz="1800" b="1">
                <a:solidFill>
                  <a:srgbClr val="595959"/>
                </a:solidFill>
                <a:latin typeface="微软雅黑" panose="020B0503020204020204" pitchFamily="34" charset="-122"/>
                <a:ea typeface="微软雅黑" panose="020B0503020204020204" pitchFamily="34" charset="-122"/>
              </a:rPr>
              <a:t>1.</a:t>
            </a:r>
            <a:r>
              <a:rPr lang="zh-CN" altLang="en-US" sz="1800" b="1">
                <a:solidFill>
                  <a:srgbClr val="595959"/>
                </a:solidFill>
                <a:latin typeface="微软雅黑" panose="020B0503020204020204" pitchFamily="34" charset="-122"/>
                <a:ea typeface="微软雅黑" panose="020B0503020204020204" pitchFamily="34" charset="-122"/>
              </a:rPr>
              <a:t>通过工具实现接口测试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4.1</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接口测试简介</a:t>
            </a:r>
          </a:p>
        </p:txBody>
      </p:sp>
      <p:sp>
        <p:nvSpPr>
          <p:cNvPr id="15" name="原创设计师QQ598969553          _10"/>
          <p:cNvSpPr/>
          <p:nvPr/>
        </p:nvSpPr>
        <p:spPr>
          <a:xfrm>
            <a:off x="1356116" y="1701794"/>
            <a:ext cx="9923089" cy="3000821"/>
          </a:xfrm>
          <a:prstGeom prst="rect">
            <a:avLst/>
          </a:prstGeom>
        </p:spPr>
        <p:txBody>
          <a:bodyPr wrap="square">
            <a:spAutoFit/>
          </a:bodyPr>
          <a:lstStyle/>
          <a:p>
            <a:pPr lvl="0" algn="l">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sym typeface="+mn-lt"/>
              </a:rPr>
              <a:t>测试人员使用</a:t>
            </a:r>
            <a:r>
              <a:rPr lang="zh-CN" altLang="en-US" sz="1800" dirty="0">
                <a:solidFill>
                  <a:srgbClr val="0070C0"/>
                </a:solidFill>
                <a:latin typeface="微软雅黑" panose="020B0503020204020204" pitchFamily="34" charset="-122"/>
                <a:ea typeface="微软雅黑" panose="020B0503020204020204" pitchFamily="34" charset="-122"/>
                <a:sym typeface="+mn-lt"/>
              </a:rPr>
              <a:t>Java</a:t>
            </a:r>
            <a:r>
              <a:rPr lang="zh-CN" altLang="en-US" sz="1800" dirty="0">
                <a:solidFill>
                  <a:srgbClr val="595959"/>
                </a:solidFill>
                <a:latin typeface="微软雅黑" panose="020B0503020204020204" pitchFamily="34" charset="-122"/>
                <a:ea typeface="微软雅黑" panose="020B0503020204020204" pitchFamily="34" charset="-122"/>
                <a:sym typeface="+mn-lt"/>
              </a:rPr>
              <a:t>、</a:t>
            </a:r>
            <a:r>
              <a:rPr lang="zh-CN" altLang="en-US" sz="1800" dirty="0">
                <a:solidFill>
                  <a:srgbClr val="0070C0"/>
                </a:solidFill>
                <a:latin typeface="微软雅黑" panose="020B0503020204020204" pitchFamily="34" charset="-122"/>
                <a:ea typeface="微软雅黑" panose="020B0503020204020204" pitchFamily="34" charset="-122"/>
                <a:sym typeface="+mn-lt"/>
              </a:rPr>
              <a:t>Python</a:t>
            </a:r>
            <a:r>
              <a:rPr lang="zh-CN" altLang="en-US" sz="1800" dirty="0">
                <a:solidFill>
                  <a:srgbClr val="595959"/>
                </a:solidFill>
                <a:latin typeface="微软雅黑" panose="020B0503020204020204" pitchFamily="34" charset="-122"/>
                <a:ea typeface="微软雅黑" panose="020B0503020204020204" pitchFamily="34" charset="-122"/>
                <a:sym typeface="+mn-lt"/>
              </a:rPr>
              <a:t>等语言编写代码也可以实现接口测试，在使用Java语言编写接口测试的代码时，通常需要结合</a:t>
            </a:r>
            <a:r>
              <a:rPr lang="zh-CN" altLang="en-US" sz="1800" dirty="0">
                <a:solidFill>
                  <a:srgbClr val="0070C0"/>
                </a:solidFill>
                <a:latin typeface="微软雅黑" panose="020B0503020204020204" pitchFamily="34" charset="-122"/>
                <a:ea typeface="微软雅黑" panose="020B0503020204020204" pitchFamily="34" charset="-122"/>
                <a:sym typeface="+mn-lt"/>
              </a:rPr>
              <a:t>HttpClient技术</a:t>
            </a:r>
            <a:r>
              <a:rPr lang="zh-CN" altLang="en-US" sz="1800" dirty="0">
                <a:solidFill>
                  <a:srgbClr val="595959"/>
                </a:solidFill>
                <a:latin typeface="微软雅黑" panose="020B0503020204020204" pitchFamily="34" charset="-122"/>
                <a:ea typeface="微软雅黑" panose="020B0503020204020204" pitchFamily="34" charset="-122"/>
                <a:sym typeface="+mn-lt"/>
              </a:rPr>
              <a:t>；在使用Python语言编写接口测试的代码时，通常需要结合</a:t>
            </a:r>
            <a:r>
              <a:rPr lang="zh-CN" altLang="en-US" sz="1800" dirty="0">
                <a:solidFill>
                  <a:srgbClr val="0070C0"/>
                </a:solidFill>
                <a:latin typeface="微软雅黑" panose="020B0503020204020204" pitchFamily="34" charset="-122"/>
                <a:ea typeface="微软雅黑" panose="020B0503020204020204" pitchFamily="34" charset="-122"/>
                <a:sym typeface="+mn-lt"/>
              </a:rPr>
              <a:t>Request</a:t>
            </a:r>
            <a:r>
              <a:rPr lang="zh-CN" altLang="en-US" sz="1800">
                <a:solidFill>
                  <a:srgbClr val="0070C0"/>
                </a:solidFill>
                <a:latin typeface="微软雅黑" panose="020B0503020204020204" pitchFamily="34" charset="-122"/>
                <a:ea typeface="微软雅黑" panose="020B0503020204020204" pitchFamily="34" charset="-122"/>
                <a:sym typeface="+mn-lt"/>
              </a:rPr>
              <a:t>框架</a:t>
            </a:r>
            <a:r>
              <a:rPr lang="zh-CN" altLang="en-US" sz="1800">
                <a:solidFill>
                  <a:srgbClr val="595959"/>
                </a:solidFill>
                <a:latin typeface="微软雅黑" panose="020B0503020204020204" pitchFamily="34" charset="-122"/>
                <a:ea typeface="微软雅黑" panose="020B0503020204020204" pitchFamily="34" charset="-122"/>
                <a:sym typeface="+mn-lt"/>
              </a:rPr>
              <a:t>。</a:t>
            </a:r>
            <a:endParaRPr lang="en-US" altLang="zh-CN" sz="1800">
              <a:solidFill>
                <a:srgbClr val="595959"/>
              </a:solidFill>
              <a:latin typeface="微软雅黑" panose="020B0503020204020204" pitchFamily="34" charset="-122"/>
              <a:ea typeface="微软雅黑" panose="020B0503020204020204" pitchFamily="34" charset="-122"/>
              <a:sym typeface="+mn-lt"/>
            </a:endParaRPr>
          </a:p>
          <a:p>
            <a:pPr lvl="0" algn="l">
              <a:lnSpc>
                <a:spcPct val="150000"/>
              </a:lnSpc>
            </a:pPr>
            <a:endParaRPr lang="en-US" altLang="zh-CN" sz="1800">
              <a:solidFill>
                <a:srgbClr val="595959"/>
              </a:solidFill>
              <a:latin typeface="微软雅黑" panose="020B0503020204020204" pitchFamily="34" charset="-122"/>
              <a:ea typeface="微软雅黑" panose="020B0503020204020204" pitchFamily="34" charset="-122"/>
              <a:sym typeface="+mn-lt"/>
            </a:endParaRPr>
          </a:p>
          <a:p>
            <a:pPr lvl="0" algn="l">
              <a:lnSpc>
                <a:spcPct val="150000"/>
              </a:lnSpc>
            </a:pPr>
            <a:r>
              <a:rPr lang="zh-CN" altLang="en-US" sz="1800">
                <a:solidFill>
                  <a:srgbClr val="595959"/>
                </a:solidFill>
                <a:latin typeface="微软雅黑" panose="020B0503020204020204" pitchFamily="34" charset="-122"/>
                <a:ea typeface="微软雅黑" panose="020B0503020204020204" pitchFamily="34" charset="-122"/>
                <a:sym typeface="+mn-lt"/>
              </a:rPr>
              <a:t>虽然</a:t>
            </a:r>
            <a:r>
              <a:rPr lang="zh-CN" altLang="en-US" sz="1800" dirty="0">
                <a:solidFill>
                  <a:srgbClr val="595959"/>
                </a:solidFill>
                <a:latin typeface="微软雅黑" panose="020B0503020204020204" pitchFamily="34" charset="-122"/>
                <a:ea typeface="微软雅黑" panose="020B0503020204020204" pitchFamily="34" charset="-122"/>
                <a:sym typeface="+mn-lt"/>
              </a:rPr>
              <a:t>通过代码实现接口测试的方式能够让测试人员与开发人员使用相同的技术栈</a:t>
            </a:r>
            <a:r>
              <a:rPr lang="zh-CN" altLang="en-US" sz="1800">
                <a:solidFill>
                  <a:srgbClr val="595959"/>
                </a:solidFill>
                <a:latin typeface="微软雅黑" panose="020B0503020204020204" pitchFamily="34" charset="-122"/>
                <a:ea typeface="微软雅黑" panose="020B0503020204020204" pitchFamily="34" charset="-122"/>
                <a:sym typeface="+mn-lt"/>
              </a:rPr>
              <a:t>，更好地对接</a:t>
            </a:r>
            <a:r>
              <a:rPr lang="zh-CN" altLang="en-US" sz="1800" dirty="0">
                <a:solidFill>
                  <a:srgbClr val="595959"/>
                </a:solidFill>
                <a:latin typeface="微软雅黑" panose="020B0503020204020204" pitchFamily="34" charset="-122"/>
                <a:ea typeface="微软雅黑" panose="020B0503020204020204" pitchFamily="34" charset="-122"/>
                <a:sym typeface="+mn-lt"/>
              </a:rPr>
              <a:t>测试流程，但是这种方式要求测试人员具备一定的编程能力，对于编程能力弱的测试人员而言难度较大。</a:t>
            </a:r>
          </a:p>
        </p:txBody>
      </p:sp>
      <p:sp>
        <p:nvSpPr>
          <p:cNvPr id="10" name="矩形 9"/>
          <p:cNvSpPr/>
          <p:nvPr/>
        </p:nvSpPr>
        <p:spPr>
          <a:xfrm>
            <a:off x="1343206" y="1157898"/>
            <a:ext cx="2701381" cy="369332"/>
          </a:xfrm>
          <a:prstGeom prst="rect">
            <a:avLst/>
          </a:prstGeom>
        </p:spPr>
        <p:txBody>
          <a:bodyPr wrap="none">
            <a:spAutoFit/>
          </a:bodyPr>
          <a:lstStyle/>
          <a:p>
            <a:r>
              <a:rPr lang="en-US" altLang="zh-CN" sz="1800" b="1">
                <a:solidFill>
                  <a:srgbClr val="595959"/>
                </a:solidFill>
                <a:latin typeface="微软雅黑" panose="020B0503020204020204" pitchFamily="34" charset="-122"/>
                <a:ea typeface="微软雅黑" panose="020B0503020204020204" pitchFamily="34" charset="-122"/>
              </a:rPr>
              <a:t>2.</a:t>
            </a:r>
            <a:r>
              <a:rPr lang="zh-CN" altLang="en-US" sz="1800" b="1">
                <a:solidFill>
                  <a:srgbClr val="595959"/>
                </a:solidFill>
                <a:latin typeface="微软雅黑" panose="020B0503020204020204" pitchFamily="34" charset="-122"/>
                <a:ea typeface="微软雅黑" panose="020B0503020204020204" pitchFamily="34" charset="-122"/>
              </a:rPr>
              <a:t>通过代码实现接口测试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343206" y="1557794"/>
            <a:ext cx="9576000" cy="2616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在工作中，测试人员需要按照公司制定的流程</a:t>
            </a:r>
            <a:r>
              <a:rPr lang="zh-CN" altLang="en-US" sz="1800">
                <a:solidFill>
                  <a:srgbClr val="595959"/>
                </a:solidFill>
                <a:latin typeface="微软雅黑" panose="020B0503020204020204" pitchFamily="34" charset="-122"/>
                <a:ea typeface="微软雅黑" panose="020B0503020204020204" pitchFamily="34" charset="-122"/>
              </a:rPr>
              <a:t>开展接口测试。通常</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接口测试的流程</a:t>
            </a:r>
            <a:r>
              <a:rPr lang="zh-CN" altLang="en-US" sz="1800" dirty="0">
                <a:solidFill>
                  <a:srgbClr val="595959"/>
                </a:solidFill>
                <a:latin typeface="微软雅黑" panose="020B0503020204020204" pitchFamily="34" charset="-122"/>
                <a:ea typeface="微软雅黑" panose="020B0503020204020204" pitchFamily="34" charset="-122"/>
              </a:rPr>
              <a:t>包括</a:t>
            </a:r>
            <a:r>
              <a:rPr lang="zh-CN" altLang="en-US" sz="1800" dirty="0">
                <a:solidFill>
                  <a:srgbClr val="0070C0"/>
                </a:solidFill>
                <a:latin typeface="微软雅黑" panose="020B0503020204020204" pitchFamily="34" charset="-122"/>
                <a:ea typeface="微软雅黑" panose="020B0503020204020204" pitchFamily="34" charset="-122"/>
              </a:rPr>
              <a:t>分析接口测试需求</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解析与评审接口文档</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编写接口测试计划</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设计与评审接口测试用例</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搭建接口测试环境</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编写接口测试脚本</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执行接口测试用例</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管理与跟踪接口缺陷</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整理</a:t>
            </a:r>
            <a:r>
              <a:rPr lang="zh-CN" altLang="en-US" sz="1800">
                <a:solidFill>
                  <a:srgbClr val="0070C0"/>
                </a:solidFill>
                <a:latin typeface="微软雅黑" panose="020B0503020204020204" pitchFamily="34" charset="-122"/>
                <a:ea typeface="微软雅黑" panose="020B0503020204020204" pitchFamily="34" charset="-122"/>
              </a:rPr>
              <a:t>测试报告</a:t>
            </a:r>
            <a:r>
              <a:rPr lang="zh-CN" altLang="en-US" sz="1800">
                <a:solidFill>
                  <a:srgbClr val="595959"/>
                </a:solidFill>
                <a:latin typeface="微软雅黑" panose="020B0503020204020204" pitchFamily="34" charset="-122"/>
                <a:ea typeface="微软雅黑" panose="020B0503020204020204" pitchFamily="34" charset="-122"/>
              </a:rPr>
              <a:t>。</a:t>
            </a:r>
            <a:endParaRPr lang="en-US" altLang="zh-CN" sz="180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en-US" altLang="zh-CN" sz="180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rPr>
              <a:t>在</a:t>
            </a:r>
            <a:r>
              <a:rPr lang="zh-CN" altLang="en-US" sz="1800" dirty="0">
                <a:solidFill>
                  <a:srgbClr val="595959"/>
                </a:solidFill>
                <a:latin typeface="微软雅黑" panose="020B0503020204020204" pitchFamily="34" charset="-122"/>
                <a:ea typeface="微软雅黑" panose="020B0503020204020204" pitchFamily="34" charset="-122"/>
              </a:rPr>
              <a:t>时间充裕并且公司条件允许的情况下，有时还会进行接口自动化持续</a:t>
            </a:r>
            <a:r>
              <a:rPr lang="zh-CN" altLang="en-US" sz="1800">
                <a:solidFill>
                  <a:srgbClr val="595959"/>
                </a:solidFill>
                <a:latin typeface="微软雅黑" panose="020B0503020204020204" pitchFamily="34" charset="-122"/>
                <a:ea typeface="微软雅黑" panose="020B0503020204020204" pitchFamily="34" charset="-122"/>
              </a:rPr>
              <a:t>集成测试。</a:t>
            </a:r>
            <a:endParaRPr lang="en-US" altLang="zh-CN" sz="180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4.1</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接口测试简介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415206" y="1341794"/>
            <a:ext cx="9576000" cy="303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rPr>
              <a:t>需要</a:t>
            </a:r>
            <a:r>
              <a:rPr lang="zh-CN" altLang="en-US" sz="1800" dirty="0">
                <a:solidFill>
                  <a:srgbClr val="595959"/>
                </a:solidFill>
                <a:latin typeface="微软雅黑" panose="020B0503020204020204" pitchFamily="34" charset="-122"/>
                <a:ea typeface="微软雅黑" panose="020B0503020204020204" pitchFamily="34" charset="-122"/>
              </a:rPr>
              <a:t>特别说明的是，</a:t>
            </a:r>
            <a:r>
              <a:rPr lang="zh-CN" altLang="en-US" sz="1800" dirty="0">
                <a:solidFill>
                  <a:srgbClr val="0070C0"/>
                </a:solidFill>
                <a:latin typeface="微软雅黑" panose="020B0503020204020204" pitchFamily="34" charset="-122"/>
                <a:ea typeface="微软雅黑" panose="020B0503020204020204" pitchFamily="34" charset="-122"/>
              </a:rPr>
              <a:t>接口文档</a:t>
            </a:r>
            <a:r>
              <a:rPr lang="zh-CN" altLang="en-US" sz="1800" dirty="0">
                <a:solidFill>
                  <a:srgbClr val="595959"/>
                </a:solidFill>
                <a:latin typeface="微软雅黑" panose="020B0503020204020204" pitchFamily="34" charset="-122"/>
                <a:ea typeface="微软雅黑" panose="020B0503020204020204" pitchFamily="34" charset="-122"/>
              </a:rPr>
              <a:t>也称为</a:t>
            </a:r>
            <a:r>
              <a:rPr lang="zh-CN" altLang="en-US" sz="1800" dirty="0">
                <a:solidFill>
                  <a:srgbClr val="0070C0"/>
                </a:solidFill>
                <a:latin typeface="微软雅黑" panose="020B0503020204020204" pitchFamily="34" charset="-122"/>
                <a:ea typeface="微软雅黑" panose="020B0503020204020204" pitchFamily="34" charset="-122"/>
              </a:rPr>
              <a:t>API文档</a:t>
            </a:r>
            <a:r>
              <a:rPr lang="zh-CN" altLang="en-US" sz="1800" dirty="0">
                <a:solidFill>
                  <a:srgbClr val="595959"/>
                </a:solidFill>
                <a:latin typeface="微软雅黑" panose="020B0503020204020204" pitchFamily="34" charset="-122"/>
                <a:ea typeface="微软雅黑" panose="020B0503020204020204" pitchFamily="34" charset="-122"/>
              </a:rPr>
              <a:t>，主要由</a:t>
            </a:r>
            <a:r>
              <a:rPr lang="zh-CN" altLang="en-US" sz="1800" dirty="0">
                <a:solidFill>
                  <a:srgbClr val="0070C0"/>
                </a:solidFill>
                <a:latin typeface="微软雅黑" panose="020B0503020204020204" pitchFamily="34" charset="-122"/>
                <a:ea typeface="微软雅黑" panose="020B0503020204020204" pitchFamily="34" charset="-122"/>
              </a:rPr>
              <a:t>开发人员编写</a:t>
            </a:r>
            <a:r>
              <a:rPr lang="zh-CN" altLang="en-US" sz="1800" dirty="0">
                <a:solidFill>
                  <a:srgbClr val="595959"/>
                </a:solidFill>
                <a:latin typeface="微软雅黑" panose="020B0503020204020204" pitchFamily="34" charset="-122"/>
                <a:ea typeface="微软雅黑" panose="020B0503020204020204" pitchFamily="34" charset="-122"/>
              </a:rPr>
              <a:t>，用来</a:t>
            </a:r>
            <a:r>
              <a:rPr lang="zh-CN" altLang="en-US" sz="1800" dirty="0">
                <a:solidFill>
                  <a:srgbClr val="0070C0"/>
                </a:solidFill>
                <a:latin typeface="微软雅黑" panose="020B0503020204020204" pitchFamily="34" charset="-122"/>
                <a:ea typeface="微软雅黑" panose="020B0503020204020204" pitchFamily="34" charset="-122"/>
              </a:rPr>
              <a:t>描述接口信息</a:t>
            </a:r>
            <a:r>
              <a:rPr lang="zh-CN" altLang="en-US" sz="1800" dirty="0">
                <a:solidFill>
                  <a:srgbClr val="595959"/>
                </a:solidFill>
                <a:latin typeface="微软雅黑" panose="020B0503020204020204" pitchFamily="34" charset="-122"/>
                <a:ea typeface="微软雅黑" panose="020B0503020204020204" pitchFamily="34" charset="-122"/>
              </a:rPr>
              <a:t>。在没有接口文档的情况下，测试人员也可以通过抓包工具或者</a:t>
            </a:r>
            <a:r>
              <a:rPr lang="zh-CN" altLang="en-US" sz="1800">
                <a:solidFill>
                  <a:srgbClr val="595959"/>
                </a:solidFill>
                <a:latin typeface="微软雅黑" panose="020B0503020204020204" pitchFamily="34" charset="-122"/>
                <a:ea typeface="微软雅黑" panose="020B0503020204020204" pitchFamily="34" charset="-122"/>
              </a:rPr>
              <a:t>打开浏览器的开发</a:t>
            </a:r>
            <a:r>
              <a:rPr lang="zh-CN" altLang="en-US" sz="1800" dirty="0">
                <a:solidFill>
                  <a:srgbClr val="595959"/>
                </a:solidFill>
                <a:latin typeface="微软雅黑" panose="020B0503020204020204" pitchFamily="34" charset="-122"/>
                <a:ea typeface="微软雅黑" panose="020B0503020204020204" pitchFamily="34" charset="-122"/>
              </a:rPr>
              <a:t>者工具获取接口的相关</a:t>
            </a:r>
            <a:r>
              <a:rPr lang="zh-CN" altLang="en-US" sz="1800">
                <a:solidFill>
                  <a:srgbClr val="595959"/>
                </a:solidFill>
                <a:latin typeface="微软雅黑" panose="020B0503020204020204" pitchFamily="34" charset="-122"/>
                <a:ea typeface="微软雅黑" panose="020B0503020204020204" pitchFamily="34" charset="-122"/>
              </a:rPr>
              <a:t>信息。</a:t>
            </a:r>
            <a:endParaRPr lang="en-US" altLang="zh-CN" sz="180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en-US" altLang="zh-CN" sz="180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rPr>
              <a:t>测试</a:t>
            </a:r>
            <a:r>
              <a:rPr lang="zh-CN" altLang="en-US" sz="1800" dirty="0">
                <a:solidFill>
                  <a:srgbClr val="595959"/>
                </a:solidFill>
                <a:latin typeface="微软雅黑" panose="020B0503020204020204" pitchFamily="34" charset="-122"/>
                <a:ea typeface="微软雅黑" panose="020B0503020204020204" pitchFamily="34" charset="-122"/>
              </a:rPr>
              <a:t>人员需要根据接口文档的描述设计接口测试用例。通常，</a:t>
            </a:r>
            <a:r>
              <a:rPr lang="zh-CN" altLang="en-US" sz="1800" dirty="0">
                <a:solidFill>
                  <a:srgbClr val="0070C0"/>
                </a:solidFill>
                <a:latin typeface="微软雅黑" panose="020B0503020204020204" pitchFamily="34" charset="-122"/>
                <a:ea typeface="微软雅黑" panose="020B0503020204020204" pitchFamily="34" charset="-122"/>
              </a:rPr>
              <a:t>接口测试用例</a:t>
            </a:r>
            <a:r>
              <a:rPr lang="zh-CN" altLang="en-US" sz="1800" dirty="0">
                <a:solidFill>
                  <a:srgbClr val="595959"/>
                </a:solidFill>
                <a:latin typeface="微软雅黑" panose="020B0503020204020204" pitchFamily="34" charset="-122"/>
                <a:ea typeface="微软雅黑" panose="020B0503020204020204" pitchFamily="34" charset="-122"/>
              </a:rPr>
              <a:t>包括</a:t>
            </a:r>
            <a:r>
              <a:rPr lang="zh-CN" altLang="en-US" sz="1800" dirty="0">
                <a:solidFill>
                  <a:srgbClr val="0070C0"/>
                </a:solidFill>
                <a:latin typeface="微软雅黑" panose="020B0503020204020204" pitchFamily="34" charset="-122"/>
                <a:ea typeface="微软雅黑" panose="020B0503020204020204" pitchFamily="34" charset="-122"/>
              </a:rPr>
              <a:t>用例ID</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用例名称</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接口名称</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前置条件</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请求地址(URL)</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请求方法</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请求头</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请求参数</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预期结果和实际结果</a:t>
            </a:r>
            <a:r>
              <a:rPr lang="zh-CN" altLang="en-US" sz="1800" dirty="0">
                <a:solidFill>
                  <a:srgbClr val="595959"/>
                </a:solidFill>
                <a:latin typeface="微软雅黑" panose="020B0503020204020204" pitchFamily="34" charset="-122"/>
                <a:ea typeface="微软雅黑" panose="020B0503020204020204" pitchFamily="34" charset="-122"/>
              </a:rPr>
              <a:t>等。</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4.1</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接口测试简介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HTTP</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206" y="1845794"/>
            <a:ext cx="6630035" cy="303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统一资源定位符</a:t>
            </a:r>
            <a:r>
              <a:rPr lang="zh-CN" altLang="en-US" sz="1800" dirty="0">
                <a:solidFill>
                  <a:srgbClr val="595959"/>
                </a:solidFill>
                <a:latin typeface="微软雅黑" panose="020B0503020204020204" pitchFamily="34" charset="-122"/>
                <a:ea typeface="微软雅黑" panose="020B0503020204020204" pitchFamily="34" charset="-122"/>
              </a:rPr>
              <a:t>（Uniform Resource Locator，URL）</a:t>
            </a:r>
            <a:r>
              <a:rPr lang="zh-CN" altLang="en-US" sz="1800" dirty="0">
                <a:solidFill>
                  <a:srgbClr val="0070C0"/>
                </a:solidFill>
                <a:latin typeface="微软雅黑" panose="020B0503020204020204" pitchFamily="34" charset="-122"/>
                <a:ea typeface="微软雅黑" panose="020B0503020204020204" pitchFamily="34" charset="-122"/>
              </a:rPr>
              <a:t>也称网页地址</a:t>
            </a:r>
            <a:r>
              <a:rPr lang="zh-CN" altLang="en-US" sz="1800" dirty="0">
                <a:solidFill>
                  <a:srgbClr val="595959"/>
                </a:solidFill>
                <a:latin typeface="微软雅黑" panose="020B0503020204020204" pitchFamily="34" charset="-122"/>
                <a:ea typeface="微软雅黑" panose="020B0503020204020204" pitchFamily="34" charset="-122"/>
              </a:rPr>
              <a:t>，是互联网上</a:t>
            </a:r>
            <a:r>
              <a:rPr lang="zh-CN" altLang="en-US" sz="1800" dirty="0">
                <a:solidFill>
                  <a:srgbClr val="0070C0"/>
                </a:solidFill>
                <a:latin typeface="微软雅黑" panose="020B0503020204020204" pitchFamily="34" charset="-122"/>
                <a:ea typeface="微软雅黑" panose="020B0503020204020204" pitchFamily="34" charset="-122"/>
              </a:rPr>
              <a:t>标准的资源地址</a:t>
            </a:r>
            <a:r>
              <a:rPr lang="zh-CN" altLang="en-US" sz="1800" dirty="0">
                <a:solidFill>
                  <a:srgbClr val="595959"/>
                </a:solidFill>
                <a:latin typeface="微软雅黑" panose="020B0503020204020204" pitchFamily="34" charset="-122"/>
                <a:ea typeface="微软雅黑" panose="020B0503020204020204" pitchFamily="34" charset="-122"/>
              </a:rPr>
              <a:t>，它的</a:t>
            </a:r>
            <a:r>
              <a:rPr lang="zh-CN" altLang="en-US" sz="1800" dirty="0">
                <a:solidFill>
                  <a:srgbClr val="0070C0"/>
                </a:solidFill>
                <a:latin typeface="微软雅黑" panose="020B0503020204020204" pitchFamily="34" charset="-122"/>
                <a:ea typeface="微软雅黑" panose="020B0503020204020204" pitchFamily="34" charset="-122"/>
              </a:rPr>
              <a:t>作用是让客户端查询不同的信息资源时有统一访问</a:t>
            </a:r>
            <a:r>
              <a:rPr lang="zh-CN" altLang="en-US" sz="1800">
                <a:solidFill>
                  <a:srgbClr val="0070C0"/>
                </a:solidFill>
                <a:latin typeface="微软雅黑" panose="020B0503020204020204" pitchFamily="34" charset="-122"/>
                <a:ea typeface="微软雅黑" panose="020B0503020204020204" pitchFamily="34" charset="-122"/>
              </a:rPr>
              <a:t>的方法</a:t>
            </a:r>
            <a:r>
              <a:rPr lang="zh-CN" altLang="en-US" sz="1800">
                <a:solidFill>
                  <a:srgbClr val="595959"/>
                </a:solidFill>
                <a:latin typeface="微软雅黑" panose="020B0503020204020204" pitchFamily="34" charset="-122"/>
                <a:ea typeface="微软雅黑" panose="020B0503020204020204" pitchFamily="34" charset="-122"/>
              </a:rPr>
              <a:t>。</a:t>
            </a:r>
            <a:endParaRPr lang="en-US" altLang="zh-CN" sz="180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en-US" altLang="zh-CN" sz="180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rPr>
              <a:t>例如</a:t>
            </a:r>
            <a:r>
              <a:rPr lang="zh-CN" altLang="en-US" sz="1800" dirty="0">
                <a:solidFill>
                  <a:srgbClr val="595959"/>
                </a:solidFill>
                <a:latin typeface="微软雅黑" panose="020B0503020204020204" pitchFamily="34" charset="-122"/>
                <a:ea typeface="微软雅黑" panose="020B0503020204020204" pitchFamily="34" charset="-122"/>
              </a:rPr>
              <a:t>，用户在使用浏览器访问</a:t>
            </a:r>
            <a:r>
              <a:rPr lang="zh-CN" altLang="en-US" sz="1800">
                <a:solidFill>
                  <a:srgbClr val="595959"/>
                </a:solidFill>
                <a:latin typeface="微软雅黑" panose="020B0503020204020204" pitchFamily="34" charset="-122"/>
                <a:ea typeface="微软雅黑" panose="020B0503020204020204" pitchFamily="34" charset="-122"/>
              </a:rPr>
              <a:t>某个网站时</a:t>
            </a:r>
            <a:r>
              <a:rPr lang="zh-CN" altLang="en-US" sz="1800" dirty="0">
                <a:solidFill>
                  <a:srgbClr val="595959"/>
                </a:solidFill>
                <a:latin typeface="微软雅黑" panose="020B0503020204020204" pitchFamily="34" charset="-122"/>
                <a:ea typeface="微软雅黑" panose="020B0503020204020204" pitchFamily="34" charset="-122"/>
              </a:rPr>
              <a:t>，就需要输入该网站的URL，当服务器成功接收到浏览器发出的请求后，服务器返回的内容会通过浏览器呈现。</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4.2.1</a:t>
            </a:r>
            <a:r>
              <a:rPr sz="2400" b="1">
                <a:solidFill>
                  <a:srgbClr val="595959"/>
                </a:solidFill>
                <a:latin typeface="微软雅黑" panose="020B0503020204020204" pitchFamily="34" charset="-122"/>
                <a:ea typeface="微软雅黑" panose="020B0503020204020204" pitchFamily="34" charset="-122"/>
                <a:cs typeface="+mn-ea"/>
                <a:sym typeface="+mn-lt"/>
              </a:rPr>
              <a:t>	统一资源定位符</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419788" y="912577"/>
            <a:ext cx="6630035"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en-US" altLang="zh-CN" sz="1800">
                <a:solidFill>
                  <a:srgbClr val="595959"/>
                </a:solidFill>
                <a:latin typeface="微软雅黑" panose="020B0503020204020204" pitchFamily="34" charset="-122"/>
                <a:ea typeface="微软雅黑" panose="020B0503020204020204" pitchFamily="34" charset="-122"/>
              </a:rPr>
              <a:t>URL</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0070C0"/>
                </a:solidFill>
                <a:latin typeface="微软雅黑" panose="020B0503020204020204" pitchFamily="34" charset="-122"/>
                <a:ea typeface="微软雅黑" panose="020B0503020204020204" pitchFamily="34" charset="-122"/>
              </a:rPr>
              <a:t>语法</a:t>
            </a:r>
            <a:r>
              <a:rPr lang="zh-CN" altLang="en-US" sz="1800">
                <a:solidFill>
                  <a:srgbClr val="0070C0"/>
                </a:solidFill>
                <a:latin typeface="微软雅黑" panose="020B0503020204020204" pitchFamily="34" charset="-122"/>
                <a:ea typeface="微软雅黑" panose="020B0503020204020204" pitchFamily="34" charset="-122"/>
              </a:rPr>
              <a:t>格式</a:t>
            </a:r>
            <a:r>
              <a:rPr lang="zh-CN" altLang="en-US" sz="1800">
                <a:solidFill>
                  <a:srgbClr val="595959"/>
                </a:solidFill>
                <a:latin typeface="微软雅黑" panose="020B0503020204020204" pitchFamily="34" charset="-122"/>
                <a:ea typeface="微软雅黑" panose="020B0503020204020204" pitchFamily="34" charset="-122"/>
              </a:rPr>
              <a:t>如下。</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4.2.1</a:t>
            </a:r>
            <a:r>
              <a:rPr sz="2400" b="1">
                <a:solidFill>
                  <a:srgbClr val="595959"/>
                </a:solidFill>
                <a:latin typeface="微软雅黑" panose="020B0503020204020204" pitchFamily="34" charset="-122"/>
                <a:ea typeface="微软雅黑" panose="020B0503020204020204" pitchFamily="34" charset="-122"/>
                <a:cs typeface="+mn-ea"/>
                <a:sym typeface="+mn-lt"/>
              </a:rPr>
              <a:t>	统一资源定位符</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7" name="组合 8"/>
          <p:cNvGrpSpPr/>
          <p:nvPr/>
        </p:nvGrpSpPr>
        <p:grpSpPr bwMode="auto">
          <a:xfrm>
            <a:off x="1413603" y="1550002"/>
            <a:ext cx="9072426" cy="630555"/>
            <a:chOff x="920750" y="2283718"/>
            <a:chExt cx="8348851" cy="630774"/>
          </a:xfrm>
        </p:grpSpPr>
        <p:sp>
          <p:nvSpPr>
            <p:cNvPr id="8" name="矩形 7"/>
            <p:cNvSpPr/>
            <p:nvPr/>
          </p:nvSpPr>
          <p:spPr>
            <a:xfrm>
              <a:off x="920750" y="2283718"/>
              <a:ext cx="8348851" cy="6307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矩形 8"/>
            <p:cNvSpPr/>
            <p:nvPr/>
          </p:nvSpPr>
          <p:spPr>
            <a:xfrm>
              <a:off x="1216946" y="2309127"/>
              <a:ext cx="7312911" cy="459067"/>
            </a:xfrm>
            <a:prstGeom prst="rect">
              <a:avLst/>
            </a:prstGeom>
          </p:spPr>
          <p:txBody>
            <a:bodyPr wrap="square">
              <a:spAutoFit/>
            </a:bodyPr>
            <a:lstStyle/>
            <a:p>
              <a:pPr algn="l">
                <a:lnSpc>
                  <a:spcPct val="150000"/>
                </a:lnSpc>
                <a:defRPr/>
              </a:pPr>
              <a:r>
                <a:rPr lang="it-IT" altLang="zh-CN" sz="18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protocol://hostname:port/path?parameters?query&amp;fragment</a:t>
              </a:r>
            </a:p>
          </p:txBody>
        </p:sp>
      </p:grpSp>
      <p:sp>
        <p:nvSpPr>
          <p:cNvPr id="3" name="文本框 2"/>
          <p:cNvSpPr txBox="1"/>
          <p:nvPr/>
        </p:nvSpPr>
        <p:spPr>
          <a:xfrm>
            <a:off x="1343206" y="2156090"/>
            <a:ext cx="9809480" cy="4662815"/>
          </a:xfrm>
          <a:prstGeom prst="rect">
            <a:avLst/>
          </a:prstGeom>
          <a:noFill/>
        </p:spPr>
        <p:txBody>
          <a:bodyPr wrap="square" rtlCol="0" anchor="t">
            <a:spAutoFit/>
          </a:bodyPr>
          <a:lstStyle/>
          <a:p>
            <a:pPr>
              <a:lnSpc>
                <a:spcPct val="150000"/>
              </a:lnSpc>
            </a:pPr>
            <a:r>
              <a:rPr lang="zh-CN" altLang="en-US" sz="1800">
                <a:solidFill>
                  <a:srgbClr val="595959"/>
                </a:solidFill>
                <a:latin typeface="微软雅黑" panose="020B0503020204020204" pitchFamily="34" charset="-122"/>
                <a:ea typeface="微软雅黑" panose="020B0503020204020204" pitchFamily="34" charset="-122"/>
              </a:rPr>
              <a:t>关于</a:t>
            </a:r>
            <a:r>
              <a:rPr lang="en-US" altLang="zh-CN" sz="1800">
                <a:solidFill>
                  <a:srgbClr val="595959"/>
                </a:solidFill>
                <a:latin typeface="微软雅黑" panose="020B0503020204020204" pitchFamily="34" charset="-122"/>
                <a:ea typeface="微软雅黑" panose="020B0503020204020204" pitchFamily="34" charset="-122"/>
              </a:rPr>
              <a:t>URL</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595959"/>
                </a:solidFill>
                <a:latin typeface="微软雅黑" panose="020B0503020204020204" pitchFamily="34" charset="-122"/>
                <a:ea typeface="微软雅黑" panose="020B0503020204020204" pitchFamily="34" charset="-122"/>
              </a:rPr>
              <a:t>语法</a:t>
            </a:r>
            <a:r>
              <a:rPr lang="zh-CN" altLang="en-US" sz="1800">
                <a:solidFill>
                  <a:srgbClr val="595959"/>
                </a:solidFill>
                <a:latin typeface="微软雅黑" panose="020B0503020204020204" pitchFamily="34" charset="-122"/>
                <a:ea typeface="微软雅黑" panose="020B0503020204020204" pitchFamily="34" charset="-122"/>
              </a:rPr>
              <a:t>格式组成部分说明具体如下</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nSpc>
                <a:spcPct val="150000"/>
              </a:lnSpc>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protocol：表示</a:t>
            </a:r>
            <a:r>
              <a:rPr lang="zh-CN" altLang="en-US" sz="1800" dirty="0">
                <a:solidFill>
                  <a:srgbClr val="0070C0"/>
                </a:solidFill>
                <a:latin typeface="微软雅黑" panose="020B0503020204020204" pitchFamily="34" charset="-122"/>
                <a:ea typeface="微软雅黑" panose="020B0503020204020204" pitchFamily="34" charset="-122"/>
              </a:rPr>
              <a:t>因特网服务的数据传输协议</a:t>
            </a:r>
            <a:r>
              <a:rPr lang="zh-CN" altLang="en-US" sz="1800" dirty="0">
                <a:solidFill>
                  <a:srgbClr val="595959"/>
                </a:solidFill>
                <a:latin typeface="微软雅黑" panose="020B0503020204020204" pitchFamily="34" charset="-122"/>
                <a:ea typeface="微软雅黑" panose="020B0503020204020204" pitchFamily="34" charset="-122"/>
              </a:rPr>
              <a:t>，常见的协议有HTTP、HTTPS、FTP等。</a:t>
            </a:r>
          </a:p>
          <a:p>
            <a:pPr marL="285750" indent="-285750" algn="l">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hostname：表示</a:t>
            </a:r>
            <a:r>
              <a:rPr lang="zh-CN" altLang="en-US" sz="1800" dirty="0">
                <a:solidFill>
                  <a:srgbClr val="0070C0"/>
                </a:solidFill>
                <a:latin typeface="微软雅黑" panose="020B0503020204020204" pitchFamily="34" charset="-122"/>
                <a:ea typeface="微软雅黑" panose="020B0503020204020204" pitchFamily="34" charset="-122"/>
              </a:rPr>
              <a:t>主机名</a:t>
            </a:r>
            <a:r>
              <a:rPr lang="zh-CN" altLang="en-US" sz="1800" dirty="0">
                <a:solidFill>
                  <a:srgbClr val="595959"/>
                </a:solidFill>
                <a:latin typeface="微软雅黑" panose="020B0503020204020204" pitchFamily="34" charset="-122"/>
                <a:ea typeface="微软雅黑" panose="020B0503020204020204" pitchFamily="34" charset="-122"/>
              </a:rPr>
              <a:t>，是存放资源的服务器主机名或IP地址，有时候在主机名前面</a:t>
            </a:r>
            <a:r>
              <a:rPr lang="zh-CN" altLang="en-US" sz="1800">
                <a:solidFill>
                  <a:srgbClr val="595959"/>
                </a:solidFill>
                <a:latin typeface="微软雅黑" panose="020B0503020204020204" pitchFamily="34" charset="-122"/>
                <a:ea typeface="微软雅黑" panose="020B0503020204020204" pitchFamily="34" charset="-122"/>
              </a:rPr>
              <a:t>也可以设置连接</a:t>
            </a:r>
            <a:r>
              <a:rPr lang="zh-CN" altLang="en-US" sz="1800" dirty="0">
                <a:solidFill>
                  <a:srgbClr val="595959"/>
                </a:solidFill>
                <a:latin typeface="微软雅黑" panose="020B0503020204020204" pitchFamily="34" charset="-122"/>
                <a:ea typeface="微软雅黑" panose="020B0503020204020204" pitchFamily="34" charset="-122"/>
              </a:rPr>
              <a:t>到服务器所需的用户名和</a:t>
            </a:r>
            <a:r>
              <a:rPr lang="zh-CN" altLang="en-US" sz="1800">
                <a:solidFill>
                  <a:srgbClr val="595959"/>
                </a:solidFill>
                <a:latin typeface="微软雅黑" panose="020B0503020204020204" pitchFamily="34" charset="-122"/>
                <a:ea typeface="微软雅黑" panose="020B0503020204020204" pitchFamily="34" charset="-122"/>
              </a:rPr>
              <a:t>密码，例如</a:t>
            </a:r>
            <a:r>
              <a:rPr lang="zh-CN" altLang="en-US" sz="1800" dirty="0">
                <a:solidFill>
                  <a:srgbClr val="595959"/>
                </a:solidFill>
                <a:latin typeface="微软雅黑" panose="020B0503020204020204" pitchFamily="34" charset="-122"/>
                <a:ea typeface="微软雅黑" panose="020B0503020204020204" pitchFamily="34" charset="-122"/>
              </a:rPr>
              <a:t>username:password@hostname。</a:t>
            </a:r>
          </a:p>
          <a:p>
            <a:pPr marL="285750" indent="-285750" algn="l">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port：表示</a:t>
            </a:r>
            <a:r>
              <a:rPr lang="zh-CN" altLang="en-US" sz="1800" dirty="0">
                <a:solidFill>
                  <a:srgbClr val="0070C0"/>
                </a:solidFill>
                <a:latin typeface="微软雅黑" panose="020B0503020204020204" pitchFamily="34" charset="-122"/>
                <a:ea typeface="微软雅黑" panose="020B0503020204020204" pitchFamily="34" charset="-122"/>
              </a:rPr>
              <a:t>端口号</a:t>
            </a:r>
            <a:r>
              <a:rPr lang="zh-CN" altLang="en-US" sz="1800" dirty="0">
                <a:solidFill>
                  <a:srgbClr val="595959"/>
                </a:solidFill>
                <a:latin typeface="微软雅黑" panose="020B0503020204020204" pitchFamily="34" charset="-122"/>
                <a:ea typeface="微软雅黑" panose="020B0503020204020204" pitchFamily="34" charset="-122"/>
              </a:rPr>
              <a:t>，通常可以省略，每一种传输协议都有默认的端口号，例如</a:t>
            </a:r>
            <a:r>
              <a:rPr lang="zh-CN" altLang="en-US" sz="1800">
                <a:solidFill>
                  <a:srgbClr val="595959"/>
                </a:solidFill>
                <a:latin typeface="微软雅黑" panose="020B0503020204020204" pitchFamily="34" charset="-122"/>
                <a:ea typeface="微软雅黑" panose="020B0503020204020204" pitchFamily="34" charset="-122"/>
              </a:rPr>
              <a:t>，HTTP的</a:t>
            </a:r>
            <a:r>
              <a:rPr lang="zh-CN" altLang="en-US" sz="1800" dirty="0">
                <a:solidFill>
                  <a:srgbClr val="595959"/>
                </a:solidFill>
                <a:latin typeface="微软雅黑" panose="020B0503020204020204" pitchFamily="34" charset="-122"/>
                <a:ea typeface="微软雅黑" panose="020B0503020204020204" pitchFamily="34" charset="-122"/>
              </a:rPr>
              <a:t>默认端口是80</a:t>
            </a:r>
            <a:r>
              <a:rPr lang="zh-CN" altLang="en-US" sz="1800">
                <a:solidFill>
                  <a:srgbClr val="595959"/>
                </a:solidFill>
                <a:latin typeface="微软雅黑" panose="020B0503020204020204" pitchFamily="34" charset="-122"/>
                <a:ea typeface="微软雅黑" panose="020B0503020204020204" pitchFamily="34" charset="-122"/>
              </a:rPr>
              <a:t>，HTTPS的</a:t>
            </a:r>
            <a:r>
              <a:rPr lang="zh-CN" altLang="en-US" sz="1800" dirty="0">
                <a:solidFill>
                  <a:srgbClr val="595959"/>
                </a:solidFill>
                <a:latin typeface="微软雅黑" panose="020B0503020204020204" pitchFamily="34" charset="-122"/>
                <a:ea typeface="微软雅黑" panose="020B0503020204020204" pitchFamily="34" charset="-122"/>
              </a:rPr>
              <a:t>默认端口是443</a:t>
            </a:r>
            <a:r>
              <a:rPr lang="zh-CN" altLang="en-US" sz="1800">
                <a:solidFill>
                  <a:srgbClr val="595959"/>
                </a:solidFill>
                <a:latin typeface="微软雅黑" panose="020B0503020204020204" pitchFamily="34" charset="-122"/>
                <a:ea typeface="微软雅黑" panose="020B0503020204020204" pitchFamily="34" charset="-122"/>
              </a:rPr>
              <a:t>，FTP的</a:t>
            </a:r>
            <a:r>
              <a:rPr lang="zh-CN" altLang="en-US" sz="1800" dirty="0">
                <a:solidFill>
                  <a:srgbClr val="595959"/>
                </a:solidFill>
                <a:latin typeface="微软雅黑" panose="020B0503020204020204" pitchFamily="34" charset="-122"/>
                <a:ea typeface="微软雅黑" panose="020B0503020204020204" pitchFamily="34" charset="-122"/>
              </a:rPr>
              <a:t>默认端口是21。</a:t>
            </a:r>
          </a:p>
          <a:p>
            <a:pPr marL="285750" indent="-285750" algn="l">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path：表示</a:t>
            </a:r>
            <a:r>
              <a:rPr lang="zh-CN" altLang="en-US" sz="1800" dirty="0">
                <a:solidFill>
                  <a:srgbClr val="0070C0"/>
                </a:solidFill>
                <a:latin typeface="微软雅黑" panose="020B0503020204020204" pitchFamily="34" charset="-122"/>
                <a:ea typeface="微软雅黑" panose="020B0503020204020204" pitchFamily="34" charset="-122"/>
              </a:rPr>
              <a:t>资源路径</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使用“/”分隔</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l">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parameters：表示</a:t>
            </a:r>
            <a:r>
              <a:rPr lang="zh-CN" altLang="en-US" sz="1800" dirty="0">
                <a:solidFill>
                  <a:srgbClr val="0070C0"/>
                </a:solidFill>
                <a:latin typeface="微软雅黑" panose="020B0503020204020204" pitchFamily="34" charset="-122"/>
                <a:ea typeface="微软雅黑" panose="020B0503020204020204" pitchFamily="34" charset="-122"/>
              </a:rPr>
              <a:t>参数</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用于指定查询参数</a:t>
            </a:r>
            <a:r>
              <a:rPr lang="zh-CN" altLang="en-US" sz="1800" dirty="0">
                <a:solidFill>
                  <a:srgbClr val="595959"/>
                </a:solidFill>
                <a:latin typeface="微软雅黑" panose="020B0503020204020204" pitchFamily="34" charset="-122"/>
                <a:ea typeface="微软雅黑" panose="020B0503020204020204" pitchFamily="34" charset="-122"/>
              </a:rPr>
              <a:t>，使用“?”与资源路径分隔，多个参数之间使用“&amp;”分隔。</a:t>
            </a:r>
          </a:p>
          <a:p>
            <a:pPr marL="285750" indent="-285750" algn="l">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query：表示</a:t>
            </a:r>
            <a:r>
              <a:rPr lang="zh-CN" altLang="en-US" sz="1800" dirty="0">
                <a:solidFill>
                  <a:srgbClr val="0070C0"/>
                </a:solidFill>
                <a:latin typeface="微软雅黑" panose="020B0503020204020204" pitchFamily="34" charset="-122"/>
                <a:ea typeface="微软雅黑" panose="020B0503020204020204" pitchFamily="34" charset="-122"/>
              </a:rPr>
              <a:t>查询</a:t>
            </a:r>
            <a:r>
              <a:rPr lang="zh-CN" altLang="en-US" sz="1800" dirty="0">
                <a:solidFill>
                  <a:srgbClr val="595959"/>
                </a:solidFill>
                <a:latin typeface="微软雅黑" panose="020B0503020204020204" pitchFamily="34" charset="-122"/>
                <a:ea typeface="微软雅黑" panose="020B0503020204020204" pitchFamily="34" charset="-122"/>
              </a:rPr>
              <a:t>，用于</a:t>
            </a:r>
            <a:r>
              <a:rPr lang="zh-CN" altLang="en-US" sz="1800" dirty="0">
                <a:solidFill>
                  <a:srgbClr val="0070C0"/>
                </a:solidFill>
                <a:latin typeface="微软雅黑" panose="020B0503020204020204" pitchFamily="34" charset="-122"/>
                <a:ea typeface="微软雅黑" panose="020B0503020204020204" pitchFamily="34" charset="-122"/>
              </a:rPr>
              <a:t>给动态网页传递参数</a:t>
            </a:r>
            <a:r>
              <a:rPr lang="zh-CN" altLang="en-US" sz="1800" dirty="0">
                <a:solidFill>
                  <a:srgbClr val="595959"/>
                </a:solidFill>
                <a:latin typeface="微软雅黑" panose="020B0503020204020204" pitchFamily="34" charset="-122"/>
                <a:ea typeface="微软雅黑" panose="020B0503020204020204" pitchFamily="34" charset="-122"/>
              </a:rPr>
              <a:t>，参数名和参数值之间使用“=”分隔。</a:t>
            </a:r>
          </a:p>
          <a:p>
            <a:pPr marL="285750" indent="-285750" algn="l">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fragment：表示</a:t>
            </a:r>
            <a:r>
              <a:rPr lang="zh-CN" altLang="en-US" sz="1800" dirty="0">
                <a:solidFill>
                  <a:srgbClr val="0070C0"/>
                </a:solidFill>
                <a:latin typeface="微软雅黑" panose="020B0503020204020204" pitchFamily="34" charset="-122"/>
                <a:ea typeface="微软雅黑" panose="020B0503020204020204" pitchFamily="34" charset="-122"/>
              </a:rPr>
              <a:t>信息片断</a:t>
            </a:r>
            <a:r>
              <a:rPr lang="zh-CN" altLang="en-US" sz="1800" dirty="0">
                <a:solidFill>
                  <a:srgbClr val="595959"/>
                </a:solidFill>
                <a:latin typeface="微软雅黑" panose="020B0503020204020204" pitchFamily="34" charset="-122"/>
                <a:ea typeface="微软雅黑" panose="020B0503020204020204" pitchFamily="34" charset="-122"/>
              </a:rPr>
              <a:t>，用于</a:t>
            </a:r>
            <a:r>
              <a:rPr lang="zh-CN" altLang="en-US" sz="1800" dirty="0">
                <a:solidFill>
                  <a:srgbClr val="0070C0"/>
                </a:solidFill>
                <a:latin typeface="微软雅黑" panose="020B0503020204020204" pitchFamily="34" charset="-122"/>
                <a:ea typeface="微软雅黑" panose="020B0503020204020204" pitchFamily="34" charset="-122"/>
              </a:rPr>
              <a:t>指定资源中的片断</a:t>
            </a:r>
            <a:r>
              <a:rPr lang="zh-CN" altLang="en-US" sz="18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67402" y="1557794"/>
            <a:ext cx="10183804" cy="2200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1800">
                <a:solidFill>
                  <a:srgbClr val="595959"/>
                </a:solidFill>
                <a:latin typeface="微软雅黑" panose="020B0503020204020204" pitchFamily="34" charset="-122"/>
                <a:ea typeface="微软雅黑" panose="020B0503020204020204" pitchFamily="34" charset="-122"/>
              </a:rPr>
              <a:t>为了让读者更加熟悉 URL，下面通过一个例子说明</a:t>
            </a:r>
            <a:r>
              <a:rPr lang="en-US" altLang="zh-CN" sz="1800">
                <a:solidFill>
                  <a:srgbClr val="0070C0"/>
                </a:solidFill>
                <a:latin typeface="微软雅黑" panose="020B0503020204020204" pitchFamily="34" charset="-122"/>
                <a:ea typeface="微软雅黑" panose="020B0503020204020204" pitchFamily="34" charset="-122"/>
              </a:rPr>
              <a:t>URL的组成</a:t>
            </a:r>
            <a:r>
              <a:rPr lang="en-US" altLang="zh-CN" sz="1800">
                <a:solidFill>
                  <a:srgbClr val="595959"/>
                </a:solidFill>
                <a:latin typeface="微软雅黑" panose="020B0503020204020204" pitchFamily="34" charset="-122"/>
                <a:ea typeface="微软雅黑" panose="020B0503020204020204" pitchFamily="34" charset="-122"/>
              </a:rPr>
              <a:t>。</a:t>
            </a:r>
          </a:p>
          <a:p>
            <a:pPr algn="just">
              <a:lnSpc>
                <a:spcPct val="150000"/>
              </a:lnSpc>
            </a:pPr>
            <a:endParaRPr lang="en-US" altLang="zh-CN" sz="180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en-US" altLang="zh-CN" sz="1800">
                <a:solidFill>
                  <a:srgbClr val="595959"/>
                </a:solidFill>
                <a:latin typeface="微软雅黑" panose="020B0503020204020204" pitchFamily="34" charset="-122"/>
                <a:ea typeface="微软雅黑" panose="020B0503020204020204" pitchFamily="34" charset="-122"/>
              </a:rPr>
              <a:t>例如，http://www.example.com:80/index. html?id=001&amp;page=1，该URL 的协议为 HTTP，主机名或IP地址为www.example.com，端口号为80，资源路径为/index.html，查询参数id=001&amp;page=1。</a:t>
            </a:r>
            <a:endParaRPr lang="zh-CN" altLang="zh-CN" sz="180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4.2.1</a:t>
            </a:r>
            <a:r>
              <a:rPr sz="2400" b="1">
                <a:solidFill>
                  <a:srgbClr val="595959"/>
                </a:solidFill>
                <a:latin typeface="微软雅黑" panose="020B0503020204020204" pitchFamily="34" charset="-122"/>
                <a:ea typeface="微软雅黑" panose="020B0503020204020204" pitchFamily="34" charset="-122"/>
                <a:cs typeface="+mn-ea"/>
                <a:sym typeface="+mn-lt"/>
              </a:rPr>
              <a:t>	统一资源定位符</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HTTP请求</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的格式</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归纳</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HTTP请求的3个组成部分</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4.2.2	HTTP请求</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799330" y="1341755"/>
            <a:ext cx="6630035" cy="136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HTTP请求是指客户端向服务器发送的请求消息。HTTP请求主要由</a:t>
            </a:r>
            <a:r>
              <a:rPr lang="zh-CN" altLang="en-US" sz="1800" dirty="0">
                <a:solidFill>
                  <a:srgbClr val="0070C0"/>
                </a:solidFill>
                <a:latin typeface="微软雅黑" panose="020B0503020204020204" pitchFamily="34" charset="-122"/>
                <a:ea typeface="微软雅黑" panose="020B0503020204020204" pitchFamily="34" charset="-122"/>
              </a:rPr>
              <a:t>请求行、请求头和请求体</a:t>
            </a:r>
            <a:r>
              <a:rPr lang="zh-CN" altLang="en-US" sz="1800" dirty="0">
                <a:solidFill>
                  <a:srgbClr val="595959"/>
                </a:solidFill>
                <a:latin typeface="微软雅黑" panose="020B0503020204020204" pitchFamily="34" charset="-122"/>
                <a:ea typeface="微软雅黑" panose="020B0503020204020204" pitchFamily="34" charset="-122"/>
              </a:rPr>
              <a:t>组成，</a:t>
            </a:r>
            <a:r>
              <a:rPr lang="zh-CN" altLang="en-US" sz="1800" dirty="0">
                <a:solidFill>
                  <a:srgbClr val="0070C0"/>
                </a:solidFill>
                <a:latin typeface="微软雅黑" panose="020B0503020204020204" pitchFamily="34" charset="-122"/>
                <a:ea typeface="微软雅黑" panose="020B0503020204020204" pitchFamily="34" charset="-122"/>
              </a:rPr>
              <a:t>HTTP请求的格式</a:t>
            </a:r>
            <a:r>
              <a:rPr lang="zh-CN" altLang="en-US" sz="1800" dirty="0">
                <a:solidFill>
                  <a:srgbClr val="595959"/>
                </a:solidFill>
                <a:latin typeface="微软雅黑" panose="020B0503020204020204" pitchFamily="34" charset="-122"/>
                <a:ea typeface="微软雅黑" panose="020B0503020204020204" pitchFamily="34" charset="-122"/>
              </a:rPr>
              <a:t>如下图所示。</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4.2.2	HTTP请求</a:t>
            </a:r>
          </a:p>
        </p:txBody>
      </p:sp>
      <p:pic>
        <p:nvPicPr>
          <p:cNvPr id="3" name="图片 2" descr="111"/>
          <p:cNvPicPr>
            <a:picLocks noChangeAspect="1"/>
          </p:cNvPicPr>
          <p:nvPr/>
        </p:nvPicPr>
        <p:blipFill>
          <a:blip r:embed="rId4"/>
          <a:stretch>
            <a:fillRect/>
          </a:stretch>
        </p:blipFill>
        <p:spPr>
          <a:xfrm>
            <a:off x="4871085" y="2853690"/>
            <a:ext cx="6444609" cy="216010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43691" y="909794"/>
            <a:ext cx="9681845" cy="1369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b="1">
                <a:solidFill>
                  <a:srgbClr val="595959"/>
                </a:solidFill>
                <a:latin typeface="微软雅黑" panose="020B0503020204020204" pitchFamily="34" charset="-122"/>
                <a:ea typeface="微软雅黑" panose="020B0503020204020204" pitchFamily="34" charset="-122"/>
              </a:rPr>
              <a:t>1</a:t>
            </a:r>
            <a:r>
              <a:rPr lang="zh-CN" altLang="en-US" sz="1800" b="1" dirty="0">
                <a:solidFill>
                  <a:srgbClr val="595959"/>
                </a:solidFill>
                <a:latin typeface="微软雅黑" panose="020B0503020204020204" pitchFamily="34" charset="-122"/>
                <a:ea typeface="微软雅黑" panose="020B0503020204020204" pitchFamily="34" charset="-122"/>
              </a:rPr>
              <a:t>.</a:t>
            </a:r>
            <a:r>
              <a:rPr lang="en-US" altLang="zh-CN" sz="1800" b="1" dirty="0">
                <a:solidFill>
                  <a:srgbClr val="595959"/>
                </a:solidFill>
                <a:latin typeface="微软雅黑" panose="020B0503020204020204" pitchFamily="34" charset="-122"/>
                <a:ea typeface="微软雅黑" panose="020B0503020204020204" pitchFamily="34" charset="-122"/>
              </a:rPr>
              <a:t> </a:t>
            </a:r>
            <a:r>
              <a:rPr lang="zh-CN" altLang="en-US" sz="1800" b="1" dirty="0">
                <a:solidFill>
                  <a:srgbClr val="595959"/>
                </a:solidFill>
                <a:latin typeface="微软雅黑" panose="020B0503020204020204" pitchFamily="34" charset="-122"/>
                <a:ea typeface="微软雅黑" panose="020B0503020204020204" pitchFamily="34" charset="-122"/>
              </a:rPr>
              <a:t>请求行</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请求行用于指定客户端向服务器发送的</a:t>
            </a:r>
            <a:r>
              <a:rPr lang="zh-CN" altLang="en-US" sz="1800" dirty="0">
                <a:solidFill>
                  <a:srgbClr val="0070C0"/>
                </a:solidFill>
                <a:latin typeface="微软雅黑" panose="020B0503020204020204" pitchFamily="34" charset="-122"/>
                <a:ea typeface="微软雅黑" panose="020B0503020204020204" pitchFamily="34" charset="-122"/>
              </a:rPr>
              <a:t>请求方法</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请求地址（URL）</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dirty="0">
                <a:solidFill>
                  <a:srgbClr val="0070C0"/>
                </a:solidFill>
                <a:latin typeface="微软雅黑" panose="020B0503020204020204" pitchFamily="34" charset="-122"/>
                <a:ea typeface="微软雅黑" panose="020B0503020204020204" pitchFamily="34" charset="-122"/>
              </a:rPr>
              <a:t>协议版本</a:t>
            </a:r>
            <a:r>
              <a:rPr lang="zh-CN" altLang="en-US" sz="1800" dirty="0">
                <a:solidFill>
                  <a:srgbClr val="595959"/>
                </a:solidFill>
                <a:latin typeface="微软雅黑" panose="020B0503020204020204" pitchFamily="34" charset="-122"/>
                <a:ea typeface="微软雅黑" panose="020B0503020204020204" pitchFamily="34" charset="-122"/>
              </a:rPr>
              <a:t>，位于HTTP请求中的第1行。在接口测试中，</a:t>
            </a:r>
            <a:r>
              <a:rPr lang="zh-CN" altLang="en-US" sz="1800" dirty="0">
                <a:solidFill>
                  <a:srgbClr val="0070C0"/>
                </a:solidFill>
                <a:latin typeface="微软雅黑" panose="020B0503020204020204" pitchFamily="34" charset="-122"/>
                <a:ea typeface="微软雅黑" panose="020B0503020204020204" pitchFamily="34" charset="-122"/>
              </a:rPr>
              <a:t>常用的请求方法和说明</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4.2.2	HTTP请求</a:t>
            </a:r>
          </a:p>
        </p:txBody>
      </p:sp>
      <p:graphicFrame>
        <p:nvGraphicFramePr>
          <p:cNvPr id="4" name="表格 3"/>
          <p:cNvGraphicFramePr/>
          <p:nvPr>
            <p:custDataLst>
              <p:tags r:id="rId1"/>
            </p:custDataLst>
          </p:nvPr>
        </p:nvGraphicFramePr>
        <p:xfrm>
          <a:off x="2024613" y="2709794"/>
          <a:ext cx="7920000" cy="2735714"/>
        </p:xfrm>
        <a:graphic>
          <a:graphicData uri="http://schemas.openxmlformats.org/drawingml/2006/table">
            <a:tbl>
              <a:tblPr firstRow="1" bandRow="1">
                <a:tableStyleId>{5C22544A-7EE6-4342-B048-85BDC9FD1C3A}</a:tableStyleId>
              </a:tblPr>
              <a:tblGrid>
                <a:gridCol w="3816000">
                  <a:extLst>
                    <a:ext uri="{9D8B030D-6E8A-4147-A177-3AD203B41FA5}">
                      <a16:colId xmlns:a16="http://schemas.microsoft.com/office/drawing/2014/main" val="20000"/>
                    </a:ext>
                  </a:extLst>
                </a:gridCol>
                <a:gridCol w="4104000">
                  <a:extLst>
                    <a:ext uri="{9D8B030D-6E8A-4147-A177-3AD203B41FA5}">
                      <a16:colId xmlns:a16="http://schemas.microsoft.com/office/drawing/2014/main" val="20001"/>
                    </a:ext>
                  </a:extLst>
                </a:gridCol>
              </a:tblGrid>
              <a:tr h="537559">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请求方法</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57336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GET</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用于请求服务器获取指定的资源</a:t>
                      </a:r>
                    </a:p>
                  </a:txBody>
                  <a:tcPr anchor="ctr"/>
                </a:tc>
                <a:extLst>
                  <a:ext uri="{0D108BD9-81ED-4DB2-BD59-A6C34878D82A}">
                    <a16:rowId xmlns:a16="http://schemas.microsoft.com/office/drawing/2014/main" val="10001"/>
                  </a:ext>
                </a:extLst>
              </a:tr>
              <a:tr h="533704">
                <a:tc>
                  <a:txBody>
                    <a:bodyPr/>
                    <a:lstStyle/>
                    <a:p>
                      <a:pPr algn="ctr">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POST</a:t>
                      </a:r>
                    </a:p>
                  </a:txBody>
                  <a:tcPr anchor="ctr"/>
                </a:tc>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cs"/>
                        </a:rPr>
                        <a:t>用于请求服务器提交指定的资源</a:t>
                      </a:r>
                    </a:p>
                  </a:txBody>
                  <a:tcPr anchor="ctr"/>
                </a:tc>
                <a:extLst>
                  <a:ext uri="{0D108BD9-81ED-4DB2-BD59-A6C34878D82A}">
                    <a16:rowId xmlns:a16="http://schemas.microsoft.com/office/drawing/2014/main" val="10002"/>
                  </a:ext>
                </a:extLst>
              </a:tr>
              <a:tr h="541415">
                <a:tc>
                  <a:txBody>
                    <a:bodyPr/>
                    <a:lstStyle/>
                    <a:p>
                      <a:pPr algn="ctr">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PUT</a:t>
                      </a:r>
                    </a:p>
                  </a:txBody>
                  <a:tcPr anchor="ctr"/>
                </a:tc>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cs"/>
                        </a:rPr>
                        <a:t>用于请求服务器更新指定的资源</a:t>
                      </a:r>
                    </a:p>
                  </a:txBody>
                  <a:tcPr anchor="ctr"/>
                </a:tc>
                <a:extLst>
                  <a:ext uri="{0D108BD9-81ED-4DB2-BD59-A6C34878D82A}">
                    <a16:rowId xmlns:a16="http://schemas.microsoft.com/office/drawing/2014/main" val="10003"/>
                  </a:ext>
                </a:extLst>
              </a:tr>
              <a:tr h="549676">
                <a:tc>
                  <a:txBody>
                    <a:bodyPr/>
                    <a:lstStyle/>
                    <a:p>
                      <a:pPr algn="ctr">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DELETE</a:t>
                      </a:r>
                    </a:p>
                  </a:txBody>
                  <a:tcPr anchor="ctr"/>
                </a:tc>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cs"/>
                        </a:rPr>
                        <a:t>用于请求服务器删除指定的资源</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43635" y="837565"/>
            <a:ext cx="9681845" cy="136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1800" b="1" dirty="0">
                <a:solidFill>
                  <a:srgbClr val="595959"/>
                </a:solidFill>
                <a:latin typeface="微软雅黑" panose="020B0503020204020204" pitchFamily="34" charset="-122"/>
                <a:ea typeface="微软雅黑" panose="020B0503020204020204" pitchFamily="34" charset="-122"/>
              </a:rPr>
              <a:t>2.</a:t>
            </a:r>
            <a:r>
              <a:rPr lang="en-US" altLang="zh-CN" sz="1800" b="1" dirty="0">
                <a:solidFill>
                  <a:srgbClr val="595959"/>
                </a:solidFill>
                <a:latin typeface="微软雅黑" panose="020B0503020204020204" pitchFamily="34" charset="-122"/>
                <a:ea typeface="微软雅黑" panose="020B0503020204020204" pitchFamily="34" charset="-122"/>
              </a:rPr>
              <a:t> </a:t>
            </a:r>
            <a:r>
              <a:rPr lang="zh-CN" altLang="en-US" sz="1800" b="1" dirty="0">
                <a:solidFill>
                  <a:srgbClr val="595959"/>
                </a:solidFill>
                <a:latin typeface="微软雅黑" panose="020B0503020204020204" pitchFamily="34" charset="-122"/>
                <a:ea typeface="微软雅黑" panose="020B0503020204020204" pitchFamily="34" charset="-122"/>
              </a:rPr>
              <a:t>请求头</a:t>
            </a:r>
          </a:p>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请求头</a:t>
            </a:r>
            <a:r>
              <a:rPr lang="zh-CN" altLang="en-US" sz="1800" dirty="0">
                <a:solidFill>
                  <a:srgbClr val="595959"/>
                </a:solidFill>
                <a:latin typeface="微软雅黑" panose="020B0503020204020204" pitchFamily="34" charset="-122"/>
                <a:ea typeface="微软雅黑" panose="020B0503020204020204" pitchFamily="34" charset="-122"/>
              </a:rPr>
              <a:t>是</a:t>
            </a:r>
            <a:r>
              <a:rPr lang="zh-CN" altLang="en-US" sz="1800" dirty="0">
                <a:solidFill>
                  <a:srgbClr val="0070C0"/>
                </a:solidFill>
                <a:latin typeface="微软雅黑" panose="020B0503020204020204" pitchFamily="34" charset="-122"/>
                <a:ea typeface="微软雅黑" panose="020B0503020204020204" pitchFamily="34" charset="-122"/>
              </a:rPr>
              <a:t>客户端向服务器发送的附加信息</a:t>
            </a:r>
            <a:r>
              <a:rPr lang="zh-CN" altLang="en-US" sz="1800" dirty="0">
                <a:solidFill>
                  <a:srgbClr val="595959"/>
                </a:solidFill>
                <a:latin typeface="微软雅黑" panose="020B0503020204020204" pitchFamily="34" charset="-122"/>
                <a:ea typeface="微软雅黑" panose="020B0503020204020204" pitchFamily="34" charset="-122"/>
              </a:rPr>
              <a:t>，用于通知服务器关于客户端请求的信息。请求头由</a:t>
            </a:r>
            <a:r>
              <a:rPr lang="zh-CN" altLang="en-US" sz="1800" dirty="0">
                <a:solidFill>
                  <a:srgbClr val="0070C0"/>
                </a:solidFill>
                <a:latin typeface="微软雅黑" panose="020B0503020204020204" pitchFamily="34" charset="-122"/>
                <a:ea typeface="微软雅黑" panose="020B0503020204020204" pitchFamily="34" charset="-122"/>
              </a:rPr>
              <a:t>键值对组成</a:t>
            </a:r>
            <a:r>
              <a:rPr lang="zh-CN" altLang="en-US" sz="1800" dirty="0">
                <a:solidFill>
                  <a:srgbClr val="595959"/>
                </a:solidFill>
                <a:latin typeface="微软雅黑" panose="020B0503020204020204" pitchFamily="34" charset="-122"/>
                <a:ea typeface="微软雅黑" panose="020B0503020204020204" pitchFamily="34" charset="-122"/>
              </a:rPr>
              <a:t>，即</a:t>
            </a:r>
            <a:r>
              <a:rPr lang="zh-CN" altLang="en-US" sz="1800" dirty="0">
                <a:solidFill>
                  <a:srgbClr val="0070C0"/>
                </a:solidFill>
                <a:latin typeface="微软雅黑" panose="020B0503020204020204" pitchFamily="34" charset="-122"/>
                <a:ea typeface="微软雅黑" panose="020B0503020204020204" pitchFamily="34" charset="-122"/>
              </a:rPr>
              <a:t>key:value</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常见的请求头字段和说明</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4.2.2	HTTP请求</a:t>
            </a:r>
          </a:p>
        </p:txBody>
      </p:sp>
      <p:graphicFrame>
        <p:nvGraphicFramePr>
          <p:cNvPr id="4" name="表格 3"/>
          <p:cNvGraphicFramePr/>
          <p:nvPr>
            <p:custDataLst>
              <p:tags r:id="rId1"/>
            </p:custDataLst>
          </p:nvPr>
        </p:nvGraphicFramePr>
        <p:xfrm>
          <a:off x="2135206" y="2493794"/>
          <a:ext cx="8207999" cy="3453523"/>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gridCol w="4607999">
                  <a:extLst>
                    <a:ext uri="{9D8B030D-6E8A-4147-A177-3AD203B41FA5}">
                      <a16:colId xmlns:a16="http://schemas.microsoft.com/office/drawing/2014/main" val="20001"/>
                    </a:ext>
                  </a:extLst>
                </a:gridCol>
              </a:tblGrid>
              <a:tr h="443148">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请求头字段</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374467">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Host</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表示接受请求的服务器地址</a:t>
                      </a:r>
                    </a:p>
                  </a:txBody>
                  <a:tcPr anchor="ctr"/>
                </a:tc>
                <a:extLst>
                  <a:ext uri="{0D108BD9-81ED-4DB2-BD59-A6C34878D82A}">
                    <a16:rowId xmlns:a16="http://schemas.microsoft.com/office/drawing/2014/main" val="10001"/>
                  </a:ext>
                </a:extLst>
              </a:tr>
              <a:tr h="374467">
                <a:tc>
                  <a:txBody>
                    <a:bodyPr/>
                    <a:lstStyle/>
                    <a:p>
                      <a:pPr algn="l">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User-Agent</a:t>
                      </a:r>
                    </a:p>
                  </a:txBody>
                  <a:tcPr anchor="ctr"/>
                </a:tc>
                <a:tc>
                  <a:txBody>
                    <a:bodyPr/>
                    <a:lstStyle/>
                    <a:p>
                      <a:pPr algn="l">
                        <a:buNone/>
                      </a:pPr>
                      <a:r>
                        <a:rPr sz="1800" kern="1200">
                          <a:solidFill>
                            <a:srgbClr val="595959"/>
                          </a:solidFill>
                          <a:latin typeface="微软雅黑" panose="020B0503020204020204" pitchFamily="34" charset="-122"/>
                          <a:ea typeface="微软雅黑" panose="020B0503020204020204" pitchFamily="34" charset="-122"/>
                          <a:cs typeface="+mn-cs"/>
                        </a:rPr>
                        <a:t>表示产生请求的浏览器类型</a:t>
                      </a:r>
                    </a:p>
                  </a:txBody>
                  <a:tcPr anchor="ctr"/>
                </a:tc>
                <a:extLst>
                  <a:ext uri="{0D108BD9-81ED-4DB2-BD59-A6C34878D82A}">
                    <a16:rowId xmlns:a16="http://schemas.microsoft.com/office/drawing/2014/main" val="10002"/>
                  </a:ext>
                </a:extLst>
              </a:tr>
              <a:tr h="504169">
                <a:tc>
                  <a:txBody>
                    <a:bodyPr/>
                    <a:lstStyle/>
                    <a:p>
                      <a:pPr algn="l">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Accept</a:t>
                      </a:r>
                    </a:p>
                  </a:txBody>
                  <a:tcPr anchor="ctr"/>
                </a:tc>
                <a:tc>
                  <a:txBody>
                    <a:bodyPr/>
                    <a:lstStyle/>
                    <a:p>
                      <a:pPr algn="l">
                        <a:buNone/>
                      </a:pPr>
                      <a:r>
                        <a:rPr sz="1800" kern="1200">
                          <a:solidFill>
                            <a:srgbClr val="595959"/>
                          </a:solidFill>
                          <a:latin typeface="微软雅黑" panose="020B0503020204020204" pitchFamily="34" charset="-122"/>
                          <a:ea typeface="微软雅黑" panose="020B0503020204020204" pitchFamily="34" charset="-122"/>
                          <a:cs typeface="+mn-cs"/>
                        </a:rPr>
                        <a:t>表示客户端可以识别的内容类型列表</a:t>
                      </a:r>
                    </a:p>
                  </a:txBody>
                  <a:tcPr anchor="ctr"/>
                </a:tc>
                <a:extLst>
                  <a:ext uri="{0D108BD9-81ED-4DB2-BD59-A6C34878D82A}">
                    <a16:rowId xmlns:a16="http://schemas.microsoft.com/office/drawing/2014/main" val="10003"/>
                  </a:ext>
                </a:extLst>
              </a:tr>
              <a:tr h="374467">
                <a:tc>
                  <a:txBody>
                    <a:bodyPr/>
                    <a:lstStyle/>
                    <a:p>
                      <a:pPr algn="l">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Content-Type</a:t>
                      </a:r>
                    </a:p>
                  </a:txBody>
                  <a:tcPr anchor="ctr"/>
                </a:tc>
                <a:tc>
                  <a:txBody>
                    <a:bodyPr/>
                    <a:lstStyle/>
                    <a:p>
                      <a:pPr algn="l">
                        <a:buNone/>
                      </a:pPr>
                      <a:r>
                        <a:rPr sz="1800" kern="1200">
                          <a:solidFill>
                            <a:srgbClr val="595959"/>
                          </a:solidFill>
                          <a:latin typeface="微软雅黑" panose="020B0503020204020204" pitchFamily="34" charset="-122"/>
                          <a:ea typeface="微软雅黑" panose="020B0503020204020204" pitchFamily="34" charset="-122"/>
                          <a:cs typeface="+mn-cs"/>
                        </a:rPr>
                        <a:t>表示请求体数据的类型</a:t>
                      </a:r>
                    </a:p>
                  </a:txBody>
                  <a:tcPr anchor="ctr"/>
                </a:tc>
                <a:extLst>
                  <a:ext uri="{0D108BD9-81ED-4DB2-BD59-A6C34878D82A}">
                    <a16:rowId xmlns:a16="http://schemas.microsoft.com/office/drawing/2014/main" val="10004"/>
                  </a:ext>
                </a:extLst>
              </a:tr>
              <a:tr h="504169">
                <a:tc>
                  <a:txBody>
                    <a:bodyPr/>
                    <a:lstStyle/>
                    <a:p>
                      <a:pPr algn="l">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Accept-Encoding</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表示服务器可以发送的数据压缩格式</a:t>
                      </a:r>
                    </a:p>
                  </a:txBody>
                  <a:tcPr anchor="ctr"/>
                </a:tc>
                <a:extLst>
                  <a:ext uri="{0D108BD9-81ED-4DB2-BD59-A6C34878D82A}">
                    <a16:rowId xmlns:a16="http://schemas.microsoft.com/office/drawing/2014/main" val="10005"/>
                  </a:ext>
                </a:extLst>
              </a:tr>
              <a:tr h="504169">
                <a:tc>
                  <a:txBody>
                    <a:bodyPr/>
                    <a:lstStyle/>
                    <a:p>
                      <a:pPr algn="l">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Accept-Language</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表示服务器可以发送的语言</a:t>
                      </a:r>
                    </a:p>
                  </a:txBody>
                  <a:tcPr anchor="ctr"/>
                </a:tc>
                <a:extLst>
                  <a:ext uri="{0D108BD9-81ED-4DB2-BD59-A6C34878D82A}">
                    <a16:rowId xmlns:a16="http://schemas.microsoft.com/office/drawing/2014/main" val="10006"/>
                  </a:ext>
                </a:extLst>
              </a:tr>
              <a:tr h="374467">
                <a:tc>
                  <a:txBody>
                    <a:bodyPr/>
                    <a:lstStyle/>
                    <a:p>
                      <a:pPr algn="l">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Connection</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指定与连接相关的属性</a:t>
                      </a:r>
                    </a:p>
                  </a:txBody>
                  <a:tcPr anchor="ct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43635" y="837565"/>
            <a:ext cx="9681845" cy="2200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b="1" dirty="0">
                <a:solidFill>
                  <a:srgbClr val="595959"/>
                </a:solidFill>
                <a:latin typeface="微软雅黑" panose="020B0503020204020204" pitchFamily="34" charset="-122"/>
                <a:ea typeface="微软雅黑" panose="020B0503020204020204" pitchFamily="34" charset="-122"/>
              </a:rPr>
              <a:t>3.</a:t>
            </a:r>
            <a:r>
              <a:rPr lang="en-US" altLang="zh-CN" sz="1800" b="1" dirty="0">
                <a:solidFill>
                  <a:srgbClr val="595959"/>
                </a:solidFill>
                <a:latin typeface="微软雅黑" panose="020B0503020204020204" pitchFamily="34" charset="-122"/>
                <a:ea typeface="微软雅黑" panose="020B0503020204020204" pitchFamily="34" charset="-122"/>
              </a:rPr>
              <a:t> </a:t>
            </a:r>
            <a:r>
              <a:rPr lang="zh-CN" altLang="en-US" sz="1800" b="1" dirty="0">
                <a:solidFill>
                  <a:srgbClr val="595959"/>
                </a:solidFill>
                <a:latin typeface="微软雅黑" panose="020B0503020204020204" pitchFamily="34" charset="-122"/>
                <a:ea typeface="微软雅黑" panose="020B0503020204020204" pitchFamily="34" charset="-122"/>
              </a:rPr>
              <a:t>请求体</a:t>
            </a:r>
          </a:p>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请求体是客户端发送请求时携带的参数</a:t>
            </a:r>
            <a:r>
              <a:rPr lang="zh-CN" altLang="en-US" sz="1800" dirty="0">
                <a:solidFill>
                  <a:srgbClr val="595959"/>
                </a:solidFill>
                <a:latin typeface="微软雅黑" panose="020B0503020204020204" pitchFamily="34" charset="-122"/>
                <a:ea typeface="微软雅黑" panose="020B0503020204020204" pitchFamily="34" charset="-122"/>
              </a:rPr>
              <a:t>，通常在</a:t>
            </a:r>
            <a:r>
              <a:rPr lang="zh-CN" altLang="en-US" sz="1800" dirty="0">
                <a:solidFill>
                  <a:srgbClr val="0070C0"/>
                </a:solidFill>
                <a:latin typeface="微软雅黑" panose="020B0503020204020204" pitchFamily="34" charset="-122"/>
                <a:ea typeface="微软雅黑" panose="020B0503020204020204" pitchFamily="34" charset="-122"/>
              </a:rPr>
              <a:t>POST或PUT请求</a:t>
            </a:r>
            <a:r>
              <a:rPr lang="zh-CN" altLang="en-US" sz="1800" dirty="0">
                <a:solidFill>
                  <a:srgbClr val="595959"/>
                </a:solidFill>
                <a:latin typeface="微软雅黑" panose="020B0503020204020204" pitchFamily="34" charset="-122"/>
                <a:ea typeface="微软雅黑" panose="020B0503020204020204" pitchFamily="34" charset="-122"/>
              </a:rPr>
              <a:t>方法</a:t>
            </a:r>
            <a:r>
              <a:rPr lang="zh-CN" altLang="en-US" sz="1800" dirty="0">
                <a:solidFill>
                  <a:srgbClr val="0070C0"/>
                </a:solidFill>
                <a:latin typeface="微软雅黑" panose="020B0503020204020204" pitchFamily="34" charset="-122"/>
                <a:ea typeface="微软雅黑" panose="020B0503020204020204" pitchFamily="34" charset="-122"/>
              </a:rPr>
              <a:t>中使用</a:t>
            </a:r>
            <a:r>
              <a:rPr lang="zh-CN" altLang="en-US" sz="1800" dirty="0">
                <a:solidFill>
                  <a:srgbClr val="595959"/>
                </a:solidFill>
                <a:latin typeface="微软雅黑" panose="020B0503020204020204" pitchFamily="34" charset="-122"/>
                <a:ea typeface="微软雅黑" panose="020B0503020204020204" pitchFamily="34" charset="-122"/>
              </a:rPr>
              <a:t>。请求体中的常见数据类型有text/html、text/plain、application/JSON、application/x-www-form-urlencoded、image/jpeg、multipart/form-</a:t>
            </a:r>
            <a:r>
              <a:rPr lang="zh-CN" altLang="en-US" sz="1800">
                <a:solidFill>
                  <a:srgbClr val="595959"/>
                </a:solidFill>
                <a:latin typeface="微软雅黑" panose="020B0503020204020204" pitchFamily="34" charset="-122"/>
                <a:ea typeface="微软雅黑" panose="020B0503020204020204" pitchFamily="34" charset="-122"/>
              </a:rPr>
              <a:t>data等。下面</a:t>
            </a:r>
            <a:r>
              <a:rPr lang="zh-CN" altLang="en-US" sz="1800" dirty="0">
                <a:solidFill>
                  <a:srgbClr val="595959"/>
                </a:solidFill>
                <a:latin typeface="微软雅黑" panose="020B0503020204020204" pitchFamily="34" charset="-122"/>
                <a:ea typeface="微软雅黑" panose="020B0503020204020204" pitchFamily="34" charset="-122"/>
              </a:rPr>
              <a:t>展示一段使用</a:t>
            </a:r>
            <a:r>
              <a:rPr lang="zh-CN" altLang="en-US" sz="1800" dirty="0">
                <a:solidFill>
                  <a:srgbClr val="0070C0"/>
                </a:solidFill>
                <a:latin typeface="微软雅黑" panose="020B0503020204020204" pitchFamily="34" charset="-122"/>
                <a:ea typeface="微软雅黑" panose="020B0503020204020204" pitchFamily="34" charset="-122"/>
              </a:rPr>
              <a:t>Fiddler工具抓取到的HTTP请求数据</a:t>
            </a:r>
            <a:r>
              <a:rPr lang="zh-CN" altLang="en-US" sz="1800" dirty="0">
                <a:solidFill>
                  <a:srgbClr val="595959"/>
                </a:solidFill>
                <a:latin typeface="微软雅黑" panose="020B0503020204020204" pitchFamily="34" charset="-122"/>
                <a:ea typeface="微软雅黑" panose="020B0503020204020204" pitchFamily="34" charset="-122"/>
              </a:rPr>
              <a:t>，如下图所示。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4.2.2	HTTP请求</a:t>
            </a:r>
          </a:p>
        </p:txBody>
      </p:sp>
      <p:pic>
        <p:nvPicPr>
          <p:cNvPr id="3" name="图片 2" descr="222"/>
          <p:cNvPicPr>
            <a:picLocks noChangeAspect="1"/>
          </p:cNvPicPr>
          <p:nvPr/>
        </p:nvPicPr>
        <p:blipFill>
          <a:blip r:embed="rId3"/>
          <a:stretch>
            <a:fillRect/>
          </a:stretch>
        </p:blipFill>
        <p:spPr>
          <a:xfrm>
            <a:off x="2336482" y="3285794"/>
            <a:ext cx="7296150" cy="2619375"/>
          </a:xfrm>
          <a:prstGeom prst="rect">
            <a:avLst/>
          </a:prstGeom>
          <a:ln>
            <a:solidFill>
              <a:schemeClr val="bg1">
                <a:lumMod val="65000"/>
              </a:schemeClr>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799330" y="1341755"/>
            <a:ext cx="6630035" cy="136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HTTP响应是指服务器向客户端发送的响应消息</a:t>
            </a:r>
            <a:r>
              <a:rPr lang="zh-CN" altLang="en-US" sz="1800" dirty="0">
                <a:solidFill>
                  <a:srgbClr val="595959"/>
                </a:solidFill>
                <a:latin typeface="微软雅黑" panose="020B0503020204020204" pitchFamily="34" charset="-122"/>
                <a:ea typeface="微软雅黑" panose="020B0503020204020204" pitchFamily="34" charset="-122"/>
              </a:rPr>
              <a:t>。HTTP响应主要由</a:t>
            </a:r>
            <a:r>
              <a:rPr lang="zh-CN" altLang="en-US" sz="1800" dirty="0">
                <a:solidFill>
                  <a:srgbClr val="0070C0"/>
                </a:solidFill>
                <a:latin typeface="微软雅黑" panose="020B0503020204020204" pitchFamily="34" charset="-122"/>
                <a:ea typeface="微软雅黑" panose="020B0503020204020204" pitchFamily="34" charset="-122"/>
              </a:rPr>
              <a:t>状态行、响应头和响应体</a:t>
            </a:r>
            <a:r>
              <a:rPr lang="zh-CN" altLang="en-US" sz="1800" dirty="0">
                <a:solidFill>
                  <a:srgbClr val="595959"/>
                </a:solidFill>
                <a:latin typeface="微软雅黑" panose="020B0503020204020204" pitchFamily="34" charset="-122"/>
                <a:ea typeface="微软雅黑" panose="020B0503020204020204" pitchFamily="34" charset="-122"/>
              </a:rPr>
              <a:t>组成，</a:t>
            </a:r>
            <a:r>
              <a:rPr lang="zh-CN" altLang="en-US" sz="1800" dirty="0">
                <a:solidFill>
                  <a:srgbClr val="0070C0"/>
                </a:solidFill>
                <a:latin typeface="微软雅黑" panose="020B0503020204020204" pitchFamily="34" charset="-122"/>
                <a:ea typeface="微软雅黑" panose="020B0503020204020204" pitchFamily="34" charset="-122"/>
              </a:rPr>
              <a:t>HTTP响应的格式</a:t>
            </a:r>
            <a:r>
              <a:rPr lang="zh-CN" altLang="en-US" sz="1800" dirty="0">
                <a:solidFill>
                  <a:srgbClr val="595959"/>
                </a:solidFill>
                <a:latin typeface="微软雅黑" panose="020B0503020204020204" pitchFamily="34" charset="-122"/>
                <a:ea typeface="微软雅黑" panose="020B0503020204020204" pitchFamily="34" charset="-122"/>
              </a:rPr>
              <a:t>如下图所示。</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4.2.3	HTTP响应</a:t>
            </a:r>
          </a:p>
        </p:txBody>
      </p:sp>
      <p:pic>
        <p:nvPicPr>
          <p:cNvPr id="4" name="图片 3" descr="333"/>
          <p:cNvPicPr>
            <a:picLocks noChangeAspect="1"/>
          </p:cNvPicPr>
          <p:nvPr/>
        </p:nvPicPr>
        <p:blipFill>
          <a:blip r:embed="rId4"/>
          <a:stretch>
            <a:fillRect/>
          </a:stretch>
        </p:blipFill>
        <p:spPr>
          <a:xfrm>
            <a:off x="4942840" y="2853690"/>
            <a:ext cx="6576060" cy="219519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06" y="1125794"/>
            <a:ext cx="9792000" cy="427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b="1">
                <a:solidFill>
                  <a:srgbClr val="595959"/>
                </a:solidFill>
                <a:latin typeface="微软雅黑" panose="020B0503020204020204" pitchFamily="34" charset="-122"/>
                <a:ea typeface="微软雅黑" panose="020B0503020204020204" pitchFamily="34" charset="-122"/>
              </a:rPr>
              <a:t>1</a:t>
            </a:r>
            <a:r>
              <a:rPr lang="zh-CN" altLang="en-US" sz="1800" b="1" dirty="0">
                <a:solidFill>
                  <a:srgbClr val="595959"/>
                </a:solidFill>
                <a:latin typeface="微软雅黑" panose="020B0503020204020204" pitchFamily="34" charset="-122"/>
                <a:ea typeface="微软雅黑" panose="020B0503020204020204" pitchFamily="34" charset="-122"/>
              </a:rPr>
              <a:t>.</a:t>
            </a:r>
            <a:r>
              <a:rPr lang="en-US" altLang="zh-CN" sz="1800" b="1" dirty="0">
                <a:solidFill>
                  <a:srgbClr val="595959"/>
                </a:solidFill>
                <a:latin typeface="微软雅黑" panose="020B0503020204020204" pitchFamily="34" charset="-122"/>
                <a:ea typeface="微软雅黑" panose="020B0503020204020204" pitchFamily="34" charset="-122"/>
              </a:rPr>
              <a:t> </a:t>
            </a:r>
            <a:r>
              <a:rPr lang="zh-CN" altLang="en-US" sz="1800" b="1" dirty="0">
                <a:solidFill>
                  <a:srgbClr val="595959"/>
                </a:solidFill>
                <a:latin typeface="微软雅黑" panose="020B0503020204020204" pitchFamily="34" charset="-122"/>
                <a:ea typeface="微软雅黑" panose="020B0503020204020204" pitchFamily="34" charset="-122"/>
              </a:rPr>
              <a:t>状态行</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状态行用于展示</a:t>
            </a:r>
            <a:r>
              <a:rPr lang="zh-CN" altLang="en-US" sz="1800" dirty="0">
                <a:solidFill>
                  <a:srgbClr val="0070C0"/>
                </a:solidFill>
                <a:latin typeface="微软雅黑" panose="020B0503020204020204" pitchFamily="34" charset="-122"/>
                <a:ea typeface="微软雅黑" panose="020B0503020204020204" pitchFamily="34" charset="-122"/>
              </a:rPr>
              <a:t>HTTP响应的协议版本</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状态码和状态码描述</a:t>
            </a:r>
            <a:r>
              <a:rPr lang="zh-CN" altLang="en-US" sz="1800" dirty="0">
                <a:solidFill>
                  <a:srgbClr val="595959"/>
                </a:solidFill>
                <a:latin typeface="微软雅黑" panose="020B0503020204020204" pitchFamily="34" charset="-122"/>
                <a:ea typeface="微软雅黑" panose="020B0503020204020204" pitchFamily="34" charset="-122"/>
              </a:rPr>
              <a:t>，它位于HTTP响应的第1行。其中，</a:t>
            </a:r>
            <a:r>
              <a:rPr lang="zh-CN" altLang="en-US" sz="1800" dirty="0">
                <a:solidFill>
                  <a:srgbClr val="0070C0"/>
                </a:solidFill>
                <a:latin typeface="微软雅黑" panose="020B0503020204020204" pitchFamily="34" charset="-122"/>
                <a:ea typeface="微软雅黑" panose="020B0503020204020204" pitchFamily="34" charset="-122"/>
              </a:rPr>
              <a:t>状态码用来标识响应的状态</a:t>
            </a:r>
            <a:r>
              <a:rPr lang="zh-CN" altLang="en-US" sz="1800" dirty="0">
                <a:solidFill>
                  <a:srgbClr val="595959"/>
                </a:solidFill>
                <a:latin typeface="微软雅黑" panose="020B0503020204020204" pitchFamily="34" charset="-122"/>
                <a:ea typeface="微软雅黑" panose="020B0503020204020204" pitchFamily="34" charset="-122"/>
              </a:rPr>
              <a:t>，它由3位数字组成，第1个数字定义了响应的类型。状态码有5种响应类型，具体介绍</a:t>
            </a:r>
            <a:r>
              <a:rPr lang="zh-CN" altLang="en-US" sz="1800">
                <a:solidFill>
                  <a:srgbClr val="595959"/>
                </a:solidFill>
                <a:latin typeface="微软雅黑" panose="020B0503020204020204" pitchFamily="34" charset="-122"/>
                <a:ea typeface="微软雅黑" panose="020B0503020204020204" pitchFamily="34" charset="-122"/>
              </a:rPr>
              <a:t>如下。</a:t>
            </a:r>
            <a:endParaRPr lang="en-US" altLang="zh-CN" sz="180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1</a:t>
            </a:r>
            <a:r>
              <a:rPr lang="zh-CN" altLang="en-US" sz="1800">
                <a:solidFill>
                  <a:srgbClr val="595959"/>
                </a:solidFill>
                <a:latin typeface="微软雅黑" panose="020B0503020204020204" pitchFamily="34" charset="-122"/>
                <a:ea typeface="微软雅黑" panose="020B0503020204020204" pitchFamily="34" charset="-122"/>
              </a:rPr>
              <a:t>××：表示</a:t>
            </a:r>
            <a:r>
              <a:rPr lang="zh-CN" altLang="en-US" sz="1800" dirty="0">
                <a:solidFill>
                  <a:srgbClr val="0070C0"/>
                </a:solidFill>
                <a:latin typeface="微软雅黑" panose="020B0503020204020204" pitchFamily="34" charset="-122"/>
                <a:ea typeface="微软雅黑" panose="020B0503020204020204" pitchFamily="34" charset="-122"/>
              </a:rPr>
              <a:t>指示信息</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2</a:t>
            </a:r>
            <a:r>
              <a:rPr lang="zh-CN" altLang="en-US" sz="1800">
                <a:solidFill>
                  <a:srgbClr val="595959"/>
                </a:solidFill>
                <a:latin typeface="微软雅黑" panose="020B0503020204020204" pitchFamily="34" charset="-122"/>
                <a:ea typeface="微软雅黑" panose="020B0503020204020204" pitchFamily="34" charset="-122"/>
              </a:rPr>
              <a:t>××：表示</a:t>
            </a:r>
            <a:r>
              <a:rPr lang="zh-CN" altLang="en-US" sz="1800" dirty="0">
                <a:solidFill>
                  <a:srgbClr val="0070C0"/>
                </a:solidFill>
                <a:latin typeface="微软雅黑" panose="020B0503020204020204" pitchFamily="34" charset="-122"/>
                <a:ea typeface="微软雅黑" panose="020B0503020204020204" pitchFamily="34" charset="-122"/>
              </a:rPr>
              <a:t>请求成功</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3</a:t>
            </a:r>
            <a:r>
              <a:rPr lang="zh-CN" altLang="en-US" sz="1800">
                <a:solidFill>
                  <a:srgbClr val="595959"/>
                </a:solidFill>
                <a:latin typeface="微软雅黑" panose="020B0503020204020204" pitchFamily="34" charset="-122"/>
                <a:ea typeface="微软雅黑" panose="020B0503020204020204" pitchFamily="34" charset="-122"/>
              </a:rPr>
              <a:t>××：表示</a:t>
            </a:r>
            <a:r>
              <a:rPr lang="zh-CN" altLang="en-US" sz="1800" dirty="0">
                <a:solidFill>
                  <a:srgbClr val="0070C0"/>
                </a:solidFill>
                <a:latin typeface="微软雅黑" panose="020B0503020204020204" pitchFamily="34" charset="-122"/>
                <a:ea typeface="微软雅黑" panose="020B0503020204020204" pitchFamily="34" charset="-122"/>
              </a:rPr>
              <a:t>请求重定向</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4</a:t>
            </a:r>
            <a:r>
              <a:rPr lang="zh-CN" altLang="en-US" sz="1800">
                <a:solidFill>
                  <a:srgbClr val="595959"/>
                </a:solidFill>
                <a:latin typeface="微软雅黑" panose="020B0503020204020204" pitchFamily="34" charset="-122"/>
                <a:ea typeface="微软雅黑" panose="020B0503020204020204" pitchFamily="34" charset="-122"/>
              </a:rPr>
              <a:t>××：表示</a:t>
            </a:r>
            <a:r>
              <a:rPr lang="zh-CN" altLang="en-US" sz="1800" dirty="0">
                <a:solidFill>
                  <a:srgbClr val="0070C0"/>
                </a:solidFill>
                <a:latin typeface="微软雅黑" panose="020B0503020204020204" pitchFamily="34" charset="-122"/>
                <a:ea typeface="微软雅黑" panose="020B0503020204020204" pitchFamily="34" charset="-122"/>
              </a:rPr>
              <a:t>客户端错误</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5</a:t>
            </a:r>
            <a:r>
              <a:rPr lang="zh-CN" altLang="en-US" sz="1800">
                <a:solidFill>
                  <a:srgbClr val="595959"/>
                </a:solidFill>
                <a:latin typeface="微软雅黑" panose="020B0503020204020204" pitchFamily="34" charset="-122"/>
                <a:ea typeface="微软雅黑" panose="020B0503020204020204" pitchFamily="34" charset="-122"/>
              </a:rPr>
              <a:t>××：表示</a:t>
            </a:r>
            <a:r>
              <a:rPr lang="zh-CN" altLang="en-US" sz="1800" dirty="0">
                <a:solidFill>
                  <a:srgbClr val="0070C0"/>
                </a:solidFill>
                <a:latin typeface="微软雅黑" panose="020B0503020204020204" pitchFamily="34" charset="-122"/>
                <a:ea typeface="微软雅黑" panose="020B0503020204020204" pitchFamily="34" charset="-122"/>
              </a:rPr>
              <a:t>服务器错误</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4.2.3	HTTP响应</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77735" y="1048788"/>
            <a:ext cx="9681845"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在接口测试中，</a:t>
            </a:r>
            <a:r>
              <a:rPr lang="zh-CN" altLang="en-US" sz="1800" dirty="0">
                <a:solidFill>
                  <a:srgbClr val="0070C0"/>
                </a:solidFill>
                <a:latin typeface="微软雅黑" panose="020B0503020204020204" pitchFamily="34" charset="-122"/>
                <a:ea typeface="微软雅黑" panose="020B0503020204020204" pitchFamily="34" charset="-122"/>
              </a:rPr>
              <a:t>常见的状态码和描述</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graphicFrame>
        <p:nvGraphicFramePr>
          <p:cNvPr id="4" name="表格 3"/>
          <p:cNvGraphicFramePr/>
          <p:nvPr>
            <p:custDataLst>
              <p:tags r:id="rId1"/>
            </p:custDataLst>
          </p:nvPr>
        </p:nvGraphicFramePr>
        <p:xfrm>
          <a:off x="1266657" y="1860435"/>
          <a:ext cx="9503999" cy="4147185"/>
        </p:xfrm>
        <a:graphic>
          <a:graphicData uri="http://schemas.openxmlformats.org/drawingml/2006/table">
            <a:tbl>
              <a:tblPr firstRow="1" bandRow="1">
                <a:tableStyleId>{5C22544A-7EE6-4342-B048-85BDC9FD1C3A}</a:tableStyleId>
              </a:tblPr>
              <a:tblGrid>
                <a:gridCol w="3545141">
                  <a:extLst>
                    <a:ext uri="{9D8B030D-6E8A-4147-A177-3AD203B41FA5}">
                      <a16:colId xmlns:a16="http://schemas.microsoft.com/office/drawing/2014/main" val="20000"/>
                    </a:ext>
                  </a:extLst>
                </a:gridCol>
                <a:gridCol w="5958858">
                  <a:extLst>
                    <a:ext uri="{9D8B030D-6E8A-4147-A177-3AD203B41FA5}">
                      <a16:colId xmlns:a16="http://schemas.microsoft.com/office/drawing/2014/main" val="20001"/>
                    </a:ext>
                  </a:extLst>
                </a:gridCol>
              </a:tblGrid>
              <a:tr h="61214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状态码</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状态码描述</a:t>
                      </a:r>
                    </a:p>
                  </a:txBody>
                  <a:tcPr anchor="ctr"/>
                </a:tc>
                <a:extLst>
                  <a:ext uri="{0D108BD9-81ED-4DB2-BD59-A6C34878D82A}">
                    <a16:rowId xmlns:a16="http://schemas.microsoft.com/office/drawing/2014/main" val="10000"/>
                  </a:ext>
                </a:extLst>
              </a:tr>
              <a:tr h="49466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200</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OK，客户端请求成功</a:t>
                      </a:r>
                    </a:p>
                  </a:txBody>
                  <a:tcPr anchor="ctr"/>
                </a:tc>
                <a:extLst>
                  <a:ext uri="{0D108BD9-81ED-4DB2-BD59-A6C34878D82A}">
                    <a16:rowId xmlns:a16="http://schemas.microsoft.com/office/drawing/2014/main" val="10001"/>
                  </a:ext>
                </a:extLst>
              </a:tr>
              <a:tr h="481330">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rPr>
                        <a:t>400</a:t>
                      </a:r>
                    </a:p>
                  </a:txBody>
                  <a:tcPr anchor="ctr"/>
                </a:tc>
                <a:tc>
                  <a:txBody>
                    <a:bodyPr/>
                    <a:lstStyle/>
                    <a:p>
                      <a:pPr algn="l">
                        <a:buNone/>
                      </a:pPr>
                      <a:r>
                        <a:rPr sz="1800" kern="1200">
                          <a:solidFill>
                            <a:srgbClr val="595959"/>
                          </a:solidFill>
                          <a:latin typeface="微软雅黑" panose="020B0503020204020204" pitchFamily="34" charset="-122"/>
                          <a:ea typeface="微软雅黑" panose="020B0503020204020204" pitchFamily="34" charset="-122"/>
                          <a:cs typeface="+mn-cs"/>
                        </a:rPr>
                        <a:t>Bad Request，客户端请求有语法错误</a:t>
                      </a:r>
                    </a:p>
                  </a:txBody>
                  <a:tcPr anchor="ctr"/>
                </a:tc>
                <a:extLst>
                  <a:ext uri="{0D108BD9-81ED-4DB2-BD59-A6C34878D82A}">
                    <a16:rowId xmlns:a16="http://schemas.microsoft.com/office/drawing/2014/main" val="10002"/>
                  </a:ext>
                </a:extLst>
              </a:tr>
              <a:tr h="543560">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rPr>
                        <a:t>401</a:t>
                      </a:r>
                    </a:p>
                  </a:txBody>
                  <a:tcPr anchor="ctr"/>
                </a:tc>
                <a:tc>
                  <a:txBody>
                    <a:bodyPr/>
                    <a:lstStyle/>
                    <a:p>
                      <a:pPr algn="l">
                        <a:buNone/>
                      </a:pPr>
                      <a:r>
                        <a:rPr sz="1800" kern="1200">
                          <a:solidFill>
                            <a:srgbClr val="595959"/>
                          </a:solidFill>
                          <a:latin typeface="微软雅黑" panose="020B0503020204020204" pitchFamily="34" charset="-122"/>
                          <a:ea typeface="微软雅黑" panose="020B0503020204020204" pitchFamily="34" charset="-122"/>
                          <a:cs typeface="+mn-cs"/>
                        </a:rPr>
                        <a:t>Unauthorized，客户端请求未经授权</a:t>
                      </a:r>
                    </a:p>
                  </a:txBody>
                  <a:tcPr anchor="ctr"/>
                </a:tc>
                <a:extLst>
                  <a:ext uri="{0D108BD9-81ED-4DB2-BD59-A6C34878D82A}">
                    <a16:rowId xmlns:a16="http://schemas.microsoft.com/office/drawing/2014/main" val="10003"/>
                  </a:ext>
                </a:extLst>
              </a:tr>
              <a:tr h="504190">
                <a:tc>
                  <a:txBody>
                    <a:bodyPr/>
                    <a:lstStyle/>
                    <a:p>
                      <a:pPr algn="ctr">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40</a:t>
                      </a: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l">
                        <a:buNone/>
                      </a:pPr>
                      <a:r>
                        <a:rPr sz="1800" kern="1200">
                          <a:solidFill>
                            <a:srgbClr val="595959"/>
                          </a:solidFill>
                          <a:latin typeface="微软雅黑" panose="020B0503020204020204" pitchFamily="34" charset="-122"/>
                          <a:ea typeface="微软雅黑" panose="020B0503020204020204" pitchFamily="34" charset="-122"/>
                          <a:cs typeface="+mn-cs"/>
                        </a:rPr>
                        <a:t>Forbidden，服务器收到请求，但是拒绝提供服务</a:t>
                      </a:r>
                    </a:p>
                  </a:txBody>
                  <a:tcPr anchor="ctr"/>
                </a:tc>
                <a:extLst>
                  <a:ext uri="{0D108BD9-81ED-4DB2-BD59-A6C34878D82A}">
                    <a16:rowId xmlns:a16="http://schemas.microsoft.com/office/drawing/2014/main" val="10004"/>
                  </a:ext>
                </a:extLst>
              </a:tr>
              <a:tr h="50355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40</a:t>
                      </a: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Not Found，客户端请求的资源不存在</a:t>
                      </a:r>
                    </a:p>
                  </a:txBody>
                  <a:tcPr anchor="ctr"/>
                </a:tc>
                <a:extLst>
                  <a:ext uri="{0D108BD9-81ED-4DB2-BD59-A6C34878D82A}">
                    <a16:rowId xmlns:a16="http://schemas.microsoft.com/office/drawing/2014/main" val="10005"/>
                  </a:ext>
                </a:extLst>
              </a:tr>
              <a:tr h="50419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Internal Server Error，服务器发生错误</a:t>
                      </a:r>
                    </a:p>
                  </a:txBody>
                  <a:tcPr anchor="ctr"/>
                </a:tc>
                <a:extLst>
                  <a:ext uri="{0D108BD9-81ED-4DB2-BD59-A6C34878D82A}">
                    <a16:rowId xmlns:a16="http://schemas.microsoft.com/office/drawing/2014/main" val="10006"/>
                  </a:ext>
                </a:extLst>
              </a:tr>
              <a:tr h="50355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r>
                        <a:rPr lang="zh-CN" altLang="en-US" sz="1800" kern="1200">
                          <a:solidFill>
                            <a:srgbClr val="595959"/>
                          </a:solidFill>
                          <a:latin typeface="微软雅黑" panose="020B0503020204020204" pitchFamily="34" charset="-122"/>
                          <a:ea typeface="微软雅黑" panose="020B0503020204020204" pitchFamily="34" charset="-122"/>
                          <a:cs typeface="+mn-cs"/>
                        </a:rPr>
                        <a:t>0</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Server Unavailable，服务器当前不能处理客户端的请求</a:t>
                      </a:r>
                    </a:p>
                  </a:txBody>
                  <a:tcPr anchor="ctr"/>
                </a:tc>
                <a:extLst>
                  <a:ext uri="{0D108BD9-81ED-4DB2-BD59-A6C34878D82A}">
                    <a16:rowId xmlns:a16="http://schemas.microsoft.com/office/drawing/2014/main" val="10007"/>
                  </a:ext>
                </a:extLst>
              </a:tr>
            </a:tbl>
          </a:graphicData>
        </a:graphic>
      </p:graphicFrame>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4.2.3	HTTP响应</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06" y="949860"/>
            <a:ext cx="9681845" cy="136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b="1" dirty="0">
                <a:solidFill>
                  <a:srgbClr val="595959"/>
                </a:solidFill>
                <a:latin typeface="微软雅黑" panose="020B0503020204020204" pitchFamily="34" charset="-122"/>
                <a:ea typeface="微软雅黑" panose="020B0503020204020204" pitchFamily="34" charset="-122"/>
              </a:rPr>
              <a:t>2.</a:t>
            </a:r>
            <a:r>
              <a:rPr lang="en-US" altLang="zh-CN" sz="1800" b="1" dirty="0">
                <a:solidFill>
                  <a:srgbClr val="595959"/>
                </a:solidFill>
                <a:latin typeface="微软雅黑" panose="020B0503020204020204" pitchFamily="34" charset="-122"/>
                <a:ea typeface="微软雅黑" panose="020B0503020204020204" pitchFamily="34" charset="-122"/>
              </a:rPr>
              <a:t> </a:t>
            </a:r>
            <a:r>
              <a:rPr lang="zh-CN" altLang="en-US" sz="1800" b="1" dirty="0">
                <a:solidFill>
                  <a:srgbClr val="595959"/>
                </a:solidFill>
                <a:latin typeface="微软雅黑" panose="020B0503020204020204" pitchFamily="34" charset="-122"/>
                <a:ea typeface="微软雅黑" panose="020B0503020204020204" pitchFamily="34" charset="-122"/>
              </a:rPr>
              <a:t>响应头</a:t>
            </a:r>
          </a:p>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响应头是指服务器对客户端请求的应答信息</a:t>
            </a:r>
            <a:r>
              <a:rPr lang="zh-CN" altLang="en-US" sz="1800" dirty="0">
                <a:solidFill>
                  <a:srgbClr val="595959"/>
                </a:solidFill>
                <a:latin typeface="微软雅黑" panose="020B0503020204020204" pitchFamily="34" charset="-122"/>
                <a:ea typeface="微软雅黑" panose="020B0503020204020204" pitchFamily="34" charset="-122"/>
              </a:rPr>
              <a:t>，它位于状态行的下方，主要</a:t>
            </a:r>
            <a:r>
              <a:rPr lang="zh-CN" altLang="en-US" sz="1800" dirty="0">
                <a:solidFill>
                  <a:srgbClr val="0070C0"/>
                </a:solidFill>
                <a:latin typeface="微软雅黑" panose="020B0503020204020204" pitchFamily="34" charset="-122"/>
                <a:ea typeface="微软雅黑" panose="020B0503020204020204" pitchFamily="34" charset="-122"/>
              </a:rPr>
              <a:t>由键值对组成</a:t>
            </a:r>
            <a:r>
              <a:rPr lang="zh-CN" altLang="en-US" sz="1800" dirty="0">
                <a:solidFill>
                  <a:srgbClr val="595959"/>
                </a:solidFill>
                <a:latin typeface="微软雅黑" panose="020B0503020204020204" pitchFamily="34" charset="-122"/>
                <a:ea typeface="微软雅黑" panose="020B0503020204020204" pitchFamily="34" charset="-122"/>
              </a:rPr>
              <a:t>，与HTTP请求中的请求头类似。</a:t>
            </a:r>
            <a:r>
              <a:rPr lang="zh-CN" altLang="en-US" sz="1800" dirty="0">
                <a:solidFill>
                  <a:srgbClr val="0070C0"/>
                </a:solidFill>
                <a:latin typeface="微软雅黑" panose="020B0503020204020204" pitchFamily="34" charset="-122"/>
                <a:ea typeface="微软雅黑" panose="020B0503020204020204" pitchFamily="34" charset="-122"/>
              </a:rPr>
              <a:t>常见的响应头字段和说明</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graphicFrame>
        <p:nvGraphicFramePr>
          <p:cNvPr id="4" name="表格 3"/>
          <p:cNvGraphicFramePr/>
          <p:nvPr>
            <p:custDataLst>
              <p:tags r:id="rId1"/>
            </p:custDataLst>
          </p:nvPr>
        </p:nvGraphicFramePr>
        <p:xfrm>
          <a:off x="1864128" y="2493794"/>
          <a:ext cx="8496000" cy="3528001"/>
        </p:xfrm>
        <a:graphic>
          <a:graphicData uri="http://schemas.openxmlformats.org/drawingml/2006/table">
            <a:tbl>
              <a:tblPr firstRow="1" bandRow="1">
                <a:tableStyleId>{5C22544A-7EE6-4342-B048-85BDC9FD1C3A}</a:tableStyleId>
              </a:tblPr>
              <a:tblGrid>
                <a:gridCol w="3456000">
                  <a:extLst>
                    <a:ext uri="{9D8B030D-6E8A-4147-A177-3AD203B41FA5}">
                      <a16:colId xmlns:a16="http://schemas.microsoft.com/office/drawing/2014/main" val="20000"/>
                    </a:ext>
                  </a:extLst>
                </a:gridCol>
                <a:gridCol w="5040000">
                  <a:extLst>
                    <a:ext uri="{9D8B030D-6E8A-4147-A177-3AD203B41FA5}">
                      <a16:colId xmlns:a16="http://schemas.microsoft.com/office/drawing/2014/main" val="20001"/>
                    </a:ext>
                  </a:extLst>
                </a:gridCol>
              </a:tblGrid>
              <a:tr h="592714">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响应头字段</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状态码描述</a:t>
                      </a:r>
                    </a:p>
                  </a:txBody>
                  <a:tcPr anchor="ctr"/>
                </a:tc>
                <a:extLst>
                  <a:ext uri="{0D108BD9-81ED-4DB2-BD59-A6C34878D82A}">
                    <a16:rowId xmlns:a16="http://schemas.microsoft.com/office/drawing/2014/main" val="10000"/>
                  </a:ext>
                </a:extLst>
              </a:tr>
              <a:tr h="478967">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Server</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表示服务器用到的软件信息</a:t>
                      </a:r>
                    </a:p>
                  </a:txBody>
                  <a:tcPr anchor="ctr"/>
                </a:tc>
                <a:extLst>
                  <a:ext uri="{0D108BD9-81ED-4DB2-BD59-A6C34878D82A}">
                    <a16:rowId xmlns:a16="http://schemas.microsoft.com/office/drawing/2014/main" val="10001"/>
                  </a:ext>
                </a:extLst>
              </a:tr>
              <a:tr h="466055">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rPr>
                        <a:t>Content-Type</a:t>
                      </a:r>
                    </a:p>
                  </a:txBody>
                  <a:tcPr anchor="ctr"/>
                </a:tc>
                <a:tc>
                  <a:txBody>
                    <a:bodyPr/>
                    <a:lstStyle/>
                    <a:p>
                      <a:pPr algn="l">
                        <a:buNone/>
                      </a:pPr>
                      <a:r>
                        <a:rPr sz="1800" kern="1200">
                          <a:solidFill>
                            <a:srgbClr val="595959"/>
                          </a:solidFill>
                          <a:latin typeface="微软雅黑" panose="020B0503020204020204" pitchFamily="34" charset="-122"/>
                          <a:ea typeface="微软雅黑" panose="020B0503020204020204" pitchFamily="34" charset="-122"/>
                          <a:cs typeface="+mn-cs"/>
                        </a:rPr>
                        <a:t>表示服务器实际返回给客户端的内容类型</a:t>
                      </a:r>
                    </a:p>
                  </a:txBody>
                  <a:tcPr anchor="ctr"/>
                </a:tc>
                <a:extLst>
                  <a:ext uri="{0D108BD9-81ED-4DB2-BD59-A6C34878D82A}">
                    <a16:rowId xmlns:a16="http://schemas.microsoft.com/office/drawing/2014/main" val="10002"/>
                  </a:ext>
                </a:extLst>
              </a:tr>
              <a:tr h="526310">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rPr>
                        <a:t>Connection</a:t>
                      </a:r>
                    </a:p>
                  </a:txBody>
                  <a:tcPr anchor="ctr"/>
                </a:tc>
                <a:tc>
                  <a:txBody>
                    <a:bodyPr/>
                    <a:lstStyle/>
                    <a:p>
                      <a:pPr algn="l">
                        <a:buNone/>
                      </a:pPr>
                      <a:r>
                        <a:rPr sz="1800" kern="1200">
                          <a:solidFill>
                            <a:srgbClr val="595959"/>
                          </a:solidFill>
                          <a:latin typeface="微软雅黑" panose="020B0503020204020204" pitchFamily="34" charset="-122"/>
                          <a:ea typeface="微软雅黑" panose="020B0503020204020204" pitchFamily="34" charset="-122"/>
                          <a:cs typeface="+mn-cs"/>
                        </a:rPr>
                        <a:t>表示服务器与客户端的连接类型</a:t>
                      </a:r>
                    </a:p>
                  </a:txBody>
                  <a:tcPr anchor="ctr"/>
                </a:tc>
                <a:extLst>
                  <a:ext uri="{0D108BD9-81ED-4DB2-BD59-A6C34878D82A}">
                    <a16:rowId xmlns:a16="http://schemas.microsoft.com/office/drawing/2014/main" val="10003"/>
                  </a:ext>
                </a:extLst>
              </a:tr>
              <a:tr h="488190">
                <a:tc>
                  <a:txBody>
                    <a:bodyPr/>
                    <a:lstStyle/>
                    <a:p>
                      <a:pPr algn="ctr">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Content-Length</a:t>
                      </a:r>
                    </a:p>
                  </a:txBody>
                  <a:tcPr anchor="ctr"/>
                </a:tc>
                <a:tc>
                  <a:txBody>
                    <a:bodyPr/>
                    <a:lstStyle/>
                    <a:p>
                      <a:pPr algn="l">
                        <a:buNone/>
                      </a:pPr>
                      <a:r>
                        <a:rPr sz="1800" kern="1200">
                          <a:solidFill>
                            <a:srgbClr val="595959"/>
                          </a:solidFill>
                          <a:latin typeface="微软雅黑" panose="020B0503020204020204" pitchFamily="34" charset="-122"/>
                          <a:ea typeface="微软雅黑" panose="020B0503020204020204" pitchFamily="34" charset="-122"/>
                          <a:cs typeface="+mn-cs"/>
                        </a:rPr>
                        <a:t>表示服务器告知浏览器需要接</a:t>
                      </a:r>
                      <a:r>
                        <a:rPr lang="zh-CN" altLang="en-US" sz="1800" kern="1200">
                          <a:solidFill>
                            <a:srgbClr val="595959"/>
                          </a:solidFill>
                          <a:latin typeface="微软雅黑" panose="020B0503020204020204" pitchFamily="34" charset="-122"/>
                          <a:ea typeface="微软雅黑" panose="020B0503020204020204" pitchFamily="34" charset="-122"/>
                          <a:cs typeface="+mn-cs"/>
                        </a:rPr>
                        <a:t>收</a:t>
                      </a:r>
                      <a:r>
                        <a:rPr sz="1800" kern="1200">
                          <a:solidFill>
                            <a:srgbClr val="595959"/>
                          </a:solidFill>
                          <a:latin typeface="微软雅黑" panose="020B0503020204020204" pitchFamily="34" charset="-122"/>
                          <a:ea typeface="微软雅黑" panose="020B0503020204020204" pitchFamily="34" charset="-122"/>
                          <a:cs typeface="+mn-cs"/>
                        </a:rPr>
                        <a:t>的数据长度</a:t>
                      </a:r>
                    </a:p>
                  </a:txBody>
                  <a:tcPr anchor="ctr"/>
                </a:tc>
                <a:extLst>
                  <a:ext uri="{0D108BD9-81ED-4DB2-BD59-A6C34878D82A}">
                    <a16:rowId xmlns:a16="http://schemas.microsoft.com/office/drawing/2014/main" val="10004"/>
                  </a:ext>
                </a:extLst>
              </a:tr>
              <a:tr h="487575">
                <a:tc>
                  <a:txBody>
                    <a:bodyPr/>
                    <a:lstStyle/>
                    <a:p>
                      <a:pPr algn="ctr">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Content-Language</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表示服务器可以识别的内容语言列表</a:t>
                      </a:r>
                    </a:p>
                  </a:txBody>
                  <a:tcPr anchor="ctr"/>
                </a:tc>
                <a:extLst>
                  <a:ext uri="{0D108BD9-81ED-4DB2-BD59-A6C34878D82A}">
                    <a16:rowId xmlns:a16="http://schemas.microsoft.com/office/drawing/2014/main" val="10005"/>
                  </a:ext>
                </a:extLst>
              </a:tr>
              <a:tr h="48819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Accept-Encoding</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表示服务器可以发送的数据压缩格式</a:t>
                      </a:r>
                    </a:p>
                  </a:txBody>
                  <a:tcPr anchor="ctr"/>
                </a:tc>
                <a:extLst>
                  <a:ext uri="{0D108BD9-81ED-4DB2-BD59-A6C34878D82A}">
                    <a16:rowId xmlns:a16="http://schemas.microsoft.com/office/drawing/2014/main" val="10006"/>
                  </a:ext>
                </a:extLst>
              </a:tr>
            </a:tbl>
          </a:graphicData>
        </a:graphic>
      </p:graphicFrame>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4.2.3	HTTP响应</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22057" y="944245"/>
            <a:ext cx="9681845" cy="178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sz="1800" b="1" dirty="0">
                <a:solidFill>
                  <a:srgbClr val="595959"/>
                </a:solidFill>
                <a:latin typeface="微软雅黑" panose="020B0503020204020204" pitchFamily="34" charset="-122"/>
                <a:ea typeface="微软雅黑" panose="020B0503020204020204" pitchFamily="34" charset="-122"/>
              </a:rPr>
              <a:t>3.</a:t>
            </a:r>
            <a:r>
              <a:rPr lang="en-US" sz="1800" b="1" dirty="0">
                <a:solidFill>
                  <a:srgbClr val="595959"/>
                </a:solidFill>
                <a:latin typeface="微软雅黑" panose="020B0503020204020204" pitchFamily="34" charset="-122"/>
                <a:ea typeface="微软雅黑" panose="020B0503020204020204" pitchFamily="34" charset="-122"/>
              </a:rPr>
              <a:t> </a:t>
            </a:r>
            <a:r>
              <a:rPr sz="1800" b="1" dirty="0">
                <a:solidFill>
                  <a:srgbClr val="595959"/>
                </a:solidFill>
                <a:latin typeface="微软雅黑" panose="020B0503020204020204" pitchFamily="34" charset="-122"/>
                <a:ea typeface="微软雅黑" panose="020B0503020204020204" pitchFamily="34" charset="-122"/>
              </a:rPr>
              <a:t>响应体</a:t>
            </a:r>
          </a:p>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响应体是服务器发送到客户端的实际内容</a:t>
            </a:r>
            <a:r>
              <a:rPr lang="zh-CN" altLang="en-US" sz="1800" dirty="0">
                <a:solidFill>
                  <a:srgbClr val="595959"/>
                </a:solidFill>
                <a:latin typeface="微软雅黑" panose="020B0503020204020204" pitchFamily="34" charset="-122"/>
                <a:ea typeface="微软雅黑" panose="020B0503020204020204" pitchFamily="34" charset="-122"/>
              </a:rPr>
              <a:t>，它位于响应头的下方。响应体的</a:t>
            </a:r>
            <a:r>
              <a:rPr lang="zh-CN" altLang="en-US" sz="1800" dirty="0">
                <a:solidFill>
                  <a:srgbClr val="0070C0"/>
                </a:solidFill>
                <a:latin typeface="微软雅黑" panose="020B0503020204020204" pitchFamily="34" charset="-122"/>
                <a:ea typeface="微软雅黑" panose="020B0503020204020204" pitchFamily="34" charset="-122"/>
              </a:rPr>
              <a:t>内容类型</a:t>
            </a:r>
            <a:r>
              <a:rPr lang="zh-CN" altLang="en-US" sz="1800" dirty="0">
                <a:solidFill>
                  <a:srgbClr val="595959"/>
                </a:solidFill>
                <a:latin typeface="微软雅黑" panose="020B0503020204020204" pitchFamily="34" charset="-122"/>
                <a:ea typeface="微软雅黑" panose="020B0503020204020204" pitchFamily="34" charset="-122"/>
              </a:rPr>
              <a:t>由响应头中的</a:t>
            </a:r>
            <a:r>
              <a:rPr lang="zh-CN" altLang="en-US" sz="1800" dirty="0">
                <a:solidFill>
                  <a:srgbClr val="0070C0"/>
                </a:solidFill>
                <a:latin typeface="微软雅黑" panose="020B0503020204020204" pitchFamily="34" charset="-122"/>
                <a:ea typeface="微软雅黑" panose="020B0503020204020204" pitchFamily="34" charset="-122"/>
              </a:rPr>
              <a:t>Content-Type</a:t>
            </a:r>
            <a:r>
              <a:rPr lang="zh-CN" altLang="en-US" sz="1800">
                <a:solidFill>
                  <a:srgbClr val="0070C0"/>
                </a:solidFill>
                <a:latin typeface="微软雅黑" panose="020B0503020204020204" pitchFamily="34" charset="-122"/>
                <a:ea typeface="微软雅黑" panose="020B0503020204020204" pitchFamily="34" charset="-122"/>
              </a:rPr>
              <a:t>指定</a:t>
            </a:r>
            <a:r>
              <a:rPr lang="zh-CN" altLang="en-US" sz="1800">
                <a:solidFill>
                  <a:srgbClr val="595959"/>
                </a:solidFill>
                <a:latin typeface="微软雅黑" panose="020B0503020204020204" pitchFamily="34" charset="-122"/>
                <a:ea typeface="微软雅黑" panose="020B0503020204020204" pitchFamily="34" charset="-122"/>
              </a:rPr>
              <a:t>。下面</a:t>
            </a:r>
            <a:r>
              <a:rPr lang="zh-CN" altLang="en-US" sz="1800" dirty="0">
                <a:solidFill>
                  <a:srgbClr val="595959"/>
                </a:solidFill>
                <a:latin typeface="微软雅黑" panose="020B0503020204020204" pitchFamily="34" charset="-122"/>
                <a:ea typeface="微软雅黑" panose="020B0503020204020204" pitchFamily="34" charset="-122"/>
              </a:rPr>
              <a:t>展示一段使用</a:t>
            </a:r>
            <a:r>
              <a:rPr lang="zh-CN" altLang="en-US" sz="1800" dirty="0">
                <a:solidFill>
                  <a:srgbClr val="0070C0"/>
                </a:solidFill>
                <a:latin typeface="微软雅黑" panose="020B0503020204020204" pitchFamily="34" charset="-122"/>
                <a:ea typeface="微软雅黑" panose="020B0503020204020204" pitchFamily="34" charset="-122"/>
              </a:rPr>
              <a:t>Fiddler工具抓取到的HTTP响应数据</a:t>
            </a:r>
            <a:r>
              <a:rPr lang="zh-CN" altLang="en-US" sz="1800" dirty="0">
                <a:solidFill>
                  <a:srgbClr val="595959"/>
                </a:solidFill>
                <a:latin typeface="微软雅黑" panose="020B0503020204020204" pitchFamily="34" charset="-122"/>
                <a:ea typeface="微软雅黑" panose="020B0503020204020204" pitchFamily="34" charset="-122"/>
              </a:rPr>
              <a:t>，如下图所示。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4.2.3	HTTP响应</a:t>
            </a:r>
          </a:p>
        </p:txBody>
      </p:sp>
      <p:pic>
        <p:nvPicPr>
          <p:cNvPr id="2" name="图片 1" descr="444"/>
          <p:cNvPicPr>
            <a:picLocks noChangeAspect="1"/>
          </p:cNvPicPr>
          <p:nvPr/>
        </p:nvPicPr>
        <p:blipFill>
          <a:blip r:embed="rId3"/>
          <a:stretch>
            <a:fillRect/>
          </a:stretch>
        </p:blipFill>
        <p:spPr>
          <a:xfrm>
            <a:off x="2711206" y="2874019"/>
            <a:ext cx="7502952" cy="323981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1919206" y="1607820"/>
            <a:ext cx="2868059"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1799892" y="1790987"/>
            <a:ext cx="3123641" cy="40011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使用开发者工具进行抓包</a:t>
            </a:r>
          </a:p>
        </p:txBody>
      </p:sp>
      <p:sp>
        <p:nvSpPr>
          <p:cNvPr id="27" name="矩形 26"/>
          <p:cNvSpPr/>
          <p:nvPr/>
        </p:nvSpPr>
        <p:spPr>
          <a:xfrm>
            <a:off x="4840419"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5028118"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18" name="文本框 17"/>
          <p:cNvSpPr txBox="1"/>
          <p:nvPr/>
        </p:nvSpPr>
        <p:spPr>
          <a:xfrm>
            <a:off x="1343025" y="2637790"/>
            <a:ext cx="9474200" cy="3323987"/>
          </a:xfrm>
          <a:prstGeom prst="rect">
            <a:avLst/>
          </a:prstGeom>
          <a:noFill/>
        </p:spPr>
        <p:txBody>
          <a:bodyPr wrap="square" rtlCol="0" anchor="t">
            <a:spAutoFit/>
          </a:bodyPr>
          <a:lstStyle/>
          <a:p>
            <a:pPr>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抓</a:t>
            </a:r>
            <a:r>
              <a:rPr lang="zh-CN" altLang="en-US" sz="2000">
                <a:solidFill>
                  <a:schemeClr val="tx1">
                    <a:lumMod val="75000"/>
                    <a:lumOff val="25000"/>
                  </a:schemeClr>
                </a:solidFill>
                <a:latin typeface="微软雅黑" panose="020B0503020204020204" pitchFamily="34" charset="-122"/>
                <a:ea typeface="微软雅黑" panose="020B0503020204020204" pitchFamily="34" charset="-122"/>
              </a:rPr>
              <a:t>包是指将</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网络传输中发送或接收的数据包进行</a:t>
            </a:r>
            <a:r>
              <a:rPr lang="zh-CN" altLang="en-US" sz="2000" dirty="0">
                <a:solidFill>
                  <a:srgbClr val="0070C0"/>
                </a:solidFill>
                <a:latin typeface="微软雅黑" panose="020B0503020204020204" pitchFamily="34" charset="-122"/>
                <a:ea typeface="微软雅黑" panose="020B0503020204020204" pitchFamily="34" charset="-122"/>
              </a:rPr>
              <a:t>截获、重发、编辑、转存</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等操作。通过对网络上传输的数据进行抓取，并对其进行分析，能够</a:t>
            </a:r>
            <a:r>
              <a:rPr lang="zh-CN" altLang="en-US" sz="2000" dirty="0">
                <a:solidFill>
                  <a:srgbClr val="0070C0"/>
                </a:solidFill>
                <a:latin typeface="微软雅黑" panose="020B0503020204020204" pitchFamily="34" charset="-122"/>
                <a:ea typeface="微软雅黑" panose="020B0503020204020204" pitchFamily="34" charset="-122"/>
              </a:rPr>
              <a:t>分析程序网络接口</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检查网络安全</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分析网络故障</a:t>
            </a:r>
            <a:r>
              <a:rPr lang="zh-CN" altLang="en-US" sz="2000">
                <a:solidFill>
                  <a:schemeClr val="tx1">
                    <a:lumMod val="75000"/>
                    <a:lumOff val="25000"/>
                  </a:schemeClr>
                </a:solidFill>
                <a:latin typeface="微软雅黑" panose="020B0503020204020204" pitchFamily="34" charset="-122"/>
                <a:ea typeface="微软雅黑" panose="020B0503020204020204" pitchFamily="34" charset="-122"/>
              </a:rPr>
              <a:t>等。</a:t>
            </a:r>
            <a:endParaRPr lang="en-US" altLang="zh-CN" sz="200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0070C0"/>
                </a:solidFill>
                <a:latin typeface="微软雅黑" panose="020B0503020204020204" pitchFamily="34" charset="-122"/>
                <a:ea typeface="微软雅黑" panose="020B0503020204020204" pitchFamily="34" charset="-122"/>
              </a:rPr>
              <a:t>抓包工具是拦截并查看网络数据包内容的软件</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，常用的抓包工具有</a:t>
            </a:r>
            <a:r>
              <a:rPr lang="zh-CN" altLang="en-US" sz="2000" dirty="0">
                <a:solidFill>
                  <a:srgbClr val="0070C0"/>
                </a:solidFill>
                <a:latin typeface="微软雅黑" panose="020B0503020204020204" pitchFamily="34" charset="-122"/>
                <a:ea typeface="微软雅黑" panose="020B0503020204020204" pitchFamily="34" charset="-122"/>
              </a:rPr>
              <a:t>Fiddler、Sniffer</a:t>
            </a:r>
            <a:r>
              <a:rPr lang="zh-CN" altLang="en-US" sz="2000">
                <a:solidFill>
                  <a:srgbClr val="0070C0"/>
                </a:solidFill>
                <a:latin typeface="微软雅黑" panose="020B0503020204020204" pitchFamily="34" charset="-122"/>
                <a:ea typeface="微软雅黑" panose="020B0503020204020204" pitchFamily="34" charset="-122"/>
              </a:rPr>
              <a:t>、I</a:t>
            </a:r>
            <a:r>
              <a:rPr lang="en-US" altLang="zh-CN" sz="2000">
                <a:solidFill>
                  <a:srgbClr val="0070C0"/>
                </a:solidFill>
                <a:latin typeface="微软雅黑" panose="020B0503020204020204" pitchFamily="34" charset="-122"/>
                <a:ea typeface="微软雅黑" panose="020B0503020204020204" pitchFamily="34" charset="-122"/>
              </a:rPr>
              <a:t>PT</a:t>
            </a:r>
            <a:r>
              <a:rPr lang="zh-CN" altLang="en-US" sz="2000">
                <a:solidFill>
                  <a:srgbClr val="0070C0"/>
                </a:solidFill>
                <a:latin typeface="微软雅黑" panose="020B0503020204020204" pitchFamily="34" charset="-122"/>
                <a:ea typeface="微软雅黑" panose="020B0503020204020204" pitchFamily="34" charset="-122"/>
              </a:rPr>
              <a:t>ool</a:t>
            </a:r>
            <a:r>
              <a:rPr lang="en-US" altLang="zh-CN" sz="2000">
                <a:solidFill>
                  <a:srgbClr val="0070C0"/>
                </a:solidFill>
                <a:latin typeface="微软雅黑" panose="020B0503020204020204" pitchFamily="34" charset="-122"/>
                <a:ea typeface="微软雅黑" panose="020B0503020204020204" pitchFamily="34" charset="-122"/>
              </a:rPr>
              <a:t>s</a:t>
            </a:r>
            <a:r>
              <a:rPr lang="zh-CN" altLang="en-US" sz="2000">
                <a:solidFill>
                  <a:schemeClr val="tx1">
                    <a:lumMod val="75000"/>
                    <a:lumOff val="25000"/>
                  </a:schemeClr>
                </a:solidFill>
                <a:latin typeface="微软雅黑" panose="020B0503020204020204" pitchFamily="34" charset="-122"/>
                <a:ea typeface="微软雅黑" panose="020B0503020204020204" pitchFamily="34" charset="-122"/>
              </a:rPr>
              <a:t>等</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。这些抓包工具的功能各异，但是基本使用原理相同</a:t>
            </a:r>
            <a:r>
              <a:rPr lang="zh-CN" altLang="en-US" sz="2000">
                <a:solidFill>
                  <a:schemeClr val="tx1">
                    <a:lumMod val="75000"/>
                    <a:lumOff val="25000"/>
                  </a:schemeClr>
                </a:solidFill>
                <a:latin typeface="微软雅黑" panose="020B0503020204020204" pitchFamily="34" charset="-122"/>
                <a:ea typeface="微软雅黑" panose="020B0503020204020204" pitchFamily="34" charset="-122"/>
              </a:rPr>
              <a:t>，除了可以使用</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抓包工具进行</a:t>
            </a:r>
            <a:r>
              <a:rPr lang="zh-CN" altLang="en-US" sz="2000">
                <a:solidFill>
                  <a:schemeClr val="tx1">
                    <a:lumMod val="75000"/>
                    <a:lumOff val="25000"/>
                  </a:schemeClr>
                </a:solidFill>
                <a:latin typeface="微软雅黑" panose="020B0503020204020204" pitchFamily="34" charset="-122"/>
                <a:ea typeface="微软雅黑" panose="020B0503020204020204" pitchFamily="34" charset="-122"/>
              </a:rPr>
              <a:t>抓包外</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，还可以使用</a:t>
            </a:r>
            <a:r>
              <a:rPr lang="zh-CN" altLang="en-US" sz="2000" dirty="0">
                <a:solidFill>
                  <a:srgbClr val="0070C0"/>
                </a:solidFill>
                <a:latin typeface="微软雅黑" panose="020B0503020204020204" pitchFamily="34" charset="-122"/>
                <a:ea typeface="微软雅黑" panose="020B0503020204020204" pitchFamily="34" charset="-122"/>
              </a:rPr>
              <a:t>浏览器自带的开发者工具</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进行抓包。</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4.2.3	HTTP响应</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4.2.3	HTTP响应</a:t>
            </a:r>
          </a:p>
        </p:txBody>
      </p:sp>
      <p:sp>
        <p:nvSpPr>
          <p:cNvPr id="2" name="文本框 1"/>
          <p:cNvSpPr txBox="1"/>
          <p:nvPr/>
        </p:nvSpPr>
        <p:spPr>
          <a:xfrm>
            <a:off x="839206" y="1409414"/>
            <a:ext cx="10619740" cy="1938992"/>
          </a:xfrm>
          <a:prstGeom prst="rect">
            <a:avLst/>
          </a:prstGeom>
          <a:noFill/>
        </p:spPr>
        <p:txBody>
          <a:bodyPr wrap="square" rtlCol="0" anchor="t">
            <a:spAutoFit/>
          </a:bodyPr>
          <a:lstStyle/>
          <a:p>
            <a:pPr>
              <a:lnSpc>
                <a:spcPct val="150000"/>
              </a:lnSpc>
            </a:pPr>
            <a:r>
              <a:rPr lang="en-US" altLang="zh-CN" sz="2000">
                <a:solidFill>
                  <a:schemeClr val="tx1">
                    <a:lumMod val="75000"/>
                    <a:lumOff val="25000"/>
                  </a:schemeClr>
                </a:solidFill>
                <a:latin typeface="微软雅黑" panose="020B0503020204020204" pitchFamily="34" charset="-122"/>
                <a:ea typeface="微软雅黑" panose="020B0503020204020204" pitchFamily="34" charset="-122"/>
              </a:rPr>
              <a:t>通常在接口测试中，需要重点关注 </a:t>
            </a:r>
            <a:r>
              <a:rPr lang="en-US" altLang="zh-CN" sz="2000">
                <a:solidFill>
                  <a:srgbClr val="0070C0"/>
                </a:solidFill>
                <a:latin typeface="微软雅黑" panose="020B0503020204020204" pitchFamily="34" charset="-122"/>
                <a:ea typeface="微软雅黑" panose="020B0503020204020204" pitchFamily="34" charset="-122"/>
              </a:rPr>
              <a:t>document </a:t>
            </a:r>
            <a:r>
              <a:rPr lang="en-US" altLang="zh-CN" sz="2000">
                <a:solidFill>
                  <a:schemeClr val="tx1">
                    <a:lumMod val="75000"/>
                    <a:lumOff val="25000"/>
                  </a:schemeClr>
                </a:solidFill>
                <a:latin typeface="微软雅黑" panose="020B0503020204020204" pitchFamily="34" charset="-122"/>
                <a:ea typeface="微软雅黑" panose="020B0503020204020204" pitchFamily="34" charset="-122"/>
              </a:rPr>
              <a:t>类型的请求资源信息，该类型的请求资源信息中包含详细的</a:t>
            </a:r>
            <a:r>
              <a:rPr lang="en-US" altLang="zh-CN" sz="2000">
                <a:solidFill>
                  <a:srgbClr val="0070C0"/>
                </a:solidFill>
                <a:latin typeface="微软雅黑" panose="020B0503020204020204" pitchFamily="34" charset="-122"/>
                <a:ea typeface="微软雅黑" panose="020B0503020204020204" pitchFamily="34" charset="-122"/>
              </a:rPr>
              <a:t>接口请求地址</a:t>
            </a:r>
            <a:r>
              <a:rPr lang="en-US" altLang="zh-CN" sz="200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2000">
                <a:solidFill>
                  <a:srgbClr val="0070C0"/>
                </a:solidFill>
                <a:latin typeface="微软雅黑" panose="020B0503020204020204" pitchFamily="34" charset="-122"/>
                <a:ea typeface="微软雅黑" panose="020B0503020204020204" pitchFamily="34" charset="-122"/>
              </a:rPr>
              <a:t>请求方法</a:t>
            </a:r>
            <a:r>
              <a:rPr lang="en-US" altLang="zh-CN" sz="2000">
                <a:solidFill>
                  <a:schemeClr val="tx1">
                    <a:lumMod val="75000"/>
                    <a:lumOff val="25000"/>
                  </a:schemeClr>
                </a:solidFill>
                <a:latin typeface="微软雅黑" panose="020B0503020204020204" pitchFamily="34" charset="-122"/>
                <a:ea typeface="微软雅黑" panose="020B0503020204020204" pitchFamily="34" charset="-122"/>
              </a:rPr>
              <a:t>等。例如，单击左下方名称为</a:t>
            </a:r>
            <a:r>
              <a:rPr lang="en-US" altLang="zh-CN" sz="2000">
                <a:solidFill>
                  <a:srgbClr val="0070C0"/>
                </a:solidFill>
                <a:latin typeface="微软雅黑" panose="020B0503020204020204" pitchFamily="34" charset="-122"/>
                <a:ea typeface="微软雅黑" panose="020B0503020204020204" pitchFamily="34" charset="-122"/>
              </a:rPr>
              <a:t>“tpshop-test.itheima.net”</a:t>
            </a:r>
            <a:r>
              <a:rPr lang="en-US" altLang="zh-CN" sz="2000">
                <a:solidFill>
                  <a:schemeClr val="tx1">
                    <a:lumMod val="75000"/>
                    <a:lumOff val="25000"/>
                  </a:schemeClr>
                </a:solidFill>
                <a:latin typeface="微软雅黑" panose="020B0503020204020204" pitchFamily="34" charset="-122"/>
                <a:ea typeface="微软雅黑" panose="020B0503020204020204" pitchFamily="34" charset="-122"/>
              </a:rPr>
              <a:t>的 document 类型的请求资源信息时，右下方会显示具体的</a:t>
            </a:r>
            <a:r>
              <a:rPr lang="en-US" altLang="zh-CN" sz="2000">
                <a:solidFill>
                  <a:srgbClr val="0070C0"/>
                </a:solidFill>
                <a:latin typeface="微软雅黑" panose="020B0503020204020204" pitchFamily="34" charset="-122"/>
                <a:ea typeface="微软雅黑" panose="020B0503020204020204" pitchFamily="34" charset="-122"/>
              </a:rPr>
              <a:t>请求和响应数据</a:t>
            </a:r>
            <a:r>
              <a:rPr lang="zh-CN" altLang="en-US" sz="2000">
                <a:solidFill>
                  <a:schemeClr val="tx1">
                    <a:lumMod val="75000"/>
                    <a:lumOff val="25000"/>
                  </a:schemeClr>
                </a:solidFill>
                <a:latin typeface="微软雅黑" panose="020B0503020204020204" pitchFamily="34" charset="-122"/>
                <a:ea typeface="微软雅黑" panose="020B0503020204020204" pitchFamily="34" charset="-122"/>
              </a:rPr>
              <a:t>，如下</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图所示。</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1206" y="3213794"/>
            <a:ext cx="5976000" cy="340803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Postman</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入门</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35"/>
          <p:cNvSpPr txBox="1">
            <a:spLocks noChangeArrowheads="1"/>
          </p:cNvSpPr>
          <p:nvPr/>
        </p:nvSpPr>
        <p:spPr bwMode="auto">
          <a:xfrm>
            <a:off x="1143691" y="1763643"/>
            <a:ext cx="8856000" cy="33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42900" lvl="0" indent="-342900">
              <a:lnSpc>
                <a:spcPct val="150000"/>
              </a:lnSpc>
              <a:buFont typeface="Wingdings" panose="05000000000000000000" pitchFamily="2" charset="2"/>
              <a:buChar char="l"/>
            </a:pP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Collections</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：表示</a:t>
            </a:r>
            <a:r>
              <a:rPr lang="zh-CN" altLang="zh-CN" sz="2000">
                <a:solidFill>
                  <a:srgbClr val="0070C0"/>
                </a:solidFill>
                <a:latin typeface="微软雅黑" panose="020B0503020204020204" pitchFamily="34" charset="-122"/>
                <a:ea typeface="微软雅黑" panose="020B0503020204020204" pitchFamily="34" charset="-122"/>
                <a:cs typeface="+mn-ea"/>
              </a:rPr>
              <a:t>集合</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，可以对项目模块中的接口进行分类和管理。</a:t>
            </a:r>
          </a:p>
          <a:p>
            <a:pPr marL="342900" lvl="0" indent="-342900">
              <a:lnSpc>
                <a:spcPct val="150000"/>
              </a:lnSpc>
              <a:buFont typeface="Wingdings" panose="05000000000000000000" pitchFamily="2" charset="2"/>
              <a:buChar char="l"/>
            </a:pP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APIs</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：表示</a:t>
            </a:r>
            <a:r>
              <a:rPr lang="zh-CN" altLang="zh-CN" sz="2000">
                <a:solidFill>
                  <a:srgbClr val="0070C0"/>
                </a:solidFill>
                <a:latin typeface="微软雅黑" panose="020B0503020204020204" pitchFamily="34" charset="-122"/>
                <a:ea typeface="微软雅黑" panose="020B0503020204020204" pitchFamily="34" charset="-122"/>
                <a:cs typeface="+mn-ea"/>
              </a:rPr>
              <a:t>应用程序接口</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，用于定义集合和环境。</a:t>
            </a:r>
          </a:p>
          <a:p>
            <a:pPr marL="342900" lvl="0" indent="-342900">
              <a:lnSpc>
                <a:spcPct val="150000"/>
              </a:lnSpc>
              <a:buFont typeface="Wingdings" panose="05000000000000000000" pitchFamily="2" charset="2"/>
              <a:buChar char="l"/>
            </a:pP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Environments</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：表示</a:t>
            </a:r>
            <a:r>
              <a:rPr lang="zh-CN" altLang="zh-CN" sz="2000">
                <a:solidFill>
                  <a:srgbClr val="0070C0"/>
                </a:solidFill>
                <a:latin typeface="微软雅黑" panose="020B0503020204020204" pitchFamily="34" charset="-122"/>
                <a:ea typeface="微软雅黑" panose="020B0503020204020204" pitchFamily="34" charset="-122"/>
                <a:cs typeface="+mn-ea"/>
              </a:rPr>
              <a:t>环境</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，可以定义全局变量和环境变量。</a:t>
            </a:r>
          </a:p>
          <a:p>
            <a:pPr marL="342900" lvl="0" indent="-342900">
              <a:lnSpc>
                <a:spcPct val="150000"/>
              </a:lnSpc>
              <a:buFont typeface="Wingdings" panose="05000000000000000000" pitchFamily="2" charset="2"/>
              <a:buChar char="l"/>
            </a:pP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Mock Servers</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：表示</a:t>
            </a:r>
            <a:r>
              <a:rPr lang="zh-CN" altLang="zh-CN" sz="2000">
                <a:solidFill>
                  <a:srgbClr val="0070C0"/>
                </a:solidFill>
                <a:latin typeface="微软雅黑" panose="020B0503020204020204" pitchFamily="34" charset="-122"/>
                <a:ea typeface="微软雅黑" panose="020B0503020204020204" pitchFamily="34" charset="-122"/>
                <a:cs typeface="+mn-ea"/>
              </a:rPr>
              <a:t>模拟服务器</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Monitors</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：表示</a:t>
            </a:r>
            <a:r>
              <a:rPr lang="zh-CN" altLang="zh-CN" sz="2000">
                <a:solidFill>
                  <a:srgbClr val="0070C0"/>
                </a:solidFill>
                <a:latin typeface="微软雅黑" panose="020B0503020204020204" pitchFamily="34" charset="-122"/>
                <a:ea typeface="微软雅黑" panose="020B0503020204020204" pitchFamily="34" charset="-122"/>
                <a:cs typeface="+mn-ea"/>
              </a:rPr>
              <a:t>监听器</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，能够定期运行集合中的请求。</a:t>
            </a:r>
          </a:p>
          <a:p>
            <a:pPr marL="342900" lvl="0" indent="-342900">
              <a:lnSpc>
                <a:spcPct val="150000"/>
              </a:lnSpc>
              <a:buFont typeface="Wingdings" panose="05000000000000000000" pitchFamily="2" charset="2"/>
              <a:buChar char="l"/>
            </a:pP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Flows</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：表示</a:t>
            </a:r>
            <a:r>
              <a:rPr lang="zh-CN" altLang="zh-CN" sz="2000">
                <a:solidFill>
                  <a:srgbClr val="0070C0"/>
                </a:solidFill>
                <a:latin typeface="微软雅黑" panose="020B0503020204020204" pitchFamily="34" charset="-122"/>
                <a:ea typeface="微软雅黑" panose="020B0503020204020204" pitchFamily="34" charset="-122"/>
                <a:cs typeface="+mn-ea"/>
              </a:rPr>
              <a:t>流程</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，能够通过逻辑连接请求模拟实际项目中的流程。</a:t>
            </a:r>
          </a:p>
          <a:p>
            <a:pPr marL="342900" lvl="0" indent="-342900">
              <a:lnSpc>
                <a:spcPct val="150000"/>
              </a:lnSpc>
              <a:buFont typeface="Wingdings" panose="05000000000000000000" pitchFamily="2" charset="2"/>
              <a:buChar char="l"/>
            </a:pP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History</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：表示</a:t>
            </a:r>
            <a:r>
              <a:rPr lang="zh-CN" altLang="zh-CN" sz="2000">
                <a:solidFill>
                  <a:srgbClr val="0070C0"/>
                </a:solidFill>
                <a:latin typeface="微软雅黑" panose="020B0503020204020204" pitchFamily="34" charset="-122"/>
                <a:ea typeface="微软雅黑" panose="020B0503020204020204" pitchFamily="34" charset="-122"/>
                <a:cs typeface="+mn-ea"/>
              </a:rPr>
              <a:t>历史记录</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4.3.1	安装Postman</a:t>
            </a:r>
          </a:p>
        </p:txBody>
      </p:sp>
      <p:sp>
        <p:nvSpPr>
          <p:cNvPr id="2" name="矩形 1"/>
          <p:cNvSpPr/>
          <p:nvPr/>
        </p:nvSpPr>
        <p:spPr>
          <a:xfrm>
            <a:off x="551206" y="1053794"/>
            <a:ext cx="6092825" cy="400110"/>
          </a:xfrm>
          <a:prstGeom prst="rect">
            <a:avLst/>
          </a:prstGeom>
        </p:spPr>
        <p:txBody>
          <a:bodyPr>
            <a:spAutoFit/>
          </a:bodyPr>
          <a:lstStyle/>
          <a:p>
            <a:pPr marL="350520" indent="229235">
              <a:spcBef>
                <a:spcPts val="605"/>
              </a:spcBef>
              <a:spcAft>
                <a:spcPts val="0"/>
              </a:spcAft>
            </a:pP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下面</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介绍 </a:t>
            </a:r>
            <a:r>
              <a:rPr lang="en-US" altLang="zh-CN" sz="2000">
                <a:solidFill>
                  <a:srgbClr val="0070C0"/>
                </a:solidFill>
                <a:latin typeface="微软雅黑" panose="020B0503020204020204" pitchFamily="34" charset="-122"/>
                <a:ea typeface="微软雅黑" panose="020B0503020204020204" pitchFamily="34" charset="-122"/>
                <a:cs typeface="+mn-ea"/>
              </a:rPr>
              <a:t>Postman 主窗口左侧的选项</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4.3.2	发送第一个HTTP请求</a:t>
            </a:r>
          </a:p>
        </p:txBody>
      </p:sp>
      <p:sp>
        <p:nvSpPr>
          <p:cNvPr id="15" name="1"/>
          <p:cNvSpPr txBox="1"/>
          <p:nvPr>
            <p:custDataLst>
              <p:tags r:id="rId1"/>
            </p:custDataLst>
          </p:nvPr>
        </p:nvSpPr>
        <p:spPr>
          <a:xfrm>
            <a:off x="1415206" y="981794"/>
            <a:ext cx="9144000" cy="648000"/>
          </a:xfrm>
          <a:prstGeom prst="rect">
            <a:avLst/>
          </a:prstGeom>
          <a:noFill/>
          <a:ln>
            <a:noFill/>
          </a:ln>
        </p:spPr>
        <p:txBody>
          <a:bodyPr wrap="square" rtlCol="0">
            <a:noAutofit/>
          </a:bodyPr>
          <a:lstStyle/>
          <a:p>
            <a:pPr defTabSz="457200">
              <a:lnSpc>
                <a:spcPct val="150000"/>
              </a:lnSpc>
              <a:defRPr/>
            </a:pP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sym typeface="+mn-ea"/>
              </a:rPr>
              <a:t>关于</a:t>
            </a:r>
            <a:r>
              <a:rPr lang="zh-CN" altLang="zh-CN" sz="1800">
                <a:solidFill>
                  <a:srgbClr val="0070C0"/>
                </a:solidFill>
                <a:latin typeface="微软雅黑" panose="020B0503020204020204" pitchFamily="34" charset="-122"/>
                <a:ea typeface="微软雅黑" panose="020B0503020204020204" pitchFamily="34" charset="-122"/>
              </a:rPr>
              <a:t>请求方法和请求地址下方的</a:t>
            </a:r>
            <a:r>
              <a:rPr lang="zh-CN" altLang="en-US" sz="1800">
                <a:solidFill>
                  <a:srgbClr val="0070C0"/>
                </a:solidFill>
                <a:latin typeface="微软雅黑" panose="020B0503020204020204" pitchFamily="34" charset="-122"/>
                <a:ea typeface="微软雅黑" panose="020B0503020204020204" pitchFamily="34" charset="-122"/>
              </a:rPr>
              <a:t>标签</a:t>
            </a:r>
            <a:r>
              <a:rPr lang="zh-CN" altLang="zh-CN" sz="1800">
                <a:solidFill>
                  <a:srgbClr val="0070C0"/>
                </a:solidFill>
                <a:latin typeface="微软雅黑" panose="020B0503020204020204" pitchFamily="34" charset="-122"/>
                <a:ea typeface="微软雅黑" panose="020B0503020204020204" pitchFamily="34" charset="-122"/>
              </a:rPr>
              <a:t>的具体介绍</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如下</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1415206" y="1629794"/>
            <a:ext cx="9763931" cy="4247317"/>
          </a:xfrm>
          <a:prstGeom prst="rect">
            <a:avLst/>
          </a:prstGeom>
        </p:spPr>
        <p:txBody>
          <a:bodyPr wrap="square">
            <a:spAutoFit/>
          </a:bodyPr>
          <a:lstStyle/>
          <a:p>
            <a:pPr marL="342900" lvl="0" indent="-342900" algn="just">
              <a:lnSpc>
                <a:spcPct val="150000"/>
              </a:lnSpc>
              <a:spcAft>
                <a:spcPts val="0"/>
              </a:spcAft>
              <a:buFont typeface="Wingdings" panose="05000000000000000000" pitchFamily="2" charset="2"/>
              <a:buChar char=""/>
            </a:pPr>
            <a:r>
              <a:rPr lang="en-US" altLang="zh-CN" sz="1800">
                <a:solidFill>
                  <a:schemeClr val="tx1">
                    <a:lumMod val="75000"/>
                    <a:lumOff val="25000"/>
                  </a:schemeClr>
                </a:solidFill>
                <a:latin typeface="微软雅黑" panose="020B0503020204020204" pitchFamily="34" charset="-122"/>
                <a:ea typeface="微软雅黑" panose="020B0503020204020204" pitchFamily="34" charset="-122"/>
              </a:rPr>
              <a:t>Params</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：表示</a:t>
            </a:r>
            <a:r>
              <a:rPr lang="zh-CN" altLang="zh-CN" sz="1800">
                <a:solidFill>
                  <a:srgbClr val="0070C0"/>
                </a:solidFill>
                <a:latin typeface="微软雅黑" panose="020B0503020204020204" pitchFamily="34" charset="-122"/>
                <a:ea typeface="微软雅黑" panose="020B0503020204020204" pitchFamily="34" charset="-122"/>
              </a:rPr>
              <a:t>参数</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，当单击该</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标签</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时，可以在下方设置请求地址参数。</a:t>
            </a:r>
          </a:p>
          <a:p>
            <a:pPr marL="342900" lvl="0" indent="-342900" algn="just">
              <a:lnSpc>
                <a:spcPct val="150000"/>
              </a:lnSpc>
              <a:spcAft>
                <a:spcPts val="0"/>
              </a:spcAft>
              <a:buFont typeface="Wingdings" panose="05000000000000000000" pitchFamily="2" charset="2"/>
              <a:buChar char=""/>
            </a:pPr>
            <a:r>
              <a:rPr lang="en-US" altLang="zh-CN" sz="1800">
                <a:solidFill>
                  <a:schemeClr val="tx1">
                    <a:lumMod val="75000"/>
                    <a:lumOff val="25000"/>
                  </a:schemeClr>
                </a:solidFill>
                <a:latin typeface="微软雅黑" panose="020B0503020204020204" pitchFamily="34" charset="-122"/>
                <a:ea typeface="微软雅黑" panose="020B0503020204020204" pitchFamily="34" charset="-122"/>
              </a:rPr>
              <a:t>Authorization</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：表示</a:t>
            </a:r>
            <a:r>
              <a:rPr lang="zh-CN" altLang="zh-CN" sz="1800">
                <a:solidFill>
                  <a:srgbClr val="0070C0"/>
                </a:solidFill>
                <a:latin typeface="微软雅黑" panose="020B0503020204020204" pitchFamily="34" charset="-122"/>
                <a:ea typeface="微软雅黑" panose="020B0503020204020204" pitchFamily="34" charset="-122"/>
              </a:rPr>
              <a:t>授权</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，当单击该</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标签</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时，可以了解授权信息，通常在发送请求时，在</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其</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下方会自动生成授权的请求头。</a:t>
            </a:r>
          </a:p>
          <a:p>
            <a:pPr marL="342900" lvl="0" indent="-342900" algn="just">
              <a:lnSpc>
                <a:spcPct val="150000"/>
              </a:lnSpc>
              <a:spcAft>
                <a:spcPts val="0"/>
              </a:spcAft>
              <a:buFont typeface="Wingdings" panose="05000000000000000000" pitchFamily="2" charset="2"/>
              <a:buChar char=""/>
            </a:pPr>
            <a:r>
              <a:rPr lang="en-US" altLang="zh-CN" sz="1800">
                <a:solidFill>
                  <a:schemeClr val="tx1">
                    <a:lumMod val="75000"/>
                    <a:lumOff val="25000"/>
                  </a:schemeClr>
                </a:solidFill>
                <a:latin typeface="微软雅黑" panose="020B0503020204020204" pitchFamily="34" charset="-122"/>
                <a:ea typeface="微软雅黑" panose="020B0503020204020204" pitchFamily="34" charset="-122"/>
              </a:rPr>
              <a:t>Headers</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：表示</a:t>
            </a:r>
            <a:r>
              <a:rPr lang="zh-CN" altLang="zh-CN" sz="1800">
                <a:solidFill>
                  <a:srgbClr val="0070C0"/>
                </a:solidFill>
                <a:latin typeface="微软雅黑" panose="020B0503020204020204" pitchFamily="34" charset="-122"/>
                <a:ea typeface="微软雅黑" panose="020B0503020204020204" pitchFamily="34" charset="-122"/>
              </a:rPr>
              <a:t>请求头</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，当单击该</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标签</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时，可以在下方设置请求头。</a:t>
            </a:r>
          </a:p>
          <a:p>
            <a:pPr marL="342900" lvl="0" indent="-342900" algn="just">
              <a:lnSpc>
                <a:spcPct val="150000"/>
              </a:lnSpc>
              <a:spcAft>
                <a:spcPts val="0"/>
              </a:spcAft>
              <a:buFont typeface="Wingdings" panose="05000000000000000000" pitchFamily="2" charset="2"/>
              <a:buChar char=""/>
            </a:pPr>
            <a:r>
              <a:rPr lang="en-US" altLang="zh-CN" sz="1800">
                <a:solidFill>
                  <a:schemeClr val="tx1">
                    <a:lumMod val="75000"/>
                    <a:lumOff val="25000"/>
                  </a:schemeClr>
                </a:solidFill>
                <a:latin typeface="微软雅黑" panose="020B0503020204020204" pitchFamily="34" charset="-122"/>
                <a:ea typeface="微软雅黑" panose="020B0503020204020204" pitchFamily="34" charset="-122"/>
              </a:rPr>
              <a:t>Body</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：表示</a:t>
            </a:r>
            <a:r>
              <a:rPr lang="zh-CN" altLang="zh-CN" sz="1800">
                <a:solidFill>
                  <a:srgbClr val="0070C0"/>
                </a:solidFill>
                <a:latin typeface="微软雅黑" panose="020B0503020204020204" pitchFamily="34" charset="-122"/>
                <a:ea typeface="微软雅黑" panose="020B0503020204020204" pitchFamily="34" charset="-122"/>
              </a:rPr>
              <a:t>请求体</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，当单击该</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标签</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时，可以在下方设置请求体参数。</a:t>
            </a:r>
          </a:p>
          <a:p>
            <a:pPr marL="342900" lvl="0" indent="-342900" algn="just">
              <a:lnSpc>
                <a:spcPct val="150000"/>
              </a:lnSpc>
              <a:spcAft>
                <a:spcPts val="0"/>
              </a:spcAft>
              <a:buFont typeface="Wingdings" panose="05000000000000000000" pitchFamily="2" charset="2"/>
              <a:buChar char=""/>
            </a:pPr>
            <a:r>
              <a:rPr lang="en-US" altLang="zh-CN" sz="1800">
                <a:solidFill>
                  <a:schemeClr val="tx1">
                    <a:lumMod val="75000"/>
                    <a:lumOff val="25000"/>
                  </a:schemeClr>
                </a:solidFill>
                <a:latin typeface="微软雅黑" panose="020B0503020204020204" pitchFamily="34" charset="-122"/>
                <a:ea typeface="微软雅黑" panose="020B0503020204020204" pitchFamily="34" charset="-122"/>
              </a:rPr>
              <a:t>Pre-request Script</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：表示</a:t>
            </a:r>
            <a:r>
              <a:rPr lang="zh-CN" altLang="zh-CN" sz="1800">
                <a:solidFill>
                  <a:srgbClr val="0070C0"/>
                </a:solidFill>
                <a:latin typeface="微软雅黑" panose="020B0503020204020204" pitchFamily="34" charset="-122"/>
                <a:ea typeface="微软雅黑" panose="020B0503020204020204" pitchFamily="34" charset="-122"/>
              </a:rPr>
              <a:t>预请求脚本</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，当单击该</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标签</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时，可以在下方编写预请求脚本代码。</a:t>
            </a:r>
          </a:p>
          <a:p>
            <a:pPr marL="342900" lvl="0" indent="-342900" algn="just">
              <a:lnSpc>
                <a:spcPct val="150000"/>
              </a:lnSpc>
              <a:spcAft>
                <a:spcPts val="0"/>
              </a:spcAft>
              <a:buFont typeface="Wingdings" panose="05000000000000000000" pitchFamily="2" charset="2"/>
              <a:buChar char=""/>
            </a:pPr>
            <a:r>
              <a:rPr lang="en-US" altLang="zh-CN" sz="1800">
                <a:solidFill>
                  <a:schemeClr val="tx1">
                    <a:lumMod val="75000"/>
                    <a:lumOff val="25000"/>
                  </a:schemeClr>
                </a:solidFill>
                <a:latin typeface="微软雅黑" panose="020B0503020204020204" pitchFamily="34" charset="-122"/>
                <a:ea typeface="微软雅黑" panose="020B0503020204020204" pitchFamily="34" charset="-122"/>
              </a:rPr>
              <a:t>Tests</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：表示</a:t>
            </a:r>
            <a:r>
              <a:rPr lang="zh-CN" altLang="zh-CN" sz="1800">
                <a:solidFill>
                  <a:srgbClr val="0070C0"/>
                </a:solidFill>
                <a:latin typeface="微软雅黑" panose="020B0503020204020204" pitchFamily="34" charset="-122"/>
                <a:ea typeface="微软雅黑" panose="020B0503020204020204" pitchFamily="34" charset="-122"/>
              </a:rPr>
              <a:t>测试</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，当单击该</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标签</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时，可以在下方编写测试脚本代码，</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例</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如断言代码、关联代码等。</a:t>
            </a:r>
          </a:p>
          <a:p>
            <a:pPr marL="342900" lvl="0" indent="-342900" algn="just">
              <a:lnSpc>
                <a:spcPct val="150000"/>
              </a:lnSpc>
              <a:spcAft>
                <a:spcPts val="0"/>
              </a:spcAft>
              <a:buFont typeface="Wingdings" panose="05000000000000000000" pitchFamily="2" charset="2"/>
              <a:buChar char=""/>
            </a:pPr>
            <a:r>
              <a:rPr lang="en-US" altLang="zh-CN" sz="1800">
                <a:solidFill>
                  <a:schemeClr val="tx1">
                    <a:lumMod val="75000"/>
                    <a:lumOff val="25000"/>
                  </a:schemeClr>
                </a:solidFill>
                <a:latin typeface="微软雅黑" panose="020B0503020204020204" pitchFamily="34" charset="-122"/>
                <a:ea typeface="微软雅黑" panose="020B0503020204020204" pitchFamily="34" charset="-122"/>
              </a:rPr>
              <a:t>Settings</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：表示</a:t>
            </a:r>
            <a:r>
              <a:rPr lang="zh-CN" altLang="zh-CN" sz="1800">
                <a:solidFill>
                  <a:srgbClr val="0070C0"/>
                </a:solidFill>
                <a:latin typeface="微软雅黑" panose="020B0503020204020204" pitchFamily="34" charset="-122"/>
                <a:ea typeface="微软雅黑" panose="020B0503020204020204" pitchFamily="34" charset="-122"/>
              </a:rPr>
              <a:t>设置</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，当单击该</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标签</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时，可以在下方进行相关的设置操作，</a:t>
            </a: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rPr>
              <a:t>例</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如启用</a:t>
            </a:r>
            <a:r>
              <a:rPr lang="en-US" altLang="zh-CN" sz="1800">
                <a:solidFill>
                  <a:schemeClr val="tx1">
                    <a:lumMod val="75000"/>
                    <a:lumOff val="25000"/>
                  </a:schemeClr>
                </a:solidFill>
                <a:latin typeface="微软雅黑" panose="020B0503020204020204" pitchFamily="34" charset="-122"/>
                <a:ea typeface="微软雅黑" panose="020B0503020204020204" pitchFamily="34" charset="-122"/>
              </a:rPr>
              <a:t>SSL</a:t>
            </a:r>
            <a:r>
              <a:rPr lang="zh-CN" altLang="zh-CN" sz="1800">
                <a:solidFill>
                  <a:schemeClr val="tx1">
                    <a:lumMod val="75000"/>
                    <a:lumOff val="25000"/>
                  </a:schemeClr>
                </a:solidFill>
                <a:latin typeface="微软雅黑" panose="020B0503020204020204" pitchFamily="34" charset="-122"/>
                <a:ea typeface="微软雅黑" panose="020B0503020204020204" pitchFamily="34" charset="-122"/>
              </a:rPr>
              <a:t>证书验证、自动跟随重定向等。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4.4.1	Postman断言</a:t>
            </a:r>
          </a:p>
        </p:txBody>
      </p:sp>
      <p:sp>
        <p:nvSpPr>
          <p:cNvPr id="6" name="1"/>
          <p:cNvSpPr txBox="1"/>
          <p:nvPr>
            <p:custDataLst>
              <p:tags r:id="rId1"/>
            </p:custDataLst>
          </p:nvPr>
        </p:nvSpPr>
        <p:spPr>
          <a:xfrm>
            <a:off x="4799330" y="1413510"/>
            <a:ext cx="6340475" cy="3831818"/>
          </a:xfrm>
          <a:prstGeom prst="rect">
            <a:avLst/>
          </a:prstGeom>
          <a:noFill/>
          <a:ln>
            <a:noFill/>
          </a:ln>
        </p:spPr>
        <p:txBody>
          <a:bodyPr wrap="square" rtlCol="0">
            <a:spAutoFit/>
          </a:bodyPr>
          <a:lstStyle/>
          <a:p>
            <a:pPr marL="0" marR="0" lvl="0" indent="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断言</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是程序中的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一种逻辑判断式</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，目的是</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验证软件开发的预期结果与实际结果是否一致</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。例如，程序员在编写代码时，通常会做出一些假设</a:t>
            </a:r>
            <a:r>
              <a:rPr kumimoji="0" lang="zh-CN" altLang="en-US" sz="1800" i="0" u="none" strike="noStrike" cap="none" spc="0" normalizeH="0" baseline="0">
                <a:solidFill>
                  <a:schemeClr val="tx1">
                    <a:lumMod val="75000"/>
                    <a:lumOff val="25000"/>
                  </a:schemeClr>
                </a:solidFill>
                <a:latin typeface="微软雅黑" panose="020B0503020204020204" pitchFamily="34" charset="-122"/>
                <a:ea typeface="微软雅黑" panose="020B0503020204020204" pitchFamily="34" charset="-122"/>
                <a:sym typeface="+mn-lt"/>
              </a:rPr>
              <a:t>，断言的目的就是</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在代码中捕捉这些假设。当程序执行到断言所在的位置时，对应的断言如果为真，则程序将继续</a:t>
            </a:r>
            <a:r>
              <a:rPr kumimoji="0" lang="zh-CN" altLang="en-US" sz="1800" i="0" u="none" strike="noStrike" cap="none" spc="0" normalizeH="0" baseline="0">
                <a:solidFill>
                  <a:schemeClr val="tx1">
                    <a:lumMod val="75000"/>
                    <a:lumOff val="25000"/>
                  </a:schemeClr>
                </a:solidFill>
                <a:latin typeface="微软雅黑" panose="020B0503020204020204" pitchFamily="34" charset="-122"/>
                <a:ea typeface="微软雅黑" panose="020B0503020204020204" pitchFamily="34" charset="-122"/>
                <a:sym typeface="+mn-lt"/>
              </a:rPr>
              <a:t>往下执行；如果</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断言为假，则程序会终止执行，并给出</a:t>
            </a:r>
            <a:r>
              <a:rPr kumimoji="0" lang="zh-CN" altLang="en-US" sz="1800" i="0" u="none" strike="noStrike" cap="none" spc="0" normalizeH="0" baseline="0">
                <a:solidFill>
                  <a:schemeClr val="tx1">
                    <a:lumMod val="75000"/>
                    <a:lumOff val="25000"/>
                  </a:schemeClr>
                </a:solidFill>
                <a:latin typeface="微软雅黑" panose="020B0503020204020204" pitchFamily="34" charset="-122"/>
                <a:ea typeface="微软雅黑" panose="020B0503020204020204" pitchFamily="34" charset="-122"/>
                <a:sym typeface="+mn-lt"/>
              </a:rPr>
              <a:t>错误信息。</a:t>
            </a:r>
            <a:endParaRPr kumimoji="0" lang="en-US" altLang="zh-CN" sz="1800" i="0" u="none" strike="noStrike" cap="none" spc="0" normalizeH="0" baseline="0">
              <a:solidFill>
                <a:schemeClr val="tx1">
                  <a:lumMod val="75000"/>
                  <a:lumOff val="25000"/>
                </a:schemeClr>
              </a:solidFill>
              <a:latin typeface="微软雅黑" panose="020B0503020204020204" pitchFamily="34" charset="-122"/>
              <a:ea typeface="微软雅黑" panose="020B0503020204020204" pitchFamily="34" charset="-122"/>
              <a:sym typeface="+mn-lt"/>
            </a:endParaRPr>
          </a:p>
          <a:p>
            <a:pPr marL="0" marR="0" lvl="0" indent="0" algn="l" defTabSz="457200" eaLnBrk="1" fontAlgn="auto" latinLnBrk="0" hangingPunct="1">
              <a:lnSpc>
                <a:spcPct val="150000"/>
              </a:lnSpc>
              <a:spcBef>
                <a:spcPts val="0"/>
              </a:spcBef>
              <a:spcAft>
                <a:spcPts val="0"/>
              </a:spcAft>
              <a:buClrTx/>
              <a:buSzTx/>
              <a:buFontTx/>
              <a:buNone/>
              <a:defRPr/>
            </a:pPr>
            <a:endPar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a:p>
            <a:pPr marL="0" marR="0" lvl="0" indent="0" algn="l" defTabSz="457200" eaLnBrk="1" fontAlgn="auto" latinLnBrk="0" hangingPunct="1">
              <a:lnSpc>
                <a:spcPct val="150000"/>
              </a:lnSpc>
              <a:spcBef>
                <a:spcPts val="0"/>
              </a:spcBef>
              <a:spcAft>
                <a:spcPts val="0"/>
              </a:spcAft>
              <a:buClrTx/>
              <a:buSzTx/>
              <a:buFontTx/>
              <a:buNone/>
              <a:defRPr/>
            </a:pPr>
            <a:r>
              <a:rPr lang="zh-CN" altLang="en-US" sz="1800">
                <a:solidFill>
                  <a:schemeClr val="tx1">
                    <a:lumMod val="75000"/>
                    <a:lumOff val="25000"/>
                  </a:schemeClr>
                </a:solidFill>
                <a:latin typeface="微软雅黑" panose="020B0503020204020204" pitchFamily="34" charset="-122"/>
                <a:ea typeface="微软雅黑" panose="020B0503020204020204" pitchFamily="34" charset="-122"/>
                <a:sym typeface="+mn-lt"/>
              </a:rPr>
              <a:t>在进行接口测试时，Postman</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mn-lt"/>
              </a:rPr>
              <a:t>提供的断言代码能够代替人工自动判断HTTP响应的</a:t>
            </a:r>
            <a:r>
              <a:rPr lang="zh-CN" altLang="en-US" sz="1800" dirty="0">
                <a:solidFill>
                  <a:srgbClr val="0070C0"/>
                </a:solidFill>
                <a:latin typeface="微软雅黑" panose="020B0503020204020204" pitchFamily="34" charset="-122"/>
                <a:ea typeface="微软雅黑" panose="020B0503020204020204" pitchFamily="34" charset="-122"/>
                <a:sym typeface="+mn-lt"/>
              </a:rPr>
              <a:t>实际结果</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mn-lt"/>
              </a:rPr>
              <a:t>与</a:t>
            </a:r>
            <a:r>
              <a:rPr lang="zh-CN" altLang="en-US" sz="1800" dirty="0">
                <a:solidFill>
                  <a:srgbClr val="0070C0"/>
                </a:solidFill>
                <a:latin typeface="微软雅黑" panose="020B0503020204020204" pitchFamily="34" charset="-122"/>
                <a:ea typeface="微软雅黑" panose="020B0503020204020204" pitchFamily="34" charset="-122"/>
                <a:sym typeface="+mn-lt"/>
              </a:rPr>
              <a:t>预期结果</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mn-lt"/>
              </a:rPr>
              <a:t>是否一致。</a:t>
            </a:r>
            <a:endPar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pic>
        <p:nvPicPr>
          <p:cNvPr id="7" name="图片 6"/>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4.4.1	Postman断言</a:t>
            </a:r>
          </a:p>
        </p:txBody>
      </p:sp>
      <p:sp>
        <p:nvSpPr>
          <p:cNvPr id="6" name="1"/>
          <p:cNvSpPr txBox="1"/>
          <p:nvPr>
            <p:custDataLst>
              <p:tags r:id="rId1"/>
            </p:custDataLst>
          </p:nvPr>
        </p:nvSpPr>
        <p:spPr>
          <a:xfrm>
            <a:off x="1055206" y="881338"/>
            <a:ext cx="10152181" cy="1754326"/>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Postman中的</a:t>
            </a:r>
            <a:r>
              <a:rPr kumimoji="0" lang="zh-CN" altLang="en-US" sz="1800" i="0" u="none" strike="noStrike" cap="none" spc="0" normalizeH="0" baseline="0">
                <a:solidFill>
                  <a:schemeClr val="tx1">
                    <a:lumMod val="75000"/>
                    <a:lumOff val="25000"/>
                  </a:schemeClr>
                </a:solidFill>
                <a:latin typeface="微软雅黑" panose="020B0503020204020204" pitchFamily="34" charset="-122"/>
                <a:ea typeface="微软雅黑" panose="020B0503020204020204" pitchFamily="34" charset="-122"/>
                <a:sym typeface="+mn-lt"/>
              </a:rPr>
              <a:t>断言代码使用JavaScript</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语言编写，常用的断言有</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响应状态码断言、包含指定字符串断言、JSON数据断言</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等。下面分别对这3个常用的断言进行详细介绍。</a:t>
            </a:r>
          </a:p>
          <a:p>
            <a:pPr marL="0" marR="0" lvl="0" algn="l" defTabSz="457200" eaLnBrk="1" fontAlgn="auto" latinLnBrk="0" hangingPunct="1">
              <a:lnSpc>
                <a:spcPct val="150000"/>
              </a:lnSpc>
              <a:spcBef>
                <a:spcPts val="0"/>
              </a:spcBef>
              <a:spcAft>
                <a:spcPts val="0"/>
              </a:spcAft>
              <a:buClrTx/>
              <a:buSzTx/>
              <a:buFontTx/>
              <a:buNone/>
              <a:defRPr/>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1.</a:t>
            </a:r>
            <a:r>
              <a:rPr lang="en-US" altLang="zh-CN"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 </a:t>
            </a: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响应状态码断言</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响应状态码断言是对HTTP响应的状态码进行断言。在Postman中，有</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2种方式</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实现响应状态码断言。</a:t>
            </a:r>
          </a:p>
        </p:txBody>
      </p:sp>
      <p:sp>
        <p:nvSpPr>
          <p:cNvPr id="10" name="TextBox 13"/>
          <p:cNvSpPr txBox="1">
            <a:spLocks noChangeArrowheads="1"/>
          </p:cNvSpPr>
          <p:nvPr/>
        </p:nvSpPr>
        <p:spPr bwMode="auto">
          <a:xfrm>
            <a:off x="1588453" y="3213492"/>
            <a:ext cx="1627737" cy="953135"/>
          </a:xfrm>
          <a:prstGeom prst="rect">
            <a:avLst/>
          </a:prstGeom>
          <a:gradFill rotWithShape="0">
            <a:gsLst>
              <a:gs pos="0">
                <a:srgbClr val="00B0F0"/>
              </a:gs>
              <a:gs pos="50000">
                <a:srgbClr val="00B0F0"/>
              </a:gs>
              <a:gs pos="100000">
                <a:srgbClr val="9FD8FF"/>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2400" b="1" dirty="0">
                <a:solidFill>
                  <a:schemeClr val="bg1"/>
                </a:solidFill>
                <a:latin typeface="微软雅黑" panose="020B0503020204020204" pitchFamily="34" charset="-122"/>
                <a:ea typeface="微软雅黑" panose="020B0503020204020204" pitchFamily="34" charset="-122"/>
              </a:rPr>
              <a:t>第</a:t>
            </a:r>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种方式</a:t>
            </a:r>
          </a:p>
          <a:p>
            <a:pPr algn="ct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1" name="折角形 10"/>
          <p:cNvSpPr/>
          <p:nvPr/>
        </p:nvSpPr>
        <p:spPr bwMode="auto">
          <a:xfrm>
            <a:off x="3215640" y="3213735"/>
            <a:ext cx="7133590" cy="939800"/>
          </a:xfrm>
          <a:prstGeom prst="foldedCorner">
            <a:avLst/>
          </a:prstGeom>
          <a:solidFill>
            <a:schemeClr val="accent1">
              <a:lumMod val="40000"/>
              <a:lumOff val="6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在HTTP请求</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rPr>
              <a:t>中单击“Tests”标签，在其下方</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空白区域</a:t>
            </a:r>
            <a:r>
              <a:rPr lang="zh-CN" altLang="en-US" sz="1600">
                <a:solidFill>
                  <a:srgbClr val="0070C0"/>
                </a:solidFill>
                <a:latin typeface="微软雅黑" panose="020B0503020204020204" pitchFamily="34" charset="-122"/>
                <a:ea typeface="微软雅黑" panose="020B0503020204020204" pitchFamily="34" charset="-122"/>
              </a:rPr>
              <a:t>手动编写响应状态码断言的</a:t>
            </a:r>
            <a:r>
              <a:rPr lang="zh-CN" altLang="en-US" sz="1600" dirty="0">
                <a:solidFill>
                  <a:srgbClr val="0070C0"/>
                </a:solidFill>
                <a:latin typeface="微软雅黑" panose="020B0503020204020204" pitchFamily="34" charset="-122"/>
                <a:ea typeface="微软雅黑" panose="020B0503020204020204" pitchFamily="34" charset="-122"/>
              </a:rPr>
              <a:t>代码</a:t>
            </a:r>
            <a:r>
              <a:rPr lang="zh-CN" altLang="en-US" sz="1600" dirty="0">
                <a:solidFill>
                  <a:schemeClr val="tx1"/>
                </a:solidFill>
                <a:latin typeface="微软雅黑" panose="020B0503020204020204" pitchFamily="34" charset="-122"/>
                <a:ea typeface="微软雅黑" panose="020B0503020204020204" pitchFamily="34" charset="-122"/>
              </a:rPr>
              <a:t>。</a:t>
            </a:r>
          </a:p>
        </p:txBody>
      </p:sp>
      <p:sp>
        <p:nvSpPr>
          <p:cNvPr id="12" name="折角形 11"/>
          <p:cNvSpPr/>
          <p:nvPr/>
        </p:nvSpPr>
        <p:spPr bwMode="auto">
          <a:xfrm>
            <a:off x="3217545" y="4498340"/>
            <a:ext cx="7131685" cy="953770"/>
          </a:xfrm>
          <a:prstGeom prst="foldedCorner">
            <a:avLst/>
          </a:prstGeom>
          <a:solidFill>
            <a:srgbClr val="D1C7FD">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nSpc>
                <a:spcPct val="150000"/>
              </a:lnSpc>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首先在HTTP请求</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rPr>
              <a:t>中单击“Tests”标签，</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然后单击Postman主窗口右侧的“Status code:Code is 200”，</a:t>
            </a:r>
            <a:r>
              <a:rPr lang="zh-CN" altLang="en-US" sz="1600">
                <a:solidFill>
                  <a:srgbClr val="0070C0"/>
                </a:solidFill>
                <a:latin typeface="微软雅黑" panose="020B0503020204020204" pitchFamily="34" charset="-122"/>
                <a:ea typeface="微软雅黑" panose="020B0503020204020204" pitchFamily="34" charset="-122"/>
              </a:rPr>
              <a:t>自动生成响应状态码断言的</a:t>
            </a:r>
            <a:r>
              <a:rPr lang="zh-CN" altLang="en-US" sz="1600" dirty="0">
                <a:solidFill>
                  <a:srgbClr val="0070C0"/>
                </a:solidFill>
                <a:latin typeface="微软雅黑" panose="020B0503020204020204" pitchFamily="34" charset="-122"/>
                <a:ea typeface="微软雅黑" panose="020B0503020204020204" pitchFamily="34" charset="-122"/>
              </a:rPr>
              <a:t>代码模板</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13" name="TextBox 8"/>
          <p:cNvSpPr txBox="1">
            <a:spLocks noChangeArrowheads="1"/>
          </p:cNvSpPr>
          <p:nvPr/>
        </p:nvSpPr>
        <p:spPr bwMode="auto">
          <a:xfrm>
            <a:off x="1588453" y="4498248"/>
            <a:ext cx="1628231" cy="953135"/>
          </a:xfrm>
          <a:prstGeom prst="rect">
            <a:avLst/>
          </a:prstGeom>
          <a:gradFill rotWithShape="0">
            <a:gsLst>
              <a:gs pos="0">
                <a:srgbClr val="008DF6"/>
              </a:gs>
              <a:gs pos="50000">
                <a:srgbClr val="00B0F0"/>
              </a:gs>
              <a:gs pos="100000">
                <a:srgbClr val="9FD8FF"/>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b="1" dirty="0">
                <a:solidFill>
                  <a:schemeClr val="bg1"/>
                </a:solidFill>
                <a:latin typeface="微软雅黑" panose="020B0503020204020204" pitchFamily="34" charset="-122"/>
                <a:ea typeface="微软雅黑" panose="020B0503020204020204" pitchFamily="34" charset="-122"/>
                <a:sym typeface="+mn-ea"/>
              </a:rPr>
              <a:t>第</a:t>
            </a:r>
            <a:r>
              <a:rPr lang="en-US" altLang="zh-CN" b="1" dirty="0">
                <a:solidFill>
                  <a:schemeClr val="bg1"/>
                </a:solidFill>
                <a:latin typeface="微软雅黑" panose="020B0503020204020204" pitchFamily="34" charset="-122"/>
                <a:ea typeface="微软雅黑" panose="020B0503020204020204" pitchFamily="34" charset="-122"/>
                <a:sym typeface="+mn-ea"/>
              </a:rPr>
              <a:t>2</a:t>
            </a:r>
            <a:r>
              <a:rPr lang="zh-CN" altLang="en-US" b="1" dirty="0">
                <a:solidFill>
                  <a:schemeClr val="bg1"/>
                </a:solidFill>
                <a:latin typeface="微软雅黑" panose="020B0503020204020204" pitchFamily="34" charset="-122"/>
                <a:ea typeface="微软雅黑" panose="020B0503020204020204" pitchFamily="34" charset="-122"/>
                <a:sym typeface="+mn-ea"/>
              </a:rPr>
              <a:t>种方式</a:t>
            </a:r>
            <a:endParaRPr lang="zh-CN" altLang="en-US" sz="2400" b="1" dirty="0">
              <a:solidFill>
                <a:schemeClr val="bg1"/>
              </a:solidFill>
              <a:latin typeface="微软雅黑" panose="020B0503020204020204" pitchFamily="34" charset="-122"/>
              <a:ea typeface="微软雅黑" panose="020B0503020204020204" pitchFamily="34" charset="-122"/>
            </a:endParaRPr>
          </a:p>
          <a:p>
            <a:pPr algn="ct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4.4.1	Postman断言</a:t>
            </a:r>
          </a:p>
        </p:txBody>
      </p:sp>
      <p:sp>
        <p:nvSpPr>
          <p:cNvPr id="6" name="1"/>
          <p:cNvSpPr txBox="1"/>
          <p:nvPr>
            <p:custDataLst>
              <p:tags r:id="rId1"/>
            </p:custDataLst>
          </p:nvPr>
        </p:nvSpPr>
        <p:spPr>
          <a:xfrm>
            <a:off x="1343025" y="837794"/>
            <a:ext cx="9693910" cy="922020"/>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由于第2种方式比较方便，一般会选择使用第2种方式，使用</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第2种方式</a:t>
            </a:r>
            <a:r>
              <a:rPr kumimoji="0" lang="zh-CN" altLang="en-US" sz="1800" i="0" u="none" strike="noStrike" cap="none" spc="0" normalizeH="0" baseline="0">
                <a:solidFill>
                  <a:srgbClr val="0070C0"/>
                </a:solidFill>
                <a:latin typeface="微软雅黑" panose="020B0503020204020204" pitchFamily="34" charset="-122"/>
                <a:ea typeface="微软雅黑" panose="020B0503020204020204" pitchFamily="34" charset="-122"/>
                <a:sym typeface="+mn-lt"/>
              </a:rPr>
              <a:t>生成的响应状态码断言的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代码模板</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如下图所示。</a:t>
            </a:r>
          </a:p>
        </p:txBody>
      </p:sp>
      <p:pic>
        <p:nvPicPr>
          <p:cNvPr id="2" name="图片 1" descr="111"/>
          <p:cNvPicPr>
            <a:picLocks noChangeAspect="1"/>
          </p:cNvPicPr>
          <p:nvPr/>
        </p:nvPicPr>
        <p:blipFill>
          <a:blip r:embed="rId3"/>
          <a:stretch>
            <a:fillRect/>
          </a:stretch>
        </p:blipFill>
        <p:spPr>
          <a:xfrm>
            <a:off x="1487206" y="1989794"/>
            <a:ext cx="9051290" cy="4131945"/>
          </a:xfrm>
          <a:prstGeom prst="rect">
            <a:avLst/>
          </a:prstGeom>
          <a:ln>
            <a:solidFill>
              <a:schemeClr val="bg1">
                <a:lumMod val="65000"/>
              </a:schemeClr>
            </a:solidFill>
          </a:ln>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4.4.1	Postman断言</a:t>
            </a:r>
          </a:p>
        </p:txBody>
      </p:sp>
      <p:sp>
        <p:nvSpPr>
          <p:cNvPr id="6" name="1"/>
          <p:cNvSpPr txBox="1"/>
          <p:nvPr>
            <p:custDataLst>
              <p:tags r:id="rId1"/>
            </p:custDataLst>
          </p:nvPr>
        </p:nvSpPr>
        <p:spPr>
          <a:xfrm>
            <a:off x="1343025" y="837565"/>
            <a:ext cx="9693910" cy="1337945"/>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2.</a:t>
            </a:r>
            <a:r>
              <a:rPr lang="en-US" altLang="zh-CN"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 </a:t>
            </a: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包含指定字符串断言</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包含指定字符串断言是指对HTTP响应中的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某个字符串进行</a:t>
            </a:r>
            <a:r>
              <a:rPr kumimoji="0" lang="zh-CN" altLang="en-US" sz="1800" i="0" u="none" strike="noStrike" cap="none" spc="0" normalizeH="0" baseline="0">
                <a:solidFill>
                  <a:srgbClr val="0070C0"/>
                </a:solidFill>
                <a:latin typeface="微软雅黑" panose="020B0503020204020204" pitchFamily="34" charset="-122"/>
                <a:ea typeface="微软雅黑" panose="020B0503020204020204" pitchFamily="34" charset="-122"/>
                <a:sym typeface="+mn-lt"/>
              </a:rPr>
              <a:t>断言</a:t>
            </a:r>
            <a:r>
              <a:rPr kumimoji="0" lang="zh-CN" altLang="en-US" sz="1800" i="0" u="none" strike="noStrike" cap="none" spc="0" normalizeH="0" baseline="0">
                <a:solidFill>
                  <a:schemeClr val="tx1">
                    <a:lumMod val="75000"/>
                    <a:lumOff val="25000"/>
                  </a:schemeClr>
                </a:solidFill>
                <a:latin typeface="微软雅黑" panose="020B0503020204020204" pitchFamily="34" charset="-122"/>
                <a:ea typeface="微软雅黑" panose="020B0503020204020204" pitchFamily="34" charset="-122"/>
                <a:sym typeface="+mn-lt"/>
              </a:rPr>
              <a:t>。可以手动</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编写包含指定字符串断言的代码或自动生成</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包含指定字符串断言的代码模板</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，如下图所示。</a:t>
            </a:r>
          </a:p>
        </p:txBody>
      </p:sp>
      <p:pic>
        <p:nvPicPr>
          <p:cNvPr id="3" name="图片 2" descr="222"/>
          <p:cNvPicPr>
            <a:picLocks noChangeAspect="1"/>
          </p:cNvPicPr>
          <p:nvPr/>
        </p:nvPicPr>
        <p:blipFill>
          <a:blip r:embed="rId3"/>
          <a:stretch>
            <a:fillRect/>
          </a:stretch>
        </p:blipFill>
        <p:spPr>
          <a:xfrm>
            <a:off x="1517650" y="2349794"/>
            <a:ext cx="9344660" cy="4251960"/>
          </a:xfrm>
          <a:prstGeom prst="rect">
            <a:avLst/>
          </a:prstGeom>
          <a:ln>
            <a:solidFill>
              <a:schemeClr val="bg1">
                <a:lumMod val="65000"/>
              </a:schemeClr>
            </a:solidFill>
          </a:ln>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4.4.1	Postman断言</a:t>
            </a:r>
          </a:p>
        </p:txBody>
      </p:sp>
      <p:sp>
        <p:nvSpPr>
          <p:cNvPr id="6" name="1"/>
          <p:cNvSpPr txBox="1"/>
          <p:nvPr>
            <p:custDataLst>
              <p:tags r:id="rId1"/>
            </p:custDataLst>
          </p:nvPr>
        </p:nvSpPr>
        <p:spPr>
          <a:xfrm>
            <a:off x="1343025" y="837565"/>
            <a:ext cx="9693910" cy="1337945"/>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3.</a:t>
            </a:r>
            <a:r>
              <a:rPr 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 </a:t>
            </a:r>
            <a:r>
              <a:rPr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JSON数据断言</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JSON数据断言是对HTTP响应中的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JSON数据进行</a:t>
            </a:r>
            <a:r>
              <a:rPr kumimoji="0" lang="zh-CN" altLang="en-US" sz="1800" i="0" u="none" strike="noStrike" cap="none" spc="0" normalizeH="0" baseline="0">
                <a:solidFill>
                  <a:srgbClr val="0070C0"/>
                </a:solidFill>
                <a:latin typeface="微软雅黑" panose="020B0503020204020204" pitchFamily="34" charset="-122"/>
                <a:ea typeface="微软雅黑" panose="020B0503020204020204" pitchFamily="34" charset="-122"/>
                <a:sym typeface="+mn-lt"/>
              </a:rPr>
              <a:t>断言</a:t>
            </a:r>
            <a:r>
              <a:rPr kumimoji="0" lang="zh-CN" altLang="en-US" sz="1800" i="0" u="none" strike="noStrike" cap="none" spc="0" normalizeH="0" baseline="0">
                <a:solidFill>
                  <a:schemeClr val="tx1">
                    <a:lumMod val="75000"/>
                    <a:lumOff val="25000"/>
                  </a:schemeClr>
                </a:solidFill>
                <a:latin typeface="微软雅黑" panose="020B0503020204020204" pitchFamily="34" charset="-122"/>
                <a:ea typeface="微软雅黑" panose="020B0503020204020204" pitchFamily="34" charset="-122"/>
                <a:sym typeface="+mn-lt"/>
              </a:rPr>
              <a:t>，可以手动</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编写JSON数据断言的代码或自动生成</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JSON数据断言的代码模板</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，如下图所示。</a:t>
            </a:r>
          </a:p>
        </p:txBody>
      </p:sp>
      <p:pic>
        <p:nvPicPr>
          <p:cNvPr id="2" name="图片 1" descr="333"/>
          <p:cNvPicPr>
            <a:picLocks noChangeAspect="1"/>
          </p:cNvPicPr>
          <p:nvPr/>
        </p:nvPicPr>
        <p:blipFill>
          <a:blip r:embed="rId3"/>
          <a:stretch>
            <a:fillRect/>
          </a:stretch>
        </p:blipFill>
        <p:spPr>
          <a:xfrm>
            <a:off x="1487206" y="2349794"/>
            <a:ext cx="9142730" cy="4130040"/>
          </a:xfrm>
          <a:prstGeom prst="rect">
            <a:avLst/>
          </a:prstGeom>
          <a:ln>
            <a:solidFill>
              <a:schemeClr val="bg1">
                <a:lumMod val="65000"/>
              </a:schemeClr>
            </a:solidFill>
          </a:ln>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p:cNvSpPr txBox="1"/>
          <p:nvPr>
            <p:custDataLst>
              <p:tags r:id="rId1"/>
            </p:custDataLst>
          </p:nvPr>
        </p:nvSpPr>
        <p:spPr>
          <a:xfrm>
            <a:off x="4799330" y="1413510"/>
            <a:ext cx="6815455" cy="4246245"/>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在接口测试中，</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关联是指两个或两个以上的接口互相存在依赖关系</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。例如，某个接口请求地址中的参数是另一个接口的响应结果中的数据，则说明这两个接口存在关联关系。在使用Postman做接口测试时，实现接口关联的方式是</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在Postman中设置环境变量或全局变量</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，具体实现步骤如下。</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（1）</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获取</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第1个接口请求的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响应结果</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（2）提取响应结果中的某个</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字段</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保存到Postman环境变量或全局变量中</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（3）在第2个接口的请求地址中</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引用环境变量或全局变量</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，引用方式为{{环境变量或全局变量}}。</a:t>
            </a:r>
          </a:p>
        </p:txBody>
      </p:sp>
      <p:pic>
        <p:nvPicPr>
          <p:cNvPr id="7" name="图片 6"/>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4.4.2	Postman关联</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p:cNvSpPr txBox="1"/>
          <p:nvPr>
            <p:custDataLst>
              <p:tags r:id="rId1"/>
            </p:custDataLst>
          </p:nvPr>
        </p:nvSpPr>
        <p:spPr>
          <a:xfrm>
            <a:off x="1343025" y="837565"/>
            <a:ext cx="9693910" cy="922020"/>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当在Postman中</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添加存在接口关联的HTTP请求</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时，需要在该接口的HTTP请求的Tests下方</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编写一段核心代码</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，具体如下所示。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4.4.2	Postman关联</a:t>
            </a:r>
          </a:p>
        </p:txBody>
      </p:sp>
      <p:grpSp>
        <p:nvGrpSpPr>
          <p:cNvPr id="7" name="组合 8"/>
          <p:cNvGrpSpPr/>
          <p:nvPr/>
        </p:nvGrpSpPr>
        <p:grpSpPr bwMode="auto">
          <a:xfrm>
            <a:off x="1556385" y="1964561"/>
            <a:ext cx="8498205" cy="2672080"/>
            <a:chOff x="920750" y="2283718"/>
            <a:chExt cx="8348851" cy="2673009"/>
          </a:xfrm>
        </p:grpSpPr>
        <p:sp>
          <p:nvSpPr>
            <p:cNvPr id="8" name="矩形 7"/>
            <p:cNvSpPr/>
            <p:nvPr/>
          </p:nvSpPr>
          <p:spPr>
            <a:xfrm>
              <a:off x="920750" y="2283718"/>
              <a:ext cx="8348851" cy="26730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矩形 8"/>
            <p:cNvSpPr/>
            <p:nvPr/>
          </p:nvSpPr>
          <p:spPr>
            <a:xfrm>
              <a:off x="1064857" y="2380907"/>
              <a:ext cx="5397464" cy="2307757"/>
            </a:xfrm>
            <a:prstGeom prst="rect">
              <a:avLst/>
            </a:prstGeom>
          </p:spPr>
          <p:txBody>
            <a:bodyPr wrap="square">
              <a:spAutoFit/>
            </a:bodyPr>
            <a:lstStyle/>
            <a:p>
              <a:pPr algn="l">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//获取返回数据值并转为JSON格式保存到变量jsonData中</a:t>
              </a:r>
            </a:p>
            <a:p>
              <a:pPr algn="l">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var jsonData = </a:t>
              </a:r>
              <a:r>
                <a:rPr lang="it-IT" altLang="zh-CN" sz="16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sym typeface="+mn-ea"/>
                </a:rPr>
                <a:t>pm.response.json()</a:t>
              </a:r>
              <a:endPar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lgn="l">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//使用全局变量做容器</a:t>
              </a:r>
            </a:p>
            <a:p>
              <a:pPr algn="l">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pm.globals.</a:t>
              </a:r>
              <a:r>
                <a:rPr lang="it-IT" altLang="zh-CN" sz="16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sym typeface="+mn-ea"/>
                </a:rPr>
                <a:t>set("全局变量名",全局变量值)</a:t>
              </a:r>
            </a:p>
            <a:p>
              <a:pPr algn="l">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//使用环境变量做容器</a:t>
              </a:r>
            </a:p>
            <a:p>
              <a:pPr algn="l">
                <a:lnSpc>
                  <a:spcPct val="15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pm.environment.</a:t>
              </a:r>
              <a:r>
                <a:rPr lang="it-IT" altLang="zh-CN" sz="1600" dirty="0">
                  <a:solidFill>
                    <a:srgbClr val="0070C0"/>
                  </a:solidFill>
                  <a:latin typeface="微软雅黑" panose="020B0503020204020204" pitchFamily="34" charset="-122"/>
                  <a:ea typeface="微软雅黑" panose="020B0503020204020204" pitchFamily="34" charset="-122"/>
                  <a:cs typeface="Courier New" panose="02070309020205020404" pitchFamily="49" charset="0"/>
                  <a:sym typeface="+mn-ea"/>
                </a:rPr>
                <a:t>set("环境变量名",环境变量值)</a:t>
              </a:r>
            </a:p>
          </p:txBody>
        </p:sp>
      </p:grpSp>
      <p:sp>
        <p:nvSpPr>
          <p:cNvPr id="4" name="圆角矩形标注 3"/>
          <p:cNvSpPr/>
          <p:nvPr/>
        </p:nvSpPr>
        <p:spPr>
          <a:xfrm>
            <a:off x="1556385" y="4869815"/>
            <a:ext cx="8495665" cy="1541145"/>
          </a:xfrm>
          <a:prstGeom prst="wedgeRoundRectCallout">
            <a:avLst>
              <a:gd name="adj1" fmla="val -22447"/>
              <a:gd name="adj2" fmla="val -67130"/>
              <a:gd name="adj3" fmla="val 16667"/>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720850" y="5013960"/>
            <a:ext cx="8169910" cy="1322705"/>
          </a:xfrm>
          <a:prstGeom prst="rect">
            <a:avLst/>
          </a:prstGeom>
          <a:noFill/>
        </p:spPr>
        <p:txBody>
          <a:bodyPr wrap="square" rtlCol="0" anchor="t">
            <a:noAutofit/>
          </a:bodyPr>
          <a:lstStyle/>
          <a:p>
            <a:pPr>
              <a:lnSpc>
                <a:spcPct val="100000"/>
              </a:lnSpc>
            </a:pPr>
            <a:r>
              <a:rPr lang="zh-CN" altLang="en-US" sz="1600" dirty="0">
                <a:solidFill>
                  <a:schemeClr val="bg1"/>
                </a:solidFill>
                <a:latin typeface="微软雅黑" panose="020B0503020204020204" pitchFamily="34" charset="-122"/>
                <a:ea typeface="微软雅黑" panose="020B0503020204020204" pitchFamily="34" charset="-122"/>
              </a:rPr>
              <a:t>值得一提的是，在Postman中，可以设置多组环境变量，但是只能设置一组全局变量。二者的区别是，环境变量需要在特定的测试环境中才能引用其中的变量，全局变量作用于整个Postman，在Postman中的所有请求都可以直接引用全局变量中的变量，而不用指定测试环境。当在Postman的环境变量和全局变量中设置了同一个变量时，环境变量的优先级比全局变量的优先级高。</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p:cNvSpPr txBox="1"/>
          <p:nvPr>
            <p:custDataLst>
              <p:tags r:id="rId1"/>
            </p:custDataLst>
          </p:nvPr>
        </p:nvSpPr>
        <p:spPr>
          <a:xfrm>
            <a:off x="4799330" y="1413510"/>
            <a:ext cx="6815455" cy="2999740"/>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在接口测试中，</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参数化是将测试数据组织到数据文件中</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，通过测试人员对编写的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脚本不断更新迭代</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，使用不同的测试数据</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对接口进行测试</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，例如，在测试单个接口时，如果</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测试数据不相同</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，则可以</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使用参数化</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提高脚本</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复用率</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使用Postman做接口测试时，实现参数化的关键步骤是将测试数据保存在数据文件中单独维护，然后引用数据文件实现脚本迭代调用。在Postman中</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常用</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数据文件格式有CSV和JSON</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p>
        </p:txBody>
      </p:sp>
      <p:pic>
        <p:nvPicPr>
          <p:cNvPr id="7" name="图片 6"/>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4.4.3	Postman参数化</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p:cNvSpPr txBox="1"/>
          <p:nvPr>
            <p:custDataLst>
              <p:tags r:id="rId1"/>
            </p:custDataLst>
          </p:nvPr>
        </p:nvSpPr>
        <p:spPr>
          <a:xfrm>
            <a:off x="1343025" y="1052830"/>
            <a:ext cx="9795510" cy="506730"/>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在Postman中</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常用的数据文件格式</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有两种，具体介绍如下。</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4.4.3	Postman参数化</a:t>
            </a:r>
          </a:p>
        </p:txBody>
      </p:sp>
      <p:sp>
        <p:nvSpPr>
          <p:cNvPr id="8" name="原创设计师QQ598969553          _3"/>
          <p:cNvSpPr/>
          <p:nvPr/>
        </p:nvSpPr>
        <p:spPr>
          <a:xfrm>
            <a:off x="1002665" y="2235835"/>
            <a:ext cx="4590415" cy="207772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原创设计师QQ598969553          _4"/>
          <p:cNvSpPr/>
          <p:nvPr/>
        </p:nvSpPr>
        <p:spPr>
          <a:xfrm>
            <a:off x="1335725" y="2627115"/>
            <a:ext cx="3923980" cy="1383665"/>
          </a:xfrm>
          <a:prstGeom prst="rect">
            <a:avLst/>
          </a:prstGeom>
        </p:spPr>
        <p:txBody>
          <a:bodyPr wrap="square">
            <a:spAutoFit/>
          </a:bodyPr>
          <a:lstStyle/>
          <a:p>
            <a:pPr algn="l">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CSV是一种常用的文件格式，在CSV文件中主要</a:t>
            </a:r>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以纯文本形式存储数据</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，数据之间以</a:t>
            </a:r>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逗号分隔</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，格式简单，但是不能存储元组、列表、字典和bool类型的数据。</a:t>
            </a:r>
          </a:p>
        </p:txBody>
      </p:sp>
      <p:sp>
        <p:nvSpPr>
          <p:cNvPr id="10" name="原创设计师QQ598969553          _5"/>
          <p:cNvSpPr/>
          <p:nvPr/>
        </p:nvSpPr>
        <p:spPr>
          <a:xfrm>
            <a:off x="6379845" y="2142490"/>
            <a:ext cx="4590415" cy="2171065"/>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原创设计师QQ598969553          _6"/>
          <p:cNvSpPr/>
          <p:nvPr/>
        </p:nvSpPr>
        <p:spPr>
          <a:xfrm>
            <a:off x="1657956" y="2001848"/>
            <a:ext cx="3279515" cy="462161"/>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2" name="原创设计师QQ598969553          _7"/>
          <p:cNvSpPr txBox="1"/>
          <p:nvPr/>
        </p:nvSpPr>
        <p:spPr>
          <a:xfrm>
            <a:off x="1889202" y="2051646"/>
            <a:ext cx="2797972" cy="337185"/>
          </a:xfrm>
          <a:prstGeom prst="rect">
            <a:avLst/>
          </a:prstGeom>
          <a:noFill/>
        </p:spPr>
        <p:txBody>
          <a:bodyPr wrap="square" rtlCol="0">
            <a:spAutoFit/>
          </a:bodyPr>
          <a:lstStyle/>
          <a:p>
            <a:pPr lvl="0" algn="ctr" defTabSz="1216660">
              <a:spcBef>
                <a:spcPct val="20000"/>
              </a:spcBef>
              <a:defRPr/>
            </a:pP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CSV</a:t>
            </a:r>
          </a:p>
        </p:txBody>
      </p:sp>
      <p:sp>
        <p:nvSpPr>
          <p:cNvPr id="13" name="原创设计师QQ598969553          _8"/>
          <p:cNvSpPr/>
          <p:nvPr/>
        </p:nvSpPr>
        <p:spPr>
          <a:xfrm>
            <a:off x="7035136" y="1949853"/>
            <a:ext cx="3279515" cy="462161"/>
          </a:xfrm>
          <a:prstGeom prst="roundRect">
            <a:avLst/>
          </a:prstGeom>
          <a:solidFill>
            <a:srgbClr val="0070C0"/>
          </a:solidFill>
          <a:ln>
            <a:noFill/>
          </a:ln>
          <a:effectLst>
            <a:outerShdw blurRad="101600" dist="76200" dir="2700000" algn="tl" rotWithShape="0">
              <a:prstClr val="black">
                <a:alpha val="30000"/>
              </a:prstClr>
            </a:outerShdw>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22860" tIns="22860" rIns="22860" bIns="22860" numCol="1" spcCol="1270" anchor="ctr" anchorCtr="0">
            <a:noAutofit/>
          </a:bodyPr>
          <a:lstStyle/>
          <a:p>
            <a:pPr algn="ctr" defTabSz="266700">
              <a:lnSpc>
                <a:spcPct val="90000"/>
              </a:lnSpc>
              <a:spcBef>
                <a:spcPct val="0"/>
              </a:spcBef>
              <a:spcAft>
                <a:spcPct val="35000"/>
              </a:spcAft>
            </a:pPr>
            <a:endParaRPr lang="zh-CN" altLang="en-US" sz="800">
              <a:solidFill>
                <a:srgbClr val="FFFFFF"/>
              </a:solidFill>
              <a:latin typeface="Lato Light"/>
              <a:cs typeface="Lato Light"/>
              <a:sym typeface="+mn-lt"/>
            </a:endParaRPr>
          </a:p>
        </p:txBody>
      </p:sp>
      <p:sp>
        <p:nvSpPr>
          <p:cNvPr id="14" name="原创设计师QQ598969553          _9"/>
          <p:cNvSpPr txBox="1"/>
          <p:nvPr/>
        </p:nvSpPr>
        <p:spPr>
          <a:xfrm>
            <a:off x="7247332" y="2002131"/>
            <a:ext cx="2797972" cy="337185"/>
          </a:xfrm>
          <a:prstGeom prst="rect">
            <a:avLst/>
          </a:prstGeom>
          <a:noFill/>
        </p:spPr>
        <p:txBody>
          <a:bodyPr wrap="square" rtlCol="0">
            <a:spAutoFit/>
          </a:bodyPr>
          <a:lstStyle/>
          <a:p>
            <a:pPr lvl="0" algn="ctr" defTabSz="1216660">
              <a:spcBef>
                <a:spcPct val="20000"/>
              </a:spcBef>
              <a:defRPr/>
            </a:pP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JSON</a:t>
            </a:r>
          </a:p>
        </p:txBody>
      </p:sp>
      <p:sp>
        <p:nvSpPr>
          <p:cNvPr id="15" name="原创设计师QQ598969553          _10"/>
          <p:cNvSpPr/>
          <p:nvPr/>
        </p:nvSpPr>
        <p:spPr>
          <a:xfrm>
            <a:off x="6712905" y="2540278"/>
            <a:ext cx="3923980" cy="1060450"/>
          </a:xfrm>
          <a:prstGeom prst="rect">
            <a:avLst/>
          </a:prstGeom>
        </p:spPr>
        <p:txBody>
          <a:bodyPr wrap="square">
            <a:spAutoFit/>
          </a:bodyPr>
          <a:lstStyle/>
          <a:p>
            <a:pPr lvl="0" algn="l">
              <a:lnSpc>
                <a:spcPct val="150000"/>
              </a:lnSpc>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JSON也是一种常用的文件格式，该文件格式的</a:t>
            </a:r>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数据由键值对组成</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，能够</a:t>
            </a:r>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存储元组、列表、字典等类型的数据</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p:cNvSpPr txBox="1"/>
          <p:nvPr>
            <p:custDataLst>
              <p:tags r:id="rId1"/>
            </p:custDataLst>
          </p:nvPr>
        </p:nvSpPr>
        <p:spPr>
          <a:xfrm>
            <a:off x="1343025" y="1052830"/>
            <a:ext cx="9795510" cy="2999740"/>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为了让读者掌握参数化的应用，下面通过一个案例</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演示Postman参数化</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的实现，在本案例中，要求使用Postman发送一个请求，查询手机号的运营商，其中，测试的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手机号需要保存在CSV格式的文件中</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查询手机号运营商的接口信息如下。</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请求方法</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：GET。</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请求地址</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：http://cx.shouji.360.cn/phonearea.php。</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请求体参数</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：number，11位手机号，如13012345678。</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4.4.3	Postman参数化</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p:cNvSpPr txBox="1"/>
          <p:nvPr>
            <p:custDataLst>
              <p:tags r:id="rId1"/>
            </p:custDataLst>
          </p:nvPr>
        </p:nvSpPr>
        <p:spPr>
          <a:xfrm>
            <a:off x="1143635" y="909955"/>
            <a:ext cx="10351135" cy="4247317"/>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为了对iHRM人力资源管理系统中的登录模块和员工管理模块进行接口测试，接下来介绍这两个模块的接口</a:t>
            </a:r>
            <a:r>
              <a:rPr kumimoji="0" lang="zh-CN" altLang="en-US" sz="1800" i="0" u="none" strike="noStrike" cap="none" spc="0" normalizeH="0" baseline="0">
                <a:solidFill>
                  <a:schemeClr val="tx1">
                    <a:lumMod val="75000"/>
                    <a:lumOff val="25000"/>
                  </a:schemeClr>
                </a:solidFill>
                <a:latin typeface="微软雅黑" panose="020B0503020204020204" pitchFamily="34" charset="-122"/>
                <a:ea typeface="微软雅黑" panose="020B0503020204020204" pitchFamily="34" charset="-122"/>
                <a:sym typeface="+mn-lt"/>
              </a:rPr>
              <a:t>信息。</a:t>
            </a:r>
            <a:endParaRPr kumimoji="0" lang="en-US" altLang="zh-CN" sz="1800" i="0" u="none" strike="noStrike" cap="none" spc="0" normalizeH="0" baseline="0">
              <a:solidFill>
                <a:schemeClr val="tx1">
                  <a:lumMod val="75000"/>
                  <a:lumOff val="25000"/>
                </a:schemeClr>
              </a:solidFill>
              <a:latin typeface="微软雅黑" panose="020B0503020204020204" pitchFamily="34" charset="-122"/>
              <a:ea typeface="微软雅黑" panose="020B0503020204020204" pitchFamily="34" charset="-122"/>
              <a:sym typeface="+mn-lt"/>
            </a:endParaRPr>
          </a:p>
          <a:p>
            <a:pPr marL="0" marR="0" lvl="0" algn="l" defTabSz="457200" eaLnBrk="1" fontAlgn="auto" latinLnBrk="0" hangingPunct="1">
              <a:lnSpc>
                <a:spcPct val="150000"/>
              </a:lnSpc>
              <a:spcBef>
                <a:spcPts val="0"/>
              </a:spcBef>
              <a:spcAft>
                <a:spcPts val="0"/>
              </a:spcAft>
              <a:buClrTx/>
              <a:buSzTx/>
              <a:buFontTx/>
              <a:buNone/>
              <a:defRPr/>
            </a:pPr>
            <a:endPar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a:p>
            <a:pPr marL="0" marR="0" lvl="0" algn="l" defTabSz="457200" eaLnBrk="1" fontAlgn="auto" latinLnBrk="0" hangingPunct="1">
              <a:lnSpc>
                <a:spcPct val="150000"/>
              </a:lnSpc>
              <a:spcBef>
                <a:spcPts val="0"/>
              </a:spcBef>
              <a:spcAft>
                <a:spcPts val="0"/>
              </a:spcAft>
              <a:buClrTx/>
              <a:buSzTx/>
              <a:buFontTx/>
              <a:buNone/>
              <a:defRPr/>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1.</a:t>
            </a:r>
            <a:r>
              <a:rPr lang="en-US" altLang="zh-CN"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 </a:t>
            </a: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登录模块—登录接口</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在登录模块中，</a:t>
            </a:r>
            <a:r>
              <a:rPr lang="zh-CN" altLang="en-US" sz="1800" dirty="0">
                <a:solidFill>
                  <a:srgbClr val="0070C0"/>
                </a:solidFill>
                <a:latin typeface="微软雅黑" panose="020B0503020204020204" pitchFamily="34" charset="-122"/>
                <a:ea typeface="微软雅黑" panose="020B0503020204020204" pitchFamily="34" charset="-122"/>
                <a:sym typeface="+mn-lt"/>
              </a:rPr>
              <a:t>登录接口的信息</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具体如下。</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（1）请求信息</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请求信息中的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请求方法、请求地址和请求头</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，分别如下所示。</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请求方法：POST。</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请求地址：http://ihrm2-test.itheima.net/api/sys/login。</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请求头：Content-Type:application/</a:t>
            </a:r>
            <a:r>
              <a:rPr kumimoji="0" lang="zh-CN" altLang="en-US" sz="1800" i="0" u="none" strike="noStrike" cap="none" spc="0" normalizeH="0" baseline="0">
                <a:solidFill>
                  <a:schemeClr val="tx1">
                    <a:lumMod val="75000"/>
                    <a:lumOff val="25000"/>
                  </a:schemeClr>
                </a:solidFill>
                <a:latin typeface="微软雅黑" panose="020B0503020204020204" pitchFamily="34" charset="-122"/>
                <a:ea typeface="微软雅黑" panose="020B0503020204020204" pitchFamily="34" charset="-122"/>
                <a:sym typeface="+mn-lt"/>
              </a:rPr>
              <a:t>json。</a:t>
            </a:r>
            <a:endPar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4.5.2	项目接口文档</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p:cNvSpPr txBox="1"/>
          <p:nvPr>
            <p:custDataLst>
              <p:tags r:id="rId1"/>
            </p:custDataLst>
          </p:nvPr>
        </p:nvSpPr>
        <p:spPr>
          <a:xfrm>
            <a:off x="1143635" y="909955"/>
            <a:ext cx="9055571" cy="5909310"/>
          </a:xfrm>
          <a:prstGeom prst="rect">
            <a:avLst/>
          </a:prstGeom>
          <a:noFill/>
          <a:ln>
            <a:noFill/>
          </a:ln>
        </p:spPr>
        <p:txBody>
          <a:bodyPr wrap="square" rtlCol="0">
            <a:spAutoFit/>
          </a:bodyPr>
          <a:lstStyle/>
          <a:p>
            <a:pPr marL="0" marR="0" lvl="0" algn="l" defTabSz="457200" eaLnBrk="1" fontAlgn="auto" latinLnBrk="0" hangingPunct="1">
              <a:lnSpc>
                <a:spcPct val="150000"/>
              </a:lnSpc>
              <a:spcBef>
                <a:spcPts val="0"/>
              </a:spcBef>
              <a:spcAft>
                <a:spcPts val="0"/>
              </a:spcAft>
              <a:buClrTx/>
              <a:buSzTx/>
              <a:buFontTx/>
              <a:buNone/>
              <a:defRPr/>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2.</a:t>
            </a:r>
            <a:r>
              <a:rPr lang="en-US" altLang="zh-CN"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 </a:t>
            </a: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lt"/>
              </a:rPr>
              <a:t>员工管理模块—员工管理列表接口</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在员工管理模块中，员工管理列表的接口信息具体如下。</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（1）请求信息</a:t>
            </a:r>
          </a:p>
          <a:p>
            <a:pPr marL="0" marR="0" lvl="0" algn="l" defTabSz="457200" eaLnBrk="1" fontAlgn="auto" latinLnBrk="0" hangingPunct="1">
              <a:lnSpc>
                <a:spcPct val="150000"/>
              </a:lnSpc>
              <a:spcBef>
                <a:spcPts val="0"/>
              </a:spcBef>
              <a:spcAft>
                <a:spcPts val="0"/>
              </a:spcAft>
              <a:buClrTx/>
              <a:buSzTx/>
              <a:buFontTx/>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请求信息中的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请求方法、请求地址和请求头</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，分别如下所示。</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请求方法：GET。</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请求地址：http://ihrm2-test.itheima.net/api/sys/user?page=2&amp;size=1，其中</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page和size</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是请求地址中的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必填参数</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page</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表示员工管理列表的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当前页数</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size</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表示</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每页</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展示的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记录</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数。 </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请求头：Content-Type:application/json、Authorization:token。</a:t>
            </a:r>
          </a:p>
          <a:p>
            <a:pPr marR="0" lvl="0" indent="0" algn="l" defTabSz="457200" eaLnBrk="1" fontAlgn="auto" latinLnBrk="0" hangingPunct="1">
              <a:lnSpc>
                <a:spcPct val="150000"/>
              </a:lnSpc>
              <a:spcBef>
                <a:spcPts val="0"/>
              </a:spcBef>
              <a:spcAft>
                <a:spcPts val="0"/>
              </a:spcAft>
              <a:buClrTx/>
              <a:buSzTx/>
              <a:buFont typeface="Wingdings" panose="05000000000000000000" charset="0"/>
              <a:buNone/>
              <a:defRPr/>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sym typeface="+mn-lt"/>
              </a:rPr>
              <a:t>2</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mn-lt"/>
              </a:rPr>
              <a:t>）</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返回数据</a:t>
            </a:r>
          </a:p>
          <a:p>
            <a:pPr marR="0" lvl="0" indent="0" algn="l" defTabSz="457200" eaLnBrk="1" fontAlgn="auto" latinLnBrk="0" hangingPunct="1">
              <a:lnSpc>
                <a:spcPct val="150000"/>
              </a:lnSpc>
              <a:spcBef>
                <a:spcPts val="0"/>
              </a:spcBef>
              <a:spcAft>
                <a:spcPts val="0"/>
              </a:spcAft>
              <a:buClrTx/>
              <a:buSzTx/>
              <a:buFont typeface="Wingdings" panose="05000000000000000000" charset="0"/>
              <a:buNone/>
              <a:defRPr/>
            </a:pP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当员工管理列表接口请求成功或失败时，返回数据中的</a:t>
            </a: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操作状态码</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及其描述分别如下所示。</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10000</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：操作成功！。</a:t>
            </a:r>
          </a:p>
          <a:p>
            <a:pPr marL="285750" marR="0" lvl="0" indent="-285750" algn="l" defTabSz="45720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1800" i="0" u="none" strike="noStrike" cap="none" spc="0" normalizeH="0" baseline="0" dirty="0">
                <a:solidFill>
                  <a:srgbClr val="0070C0"/>
                </a:solidFill>
                <a:latin typeface="微软雅黑" panose="020B0503020204020204" pitchFamily="34" charset="-122"/>
                <a:ea typeface="微软雅黑" panose="020B0503020204020204" pitchFamily="34" charset="-122"/>
                <a:sym typeface="+mn-lt"/>
              </a:rPr>
              <a:t>99999</a:t>
            </a:r>
            <a:r>
              <a:rPr kumimoji="0" lang="zh-CN" altLang="en-US" sz="1800" i="0" u="none" strike="noStrike" cap="none" spc="0" normalizeH="0" baseline="0" dirty="0">
                <a:solidFill>
                  <a:schemeClr val="tx1">
                    <a:lumMod val="75000"/>
                    <a:lumOff val="25000"/>
                  </a:schemeClr>
                </a:solidFill>
                <a:latin typeface="微软雅黑" panose="020B0503020204020204" pitchFamily="34" charset="-122"/>
                <a:ea typeface="微软雅黑" panose="020B0503020204020204" pitchFamily="34" charset="-122"/>
                <a:sym typeface="+mn-lt"/>
              </a:rPr>
              <a:t>：抱歉，系统繁忙，请稍后重试！。</a:t>
            </a: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4.5.2	项目接口文档</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17f8e4a56fc57c2e92e6fdc581ab83ee55365e"/>
  <p:tag name="KSO_WPP_MARK_KEY" val="f71d5144-0573-45f9-bb21-9102466a32de"/>
  <p:tag name="COMMONDATA" val="eyJoZGlkIjoiZmIyYTRhZmU2ZjA1MzE5NWYzOWIzNGFiZmU1NDg0OT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41*248"/>
  <p:tag name="TABLE_ENDDRAG_RECT" val="196*230*441*248"/>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30*271"/>
  <p:tag name="TABLE_ENDDRAG_RECT" val="236*190*530*271"/>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89*326"/>
  <p:tag name="TABLE_ENDDRAG_RECT" val="202*120*589*326"/>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89*326"/>
  <p:tag name="TABLE_ENDDRAG_RECT" val="202*120*589*326"/>
</p:tagLst>
</file>

<file path=ppt/tags/tag8.xml><?xml version="1.0" encoding="utf-8"?>
<p:tagLst xmlns:a="http://schemas.openxmlformats.org/drawingml/2006/main" xmlns:r="http://schemas.openxmlformats.org/officeDocument/2006/relationships" xmlns:p="http://schemas.openxmlformats.org/presentationml/2006/main">
  <p:tag name="PA" val="v5.2.7"/>
  <p:tag name="RESOURCELIBID_ANIM" val="450"/>
  <p:tag name="KSO_WM_UNIT_PLACING_PICTURE_USER_VIEWPORT" val="{&quot;height&quot;:2397,&quot;width&quot;:12499.666141732283}"/>
</p:tagLst>
</file>

<file path=ppt/tags/tag9.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10.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11.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12.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13.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14.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15.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16.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17.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18.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19.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ags/tag20.xml><?xml version="1.0" encoding="utf-8"?>
<p:tagLst xmlns:a="http://schemas.openxmlformats.org/drawingml/2006/main" xmlns:r="http://schemas.openxmlformats.org/officeDocument/2006/relationships" xmlns:p="http://schemas.openxmlformats.org/presentationml/2006/main">
  <p:tag name="PA" val="v5.2.7"/>
  <p:tag name="RESOURCELIBID_ANIM" val="460"/>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3410</Words>
  <Application>Microsoft Office PowerPoint</Application>
  <PresentationFormat>自定义</PresentationFormat>
  <Paragraphs>278</Paragraphs>
  <Slides>39</Slides>
  <Notes>27</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39</vt:i4>
      </vt:variant>
    </vt:vector>
  </HeadingPairs>
  <TitlesOfParts>
    <vt:vector size="48" baseType="lpstr">
      <vt:lpstr>思源黑体旧字形 ExtraLight</vt:lpstr>
      <vt:lpstr>微软雅黑</vt:lpstr>
      <vt:lpstr>字魂105号-简雅黑</vt:lpstr>
      <vt:lpstr>Arial</vt:lpstr>
      <vt:lpstr>Calibri</vt:lpstr>
      <vt:lpstr>Lato Light</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欧 李</cp:lastModifiedBy>
  <cp:revision>4497</cp:revision>
  <dcterms:created xsi:type="dcterms:W3CDTF">2020-09-03T07:01:00Z</dcterms:created>
  <dcterms:modified xsi:type="dcterms:W3CDTF">2025-11-04T16:21:13Z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4E32D53CE91A43529E32B1B44EF3EE44_13</vt:lpwstr>
  </property>
</Properties>
</file>