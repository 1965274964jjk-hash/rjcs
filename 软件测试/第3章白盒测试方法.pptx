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ags/tag2.xml" ContentType="application/vnd.openxmlformats-officedocument.presentationml.tags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6.xml" ContentType="application/vnd.openxmlformats-officedocument.presentationml.notesSlide+xml"/>
  <Override PartName="/ppt/tags/tag6.xml" ContentType="application/vnd.openxmlformats-officedocument.presentationml.tags+xml"/>
  <Override PartName="/ppt/notesSlides/notesSlide7.xml" ContentType="application/vnd.openxmlformats-officedocument.presentationml.notesSlide+xml"/>
  <Override PartName="/ppt/tags/tag7.xml" ContentType="application/vnd.openxmlformats-officedocument.presentationml.tags+xml"/>
  <Override PartName="/ppt/notesSlides/notesSlide8.xml" ContentType="application/vnd.openxmlformats-officedocument.presentationml.notesSlide+xml"/>
  <Override PartName="/ppt/tags/tag8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9.xml" ContentType="application/vnd.openxmlformats-officedocument.presentationml.tag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tags/tag10.xml" ContentType="application/vnd.openxmlformats-officedocument.presentationml.tags+xml"/>
  <Override PartName="/ppt/notesSlides/notesSlide20.xml" ContentType="application/vnd.openxmlformats-officedocument.presentationml.notesSlide+xml"/>
  <Override PartName="/ppt/tags/tag11.xml" ContentType="application/vnd.openxmlformats-officedocument.presentationml.tags+xml"/>
  <Override PartName="/ppt/notesSlides/notesSlide21.xml" ContentType="application/vnd.openxmlformats-officedocument.presentationml.notesSlide+xml"/>
  <Override PartName="/ppt/tags/tag12.xml" ContentType="application/vnd.openxmlformats-officedocument.presentationml.tags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tags/tag13.xml" ContentType="application/vnd.openxmlformats-officedocument.presentationml.tags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tags/tag14.xml" ContentType="application/vnd.openxmlformats-officedocument.presentationml.tags+xml"/>
  <Override PartName="/ppt/notesSlides/notesSlide28.xml" ContentType="application/vnd.openxmlformats-officedocument.presentationml.notesSlide+xml"/>
  <Override PartName="/ppt/tags/tag15.xml" ContentType="application/vnd.openxmlformats-officedocument.presentationml.tags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tags/tag31.xml" ContentType="application/vnd.openxmlformats-officedocument.presentationml.tags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tags/tag32.xml" ContentType="application/vnd.openxmlformats-officedocument.presentationml.tags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2"/>
  </p:sldMasterIdLst>
  <p:notesMasterIdLst>
    <p:notesMasterId r:id="rId45"/>
  </p:notesMasterIdLst>
  <p:handoutMasterIdLst>
    <p:handoutMasterId r:id="rId46"/>
  </p:handoutMasterIdLst>
  <p:sldIdLst>
    <p:sldId id="325" r:id="rId3"/>
    <p:sldId id="328" r:id="rId4"/>
    <p:sldId id="924" r:id="rId5"/>
    <p:sldId id="926" r:id="rId6"/>
    <p:sldId id="927" r:id="rId7"/>
    <p:sldId id="1549" r:id="rId8"/>
    <p:sldId id="1550" r:id="rId9"/>
    <p:sldId id="1551" r:id="rId10"/>
    <p:sldId id="1552" r:id="rId11"/>
    <p:sldId id="1553" r:id="rId12"/>
    <p:sldId id="1554" r:id="rId13"/>
    <p:sldId id="1557" r:id="rId14"/>
    <p:sldId id="1558" r:id="rId15"/>
    <p:sldId id="1559" r:id="rId16"/>
    <p:sldId id="1560" r:id="rId17"/>
    <p:sldId id="1562" r:id="rId18"/>
    <p:sldId id="1563" r:id="rId19"/>
    <p:sldId id="1564" r:id="rId20"/>
    <p:sldId id="1567" r:id="rId21"/>
    <p:sldId id="1568" r:id="rId22"/>
    <p:sldId id="1570" r:id="rId23"/>
    <p:sldId id="1571" r:id="rId24"/>
    <p:sldId id="1574" r:id="rId25"/>
    <p:sldId id="1573" r:id="rId26"/>
    <p:sldId id="1575" r:id="rId27"/>
    <p:sldId id="1576" r:id="rId28"/>
    <p:sldId id="1577" r:id="rId29"/>
    <p:sldId id="1578" r:id="rId30"/>
    <p:sldId id="1579" r:id="rId31"/>
    <p:sldId id="1719" r:id="rId32"/>
    <p:sldId id="1721" r:id="rId33"/>
    <p:sldId id="1722" r:id="rId34"/>
    <p:sldId id="1723" r:id="rId35"/>
    <p:sldId id="1724" r:id="rId36"/>
    <p:sldId id="1726" r:id="rId37"/>
    <p:sldId id="1728" r:id="rId38"/>
    <p:sldId id="1729" r:id="rId39"/>
    <p:sldId id="1730" r:id="rId40"/>
    <p:sldId id="1731" r:id="rId41"/>
    <p:sldId id="1732" r:id="rId42"/>
    <p:sldId id="1733" r:id="rId43"/>
    <p:sldId id="1734" r:id="rId44"/>
  </p:sldIdLst>
  <p:sldSz cx="12190413" cy="6859588"/>
  <p:notesSz cx="6858000" cy="9144000"/>
  <p:custDataLst>
    <p:tags r:id="rId47"/>
  </p:custDataLst>
  <p:defaultTextStyle>
    <a:defPPr>
      <a:defRPr lang="zh-CN"/>
    </a:defPPr>
    <a:lvl1pPr marL="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10" userDrawn="1">
          <p15:clr>
            <a:srgbClr val="A4A3A4"/>
          </p15:clr>
        </p15:guide>
        <p15:guide id="2" pos="619" userDrawn="1">
          <p15:clr>
            <a:srgbClr val="A4A3A4"/>
          </p15:clr>
        </p15:guide>
        <p15:guide id="3" pos="717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6">
          <p15:clr>
            <a:srgbClr val="A4A3A4"/>
          </p15:clr>
        </p15:guide>
        <p15:guide id="2" pos="2216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孟方思" initials="mfs" lastIdx="1" clrIdx="0"/>
  <p:cmAuthor id="2" name="LD" initials="L" lastIdx="2" clrIdx="1"/>
  <p:cmAuthor id="3" name="Lv0593" initials="L" lastIdx="15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595959"/>
    <a:srgbClr val="1369B2"/>
    <a:srgbClr val="FAFAFA"/>
    <a:srgbClr val="F2F2F2"/>
    <a:srgbClr val="006BBC"/>
    <a:srgbClr val="0075CC"/>
    <a:srgbClr val="008DF6"/>
    <a:srgbClr val="005DA2"/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2" autoAdjust="0"/>
    <p:restoredTop sz="94590" autoAdjust="0"/>
  </p:normalViewPr>
  <p:slideViewPr>
    <p:cSldViewPr showGuides="1">
      <p:cViewPr varScale="1">
        <p:scale>
          <a:sx n="90" d="100"/>
          <a:sy n="90" d="100"/>
        </p:scale>
        <p:origin x="628" y="72"/>
      </p:cViewPr>
      <p:guideLst>
        <p:guide orient="horz" pos="2310"/>
        <p:guide pos="619"/>
        <p:guide pos="717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7" d="100"/>
          <a:sy n="87" d="100"/>
        </p:scale>
        <p:origin x="3840" y="96"/>
      </p:cViewPr>
      <p:guideLst>
        <p:guide orient="horz" pos="3136"/>
        <p:guide pos="2216"/>
      </p:guideLst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tags" Target="tags/tag1.xml"/><Relationship Id="rId50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commentAuthors" Target="commentAuthors.xml"/><Relationship Id="rId8" Type="http://schemas.openxmlformats.org/officeDocument/2006/relationships/slide" Target="slides/slide6.xml"/><Relationship Id="rId51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53A075-29DF-4CAE-8BA7-CDA0ED456C88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924EE-29F1-4E68-A53A-86CBCBDF82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2B73EA-EE91-4E33-A9C1-8BF5DD7139A2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92B679-AE23-4750-8FB0-6513430B895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42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777" y="2309308"/>
            <a:ext cx="10850541" cy="899333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820" y="3566185"/>
            <a:ext cx="10850454" cy="80151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5365" indent="0" algn="ctr">
              <a:buNone/>
              <a:defRPr sz="1600"/>
            </a:lvl6pPr>
            <a:lvl7pPr marL="2742565" indent="0" algn="ctr">
              <a:buNone/>
              <a:defRPr sz="1600"/>
            </a:lvl7pPr>
            <a:lvl8pPr marL="3199765" indent="0" algn="ctr">
              <a:buNone/>
              <a:defRPr sz="1600"/>
            </a:lvl8pPr>
            <a:lvl9pPr marL="3656965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39974" y="727845"/>
            <a:ext cx="3931306" cy="1115266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7617" y="727845"/>
            <a:ext cx="6171235" cy="5404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39974" y="2240060"/>
            <a:ext cx="3931306" cy="3892636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765" indent="0">
              <a:buNone/>
              <a:defRPr sz="1000"/>
            </a:lvl8pPr>
            <a:lvl9pPr marL="3656965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820" y="5606183"/>
            <a:ext cx="10850454" cy="558268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820" y="641469"/>
            <a:ext cx="10850454" cy="4556969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4539" cy="686943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22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6787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623706"/>
            <a:ext cx="10850541" cy="899333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41"/>
          <p:cNvGrpSpPr/>
          <p:nvPr userDrawn="1"/>
        </p:nvGrpSpPr>
        <p:grpSpPr>
          <a:xfrm>
            <a:off x="0" y="2205794"/>
            <a:ext cx="12190413" cy="2413577"/>
            <a:chOff x="170694" y="178255"/>
            <a:chExt cx="3936004" cy="779007"/>
          </a:xfrm>
        </p:grpSpPr>
        <p:sp>
          <p:nvSpPr>
            <p:cNvPr id="44" name="等腰三角形 43"/>
            <p:cNvSpPr/>
            <p:nvPr/>
          </p:nvSpPr>
          <p:spPr>
            <a:xfrm>
              <a:off x="1270819" y="178255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等腰三角形 44"/>
            <p:cNvSpPr/>
            <p:nvPr/>
          </p:nvSpPr>
          <p:spPr>
            <a:xfrm flipV="1">
              <a:off x="170694" y="600746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170694" y="261768"/>
              <a:ext cx="3936004" cy="6119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平行四边形 46"/>
            <p:cNvSpPr/>
            <p:nvPr/>
          </p:nvSpPr>
          <p:spPr>
            <a:xfrm>
              <a:off x="348666" y="178257"/>
              <a:ext cx="1100951" cy="779005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文本框 6"/>
            <p:cNvSpPr txBox="1"/>
            <p:nvPr/>
          </p:nvSpPr>
          <p:spPr>
            <a:xfrm>
              <a:off x="619911" y="284178"/>
              <a:ext cx="650908" cy="553578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endParaRPr lang="zh-CN" altLang="en-US" sz="107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7" name="组合 6"/>
          <p:cNvGrpSpPr/>
          <p:nvPr userDrawn="1"/>
        </p:nvGrpSpPr>
        <p:grpSpPr>
          <a:xfrm>
            <a:off x="8484731" y="1700153"/>
            <a:ext cx="575989" cy="577246"/>
            <a:chOff x="6084168" y="1274820"/>
            <a:chExt cx="432048" cy="432834"/>
          </a:xfrm>
        </p:grpSpPr>
        <p:sp>
          <p:nvSpPr>
            <p:cNvPr id="14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 userDrawn="1"/>
        </p:nvGrpSpPr>
        <p:grpSpPr>
          <a:xfrm>
            <a:off x="6756764" y="1700678"/>
            <a:ext cx="575989" cy="576197"/>
            <a:chOff x="4788024" y="1275213"/>
            <a:chExt cx="432048" cy="432048"/>
          </a:xfrm>
        </p:grpSpPr>
        <p:sp>
          <p:nvSpPr>
            <p:cNvPr id="17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9" name="组合 8"/>
          <p:cNvGrpSpPr/>
          <p:nvPr userDrawn="1"/>
        </p:nvGrpSpPr>
        <p:grpSpPr>
          <a:xfrm>
            <a:off x="7620748" y="1700153"/>
            <a:ext cx="577036" cy="577246"/>
            <a:chOff x="5436096" y="1274820"/>
            <a:chExt cx="432833" cy="432834"/>
          </a:xfrm>
        </p:grpSpPr>
        <p:sp>
          <p:nvSpPr>
            <p:cNvPr id="25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5028797" y="1700153"/>
            <a:ext cx="577036" cy="577246"/>
            <a:chOff x="3491880" y="1274820"/>
            <a:chExt cx="432833" cy="432834"/>
          </a:xfrm>
        </p:grpSpPr>
        <p:sp>
          <p:nvSpPr>
            <p:cNvPr id="11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5892781" y="1700153"/>
            <a:ext cx="577036" cy="577246"/>
            <a:chOff x="4139952" y="1274820"/>
            <a:chExt cx="432833" cy="432834"/>
          </a:xfrm>
        </p:grpSpPr>
        <p:sp>
          <p:nvSpPr>
            <p:cNvPr id="24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304" y="834057"/>
            <a:ext cx="104638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2959" y="4407922"/>
            <a:ext cx="10361851" cy="1362390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2959" y="2907386"/>
            <a:ext cx="10361851" cy="1500534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21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793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535469"/>
            <a:ext cx="5386216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521" y="2175378"/>
            <a:ext cx="5386216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562" y="1535469"/>
            <a:ext cx="5388332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562" y="2175378"/>
            <a:ext cx="5388332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等腰三角形 7"/>
          <p:cNvSpPr/>
          <p:nvPr userDrawn="1"/>
        </p:nvSpPr>
        <p:spPr>
          <a:xfrm flipH="1" flipV="1">
            <a:off x="-767029" y="-29126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 flipH="1" flipV="1">
            <a:off x="1413539" y="0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>
            <a:off x="6085438" y="4298493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等腰三角形 10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693670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椭圆 1"/>
          <p:cNvSpPr/>
          <p:nvPr userDrawn="1"/>
        </p:nvSpPr>
        <p:spPr>
          <a:xfrm>
            <a:off x="9998623" y="3693670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984634" y="1413103"/>
            <a:ext cx="101984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 userDrawn="1"/>
        </p:nvGrpSpPr>
        <p:grpSpPr>
          <a:xfrm>
            <a:off x="10607120" y="654595"/>
            <a:ext cx="575989" cy="577246"/>
            <a:chOff x="6084168" y="1274820"/>
            <a:chExt cx="432048" cy="432834"/>
          </a:xfrm>
        </p:grpSpPr>
        <p:sp>
          <p:nvSpPr>
            <p:cNvPr id="10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8879153" y="655120"/>
            <a:ext cx="575989" cy="576197"/>
            <a:chOff x="4788024" y="1275213"/>
            <a:chExt cx="432048" cy="432048"/>
          </a:xfrm>
        </p:grpSpPr>
        <p:sp>
          <p:nvSpPr>
            <p:cNvPr id="13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9743137" y="654595"/>
            <a:ext cx="577036" cy="577246"/>
            <a:chOff x="5436096" y="1274820"/>
            <a:chExt cx="432833" cy="432834"/>
          </a:xfrm>
        </p:grpSpPr>
        <p:sp>
          <p:nvSpPr>
            <p:cNvPr id="16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 userDrawn="1"/>
        </p:nvGrpSpPr>
        <p:grpSpPr>
          <a:xfrm>
            <a:off x="7151187" y="654595"/>
            <a:ext cx="577036" cy="577246"/>
            <a:chOff x="3491880" y="1274820"/>
            <a:chExt cx="432833" cy="432834"/>
          </a:xfrm>
        </p:grpSpPr>
        <p:sp>
          <p:nvSpPr>
            <p:cNvPr id="19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8015170" y="654595"/>
            <a:ext cx="577036" cy="577246"/>
            <a:chOff x="4139952" y="1274820"/>
            <a:chExt cx="432833" cy="432834"/>
          </a:xfrm>
        </p:grpSpPr>
        <p:sp>
          <p:nvSpPr>
            <p:cNvPr id="22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0" name="等腰三角形 39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等腰三角形 6"/>
          <p:cNvSpPr/>
          <p:nvPr userDrawn="1"/>
        </p:nvSpPr>
        <p:spPr>
          <a:xfrm flipH="1" flipV="1">
            <a:off x="-766394" y="-28491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等腰三角形 7"/>
          <p:cNvSpPr/>
          <p:nvPr userDrawn="1"/>
        </p:nvSpPr>
        <p:spPr>
          <a:xfrm flipH="1" flipV="1">
            <a:off x="1414174" y="635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>
            <a:off x="6086073" y="4299128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437345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椭圆 9"/>
          <p:cNvSpPr/>
          <p:nvPr userDrawn="1"/>
        </p:nvSpPr>
        <p:spPr>
          <a:xfrm>
            <a:off x="10011958" y="3437345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8049" y="274702"/>
            <a:ext cx="2742843" cy="585288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521" y="274702"/>
            <a:ext cx="8025355" cy="585288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2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0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605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760FBDFE-C587-4B4C-A407-44438C67B59E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5357" y="6351009"/>
            <a:ext cx="3959381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09254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>
          <a:xfrm>
            <a:off x="278765" y="160020"/>
            <a:ext cx="391795" cy="236855"/>
          </a:xfrm>
          <a:prstGeom prst="rect">
            <a:avLst/>
          </a:prstGeom>
          <a:solidFill>
            <a:srgbClr val="4F7D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pic>
        <p:nvPicPr>
          <p:cNvPr id="10" name="图片 9" descr="数字技术产业学院 标志设计2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622790" y="56515"/>
            <a:ext cx="2418715" cy="52451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6765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39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21" y="274702"/>
            <a:ext cx="10971372" cy="1143265"/>
          </a:xfrm>
          <a:prstGeom prst="rect">
            <a:avLst/>
          </a:prstGeom>
        </p:spPr>
        <p:txBody>
          <a:bodyPr vert="horz" lIns="121917" tIns="60958" rIns="121917" bIns="60958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600572"/>
            <a:ext cx="10971372" cy="4527011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521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058" y="6357822"/>
            <a:ext cx="3860297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6463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278765" y="160020"/>
            <a:ext cx="391795" cy="236855"/>
          </a:xfrm>
          <a:prstGeom prst="rect">
            <a:avLst/>
          </a:prstGeom>
          <a:solidFill>
            <a:srgbClr val="4F7D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pic>
        <p:nvPicPr>
          <p:cNvPr id="10" name="图片 9" descr="数字技术产业学院 标志设计2"/>
          <p:cNvPicPr>
            <a:picLocks noChangeAspect="1"/>
          </p:cNvPicPr>
          <p:nvPr userDrawn="1">
            <p:custDataLst>
              <p:tags r:id="rId15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9622790" y="56515"/>
            <a:ext cx="2418715" cy="52451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  <p:txStyles>
    <p:titleStyle>
      <a:lvl1pPr algn="ctr" defTabSz="1219200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5" Type="http://schemas.openxmlformats.org/officeDocument/2006/relationships/hyperlink" Target="http://stu.ityxb.com/ebookview/c4ba3321b7ce547fc8d06d75c36f0fee" TargetMode="Externa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tags" Target="../tags/tag23.xml"/><Relationship Id="rId13" Type="http://schemas.openxmlformats.org/officeDocument/2006/relationships/tags" Target="../tags/tag28.xml"/><Relationship Id="rId3" Type="http://schemas.openxmlformats.org/officeDocument/2006/relationships/tags" Target="../tags/tag18.xml"/><Relationship Id="rId7" Type="http://schemas.openxmlformats.org/officeDocument/2006/relationships/tags" Target="../tags/tag22.xml"/><Relationship Id="rId12" Type="http://schemas.openxmlformats.org/officeDocument/2006/relationships/tags" Target="../tags/tag27.xml"/><Relationship Id="rId17" Type="http://schemas.openxmlformats.org/officeDocument/2006/relationships/notesSlide" Target="../notesSlides/notesSlide34.xml"/><Relationship Id="rId2" Type="http://schemas.openxmlformats.org/officeDocument/2006/relationships/tags" Target="../tags/tag17.xml"/><Relationship Id="rId16" Type="http://schemas.openxmlformats.org/officeDocument/2006/relationships/slideLayout" Target="../slideLayouts/slideLayout10.xml"/><Relationship Id="rId1" Type="http://schemas.openxmlformats.org/officeDocument/2006/relationships/tags" Target="../tags/tag16.xml"/><Relationship Id="rId6" Type="http://schemas.openxmlformats.org/officeDocument/2006/relationships/tags" Target="../tags/tag21.xml"/><Relationship Id="rId11" Type="http://schemas.openxmlformats.org/officeDocument/2006/relationships/tags" Target="../tags/tag26.xml"/><Relationship Id="rId5" Type="http://schemas.openxmlformats.org/officeDocument/2006/relationships/tags" Target="../tags/tag20.xml"/><Relationship Id="rId15" Type="http://schemas.openxmlformats.org/officeDocument/2006/relationships/tags" Target="../tags/tag30.xml"/><Relationship Id="rId10" Type="http://schemas.openxmlformats.org/officeDocument/2006/relationships/tags" Target="../tags/tag25.xml"/><Relationship Id="rId4" Type="http://schemas.openxmlformats.org/officeDocument/2006/relationships/tags" Target="../tags/tag19.xml"/><Relationship Id="rId9" Type="http://schemas.openxmlformats.org/officeDocument/2006/relationships/tags" Target="../tags/tag24.xml"/><Relationship Id="rId14" Type="http://schemas.openxmlformats.org/officeDocument/2006/relationships/tags" Target="../tags/tag2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0.xml"/><Relationship Id="rId6" Type="http://schemas.openxmlformats.org/officeDocument/2006/relationships/hyperlink" Target="http://stu.ityxb.com/ebookview/28868b757d00df30a42beff8e9bf79f0" TargetMode="External"/><Relationship Id="rId5" Type="http://schemas.openxmlformats.org/officeDocument/2006/relationships/image" Target="../media/image12.png"/><Relationship Id="rId4" Type="http://schemas.openxmlformats.org/officeDocument/2006/relationships/image" Target="../media/image4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.jpe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8.sv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文本框 18"/>
          <p:cNvSpPr txBox="1"/>
          <p:nvPr/>
        </p:nvSpPr>
        <p:spPr>
          <a:xfrm>
            <a:off x="3503295" y="2637790"/>
            <a:ext cx="5504180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45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Medium" panose="020B0600000000000000" pitchFamily="34" charset="-122"/>
              </a:rPr>
              <a:t>第</a:t>
            </a:r>
            <a:r>
              <a:rPr lang="en-US" sz="45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Medium" panose="020B0600000000000000" pitchFamily="34" charset="-122"/>
              </a:rPr>
              <a:t>3</a:t>
            </a:r>
            <a:r>
              <a:rPr sz="45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Medium" panose="020B0600000000000000" pitchFamily="34" charset="-122"/>
              </a:rPr>
              <a:t>章 白盒测试方法</a:t>
            </a:r>
          </a:p>
        </p:txBody>
      </p:sp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6598920" y="3933825"/>
            <a:ext cx="3524250" cy="430530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《</a:t>
            </a:r>
            <a:r>
              <a:rPr lang="zh-CN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软件测试（第</a:t>
            </a:r>
            <a:r>
              <a:rPr lang="en-US" altLang="zh-CN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版</a:t>
            </a:r>
            <a:r>
              <a:rPr lang="zh-CN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）</a:t>
            </a:r>
            <a:r>
              <a:rPr lang="en-US" altLang="zh-CN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》</a:t>
            </a:r>
            <a:endParaRPr lang="zh-CN" altLang="en-US" sz="2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671292" y="572758"/>
            <a:ext cx="3911746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章节概述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Summary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/>
        </p:nvSpPr>
        <p:spPr bwMode="auto">
          <a:xfrm>
            <a:off x="1631106" y="2133749"/>
            <a:ext cx="9039080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白盒测试又称为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透明盒测试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结构测试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，它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</a:t>
            </a:r>
            <a:r>
              <a:rPr lang="zh-CN" altLang="en-US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程序的内部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逻辑结构进行测试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而不是程序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的功能（黑盒测试）。因此，进行白盒测试时，测试人员需要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了解程序的内部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逻辑结构，根据使用的编程语言设计测试用例。白盒测试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可用于单元测试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集成测试和系统测试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。白盒测试的方法包括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基本路径法、逻辑覆盖法、程序插桩法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本章将对白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盒测试的方法进行详细讲解。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37863" y="572758"/>
            <a:ext cx="3007988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目录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Contents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3119265" y="1933199"/>
            <a:ext cx="1192190" cy="613062"/>
            <a:chOff x="2215144" y="982844"/>
            <a:chExt cx="1244730" cy="842780"/>
          </a:xfrm>
        </p:grpSpPr>
        <p:sp>
          <p:nvSpPr>
            <p:cNvPr id="46" name="平行四边形 45"/>
            <p:cNvSpPr/>
            <p:nvPr/>
          </p:nvSpPr>
          <p:spPr>
            <a:xfrm>
              <a:off x="2215144" y="982844"/>
              <a:ext cx="1120898" cy="842780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7" name="文本框 9"/>
            <p:cNvSpPr txBox="1"/>
            <p:nvPr/>
          </p:nvSpPr>
          <p:spPr>
            <a:xfrm>
              <a:off x="2393075" y="1005670"/>
              <a:ext cx="1066799" cy="8038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01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3119265" y="2853597"/>
            <a:ext cx="1192190" cy="618406"/>
            <a:chOff x="2215144" y="2026500"/>
            <a:chExt cx="1244730" cy="850129"/>
          </a:xfrm>
        </p:grpSpPr>
        <p:sp>
          <p:nvSpPr>
            <p:cNvPr id="49" name="平行四边形 48"/>
            <p:cNvSpPr/>
            <p:nvPr/>
          </p:nvSpPr>
          <p:spPr>
            <a:xfrm>
              <a:off x="2215144" y="2033848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0" name="文本框 10"/>
            <p:cNvSpPr txBox="1"/>
            <p:nvPr/>
          </p:nvSpPr>
          <p:spPr>
            <a:xfrm>
              <a:off x="2393075" y="2026500"/>
              <a:ext cx="1066799" cy="8038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3119265" y="3784175"/>
            <a:ext cx="1192190" cy="614525"/>
            <a:chOff x="2215144" y="3084852"/>
            <a:chExt cx="1244730" cy="844793"/>
          </a:xfrm>
        </p:grpSpPr>
        <p:sp>
          <p:nvSpPr>
            <p:cNvPr id="52" name="平行四边形 51"/>
            <p:cNvSpPr/>
            <p:nvPr/>
          </p:nvSpPr>
          <p:spPr>
            <a:xfrm>
              <a:off x="2215144" y="308485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3" name="文本框 11"/>
            <p:cNvSpPr txBox="1"/>
            <p:nvPr/>
          </p:nvSpPr>
          <p:spPr>
            <a:xfrm>
              <a:off x="2393075" y="3125750"/>
              <a:ext cx="1066799" cy="803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4024817" y="1911020"/>
            <a:ext cx="5142331" cy="613062"/>
            <a:chOff x="4315150" y="953426"/>
            <a:chExt cx="3857250" cy="540057"/>
          </a:xfrm>
        </p:grpSpPr>
        <p:sp>
          <p:nvSpPr>
            <p:cNvPr id="61" name="矩形 60"/>
            <p:cNvSpPr/>
            <p:nvPr/>
          </p:nvSpPr>
          <p:spPr>
            <a:xfrm>
              <a:off x="4841196" y="1036090"/>
              <a:ext cx="2827147" cy="331154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altLang="en-US" sz="20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基本路径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法</a:t>
              </a:r>
            </a:p>
          </p:txBody>
        </p:sp>
        <p:sp>
          <p:nvSpPr>
            <p:cNvPr id="62" name="平行四边形 61"/>
            <p:cNvSpPr/>
            <p:nvPr/>
          </p:nvSpPr>
          <p:spPr>
            <a:xfrm>
              <a:off x="4315150" y="953426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4024817" y="2836771"/>
            <a:ext cx="5142331" cy="613062"/>
            <a:chOff x="4315150" y="1647579"/>
            <a:chExt cx="3857250" cy="540057"/>
          </a:xfrm>
        </p:grpSpPr>
        <p:sp>
          <p:nvSpPr>
            <p:cNvPr id="64" name="矩形 63"/>
            <p:cNvSpPr/>
            <p:nvPr/>
          </p:nvSpPr>
          <p:spPr>
            <a:xfrm>
              <a:off x="4841196" y="1730243"/>
              <a:ext cx="2827147" cy="331154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pPr algn="l">
                <a:buClrTx/>
                <a:buSzTx/>
                <a:buFontTx/>
              </a:pPr>
              <a:r>
                <a:rPr lang="zh-CN" altLang="en-US" sz="20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逻辑覆盖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法</a:t>
              </a:r>
            </a:p>
          </p:txBody>
        </p:sp>
        <p:sp>
          <p:nvSpPr>
            <p:cNvPr id="65" name="平行四边形 64"/>
            <p:cNvSpPr/>
            <p:nvPr/>
          </p:nvSpPr>
          <p:spPr>
            <a:xfrm>
              <a:off x="4315150" y="1647579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4024817" y="3762522"/>
            <a:ext cx="5142331" cy="613062"/>
            <a:chOff x="4315150" y="2341731"/>
            <a:chExt cx="3857250" cy="540057"/>
          </a:xfrm>
        </p:grpSpPr>
        <p:sp>
          <p:nvSpPr>
            <p:cNvPr id="67" name="矩形 66"/>
            <p:cNvSpPr/>
            <p:nvPr/>
          </p:nvSpPr>
          <p:spPr>
            <a:xfrm>
              <a:off x="4841197" y="2424395"/>
              <a:ext cx="2827146" cy="331154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pPr algn="l">
                <a:buClrTx/>
                <a:buSzTx/>
                <a:buFontTx/>
              </a:pPr>
              <a:r>
                <a:rPr lang="zh-CN" altLang="en-US" sz="20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程序插桩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法</a:t>
              </a:r>
              <a:endPara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8" name="平行四边形 67"/>
            <p:cNvSpPr/>
            <p:nvPr/>
          </p:nvSpPr>
          <p:spPr>
            <a:xfrm>
              <a:off x="4315150" y="2341731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2994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4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基本路径</a:t>
            </a:r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法</a:t>
            </a: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4871085" y="1701165"/>
            <a:ext cx="6289675" cy="2893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基本路径法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一种</a:t>
            </a:r>
            <a:r>
              <a:rPr lang="zh-CN" altLang="en-US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将程序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的流程图转化为程序控制流图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，并在程序控制流图的基础上，分析被测程序控制构造的环路复杂性，导出基本可执行路径集合，从而设计测试用例的方法。使用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基本路径法设计的测试用例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确保被测程序中的每个可执行语句至少被执行一次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386" y="1413456"/>
            <a:ext cx="3715858" cy="4006159"/>
          </a:xfrm>
          <a:prstGeom prst="rect">
            <a:avLst/>
          </a:prstGeom>
        </p:spPr>
      </p:pic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3.1.1	基本路径法概述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3.1.1	基本路径法概述</a:t>
            </a:r>
          </a:p>
        </p:txBody>
      </p:sp>
      <p:cxnSp>
        <p:nvCxnSpPr>
          <p:cNvPr id="24" name="直接连接符 27"/>
          <p:cNvCxnSpPr/>
          <p:nvPr/>
        </p:nvCxnSpPr>
        <p:spPr>
          <a:xfrm>
            <a:off x="1789659" y="1486205"/>
            <a:ext cx="0" cy="4573454"/>
          </a:xfrm>
          <a:prstGeom prst="line">
            <a:avLst/>
          </a:prstGeom>
          <a:ln w="15875">
            <a:solidFill>
              <a:srgbClr val="414146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椭圆 24"/>
          <p:cNvSpPr/>
          <p:nvPr/>
        </p:nvSpPr>
        <p:spPr>
          <a:xfrm>
            <a:off x="1730420" y="2340236"/>
            <a:ext cx="118477" cy="118477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-2086" y="2141478"/>
            <a:ext cx="1697534" cy="515997"/>
            <a:chOff x="-2086" y="2141478"/>
            <a:chExt cx="1697534" cy="515997"/>
          </a:xfrm>
        </p:grpSpPr>
        <p:sp>
          <p:nvSpPr>
            <p:cNvPr id="28" name="箭头: 五边形 31"/>
            <p:cNvSpPr/>
            <p:nvPr/>
          </p:nvSpPr>
          <p:spPr>
            <a:xfrm>
              <a:off x="57150" y="2141478"/>
              <a:ext cx="1638298" cy="515997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2" name="文本框 1"/>
            <p:cNvSpPr txBox="1"/>
            <p:nvPr/>
          </p:nvSpPr>
          <p:spPr>
            <a:xfrm>
              <a:off x="-2086" y="2168643"/>
              <a:ext cx="14906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bg1"/>
                  </a:solidFill>
                  <a:latin typeface="+mn-ea"/>
                </a:rPr>
                <a:t>步骤</a:t>
              </a:r>
              <a:r>
                <a:rPr lang="en-US" altLang="zh-CN" sz="2400" dirty="0">
                  <a:solidFill>
                    <a:schemeClr val="bg1"/>
                  </a:solidFill>
                  <a:latin typeface="+mn-ea"/>
                </a:rPr>
                <a:t>1</a:t>
              </a:r>
              <a:endParaRPr lang="zh-CN" altLang="en-US" sz="2400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0" y="3100583"/>
            <a:ext cx="16268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latin typeface="+mn-ea"/>
              </a:rPr>
              <a:t>步骤</a:t>
            </a:r>
            <a:r>
              <a:rPr lang="en-US" altLang="zh-CN" sz="2400" dirty="0">
                <a:latin typeface="+mn-ea"/>
              </a:rPr>
              <a:t>2</a:t>
            </a:r>
            <a:endParaRPr lang="zh-CN" altLang="en-US" sz="2400" dirty="0">
              <a:latin typeface="+mn-ea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-2086" y="4005356"/>
            <a:ext cx="16268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latin typeface="+mn-ea"/>
              </a:rPr>
              <a:t>步骤</a:t>
            </a:r>
            <a:r>
              <a:rPr lang="en-US" altLang="zh-CN" sz="2400" dirty="0">
                <a:latin typeface="+mn-ea"/>
              </a:rPr>
              <a:t>3</a:t>
            </a:r>
            <a:endParaRPr lang="zh-CN" altLang="en-US" sz="2400" dirty="0">
              <a:latin typeface="+mn-ea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-10973" y="4910130"/>
            <a:ext cx="16268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latin typeface="+mn-ea"/>
              </a:rPr>
              <a:t>步骤</a:t>
            </a:r>
            <a:r>
              <a:rPr lang="en-US" altLang="zh-CN" sz="2400" dirty="0">
                <a:latin typeface="+mn-ea"/>
              </a:rPr>
              <a:t>4</a:t>
            </a:r>
            <a:endParaRPr lang="zh-CN" altLang="en-US" sz="2400" dirty="0">
              <a:latin typeface="+mn-ea"/>
            </a:endParaRPr>
          </a:p>
        </p:txBody>
      </p:sp>
      <p:sp>
        <p:nvSpPr>
          <p:cNvPr id="37" name="椭圆 36"/>
          <p:cNvSpPr/>
          <p:nvPr/>
        </p:nvSpPr>
        <p:spPr>
          <a:xfrm>
            <a:off x="1730420" y="3310523"/>
            <a:ext cx="118477" cy="118477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1730420" y="4221571"/>
            <a:ext cx="118477" cy="118477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39" name="椭圆 38"/>
          <p:cNvSpPr/>
          <p:nvPr/>
        </p:nvSpPr>
        <p:spPr>
          <a:xfrm>
            <a:off x="1739806" y="5132619"/>
            <a:ext cx="118477" cy="118477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67" name="1"/>
          <p:cNvSpPr txBox="1"/>
          <p:nvPr>
            <p:custDataLst>
              <p:tags r:id="rId1"/>
            </p:custDataLst>
          </p:nvPr>
        </p:nvSpPr>
        <p:spPr>
          <a:xfrm>
            <a:off x="767080" y="837565"/>
            <a:ext cx="5267960" cy="3987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i="0" u="none" strike="noStrike" cap="none" spc="0" normalizeH="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使用基本路径法</a:t>
            </a:r>
            <a:r>
              <a:rPr kumimoji="0" lang="zh-CN" altLang="en-US" sz="2000" i="0" u="none" strike="noStrike" cap="none" spc="0" normalizeH="0" baseline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设计测试用例的4个步骤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783205" y="2277745"/>
            <a:ext cx="675132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首先需要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被测程序的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源代码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，并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画出程序的流程图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pic>
        <p:nvPicPr>
          <p:cNvPr id="16" name="Picture 2" descr="C:\Users\Administrator\Desktop\ppt展示模板-8.pn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629129" y="3100557"/>
            <a:ext cx="5059808" cy="3044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矩形 16"/>
          <p:cNvSpPr/>
          <p:nvPr/>
        </p:nvSpPr>
        <p:spPr>
          <a:xfrm>
            <a:off x="4322123" y="3476697"/>
            <a:ext cx="3665189" cy="2112881"/>
          </a:xfrm>
          <a:prstGeom prst="rect">
            <a:avLst/>
          </a:prstGeom>
          <a:blipFill>
            <a:blip r:embed="rId6" cstate="screen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>
              <a:latin typeface="Arial" panose="020B0604020202020204" pitchFamily="34" charset="0"/>
              <a:ea typeface="思源黑体 CN Regular" panose="020B0500000000000000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" name="1"/>
          <p:cNvSpPr txBox="1"/>
          <p:nvPr>
            <p:custDataLst>
              <p:tags r:id="rId2"/>
            </p:custDataLst>
          </p:nvPr>
        </p:nvSpPr>
        <p:spPr>
          <a:xfrm>
            <a:off x="5839673" y="1153863"/>
            <a:ext cx="1761066" cy="4603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2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画出流程图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5895341" y="1614449"/>
            <a:ext cx="1654387" cy="45722"/>
            <a:chOff x="5367867" y="3100583"/>
            <a:chExt cx="1654387" cy="45722"/>
          </a:xfrm>
        </p:grpSpPr>
        <p:cxnSp>
          <p:nvCxnSpPr>
            <p:cNvPr id="8" name="直线连接符 8"/>
            <p:cNvCxnSpPr/>
            <p:nvPr/>
          </p:nvCxnSpPr>
          <p:spPr>
            <a:xfrm>
              <a:off x="5413586" y="3123298"/>
              <a:ext cx="155786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椭圆 11"/>
            <p:cNvSpPr/>
            <p:nvPr/>
          </p:nvSpPr>
          <p:spPr>
            <a:xfrm>
              <a:off x="5367867" y="3100583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3" name="椭圆 12"/>
            <p:cNvSpPr/>
            <p:nvPr/>
          </p:nvSpPr>
          <p:spPr>
            <a:xfrm>
              <a:off x="6976535" y="3100586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3.1.1	基本路径法概述</a:t>
            </a:r>
          </a:p>
        </p:txBody>
      </p:sp>
      <p:cxnSp>
        <p:nvCxnSpPr>
          <p:cNvPr id="24" name="直接连接符 27"/>
          <p:cNvCxnSpPr/>
          <p:nvPr/>
        </p:nvCxnSpPr>
        <p:spPr>
          <a:xfrm>
            <a:off x="1789659" y="1486205"/>
            <a:ext cx="0" cy="4573454"/>
          </a:xfrm>
          <a:prstGeom prst="line">
            <a:avLst/>
          </a:prstGeom>
          <a:ln w="15875">
            <a:solidFill>
              <a:srgbClr val="414146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椭圆 24"/>
          <p:cNvSpPr/>
          <p:nvPr/>
        </p:nvSpPr>
        <p:spPr>
          <a:xfrm>
            <a:off x="1730420" y="2340236"/>
            <a:ext cx="118477" cy="118477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-181" y="3111758"/>
            <a:ext cx="1697534" cy="515997"/>
            <a:chOff x="-2086" y="2141478"/>
            <a:chExt cx="1697534" cy="515997"/>
          </a:xfrm>
        </p:grpSpPr>
        <p:sp>
          <p:nvSpPr>
            <p:cNvPr id="28" name="箭头: 五边形 31"/>
            <p:cNvSpPr/>
            <p:nvPr/>
          </p:nvSpPr>
          <p:spPr>
            <a:xfrm>
              <a:off x="57150" y="2141478"/>
              <a:ext cx="1638298" cy="515997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2" name="文本框 1"/>
            <p:cNvSpPr txBox="1"/>
            <p:nvPr/>
          </p:nvSpPr>
          <p:spPr>
            <a:xfrm>
              <a:off x="-2086" y="2168643"/>
              <a:ext cx="1490650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bg1"/>
                  </a:solidFill>
                  <a:latin typeface="+mn-ea"/>
                </a:rPr>
                <a:t>步骤</a:t>
              </a:r>
              <a:r>
                <a:rPr lang="en-US" altLang="zh-CN" sz="2400" dirty="0">
                  <a:solidFill>
                    <a:schemeClr val="bg1"/>
                  </a:solidFill>
                  <a:latin typeface="+mn-ea"/>
                </a:rPr>
                <a:t>2</a:t>
              </a: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0" y="2185548"/>
            <a:ext cx="1626833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latin typeface="+mn-ea"/>
              </a:rPr>
              <a:t>步骤</a:t>
            </a:r>
            <a:r>
              <a:rPr lang="en-US" altLang="zh-CN" sz="2400" dirty="0">
                <a:latin typeface="+mn-ea"/>
              </a:rPr>
              <a:t>1</a:t>
            </a:r>
            <a:endParaRPr lang="zh-CN" altLang="en-US" sz="2400" dirty="0">
              <a:latin typeface="+mn-ea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-2086" y="4005356"/>
            <a:ext cx="16268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latin typeface="+mn-ea"/>
              </a:rPr>
              <a:t>步骤</a:t>
            </a:r>
            <a:r>
              <a:rPr lang="en-US" altLang="zh-CN" sz="2400" dirty="0">
                <a:latin typeface="+mn-ea"/>
              </a:rPr>
              <a:t>3</a:t>
            </a:r>
            <a:endParaRPr lang="zh-CN" altLang="en-US" sz="2400" dirty="0">
              <a:latin typeface="+mn-ea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-10973" y="4910130"/>
            <a:ext cx="16268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latin typeface="+mn-ea"/>
              </a:rPr>
              <a:t>步骤</a:t>
            </a:r>
            <a:r>
              <a:rPr lang="en-US" altLang="zh-CN" sz="2400" dirty="0">
                <a:latin typeface="+mn-ea"/>
              </a:rPr>
              <a:t>4</a:t>
            </a:r>
            <a:endParaRPr lang="zh-CN" altLang="en-US" sz="2400" dirty="0">
              <a:latin typeface="+mn-ea"/>
            </a:endParaRPr>
          </a:p>
        </p:txBody>
      </p:sp>
      <p:sp>
        <p:nvSpPr>
          <p:cNvPr id="37" name="椭圆 36"/>
          <p:cNvSpPr/>
          <p:nvPr/>
        </p:nvSpPr>
        <p:spPr>
          <a:xfrm>
            <a:off x="1730420" y="3310523"/>
            <a:ext cx="118477" cy="118477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1730420" y="4221571"/>
            <a:ext cx="118477" cy="118477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39" name="椭圆 38"/>
          <p:cNvSpPr/>
          <p:nvPr/>
        </p:nvSpPr>
        <p:spPr>
          <a:xfrm>
            <a:off x="1739806" y="5132619"/>
            <a:ext cx="118477" cy="118477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423160" y="1874520"/>
            <a:ext cx="822833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控制流图是描述程序控制流的一种图示方法。控制流图可以由程序流程图转化而来。如果测试的源程序代码简洁，也可以直接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通过分析源程序代码画出控制流图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。在画程序的控制流图时，使用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圆圈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一条或多条无分支的语句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；使用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箭头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控制流方向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。程序中常见的控制流图如下图所示。</a:t>
            </a:r>
          </a:p>
        </p:txBody>
      </p:sp>
      <p:sp>
        <p:nvSpPr>
          <p:cNvPr id="6" name="1"/>
          <p:cNvSpPr txBox="1"/>
          <p:nvPr>
            <p:custDataLst>
              <p:tags r:id="rId1"/>
            </p:custDataLst>
          </p:nvPr>
        </p:nvSpPr>
        <p:spPr>
          <a:xfrm>
            <a:off x="5742940" y="1125220"/>
            <a:ext cx="2015490" cy="4603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2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画出控制流图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5895341" y="1614449"/>
            <a:ext cx="1654387" cy="45722"/>
            <a:chOff x="5367867" y="3100583"/>
            <a:chExt cx="1654387" cy="45722"/>
          </a:xfrm>
        </p:grpSpPr>
        <p:cxnSp>
          <p:nvCxnSpPr>
            <p:cNvPr id="8" name="直线连接符 8"/>
            <p:cNvCxnSpPr/>
            <p:nvPr/>
          </p:nvCxnSpPr>
          <p:spPr>
            <a:xfrm>
              <a:off x="5413586" y="3123298"/>
              <a:ext cx="155786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椭圆 11"/>
            <p:cNvSpPr/>
            <p:nvPr/>
          </p:nvSpPr>
          <p:spPr>
            <a:xfrm>
              <a:off x="5367867" y="3100583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3" name="椭圆 12"/>
            <p:cNvSpPr/>
            <p:nvPr/>
          </p:nvSpPr>
          <p:spPr>
            <a:xfrm>
              <a:off x="6976535" y="3100586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pic>
        <p:nvPicPr>
          <p:cNvPr id="5" name="图片 4" descr="55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0950" y="3688715"/>
            <a:ext cx="5168900" cy="30054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3.1.1	基本路径法概述</a:t>
            </a:r>
          </a:p>
        </p:txBody>
      </p:sp>
      <p:cxnSp>
        <p:nvCxnSpPr>
          <p:cNvPr id="24" name="直接连接符 27"/>
          <p:cNvCxnSpPr/>
          <p:nvPr/>
        </p:nvCxnSpPr>
        <p:spPr>
          <a:xfrm>
            <a:off x="1789659" y="1486205"/>
            <a:ext cx="0" cy="4573454"/>
          </a:xfrm>
          <a:prstGeom prst="line">
            <a:avLst/>
          </a:prstGeom>
          <a:ln w="15875">
            <a:solidFill>
              <a:srgbClr val="414146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椭圆 24"/>
          <p:cNvSpPr/>
          <p:nvPr/>
        </p:nvSpPr>
        <p:spPr>
          <a:xfrm>
            <a:off x="1730420" y="2340236"/>
            <a:ext cx="118477" cy="118477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-181" y="4031873"/>
            <a:ext cx="1697534" cy="515997"/>
            <a:chOff x="-2086" y="2141478"/>
            <a:chExt cx="1697534" cy="515997"/>
          </a:xfrm>
        </p:grpSpPr>
        <p:sp>
          <p:nvSpPr>
            <p:cNvPr id="28" name="箭头: 五边形 31"/>
            <p:cNvSpPr/>
            <p:nvPr/>
          </p:nvSpPr>
          <p:spPr>
            <a:xfrm>
              <a:off x="57150" y="2141478"/>
              <a:ext cx="1638298" cy="515997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2" name="文本框 1"/>
            <p:cNvSpPr txBox="1"/>
            <p:nvPr/>
          </p:nvSpPr>
          <p:spPr>
            <a:xfrm>
              <a:off x="-2086" y="2168643"/>
              <a:ext cx="1490650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bg1"/>
                  </a:solidFill>
                  <a:latin typeface="+mn-ea"/>
                </a:rPr>
                <a:t>步骤</a:t>
              </a:r>
              <a:r>
                <a:rPr lang="en-US" altLang="zh-CN" sz="2400" dirty="0">
                  <a:solidFill>
                    <a:schemeClr val="bg1"/>
                  </a:solidFill>
                  <a:latin typeface="+mn-ea"/>
                </a:rPr>
                <a:t>3</a:t>
              </a: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0" y="2185548"/>
            <a:ext cx="1626833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latin typeface="+mn-ea"/>
              </a:rPr>
              <a:t>步骤</a:t>
            </a:r>
            <a:r>
              <a:rPr lang="en-US" altLang="zh-CN" sz="2400" dirty="0">
                <a:latin typeface="+mn-ea"/>
              </a:rPr>
              <a:t>1</a:t>
            </a:r>
            <a:endParaRPr lang="zh-CN" altLang="en-US" sz="2400" dirty="0">
              <a:latin typeface="+mn-ea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-81461" y="3130326"/>
            <a:ext cx="1626833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latin typeface="+mn-ea"/>
              </a:rPr>
              <a:t>步骤</a:t>
            </a:r>
            <a:r>
              <a:rPr lang="en-US" altLang="zh-CN" sz="2400" dirty="0">
                <a:latin typeface="+mn-ea"/>
              </a:rPr>
              <a:t>2</a:t>
            </a:r>
            <a:endParaRPr lang="zh-CN" altLang="en-US" sz="2400" dirty="0">
              <a:latin typeface="+mn-ea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-10973" y="4910130"/>
            <a:ext cx="16268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latin typeface="+mn-ea"/>
              </a:rPr>
              <a:t>步骤</a:t>
            </a:r>
            <a:r>
              <a:rPr lang="en-US" altLang="zh-CN" sz="2400" dirty="0">
                <a:latin typeface="+mn-ea"/>
              </a:rPr>
              <a:t>4</a:t>
            </a:r>
            <a:endParaRPr lang="zh-CN" altLang="en-US" sz="2400" dirty="0">
              <a:latin typeface="+mn-ea"/>
            </a:endParaRPr>
          </a:p>
        </p:txBody>
      </p:sp>
      <p:sp>
        <p:nvSpPr>
          <p:cNvPr id="37" name="椭圆 36"/>
          <p:cNvSpPr/>
          <p:nvPr/>
        </p:nvSpPr>
        <p:spPr>
          <a:xfrm>
            <a:off x="1730420" y="3310523"/>
            <a:ext cx="118477" cy="118477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1730420" y="4221571"/>
            <a:ext cx="118477" cy="118477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39" name="椭圆 38"/>
          <p:cNvSpPr/>
          <p:nvPr/>
        </p:nvSpPr>
        <p:spPr>
          <a:xfrm>
            <a:off x="1739806" y="5132619"/>
            <a:ext cx="118477" cy="118477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423160" y="1874520"/>
            <a:ext cx="8228330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计算程序圈复杂度的方法有3种，</a:t>
            </a:r>
            <a:r>
              <a: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具体如下。</a:t>
            </a:r>
            <a:endParaRPr lang="zh-CN" altLang="en-US" sz="18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使用公式计算：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V(G)=E-N+2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，其中V(G)表示程序的圈复杂度，E表示控制流图中边的数量，N表示控制流图中节点的数量。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使用公式计算：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V(G)=P+1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，P表示控制流图中判定节点的数量。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程序的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圈复杂度数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量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等于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控制流图中的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区域数量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indent="0" algn="l"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l"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为了演示上述介绍的3种方法，假设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某程序的</a:t>
            </a:r>
          </a:p>
          <a:p>
            <a:pPr indent="0" algn="l"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控制流图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如右图所示。</a:t>
            </a:r>
          </a:p>
        </p:txBody>
      </p:sp>
      <p:sp>
        <p:nvSpPr>
          <p:cNvPr id="6" name="1"/>
          <p:cNvSpPr txBox="1"/>
          <p:nvPr>
            <p:custDataLst>
              <p:tags r:id="rId1"/>
            </p:custDataLst>
          </p:nvPr>
        </p:nvSpPr>
        <p:spPr>
          <a:xfrm>
            <a:off x="5231130" y="1125220"/>
            <a:ext cx="3088640" cy="4603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2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计算程序的圈复杂度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5895341" y="1614449"/>
            <a:ext cx="1654387" cy="45722"/>
            <a:chOff x="5367867" y="3100583"/>
            <a:chExt cx="1654387" cy="45722"/>
          </a:xfrm>
        </p:grpSpPr>
        <p:cxnSp>
          <p:nvCxnSpPr>
            <p:cNvPr id="8" name="直线连接符 8"/>
            <p:cNvCxnSpPr/>
            <p:nvPr/>
          </p:nvCxnSpPr>
          <p:spPr>
            <a:xfrm>
              <a:off x="5413586" y="3123298"/>
              <a:ext cx="155786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椭圆 11"/>
            <p:cNvSpPr/>
            <p:nvPr/>
          </p:nvSpPr>
          <p:spPr>
            <a:xfrm>
              <a:off x="5367867" y="3100583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3" name="椭圆 12"/>
            <p:cNvSpPr/>
            <p:nvPr/>
          </p:nvSpPr>
          <p:spPr>
            <a:xfrm>
              <a:off x="6976535" y="3100586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pic>
        <p:nvPicPr>
          <p:cNvPr id="10" name="图片 9" descr="66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4955" y="3590925"/>
            <a:ext cx="3091815" cy="31153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3.1.1	基本路径法概述</a:t>
            </a:r>
          </a:p>
        </p:txBody>
      </p:sp>
      <p:cxnSp>
        <p:nvCxnSpPr>
          <p:cNvPr id="24" name="直接连接符 27"/>
          <p:cNvCxnSpPr/>
          <p:nvPr/>
        </p:nvCxnSpPr>
        <p:spPr>
          <a:xfrm>
            <a:off x="1789659" y="1486205"/>
            <a:ext cx="0" cy="4573454"/>
          </a:xfrm>
          <a:prstGeom prst="line">
            <a:avLst/>
          </a:prstGeom>
          <a:ln w="15875">
            <a:solidFill>
              <a:srgbClr val="414146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椭圆 24"/>
          <p:cNvSpPr/>
          <p:nvPr/>
        </p:nvSpPr>
        <p:spPr>
          <a:xfrm>
            <a:off x="1730420" y="2340236"/>
            <a:ext cx="118477" cy="118477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-181" y="4934843"/>
            <a:ext cx="1697534" cy="515997"/>
            <a:chOff x="-2086" y="2141478"/>
            <a:chExt cx="1697534" cy="515997"/>
          </a:xfrm>
        </p:grpSpPr>
        <p:sp>
          <p:nvSpPr>
            <p:cNvPr id="28" name="箭头: 五边形 31"/>
            <p:cNvSpPr/>
            <p:nvPr/>
          </p:nvSpPr>
          <p:spPr>
            <a:xfrm>
              <a:off x="57150" y="2141478"/>
              <a:ext cx="1638298" cy="515997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2" name="文本框 1"/>
            <p:cNvSpPr txBox="1"/>
            <p:nvPr/>
          </p:nvSpPr>
          <p:spPr>
            <a:xfrm>
              <a:off x="-2086" y="2168643"/>
              <a:ext cx="1490650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bg1"/>
                  </a:solidFill>
                  <a:latin typeface="+mn-ea"/>
                </a:rPr>
                <a:t>步骤</a:t>
              </a:r>
              <a:r>
                <a:rPr lang="en-US" altLang="zh-CN" sz="2400" dirty="0">
                  <a:solidFill>
                    <a:schemeClr val="bg1"/>
                  </a:solidFill>
                  <a:latin typeface="+mn-ea"/>
                </a:rPr>
                <a:t>4</a:t>
              </a: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0" y="2185548"/>
            <a:ext cx="1626833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latin typeface="+mn-ea"/>
              </a:rPr>
              <a:t>步骤</a:t>
            </a:r>
            <a:r>
              <a:rPr lang="en-US" altLang="zh-CN" sz="2400" dirty="0">
                <a:latin typeface="+mn-ea"/>
              </a:rPr>
              <a:t>1</a:t>
            </a:r>
            <a:endParaRPr lang="zh-CN" altLang="en-US" sz="2400" dirty="0">
              <a:latin typeface="+mn-ea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-81461" y="3130326"/>
            <a:ext cx="1626833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latin typeface="+mn-ea"/>
              </a:rPr>
              <a:t>步骤</a:t>
            </a:r>
            <a:r>
              <a:rPr lang="en-US" altLang="zh-CN" sz="2400" dirty="0">
                <a:latin typeface="+mn-ea"/>
              </a:rPr>
              <a:t>2</a:t>
            </a:r>
            <a:endParaRPr lang="zh-CN" altLang="en-US" sz="2400" dirty="0">
              <a:latin typeface="+mn-ea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-81458" y="4046530"/>
            <a:ext cx="1626833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latin typeface="+mn-ea"/>
              </a:rPr>
              <a:t>步骤</a:t>
            </a:r>
            <a:r>
              <a:rPr lang="en-US" altLang="zh-CN" sz="2400" dirty="0">
                <a:latin typeface="+mn-ea"/>
              </a:rPr>
              <a:t>3</a:t>
            </a:r>
            <a:endParaRPr lang="zh-CN" altLang="en-US" sz="2400" dirty="0">
              <a:latin typeface="+mn-ea"/>
            </a:endParaRPr>
          </a:p>
        </p:txBody>
      </p:sp>
      <p:sp>
        <p:nvSpPr>
          <p:cNvPr id="37" name="椭圆 36"/>
          <p:cNvSpPr/>
          <p:nvPr/>
        </p:nvSpPr>
        <p:spPr>
          <a:xfrm>
            <a:off x="1730420" y="3310523"/>
            <a:ext cx="118477" cy="118477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1730420" y="4221571"/>
            <a:ext cx="118477" cy="118477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39" name="椭圆 38"/>
          <p:cNvSpPr/>
          <p:nvPr/>
        </p:nvSpPr>
        <p:spPr>
          <a:xfrm>
            <a:off x="1739806" y="5132619"/>
            <a:ext cx="118477" cy="118477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423160" y="1874520"/>
            <a:ext cx="8228330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根据计算出的程序圈复杂度导出基本可执行路径集合，从而设计测试用例的输入数据和预期结果。以上一页中某程序的控制流图为例，由于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圈复杂度为4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，所以可以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得到4条独立的路径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具体如下。</a:t>
            </a:r>
            <a:endParaRPr lang="zh-CN" altLang="en-US" sz="18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路径1：1→7。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路径2：1→2→3→7。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路径3：1→2→4→5→8→1→7。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路径4：1→2→4→6→8→1→7。</a:t>
            </a: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以上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4条独立的路径即可设计</a:t>
            </a:r>
            <a:r>
              <a:rPr lang="zh-CN" altLang="en-US"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测试用例</a:t>
            </a:r>
            <a:r>
              <a: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，从而确保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每一</a:t>
            </a:r>
            <a:r>
              <a: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条路径都能被执行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6" name="1"/>
          <p:cNvSpPr txBox="1"/>
          <p:nvPr>
            <p:custDataLst>
              <p:tags r:id="rId1"/>
            </p:custDataLst>
          </p:nvPr>
        </p:nvSpPr>
        <p:spPr>
          <a:xfrm>
            <a:off x="5570220" y="1125220"/>
            <a:ext cx="2254885" cy="4603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2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设计测试用例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5895341" y="1614449"/>
            <a:ext cx="1654387" cy="45722"/>
            <a:chOff x="5367867" y="3100583"/>
            <a:chExt cx="1654387" cy="45722"/>
          </a:xfrm>
        </p:grpSpPr>
        <p:cxnSp>
          <p:nvCxnSpPr>
            <p:cNvPr id="8" name="直线连接符 8"/>
            <p:cNvCxnSpPr/>
            <p:nvPr/>
          </p:nvCxnSpPr>
          <p:spPr>
            <a:xfrm>
              <a:off x="5413586" y="3123298"/>
              <a:ext cx="155786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椭圆 11"/>
            <p:cNvSpPr/>
            <p:nvPr/>
          </p:nvSpPr>
          <p:spPr>
            <a:xfrm>
              <a:off x="5367867" y="3100583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3" name="椭圆 12"/>
            <p:cNvSpPr/>
            <p:nvPr/>
          </p:nvSpPr>
          <p:spPr>
            <a:xfrm>
              <a:off x="6976535" y="3100586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形 22" descr="讲故事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2767" y="1398145"/>
            <a:ext cx="1015842" cy="1015842"/>
          </a:xfrm>
          <a:prstGeom prst="rect">
            <a:avLst/>
          </a:prstGeom>
        </p:spPr>
      </p:pic>
      <p:sp>
        <p:nvSpPr>
          <p:cNvPr id="25" name="矩形 24"/>
          <p:cNvSpPr/>
          <p:nvPr/>
        </p:nvSpPr>
        <p:spPr>
          <a:xfrm>
            <a:off x="2150110" y="1607820"/>
            <a:ext cx="3665855" cy="6705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991360" y="1722120"/>
            <a:ext cx="39592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如何将程序流程图转化为控制流图</a:t>
            </a:r>
          </a:p>
        </p:txBody>
      </p:sp>
      <p:sp>
        <p:nvSpPr>
          <p:cNvPr id="27" name="矩形 26"/>
          <p:cNvSpPr/>
          <p:nvPr/>
        </p:nvSpPr>
        <p:spPr>
          <a:xfrm>
            <a:off x="5911029" y="1608089"/>
            <a:ext cx="83114" cy="6704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6098728" y="1608089"/>
            <a:ext cx="83114" cy="6704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982980" y="838200"/>
            <a:ext cx="1779905" cy="5060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多学一招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289685" y="2541905"/>
            <a:ext cx="4923790" cy="3223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将程序</a:t>
            </a:r>
            <a:r>
              <a:rPr sz="180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流程图转化为控制流图</a:t>
            </a:r>
            <a:r>
              <a:rPr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时，在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顺序结构、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条件语句结构、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while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循环语句结构、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until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循环语句结构和</a:t>
            </a:r>
            <a:r>
              <a:rPr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多分支结构语句中，分支的汇聚处需要有一个汇聚节点。如果判断条件表达式是由一个或多个逻辑运算符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（如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or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and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连接的复合条件表达式，则需要修改为只有单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个条</a:t>
            </a:r>
            <a:r>
              <a:rPr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件的嵌套判断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假设有一个</a:t>
            </a:r>
            <a:r>
              <a:rPr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待测试的程序流程图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右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图所示。</a:t>
            </a:r>
          </a:p>
          <a:p>
            <a:pPr algn="l">
              <a:lnSpc>
                <a:spcPct val="150000"/>
              </a:lnSpc>
              <a:buClrTx/>
              <a:buSzTx/>
              <a:buFontTx/>
            </a:pPr>
            <a:endParaRPr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3.1.1	基本路径法概述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3206" y="1722120"/>
            <a:ext cx="3660194" cy="412972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982980" y="1409700"/>
            <a:ext cx="9977120" cy="10915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上一页中的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待测试的程序流程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图中，</a:t>
            </a:r>
            <a:r>
              <a:rPr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序号0表示开始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，在转化为控制流图时</a:t>
            </a:r>
            <a:r>
              <a:rPr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可以忽略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。将待测试的程序</a:t>
            </a:r>
            <a:r>
              <a:rPr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流程图转化为控制流图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后，</a:t>
            </a:r>
            <a:r>
              <a:rPr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控制流图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图所示。</a:t>
            </a:r>
          </a:p>
          <a:p>
            <a:pPr algn="l">
              <a:lnSpc>
                <a:spcPct val="150000"/>
              </a:lnSpc>
              <a:buClrTx/>
              <a:buSzTx/>
              <a:buFontTx/>
            </a:pPr>
            <a:endParaRPr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3.1.1	基本路径法概述</a:t>
            </a:r>
          </a:p>
        </p:txBody>
      </p:sp>
      <p:pic>
        <p:nvPicPr>
          <p:cNvPr id="2" name="图片 1" descr="88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5095" y="2421890"/>
            <a:ext cx="2817495" cy="4177665"/>
          </a:xfrm>
          <a:prstGeom prst="rect">
            <a:avLst/>
          </a:prstGeom>
        </p:spPr>
      </p:pic>
      <p:sp>
        <p:nvSpPr>
          <p:cNvPr id="20" name="矩形 19"/>
          <p:cNvSpPr/>
          <p:nvPr/>
        </p:nvSpPr>
        <p:spPr>
          <a:xfrm>
            <a:off x="982980" y="838200"/>
            <a:ext cx="1779905" cy="5060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多学一招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1055370" y="909955"/>
            <a:ext cx="10312400" cy="2254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no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当年份能够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被4但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不能被100整除时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为闰年，或者年份能够被</a:t>
            </a: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400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整除时为闰年，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据此可以设计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判断输入的年份是否为闰年的C语言程序代码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，具体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代码如下。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通过分析上述代码画出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程序的流程图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，如下图所示。</a:t>
            </a:r>
          </a:p>
        </p:txBody>
      </p:sp>
      <p:sp>
        <p:nvSpPr>
          <p:cNvPr id="2" name="Title 1"/>
          <p:cNvSpPr txBox="1"/>
          <p:nvPr/>
        </p:nvSpPr>
        <p:spPr>
          <a:xfrm>
            <a:off x="1143635" y="266700"/>
            <a:ext cx="529082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3.1.2	实例：判断年份是否为闰年</a:t>
            </a:r>
          </a:p>
        </p:txBody>
      </p:sp>
      <p:pic>
        <p:nvPicPr>
          <p:cNvPr id="3" name="图片 2" descr="99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3340" y="3286125"/>
            <a:ext cx="4221480" cy="3430905"/>
          </a:xfrm>
          <a:prstGeom prst="rect">
            <a:avLst/>
          </a:prstGeom>
        </p:spPr>
      </p:pic>
      <p:pic>
        <p:nvPicPr>
          <p:cNvPr id="19" name="Picture 13" descr="C:\Users\Administrator\Desktop\未标题-2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2362" y="2013319"/>
            <a:ext cx="439519" cy="38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矩形 19"/>
          <p:cNvSpPr>
            <a:spLocks noChangeArrowheads="1"/>
          </p:cNvSpPr>
          <p:nvPr/>
        </p:nvSpPr>
        <p:spPr bwMode="auto">
          <a:xfrm>
            <a:off x="5134441" y="2036777"/>
            <a:ext cx="138050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altLang="zh-CN" sz="1400" dirty="0">
                <a:solidFill>
                  <a:srgbClr val="F0A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zh-CN" altLang="en-US" sz="1400" dirty="0">
                <a:solidFill>
                  <a:srgbClr val="F0A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单击查看源码</a:t>
            </a:r>
            <a:r>
              <a:rPr lang="en-US" altLang="zh-CN" sz="1400" dirty="0">
                <a:solidFill>
                  <a:srgbClr val="F0A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endParaRPr lang="zh-CN" altLang="zh-CN" sz="1400" dirty="0">
              <a:solidFill>
                <a:srgbClr val="F0A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立方体 18"/>
          <p:cNvSpPr>
            <a:spLocks noChangeArrowheads="1"/>
          </p:cNvSpPr>
          <p:nvPr/>
        </p:nvSpPr>
        <p:spPr bwMode="auto">
          <a:xfrm>
            <a:off x="4940329" y="2091327"/>
            <a:ext cx="227272" cy="226754"/>
          </a:xfrm>
          <a:prstGeom prst="cube">
            <a:avLst>
              <a:gd name="adj" fmla="val 25000"/>
            </a:avLst>
          </a:prstGeom>
          <a:solidFill>
            <a:srgbClr val="F3B600"/>
          </a:solidFill>
          <a:ln w="19050" algn="ctr">
            <a:solidFill>
              <a:schemeClr val="bg1"/>
            </a:solidFill>
            <a:rou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22" name="半闭框 21"/>
          <p:cNvSpPr/>
          <p:nvPr/>
        </p:nvSpPr>
        <p:spPr bwMode="auto">
          <a:xfrm>
            <a:off x="4887260" y="2043482"/>
            <a:ext cx="90487" cy="114300"/>
          </a:xfrm>
          <a:prstGeom prst="halfFrame">
            <a:avLst/>
          </a:prstGeom>
          <a:solidFill>
            <a:srgbClr val="F3B600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23" name="半闭框 22"/>
          <p:cNvSpPr/>
          <p:nvPr/>
        </p:nvSpPr>
        <p:spPr bwMode="auto">
          <a:xfrm flipH="1" flipV="1">
            <a:off x="6916085" y="2268907"/>
            <a:ext cx="90487" cy="112712"/>
          </a:xfrm>
          <a:prstGeom prst="halfFrame">
            <a:avLst/>
          </a:prstGeom>
          <a:solidFill>
            <a:srgbClr val="F3B600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24" name="矩形 23">
            <a:hlinkClick r:id="rId5"/>
          </p:cNvPr>
          <p:cNvSpPr/>
          <p:nvPr/>
        </p:nvSpPr>
        <p:spPr>
          <a:xfrm>
            <a:off x="4799206" y="1917794"/>
            <a:ext cx="2276475" cy="552450"/>
          </a:xfrm>
          <a:prstGeom prst="rect">
            <a:avLst/>
          </a:prstGeom>
          <a:solidFill>
            <a:schemeClr val="bg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1055370" y="909955"/>
            <a:ext cx="5697220" cy="4847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no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画出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程序的控制流图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，如右图所示。</a:t>
            </a:r>
          </a:p>
          <a:p>
            <a:pPr algn="just">
              <a:lnSpc>
                <a:spcPct val="150000"/>
              </a:lnSpc>
              <a:buClrTx/>
              <a:buSzTx/>
              <a:buFontTx/>
            </a:pP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右图中，一共有10条边，8个节点，4个区域，其中判定节点有3个，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分别是1、3、4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，程序的圈复杂度为4。</a:t>
            </a: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根据圈复杂度可以得到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4条独立的路径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具体如下。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路径1：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1→2→8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285750" indent="-285750" algn="just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路径2：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1→3→4→6→8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285750" indent="-285750" algn="just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路径3：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1→3→4→7→8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285750" indent="-285750" algn="just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路径4：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1→3→5→8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algn="just">
              <a:lnSpc>
                <a:spcPct val="150000"/>
              </a:lnSpc>
              <a:buClrTx/>
              <a:buSzTx/>
              <a:buFontTx/>
            </a:pP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Title 1"/>
          <p:cNvSpPr txBox="1"/>
          <p:nvPr/>
        </p:nvSpPr>
        <p:spPr>
          <a:xfrm>
            <a:off x="1143635" y="266700"/>
            <a:ext cx="529082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3.1.2	实例：判断年份是否为闰年</a:t>
            </a:r>
          </a:p>
        </p:txBody>
      </p:sp>
      <p:pic>
        <p:nvPicPr>
          <p:cNvPr id="5" name="图片 4" descr="10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4910" y="1054100"/>
            <a:ext cx="3023870" cy="44919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1055370" y="909955"/>
            <a:ext cx="10240010" cy="702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no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根据上一页中的4条独立路径即可设计测试用例。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判断闰年问题的测试用例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如下表所示。</a:t>
            </a:r>
          </a:p>
        </p:txBody>
      </p:sp>
      <p:sp>
        <p:nvSpPr>
          <p:cNvPr id="2" name="Title 1"/>
          <p:cNvSpPr txBox="1"/>
          <p:nvPr/>
        </p:nvSpPr>
        <p:spPr>
          <a:xfrm>
            <a:off x="1143635" y="266700"/>
            <a:ext cx="529082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3.1.2	实例：判断年份是否为闰年</a:t>
            </a:r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2783205" y="1749425"/>
          <a:ext cx="6221730" cy="2909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28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64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1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11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341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测试用例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执行路径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输入数据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预期结果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88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test1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路径1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year=1999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leap=0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165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test</a:t>
                      </a:r>
                      <a:r>
                        <a:rPr lang="en-US" alt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路径</a:t>
                      </a:r>
                      <a:r>
                        <a:rPr lang="en-US" alt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year=2000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leap=1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test</a:t>
                      </a:r>
                      <a:r>
                        <a:rPr lang="en-US" alt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路径</a:t>
                      </a:r>
                      <a:r>
                        <a:rPr lang="en-US" alt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year=1900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leap=0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404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test</a:t>
                      </a:r>
                      <a:r>
                        <a:rPr lang="en-US" alt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路径</a:t>
                      </a:r>
                      <a:r>
                        <a:rPr lang="en-US" alt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year=2020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leap=1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2134870" y="5229860"/>
            <a:ext cx="7920336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当预期结果leap</a:t>
            </a:r>
            <a:r>
              <a:rPr lang="zh-CN" altLang="en-US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=0时，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表示平年；当预期结果leap</a:t>
            </a:r>
            <a:r>
              <a:rPr lang="zh-CN" altLang="en-US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=1时，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表示闰年。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2994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4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逻辑覆盖</a:t>
            </a:r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法</a:t>
            </a: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4871085" y="1701165"/>
            <a:ext cx="6289675" cy="3352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语句覆盖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(Statement Coverage)又称行覆盖、段覆盖、基本块覆盖，它是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最常见的覆盖方式之一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。语句覆盖的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目的是测试程序中的代码是否被执行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，它只测试代码中的执行语句，这里的执行语句不包括头文件、注释、空行等。语句覆盖在多分支的程序中只能覆盖某一条路径，使得该路径中的每一个语句至少被执行一次，不会考虑各种分支组合的情况。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386" y="1413456"/>
            <a:ext cx="3715858" cy="4006159"/>
          </a:xfrm>
          <a:prstGeom prst="rect">
            <a:avLst/>
          </a:prstGeom>
        </p:spPr>
      </p:pic>
      <p:sp>
        <p:nvSpPr>
          <p:cNvPr id="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3.2.1	语句覆盖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1271270" y="837565"/>
            <a:ext cx="9822815" cy="5822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下面结合一段小程序介绍语句覆盖中方法的执行，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</a:t>
            </a:r>
            <a:r>
              <a:rPr lang="zh-CN" altLang="en-US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伪代码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3.2.1	语句覆盖</a:t>
            </a:r>
          </a:p>
        </p:txBody>
      </p:sp>
      <p:sp>
        <p:nvSpPr>
          <p:cNvPr id="8" name="矩形 7"/>
          <p:cNvSpPr/>
          <p:nvPr/>
        </p:nvSpPr>
        <p:spPr>
          <a:xfrm>
            <a:off x="1414780" y="1556385"/>
            <a:ext cx="8008620" cy="18300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>
              <a:lnSpc>
                <a:spcPct val="150000"/>
              </a:lnSpc>
              <a:buClrTx/>
              <a:buSzTx/>
              <a:buFontTx/>
              <a:defRPr/>
            </a:pPr>
            <a:endParaRPr lang="it-IT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631315" y="1630045"/>
            <a:ext cx="7388225" cy="15684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it-IT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if x&gt;0 and </a:t>
            </a:r>
            <a:r>
              <a:rPr lang="it-IT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y&lt;0    //条件1</a:t>
            </a:r>
          </a:p>
          <a:p>
            <a:pPr>
              <a:lnSpc>
                <a:spcPct val="150000"/>
              </a:lnSpc>
              <a:defRPr/>
            </a:pPr>
            <a:r>
              <a:rPr lang="it-IT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 </a:t>
            </a:r>
            <a:r>
              <a:rPr lang="en-US" altLang="it-IT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</a:t>
            </a:r>
            <a:r>
              <a:rPr lang="it-IT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z=z-(x-y)</a:t>
            </a:r>
          </a:p>
          <a:p>
            <a:pPr>
              <a:lnSpc>
                <a:spcPct val="150000"/>
              </a:lnSpc>
              <a:defRPr/>
            </a:pPr>
            <a:r>
              <a:rPr lang="it-IT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if x&gt;2 or </a:t>
            </a:r>
            <a:r>
              <a:rPr lang="it-IT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z&gt;0     //条件2</a:t>
            </a:r>
          </a:p>
          <a:p>
            <a:pPr>
              <a:lnSpc>
                <a:spcPct val="150000"/>
              </a:lnSpc>
              <a:defRPr/>
            </a:pPr>
            <a:r>
              <a:rPr lang="it-IT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 </a:t>
            </a:r>
            <a:r>
              <a:rPr lang="en-US" altLang="it-IT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</a:t>
            </a:r>
            <a:r>
              <a:rPr lang="it-IT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z=z+(x+y)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414780" y="3573780"/>
            <a:ext cx="8058150" cy="1337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上述代码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中，</a:t>
            </a:r>
            <a:r>
              <a:rPr lang="en-US" altLang="zh-CN"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and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逻辑运算</a:t>
            </a:r>
            <a:r>
              <a:rPr lang="zh-CN" altLang="en-US"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&amp;&amp;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or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表示逻辑运算</a:t>
            </a:r>
            <a:r>
              <a:rPr lang="zh-CN" altLang="en-US"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||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第1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~2行代码表示如果x&gt;0成立并且y&lt;0成立，则执行z=z-(x-y)语句；第3~4行代码表示如果x&gt;2成立或者z&gt;0成立，则执行z=z+(x+y)语句。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1343025" y="909955"/>
            <a:ext cx="6826250" cy="1823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no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根据程序伪代码可以画出流程图，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程序执行的流程图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如右图所示。</a:t>
            </a:r>
          </a:p>
          <a:p>
            <a:pPr algn="just">
              <a:lnSpc>
                <a:spcPct val="150000"/>
              </a:lnSpc>
              <a:buClrTx/>
              <a:buSzTx/>
              <a:buFontTx/>
            </a:pP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根据程序执行流程图中标示的语句执行路径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设计测试用例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，具体如下。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3.2.1	语句覆盖</a:t>
            </a:r>
          </a:p>
        </p:txBody>
      </p:sp>
      <p:sp>
        <p:nvSpPr>
          <p:cNvPr id="7" name="矩形 6"/>
          <p:cNvSpPr/>
          <p:nvPr/>
        </p:nvSpPr>
        <p:spPr>
          <a:xfrm>
            <a:off x="1467485" y="2853690"/>
            <a:ext cx="6433820" cy="7359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>
              <a:lnSpc>
                <a:spcPct val="150000"/>
              </a:lnSpc>
              <a:buClrTx/>
              <a:buSzTx/>
              <a:buFontTx/>
              <a:defRPr/>
            </a:pPr>
            <a:endParaRPr lang="it-IT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684020" y="2927350"/>
            <a:ext cx="593534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it-IT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test1:x=3   y=-1   z=2</a:t>
            </a:r>
          </a:p>
        </p:txBody>
      </p:sp>
      <p:sp>
        <p:nvSpPr>
          <p:cNvPr id="12" name="TextBox 35"/>
          <p:cNvSpPr txBox="1">
            <a:spLocks noChangeArrowheads="1"/>
          </p:cNvSpPr>
          <p:nvPr/>
        </p:nvSpPr>
        <p:spPr bwMode="auto">
          <a:xfrm>
            <a:off x="1310005" y="3789680"/>
            <a:ext cx="6826250" cy="1823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no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执行上述测试用例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，程序的运行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路径为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a→c→e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。可以看出程序中a→c→e路径上的每个语句都能被执行，但是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语句覆盖无法全面反映多分支的逻辑，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仅仅执行一次不能进行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全面覆盖。因此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语句覆盖是弱覆盖</a:t>
            </a:r>
            <a:r>
              <a:rPr lang="zh-CN" altLang="en-US"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9275" y="1287327"/>
            <a:ext cx="3553868" cy="316644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4871085" y="1701165"/>
            <a:ext cx="6289675" cy="2893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判定覆盖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(Decision Coverage)又称为分支覆盖，其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原则是设计足够多的测试用例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，在测试过程中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保证</a:t>
            </a:r>
            <a:r>
              <a:rPr lang="zh-CN" altLang="en-US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每个判定条件至少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有一次为真值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有一次为假值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。判定覆盖的作用是使真假分支均被执行，虽然判定覆盖比语句覆盖测试能力强，但仍然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具有和语句覆盖一样的单一性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386" y="1413456"/>
            <a:ext cx="3715858" cy="4006159"/>
          </a:xfrm>
          <a:prstGeom prst="rect">
            <a:avLst/>
          </a:prstGeom>
        </p:spPr>
      </p:pic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3.2.2	判定覆盖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1198880" y="909955"/>
            <a:ext cx="10104120" cy="5822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判定覆盖测试用例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如下表所示。</a:t>
            </a:r>
          </a:p>
        </p:txBody>
      </p: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3.2.2	判定覆盖</a:t>
            </a:r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2783205" y="1749425"/>
          <a:ext cx="6909435" cy="3114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95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6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91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973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5659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测试用例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执行语句路径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test1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a→c→d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7535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test</a:t>
                      </a:r>
                      <a:r>
                        <a:rPr lang="en-US" alt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a→b→d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452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test</a:t>
                      </a:r>
                      <a:r>
                        <a:rPr lang="en-US" alt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a→c→e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468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test</a:t>
                      </a:r>
                      <a:r>
                        <a:rPr lang="en-US" alt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1</a:t>
                      </a:r>
                      <a:endParaRPr lang="en-US" altLang="zh-CN" sz="20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a→b→e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1198880" y="5121275"/>
            <a:ext cx="984377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判定覆盖语句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一般是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由多个逻辑条件组成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的，如果仅仅判断测试程序执行的最终结果而忽略每个条件的取值，必然会遗漏部分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测试路径。因此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判定覆盖也属于弱覆盖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1127125" y="838200"/>
            <a:ext cx="10334625" cy="2613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条件覆盖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(Condition Coverage)是指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设计足够多的测试用例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，使判定语句中的每个逻辑条件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取真值与取假值至少出现一次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例如，对于判定语句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(a&gt;1 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or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&lt;0)中存在a&gt;1和c&lt;0这2个逻辑条件，设计条件覆盖测试用例时，要保证a&gt;1、c&lt;0的真值、假值至少出现一次。下面以程序执行的流程图及其程序为例，设计条件覆盖测试用例，在该程序中，有2个判定语句，每个判定语句有2个逻辑条件，共有4个逻辑条件，使用标识符标记各个逻辑条件取真值与取假值的情况，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条件覆盖判定条件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如下表所示。</a:t>
            </a:r>
          </a:p>
        </p:txBody>
      </p:sp>
      <p:sp>
        <p:nvSpPr>
          <p:cNvPr id="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3.2.3	条件覆盖</a:t>
            </a:r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2640330" y="3429635"/>
          <a:ext cx="6997700" cy="3126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9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40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65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913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条件1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条件</a:t>
                      </a:r>
                      <a:r>
                        <a:rPr lang="zh-CN" altLang="en-US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条件</a:t>
                      </a:r>
                      <a:r>
                        <a:rPr lang="en-US" altLang="zh-CN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条件</a:t>
                      </a:r>
                      <a:r>
                        <a:rPr lang="zh-CN" altLang="en-US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x&gt;0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x&gt;</a:t>
                      </a: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x&lt;=0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-S1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x&lt;=</a:t>
                      </a:r>
                      <a:r>
                        <a:rPr 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-S3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y&lt;0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z</a:t>
                      </a:r>
                      <a:r>
                        <a:rPr lang="zh-CN" alt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&gt;</a:t>
                      </a:r>
                      <a:r>
                        <a:rPr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y&gt;=0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-S2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z</a:t>
                      </a:r>
                      <a:r>
                        <a:rPr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&lt;</a:t>
                      </a:r>
                      <a:r>
                        <a:rPr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=0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-S4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1127125" y="1053465"/>
            <a:ext cx="10334625" cy="5359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程序执行的流程图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为例，使用条件覆盖则可以设计3条测试用例，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条件覆盖测试用例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如下表所示。</a:t>
            </a:r>
          </a:p>
        </p:txBody>
      </p:sp>
      <p:sp>
        <p:nvSpPr>
          <p:cNvPr id="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3.2.3	条件覆盖</a:t>
            </a:r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2783205" y="1964690"/>
          <a:ext cx="6909435" cy="2499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95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6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91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973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5659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测试用例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执行语句路径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test1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a→b→e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7535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test</a:t>
                      </a: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a→b→d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452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test</a:t>
                      </a: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a→c→e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4871085" y="1701165"/>
            <a:ext cx="6289675" cy="3444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判定-条件覆盖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(Condition/Decision Coverage)要求设计较多的测试用例，使得判定语句中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所有条件的可能取值至少出现一次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，同时，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所有判定语句的可能结果也至少出现</a:t>
            </a:r>
            <a:r>
              <a:rPr lang="zh-CN" altLang="en-US"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一次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，对于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判定语句</a:t>
            </a: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a&gt;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and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c&lt;1)，该判定语句有a&gt;1、c&lt;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1这</a:t>
            </a: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条件，则在设计测试用例时，要保证a&gt;1和c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&lt;1这2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个条件取真值、假值至少一次，同时，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判定语句</a:t>
            </a: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a&gt;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and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c&lt;1)取真值、假值也至少出现一次。判定-条件覆盖弥补了判定覆盖和条件覆盖的不足之处。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386" y="1413456"/>
            <a:ext cx="3715858" cy="4006159"/>
          </a:xfrm>
          <a:prstGeom prst="rect">
            <a:avLst/>
          </a:prstGeom>
        </p:spPr>
      </p:pic>
      <p:sp>
        <p:nvSpPr>
          <p:cNvPr id="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3.2.4	判定-条件覆盖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1127125" y="838200"/>
            <a:ext cx="10334625" cy="951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根据判定-条件覆盖原则，以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3.2.2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小节中的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程序执行的流程图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对应的程序为例设计判定-条件覆盖测试用例。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判定-条件覆盖测试用例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如下表所示。</a:t>
            </a:r>
          </a:p>
        </p:txBody>
      </p:sp>
      <p:sp>
        <p:nvSpPr>
          <p:cNvPr id="4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3.2.4	判定-条件覆盖</a:t>
            </a:r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1198880" y="1917700"/>
          <a:ext cx="10158730" cy="3305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9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5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5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04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52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8973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868045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测试用例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条件标记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条件1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条件2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执行路径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83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test1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S1、-S2、S3、S4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a→b→e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994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test</a:t>
                      </a: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-S1、-S2、-S3、-S4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a→b→d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9465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test</a:t>
                      </a: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S1、S2、S3、S4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a→c→e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1198880" y="5351780"/>
            <a:ext cx="1011110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相比条件覆盖、判定覆盖，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判定-条件覆盖</a:t>
            </a:r>
            <a:r>
              <a:rPr lang="zh-CN" altLang="en-US" sz="1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弥补</a:t>
            </a: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了前两者的</a:t>
            </a:r>
            <a:r>
              <a:rPr lang="zh-CN" altLang="en-US" sz="1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不足</a:t>
            </a: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但是由于判定-条件覆盖没有考虑判定语句与条件判断的组合情况，其覆盖范围并没有比条件覆盖更全面，判定-条件覆盖也没有覆盖a→c→d路径，因此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判定-条件覆盖也存在遗漏测试的情况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5" name="TextBox 35"/>
          <p:cNvSpPr txBox="1">
            <a:spLocks noChangeArrowheads="1"/>
          </p:cNvSpPr>
          <p:nvPr/>
        </p:nvSpPr>
        <p:spPr bwMode="auto">
          <a:xfrm>
            <a:off x="5935354" y="3213770"/>
            <a:ext cx="5669299" cy="10439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sz="2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条件组合</a:t>
            </a:r>
            <a:r>
              <a:rPr sz="2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覆盖</a:t>
            </a:r>
            <a:r>
              <a:rPr lang="zh-CN" sz="2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法</a:t>
            </a:r>
            <a:r>
              <a:rPr sz="2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的使用，能够</a:t>
            </a:r>
            <a:r>
              <a:rPr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应用</a:t>
            </a:r>
            <a:r>
              <a:rPr lang="zh-CN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条件组合</a:t>
            </a:r>
            <a:r>
              <a:rPr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覆盖</a:t>
            </a:r>
            <a:r>
              <a:rPr lang="zh-CN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法</a:t>
            </a:r>
            <a:r>
              <a:rPr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设计测试用例</a:t>
            </a:r>
            <a:endParaRPr 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5452110" y="3540125"/>
            <a:ext cx="405130" cy="405130"/>
            <a:chOff x="8881" y="4685"/>
            <a:chExt cx="638" cy="638"/>
          </a:xfrm>
        </p:grpSpPr>
        <p:sp>
          <p:nvSpPr>
            <p:cNvPr id="18" name="椭圆 17"/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3.2.5	条件组合覆盖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4871085" y="1701165"/>
            <a:ext cx="6289675" cy="2613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条件组合覆盖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(Multiple Condition 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Coverage)是指</a:t>
            </a:r>
            <a:r>
              <a:rPr lang="zh-CN" altLang="en-US"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足够多的测试用例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，使判定语句中每个条件的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所有可能情况至少出现一次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，并且每个判定语句本身的判定结果也至少出现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一次。它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与判定-条件覆盖的区别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是，它不是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简单地要求每个条件都出现真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与假</a:t>
            </a: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结果，而是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要求让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这些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结果的所有可能组合都至少出现一次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386" y="1413456"/>
            <a:ext cx="3715858" cy="4006159"/>
          </a:xfrm>
          <a:prstGeom prst="rect">
            <a:avLst/>
          </a:prstGeom>
        </p:spPr>
      </p:pic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3.2.5	条件组合覆盖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1143635" y="909955"/>
            <a:ext cx="10247630" cy="4275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以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3.2.2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小节中的程序执行的流程图及其程序为例，该程序中共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有4个条件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x&gt;0、y&lt;0、x&gt;2、z</a:t>
            </a:r>
            <a:r>
              <a:rPr lang="zh-CN" altLang="en-US"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&gt;0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下面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继续使用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S1、S2、S3、S4标记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这4个条件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成立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，用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-S1、-S2、-S3、-S4</a:t>
            </a:r>
            <a:r>
              <a:rPr lang="zh-CN" altLang="en-US"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标记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这</a:t>
            </a: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个条件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不成立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。S1与S2属于一个判定语句，两两组合有4种情况，如下所示。</a:t>
            </a:r>
          </a:p>
          <a:p>
            <a:pPr marL="285750" indent="-285750" algn="just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S1，S2</a:t>
            </a:r>
          </a:p>
          <a:p>
            <a:pPr marL="285750" indent="-285750" algn="just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S1，-S2</a:t>
            </a:r>
          </a:p>
          <a:p>
            <a:pPr marL="285750" indent="-285750" algn="just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-S1，S2</a:t>
            </a:r>
          </a:p>
          <a:p>
            <a:pPr marL="285750" indent="-285750" algn="just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-S1，-S2。</a:t>
            </a:r>
          </a:p>
          <a:p>
            <a:pPr indent="0" algn="just"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同样，S3与S4属于一个判定语句，两两组合也有4种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情况。</a:t>
            </a: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判定语句的组合情况各有4种。在执行程序时，只要能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分别覆盖</a:t>
            </a: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判定语句的组合情况即可，因此，针对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3.2.2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小节中的程序执行的流程图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的程序，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条件组合覆盖至少要设计4个测试用例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3.2.5	条件组合覆盖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1143635" y="1054100"/>
            <a:ext cx="10247630" cy="5359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条件组合覆盖的4种情况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如下表所示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3.2.5	条件组合覆盖</a:t>
            </a:r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1779270" y="1990090"/>
          <a:ext cx="9067936" cy="30562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5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954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8965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序号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组合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含义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S1、S2、S3、S4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x&gt;0成立，y&lt;0成立，x&gt;2成立，z&gt;0成立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S1、-S2、S3、-S4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x&gt;0成立，y&lt;0不成立，x&gt;2成立，z&gt;0不成立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452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-S1、S2、-S3、S4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x&gt;0不成立，y&lt;0成立，x&gt;2不成立，z&gt;0成立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452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-S1、-S2、-S3、-S4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x&gt;0不成立，y&lt;0不成立，x&gt;2不成立，z&gt;0不成立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4511040" y="1054100"/>
            <a:ext cx="2535555" cy="5359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条件组合覆盖测试用例</a:t>
            </a:r>
          </a:p>
        </p:txBody>
      </p: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3.2.5	条件组合覆盖</a:t>
            </a: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1492885" y="1701800"/>
          <a:ext cx="9084310" cy="42970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03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02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32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04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35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61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1219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081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64820">
                <a:tc rowSpan="2"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序号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组合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测试用例</a:t>
                      </a:r>
                      <a:endParaRPr lang="en-US" altLang="zh-CN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条件1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条件2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覆盖路径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482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y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z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2650">
                <a:tc>
                  <a:txBody>
                    <a:bodyPr/>
                    <a:lstStyle/>
                    <a:p>
                      <a:pPr marL="0" algn="ctr" defTabSz="1219200" rtl="0" eaLnBrk="1" latinLnBrk="0" hangingPunct="1"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test1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1219200" rtl="0" eaLnBrk="1" latinLnBrk="0" hangingPunct="1"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S1、S2、S3、S4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1219200" rtl="0" eaLnBrk="1" latinLnBrk="0" hangingPunct="1"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1219200" rtl="0" eaLnBrk="1" latinLnBrk="0" hangingPunct="1"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1219200" rtl="0" eaLnBrk="1" latinLnBrk="0" hangingPunct="1"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1219200" rtl="0" eaLnBrk="1" latinLnBrk="0" hangingPunct="1"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1219200" rtl="0" eaLnBrk="1" latinLnBrk="0" hangingPunct="1"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1219200" rtl="0" eaLnBrk="1" latinLnBrk="0" hangingPunct="1"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a→c→e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1055">
                <a:tc>
                  <a:txBody>
                    <a:bodyPr/>
                    <a:lstStyle/>
                    <a:p>
                      <a:pPr marL="0" algn="ctr" defTabSz="1219200" rtl="0" eaLnBrk="1" latinLnBrk="0" hangingPunct="1">
                        <a:buClrTx/>
                        <a:buSzTx/>
                        <a:buFontTx/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test</a:t>
                      </a:r>
                      <a:r>
                        <a:rPr 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1219200" rtl="0" eaLnBrk="1" latinLnBrk="0" hangingPunct="1"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-S1、S2、-S3、S4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1219200" rtl="0" eaLnBrk="1" latinLnBrk="0" hangingPunct="1"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1219200" rtl="0" eaLnBrk="1" latinLnBrk="0" hangingPunct="1"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1219200" rtl="0" eaLnBrk="1" latinLnBrk="0" hangingPunct="1"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1219200" rtl="0" eaLnBrk="1" latinLnBrk="0" hangingPunct="1"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1219200" rtl="0" eaLnBrk="1" latinLnBrk="0" hangingPunct="1"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1219200" rtl="0" eaLnBrk="1" latinLnBrk="0" hangingPunct="1"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a→b→e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2485">
                <a:tc>
                  <a:txBody>
                    <a:bodyPr/>
                    <a:lstStyle/>
                    <a:p>
                      <a:pPr marL="0" algn="ctr" defTabSz="1219200" rtl="0" eaLnBrk="1" latinLnBrk="0" hangingPunct="1">
                        <a:buClrTx/>
                        <a:buSzTx/>
                        <a:buFontTx/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test</a:t>
                      </a:r>
                      <a:r>
                        <a:rPr 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1219200" rtl="0" eaLnBrk="1" latinLnBrk="0" hangingPunct="1"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S1、-S2、S3、-S4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1219200" rtl="0" eaLnBrk="1" latinLnBrk="0" hangingPunct="1"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1219200" rtl="0" eaLnBrk="1" latinLnBrk="0" hangingPunct="1"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1219200" rtl="0" eaLnBrk="1" latinLnBrk="0" hangingPunct="1"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1219200" rtl="0" eaLnBrk="1" latinLnBrk="0" hangingPunct="1"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1219200" rtl="0" eaLnBrk="1" latinLnBrk="0" hangingPunct="1"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1219200" rtl="0" eaLnBrk="1" latinLnBrk="0" hangingPunct="1"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a</a:t>
                      </a: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→</a:t>
                      </a: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b</a:t>
                      </a: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→</a:t>
                      </a: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e</a:t>
                      </a:r>
                      <a:endParaRPr lang="en-US" altLang="zh-CN" sz="18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1215">
                <a:tc>
                  <a:txBody>
                    <a:bodyPr/>
                    <a:lstStyle/>
                    <a:p>
                      <a:pPr marL="0" algn="ctr" defTabSz="1219200" rtl="0" eaLnBrk="1" latinLnBrk="0" hangingPunct="1">
                        <a:buClrTx/>
                        <a:buSzTx/>
                        <a:buFontTx/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test</a:t>
                      </a:r>
                      <a:r>
                        <a:rPr lang="en-US" alt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1219200" rtl="0" eaLnBrk="1" latinLnBrk="0" hangingPunct="1"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-S1、-S2、-S3、-S4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1219200" rtl="0" eaLnBrk="1" latinLnBrk="0" hangingPunct="1"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1219200" rtl="0" eaLnBrk="1" latinLnBrk="0" hangingPunct="1"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1219200" rtl="0" eaLnBrk="1" latinLnBrk="0" hangingPunct="1"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1219200" rtl="0" eaLnBrk="1" latinLnBrk="0" hangingPunct="1"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1219200" rtl="0" eaLnBrk="1" latinLnBrk="0" hangingPunct="1"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1219200" rtl="0" eaLnBrk="1" latinLnBrk="0" hangingPunct="1"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a</a:t>
                      </a: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→</a:t>
                      </a: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b</a:t>
                      </a: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→</a:t>
                      </a: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d</a:t>
                      </a:r>
                      <a:endParaRPr lang="en-US" altLang="zh-CN" sz="18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2994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4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程序插桩</a:t>
            </a:r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法</a:t>
            </a: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4871085" y="1559560"/>
            <a:ext cx="6289675" cy="3860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目标代码插桩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是指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向目标代码（即二进制代码）插入测试</a:t>
            </a:r>
            <a:r>
              <a:rPr lang="zh-CN" altLang="en-US"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，以</a:t>
            </a:r>
            <a:r>
              <a:rPr lang="zh-CN" altLang="en-US"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获取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运行信息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的测试方法，也称为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动态程序分析方法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。在进行目标代码插桩之前，测试人员要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对目标代码的逻辑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结构进行分析，从而确认需要插桩的位置。</a:t>
            </a: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目标代码插桩对程序运行时的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内存监控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指令跟踪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错误检测等有着重要意义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。相比于逻辑覆盖法，目标代码插桩在测试过程中</a:t>
            </a:r>
            <a:r>
              <a:rPr lang="zh-CN" altLang="en-US"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不需要重新编译代码或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链接程序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，并且目标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</a:t>
            </a:r>
            <a:r>
              <a:rPr lang="zh-CN" altLang="en-US"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的格式与具体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的编程语言无关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，主要与操作系统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相关，因此目标代码插桩被广泛使用。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386" y="1413456"/>
            <a:ext cx="3715858" cy="4006159"/>
          </a:xfrm>
          <a:prstGeom prst="rect">
            <a:avLst/>
          </a:prstGeom>
        </p:spPr>
      </p:pic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3.3.1	目标代码插桩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1055370" y="837565"/>
            <a:ext cx="10203815" cy="5822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下面对目标代码插桩的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原理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执行模式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工具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介绍，具体内容如下。</a:t>
            </a:r>
          </a:p>
        </p:txBody>
      </p: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3.3.1	目标代码插桩</a:t>
            </a:r>
          </a:p>
        </p:txBody>
      </p:sp>
      <p:sp>
        <p:nvSpPr>
          <p:cNvPr id="2" name="TextBox 35"/>
          <p:cNvSpPr txBox="1">
            <a:spLocks noChangeArrowheads="1"/>
          </p:cNvSpPr>
          <p:nvPr/>
        </p:nvSpPr>
        <p:spPr bwMode="auto">
          <a:xfrm>
            <a:off x="1143690" y="1701794"/>
            <a:ext cx="9055515" cy="22929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algn="just">
              <a:lnSpc>
                <a:spcPct val="150000"/>
              </a:lnSpc>
              <a:buClrTx/>
              <a:buSzTx/>
              <a:buFontTx/>
              <a:buAutoNum type="arabicPeriod"/>
            </a:pPr>
            <a:r>
              <a:rPr lang="zh-CN" altLang="en-US" sz="20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目标代码插桩的原理</a:t>
            </a:r>
            <a:endParaRPr lang="en-US" altLang="zh-CN" sz="2000" b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Tx/>
              <a:buSzTx/>
            </a:pPr>
            <a:endParaRPr lang="zh-CN" altLang="en-US" sz="20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目标代码插桩法的原理是在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程序运行平台和底层操作系统之间建立中间层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，通过中间层检查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执行程序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修改指令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，开发人员、软件分析工程师等对运行的程序进行观察，判断程序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是否被恶意攻击或者出现异常行为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，从而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提高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程序的整体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质量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3.3.1	目标代码插桩</a:t>
            </a:r>
          </a:p>
        </p:txBody>
      </p:sp>
      <p:sp>
        <p:nvSpPr>
          <p:cNvPr id="2" name="TextBox 35"/>
          <p:cNvSpPr txBox="1">
            <a:spLocks noChangeArrowheads="1"/>
          </p:cNvSpPr>
          <p:nvPr/>
        </p:nvSpPr>
        <p:spPr bwMode="auto">
          <a:xfrm>
            <a:off x="1191895" y="981075"/>
            <a:ext cx="9805670" cy="10002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en-US" altLang="zh-CN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目标代码插桩的两种方式</a:t>
            </a: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由于目标代码是可执行的二进制代码，所以目标代码的插桩可分为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两种方式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0" name="TextBox 13"/>
          <p:cNvSpPr txBox="1">
            <a:spLocks noChangeArrowheads="1"/>
          </p:cNvSpPr>
          <p:nvPr/>
        </p:nvSpPr>
        <p:spPr bwMode="auto">
          <a:xfrm>
            <a:off x="1445895" y="2230888"/>
            <a:ext cx="2077085" cy="1258194"/>
          </a:xfrm>
          <a:prstGeom prst="rect">
            <a:avLst/>
          </a:prstGeom>
          <a:gradFill rotWithShape="0">
            <a:gsLst>
              <a:gs pos="0">
                <a:srgbClr val="00B0F0"/>
              </a:gs>
              <a:gs pos="50000">
                <a:srgbClr val="00B0F0"/>
              </a:gs>
              <a:gs pos="100000">
                <a:srgbClr val="9FD8FF"/>
              </a:gs>
            </a:gsLst>
            <a:lin ang="5400000" scaled="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 anchorCtr="0"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en-US" altLang="zh-CN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种方式</a:t>
            </a:r>
          </a:p>
          <a:p>
            <a:pPr algn="ctr"/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折角形 10"/>
          <p:cNvSpPr/>
          <p:nvPr/>
        </p:nvSpPr>
        <p:spPr bwMode="auto">
          <a:xfrm>
            <a:off x="3523994" y="2230888"/>
            <a:ext cx="7368540" cy="1258194"/>
          </a:xfrm>
          <a:prstGeom prst="foldedCorner">
            <a:avLst/>
          </a:prstGeom>
          <a:solidFill>
            <a:schemeClr val="accent1">
              <a:lumMod val="40000"/>
              <a:lumOff val="6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/>
          <a:lstStyle/>
          <a:p>
            <a:pPr>
              <a:lnSpc>
                <a:spcPct val="150000"/>
              </a:lnSpc>
              <a:defRPr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未运行的目标代码插桩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，首先从头到尾插入测试代码，然后执行程序。这种方式适用于需要实现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完整系统</a:t>
            </a:r>
            <a:r>
              <a:rPr lang="zh-CN" altLang="en-US"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或仿真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（模拟真实系统）进行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代码覆盖测试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2" name="折角形 11"/>
          <p:cNvSpPr/>
          <p:nvPr/>
        </p:nvSpPr>
        <p:spPr bwMode="auto">
          <a:xfrm>
            <a:off x="3505200" y="3633470"/>
            <a:ext cx="7343775" cy="1144905"/>
          </a:xfrm>
          <a:prstGeom prst="foldedCorner">
            <a:avLst/>
          </a:prstGeom>
          <a:solidFill>
            <a:srgbClr val="D1C7FD">
              <a:alpha val="3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/>
          <a:lstStyle/>
          <a:p>
            <a:pPr algn="l">
              <a:lnSpc>
                <a:spcPct val="150000"/>
              </a:lnSpc>
              <a:buClrTx/>
              <a:buSzTx/>
              <a:buFontTx/>
              <a:defRPr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正在运行的程序插入测试代码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，用来检测程序在特定时间的运行状态信息。</a:t>
            </a:r>
          </a:p>
        </p:txBody>
      </p:sp>
      <p:sp>
        <p:nvSpPr>
          <p:cNvPr id="13" name="TextBox 8"/>
          <p:cNvSpPr txBox="1">
            <a:spLocks noChangeArrowheads="1"/>
          </p:cNvSpPr>
          <p:nvPr/>
        </p:nvSpPr>
        <p:spPr bwMode="auto">
          <a:xfrm>
            <a:off x="1427480" y="3633470"/>
            <a:ext cx="2077085" cy="1144905"/>
          </a:xfrm>
          <a:prstGeom prst="rect">
            <a:avLst/>
          </a:prstGeom>
          <a:gradFill rotWithShape="0">
            <a:gsLst>
              <a:gs pos="0">
                <a:srgbClr val="008DF6"/>
              </a:gs>
              <a:gs pos="50000">
                <a:srgbClr val="00B0F0"/>
              </a:gs>
              <a:gs pos="100000">
                <a:srgbClr val="9FD8FF"/>
              </a:gs>
            </a:gsLst>
            <a:lin ang="5400000" scaled="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 anchorCtr="0"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en-US" altLang="zh-CN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种方式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3.3.1	目标代码插桩</a:t>
            </a:r>
          </a:p>
        </p:txBody>
      </p:sp>
      <p:sp>
        <p:nvSpPr>
          <p:cNvPr id="2" name="TextBox 35"/>
          <p:cNvSpPr txBox="1">
            <a:spLocks noChangeArrowheads="1"/>
          </p:cNvSpPr>
          <p:nvPr/>
        </p:nvSpPr>
        <p:spPr bwMode="auto">
          <a:xfrm>
            <a:off x="1191895" y="981075"/>
            <a:ext cx="9805670" cy="10002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en-US" altLang="zh-CN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目标代码插桩的执行模式</a:t>
            </a: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目标代码插桩具有以下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3种执行模式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24" name="MH_SubTitle_1"/>
          <p:cNvSpPr/>
          <p:nvPr>
            <p:custDataLst>
              <p:tags r:id="rId1"/>
            </p:custDataLst>
          </p:nvPr>
        </p:nvSpPr>
        <p:spPr>
          <a:xfrm>
            <a:off x="2347857" y="2422207"/>
            <a:ext cx="2599919" cy="511095"/>
          </a:xfrm>
          <a:custGeom>
            <a:avLst/>
            <a:gdLst>
              <a:gd name="connsiteX0" fmla="*/ 0 w 2286028"/>
              <a:gd name="connsiteY0" fmla="*/ 0 h 449944"/>
              <a:gd name="connsiteX1" fmla="*/ 2061028 w 2286028"/>
              <a:gd name="connsiteY1" fmla="*/ 0 h 449944"/>
              <a:gd name="connsiteX2" fmla="*/ 2286028 w 2286028"/>
              <a:gd name="connsiteY2" fmla="*/ 224972 h 449944"/>
              <a:gd name="connsiteX3" fmla="*/ 2061028 w 2286028"/>
              <a:gd name="connsiteY3" fmla="*/ 449944 h 449944"/>
              <a:gd name="connsiteX4" fmla="*/ 2061018 w 2286028"/>
              <a:gd name="connsiteY4" fmla="*/ 449943 h 449944"/>
              <a:gd name="connsiteX5" fmla="*/ 0 w 2286028"/>
              <a:gd name="connsiteY5" fmla="*/ 449943 h 449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86028" h="449944">
                <a:moveTo>
                  <a:pt x="0" y="0"/>
                </a:moveTo>
                <a:lnTo>
                  <a:pt x="2061028" y="0"/>
                </a:lnTo>
                <a:cubicBezTo>
                  <a:pt x="2185292" y="0"/>
                  <a:pt x="2286028" y="100723"/>
                  <a:pt x="2286028" y="224972"/>
                </a:cubicBezTo>
                <a:cubicBezTo>
                  <a:pt x="2286028" y="349221"/>
                  <a:pt x="2185292" y="449944"/>
                  <a:pt x="2061028" y="449944"/>
                </a:cubicBezTo>
                <a:lnTo>
                  <a:pt x="2061018" y="449943"/>
                </a:lnTo>
                <a:lnTo>
                  <a:pt x="0" y="449943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即时模式</a:t>
            </a:r>
          </a:p>
        </p:txBody>
      </p:sp>
      <p:sp>
        <p:nvSpPr>
          <p:cNvPr id="25" name="MH_Other_1"/>
          <p:cNvSpPr/>
          <p:nvPr>
            <p:custDataLst>
              <p:tags r:id="rId2"/>
            </p:custDataLst>
          </p:nvPr>
        </p:nvSpPr>
        <p:spPr>
          <a:xfrm>
            <a:off x="4466837" y="2462523"/>
            <a:ext cx="431733" cy="431733"/>
          </a:xfrm>
          <a:custGeom>
            <a:avLst/>
            <a:gdLst>
              <a:gd name="connsiteX0" fmla="*/ 162177 w 379914"/>
              <a:gd name="connsiteY0" fmla="*/ 97631 h 379866"/>
              <a:gd name="connsiteX1" fmla="*/ 219804 w 379914"/>
              <a:gd name="connsiteY1" fmla="*/ 189932 h 379866"/>
              <a:gd name="connsiteX2" fmla="*/ 162177 w 379914"/>
              <a:gd name="connsiteY2" fmla="*/ 282233 h 379866"/>
              <a:gd name="connsiteX3" fmla="*/ 198210 w 379914"/>
              <a:gd name="connsiteY3" fmla="*/ 282233 h 379866"/>
              <a:gd name="connsiteX4" fmla="*/ 255837 w 379914"/>
              <a:gd name="connsiteY4" fmla="*/ 189932 h 379866"/>
              <a:gd name="connsiteX5" fmla="*/ 198210 w 379914"/>
              <a:gd name="connsiteY5" fmla="*/ 97631 h 379866"/>
              <a:gd name="connsiteX6" fmla="*/ 189957 w 379914"/>
              <a:gd name="connsiteY6" fmla="*/ 0 h 379866"/>
              <a:gd name="connsiteX7" fmla="*/ 379914 w 379914"/>
              <a:gd name="connsiteY7" fmla="*/ 189933 h 379866"/>
              <a:gd name="connsiteX8" fmla="*/ 189957 w 379914"/>
              <a:gd name="connsiteY8" fmla="*/ 379866 h 379866"/>
              <a:gd name="connsiteX9" fmla="*/ 0 w 379914"/>
              <a:gd name="connsiteY9" fmla="*/ 189933 h 379866"/>
              <a:gd name="connsiteX10" fmla="*/ 189957 w 379914"/>
              <a:gd name="connsiteY10" fmla="*/ 0 h 379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79914" h="379866">
                <a:moveTo>
                  <a:pt x="162177" y="97631"/>
                </a:moveTo>
                <a:lnTo>
                  <a:pt x="219804" y="189932"/>
                </a:lnTo>
                <a:lnTo>
                  <a:pt x="162177" y="282233"/>
                </a:lnTo>
                <a:lnTo>
                  <a:pt x="198210" y="282233"/>
                </a:lnTo>
                <a:lnTo>
                  <a:pt x="255837" y="189932"/>
                </a:lnTo>
                <a:lnTo>
                  <a:pt x="198210" y="97631"/>
                </a:lnTo>
                <a:close/>
                <a:moveTo>
                  <a:pt x="189957" y="0"/>
                </a:moveTo>
                <a:cubicBezTo>
                  <a:pt x="294867" y="0"/>
                  <a:pt x="379914" y="85036"/>
                  <a:pt x="379914" y="189933"/>
                </a:cubicBezTo>
                <a:cubicBezTo>
                  <a:pt x="379914" y="294830"/>
                  <a:pt x="294867" y="379866"/>
                  <a:pt x="189957" y="379866"/>
                </a:cubicBezTo>
                <a:cubicBezTo>
                  <a:pt x="85047" y="379866"/>
                  <a:pt x="0" y="294830"/>
                  <a:pt x="0" y="189933"/>
                </a:cubicBezTo>
                <a:cubicBezTo>
                  <a:pt x="0" y="85036"/>
                  <a:pt x="85047" y="0"/>
                  <a:pt x="18995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600" b="0" i="0" u="none" strike="noStrike" kern="1200" cap="none" spc="0" normalizeH="0" baseline="0" noProof="0">
              <a:ln>
                <a:noFill/>
              </a:ln>
              <a:solidFill>
                <a:srgbClr val="84CBC5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26" name="MH_Text_1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039360" y="2247265"/>
            <a:ext cx="2975610" cy="887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将修改部分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的二进制代码以副本的形式在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新的内存区域中，在测试时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仅执行修改部分的目标代码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</a:p>
        </p:txBody>
      </p:sp>
      <p:sp>
        <p:nvSpPr>
          <p:cNvPr id="27" name="MH_SubTitle_2"/>
          <p:cNvSpPr/>
          <p:nvPr>
            <p:custDataLst>
              <p:tags r:id="rId4"/>
            </p:custDataLst>
          </p:nvPr>
        </p:nvSpPr>
        <p:spPr>
          <a:xfrm>
            <a:off x="2347857" y="3627565"/>
            <a:ext cx="2599919" cy="511095"/>
          </a:xfrm>
          <a:custGeom>
            <a:avLst/>
            <a:gdLst>
              <a:gd name="connsiteX0" fmla="*/ 0 w 2286028"/>
              <a:gd name="connsiteY0" fmla="*/ 0 h 449944"/>
              <a:gd name="connsiteX1" fmla="*/ 2061028 w 2286028"/>
              <a:gd name="connsiteY1" fmla="*/ 0 h 449944"/>
              <a:gd name="connsiteX2" fmla="*/ 2286028 w 2286028"/>
              <a:gd name="connsiteY2" fmla="*/ 224972 h 449944"/>
              <a:gd name="connsiteX3" fmla="*/ 2061028 w 2286028"/>
              <a:gd name="connsiteY3" fmla="*/ 449944 h 449944"/>
              <a:gd name="connsiteX4" fmla="*/ 2061018 w 2286028"/>
              <a:gd name="connsiteY4" fmla="*/ 449943 h 449944"/>
              <a:gd name="connsiteX5" fmla="*/ 0 w 2286028"/>
              <a:gd name="connsiteY5" fmla="*/ 449943 h 449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86028" h="449944">
                <a:moveTo>
                  <a:pt x="0" y="0"/>
                </a:moveTo>
                <a:lnTo>
                  <a:pt x="2061028" y="0"/>
                </a:lnTo>
                <a:cubicBezTo>
                  <a:pt x="2185292" y="0"/>
                  <a:pt x="2286028" y="100723"/>
                  <a:pt x="2286028" y="224972"/>
                </a:cubicBezTo>
                <a:cubicBezTo>
                  <a:pt x="2286028" y="349221"/>
                  <a:pt x="2185292" y="449944"/>
                  <a:pt x="2061028" y="449944"/>
                </a:cubicBezTo>
                <a:lnTo>
                  <a:pt x="2061018" y="449943"/>
                </a:lnTo>
                <a:lnTo>
                  <a:pt x="0" y="449943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2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解释模式</a:t>
            </a:r>
          </a:p>
        </p:txBody>
      </p:sp>
      <p:sp>
        <p:nvSpPr>
          <p:cNvPr id="28" name="MH_Other_2"/>
          <p:cNvSpPr/>
          <p:nvPr>
            <p:custDataLst>
              <p:tags r:id="rId5"/>
            </p:custDataLst>
          </p:nvPr>
        </p:nvSpPr>
        <p:spPr>
          <a:xfrm>
            <a:off x="4466837" y="3667245"/>
            <a:ext cx="431733" cy="431733"/>
          </a:xfrm>
          <a:custGeom>
            <a:avLst/>
            <a:gdLst>
              <a:gd name="connsiteX0" fmla="*/ 162177 w 379914"/>
              <a:gd name="connsiteY0" fmla="*/ 97631 h 379866"/>
              <a:gd name="connsiteX1" fmla="*/ 219804 w 379914"/>
              <a:gd name="connsiteY1" fmla="*/ 189932 h 379866"/>
              <a:gd name="connsiteX2" fmla="*/ 162177 w 379914"/>
              <a:gd name="connsiteY2" fmla="*/ 282233 h 379866"/>
              <a:gd name="connsiteX3" fmla="*/ 198210 w 379914"/>
              <a:gd name="connsiteY3" fmla="*/ 282233 h 379866"/>
              <a:gd name="connsiteX4" fmla="*/ 255837 w 379914"/>
              <a:gd name="connsiteY4" fmla="*/ 189932 h 379866"/>
              <a:gd name="connsiteX5" fmla="*/ 198210 w 379914"/>
              <a:gd name="connsiteY5" fmla="*/ 97631 h 379866"/>
              <a:gd name="connsiteX6" fmla="*/ 189957 w 379914"/>
              <a:gd name="connsiteY6" fmla="*/ 0 h 379866"/>
              <a:gd name="connsiteX7" fmla="*/ 379914 w 379914"/>
              <a:gd name="connsiteY7" fmla="*/ 189933 h 379866"/>
              <a:gd name="connsiteX8" fmla="*/ 189957 w 379914"/>
              <a:gd name="connsiteY8" fmla="*/ 379866 h 379866"/>
              <a:gd name="connsiteX9" fmla="*/ 0 w 379914"/>
              <a:gd name="connsiteY9" fmla="*/ 189933 h 379866"/>
              <a:gd name="connsiteX10" fmla="*/ 189957 w 379914"/>
              <a:gd name="connsiteY10" fmla="*/ 0 h 379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79914" h="379866">
                <a:moveTo>
                  <a:pt x="162177" y="97631"/>
                </a:moveTo>
                <a:lnTo>
                  <a:pt x="219804" y="189932"/>
                </a:lnTo>
                <a:lnTo>
                  <a:pt x="162177" y="282233"/>
                </a:lnTo>
                <a:lnTo>
                  <a:pt x="198210" y="282233"/>
                </a:lnTo>
                <a:lnTo>
                  <a:pt x="255837" y="189932"/>
                </a:lnTo>
                <a:lnTo>
                  <a:pt x="198210" y="97631"/>
                </a:lnTo>
                <a:close/>
                <a:moveTo>
                  <a:pt x="189957" y="0"/>
                </a:moveTo>
                <a:cubicBezTo>
                  <a:pt x="294867" y="0"/>
                  <a:pt x="379914" y="85036"/>
                  <a:pt x="379914" y="189933"/>
                </a:cubicBezTo>
                <a:cubicBezTo>
                  <a:pt x="379914" y="294830"/>
                  <a:pt x="294867" y="379866"/>
                  <a:pt x="189957" y="379866"/>
                </a:cubicBezTo>
                <a:cubicBezTo>
                  <a:pt x="85047" y="379866"/>
                  <a:pt x="0" y="294830"/>
                  <a:pt x="0" y="189933"/>
                </a:cubicBezTo>
                <a:cubicBezTo>
                  <a:pt x="0" y="85036"/>
                  <a:pt x="85047" y="0"/>
                  <a:pt x="18995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600" b="0" i="0" u="none" strike="noStrike" kern="1200" cap="none" spc="0" normalizeH="0" baseline="0" noProof="0">
              <a:ln>
                <a:noFill/>
              </a:ln>
              <a:solidFill>
                <a:srgbClr val="84CBC5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29" name="MH_Text_2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039272" y="3535964"/>
            <a:ext cx="2904524" cy="7280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no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测试人员插入的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测试代码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作为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目标代码指令</a:t>
            </a:r>
            <a:r>
              <a:rPr lang="zh-CN" altLang="en-US" sz="1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的解释语言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每当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执行一条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目标代码指令时，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程序就会在测试代码中查找并执行相应的替代指令。</a:t>
            </a:r>
          </a:p>
        </p:txBody>
      </p:sp>
      <p:sp>
        <p:nvSpPr>
          <p:cNvPr id="30" name="MH_SubTitle_3"/>
          <p:cNvSpPr/>
          <p:nvPr>
            <p:custDataLst>
              <p:tags r:id="rId7"/>
            </p:custDataLst>
          </p:nvPr>
        </p:nvSpPr>
        <p:spPr>
          <a:xfrm>
            <a:off x="2347857" y="4847630"/>
            <a:ext cx="2599919" cy="511095"/>
          </a:xfrm>
          <a:custGeom>
            <a:avLst/>
            <a:gdLst>
              <a:gd name="connsiteX0" fmla="*/ 0 w 2286028"/>
              <a:gd name="connsiteY0" fmla="*/ 0 h 449944"/>
              <a:gd name="connsiteX1" fmla="*/ 2061028 w 2286028"/>
              <a:gd name="connsiteY1" fmla="*/ 0 h 449944"/>
              <a:gd name="connsiteX2" fmla="*/ 2286028 w 2286028"/>
              <a:gd name="connsiteY2" fmla="*/ 224972 h 449944"/>
              <a:gd name="connsiteX3" fmla="*/ 2061028 w 2286028"/>
              <a:gd name="connsiteY3" fmla="*/ 449944 h 449944"/>
              <a:gd name="connsiteX4" fmla="*/ 2061018 w 2286028"/>
              <a:gd name="connsiteY4" fmla="*/ 449943 h 449944"/>
              <a:gd name="connsiteX5" fmla="*/ 0 w 2286028"/>
              <a:gd name="connsiteY5" fmla="*/ 449943 h 449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86028" h="449944">
                <a:moveTo>
                  <a:pt x="0" y="0"/>
                </a:moveTo>
                <a:lnTo>
                  <a:pt x="2061028" y="0"/>
                </a:lnTo>
                <a:cubicBezTo>
                  <a:pt x="2185292" y="0"/>
                  <a:pt x="2286028" y="100723"/>
                  <a:pt x="2286028" y="224972"/>
                </a:cubicBezTo>
                <a:cubicBezTo>
                  <a:pt x="2286028" y="349221"/>
                  <a:pt x="2185292" y="449944"/>
                  <a:pt x="2061028" y="449944"/>
                </a:cubicBezTo>
                <a:lnTo>
                  <a:pt x="2061018" y="449943"/>
                </a:lnTo>
                <a:lnTo>
                  <a:pt x="0" y="449943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2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探测模式</a:t>
            </a:r>
          </a:p>
        </p:txBody>
      </p:sp>
      <p:sp>
        <p:nvSpPr>
          <p:cNvPr id="32" name="MH_Other_3"/>
          <p:cNvSpPr/>
          <p:nvPr>
            <p:custDataLst>
              <p:tags r:id="rId8"/>
            </p:custDataLst>
          </p:nvPr>
        </p:nvSpPr>
        <p:spPr>
          <a:xfrm>
            <a:off x="4466837" y="4887310"/>
            <a:ext cx="431733" cy="431733"/>
          </a:xfrm>
          <a:custGeom>
            <a:avLst/>
            <a:gdLst>
              <a:gd name="connsiteX0" fmla="*/ 162177 w 379914"/>
              <a:gd name="connsiteY0" fmla="*/ 97631 h 379866"/>
              <a:gd name="connsiteX1" fmla="*/ 219804 w 379914"/>
              <a:gd name="connsiteY1" fmla="*/ 189932 h 379866"/>
              <a:gd name="connsiteX2" fmla="*/ 162177 w 379914"/>
              <a:gd name="connsiteY2" fmla="*/ 282233 h 379866"/>
              <a:gd name="connsiteX3" fmla="*/ 198210 w 379914"/>
              <a:gd name="connsiteY3" fmla="*/ 282233 h 379866"/>
              <a:gd name="connsiteX4" fmla="*/ 255837 w 379914"/>
              <a:gd name="connsiteY4" fmla="*/ 189932 h 379866"/>
              <a:gd name="connsiteX5" fmla="*/ 198210 w 379914"/>
              <a:gd name="connsiteY5" fmla="*/ 97631 h 379866"/>
              <a:gd name="connsiteX6" fmla="*/ 189957 w 379914"/>
              <a:gd name="connsiteY6" fmla="*/ 0 h 379866"/>
              <a:gd name="connsiteX7" fmla="*/ 379914 w 379914"/>
              <a:gd name="connsiteY7" fmla="*/ 189933 h 379866"/>
              <a:gd name="connsiteX8" fmla="*/ 189957 w 379914"/>
              <a:gd name="connsiteY8" fmla="*/ 379866 h 379866"/>
              <a:gd name="connsiteX9" fmla="*/ 0 w 379914"/>
              <a:gd name="connsiteY9" fmla="*/ 189933 h 379866"/>
              <a:gd name="connsiteX10" fmla="*/ 189957 w 379914"/>
              <a:gd name="connsiteY10" fmla="*/ 0 h 379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79914" h="379866">
                <a:moveTo>
                  <a:pt x="162177" y="97631"/>
                </a:moveTo>
                <a:lnTo>
                  <a:pt x="219804" y="189932"/>
                </a:lnTo>
                <a:lnTo>
                  <a:pt x="162177" y="282233"/>
                </a:lnTo>
                <a:lnTo>
                  <a:pt x="198210" y="282233"/>
                </a:lnTo>
                <a:lnTo>
                  <a:pt x="255837" y="189932"/>
                </a:lnTo>
                <a:lnTo>
                  <a:pt x="198210" y="97631"/>
                </a:lnTo>
                <a:close/>
                <a:moveTo>
                  <a:pt x="189957" y="0"/>
                </a:moveTo>
                <a:cubicBezTo>
                  <a:pt x="294867" y="0"/>
                  <a:pt x="379914" y="85036"/>
                  <a:pt x="379914" y="189933"/>
                </a:cubicBezTo>
                <a:cubicBezTo>
                  <a:pt x="379914" y="294830"/>
                  <a:pt x="294867" y="379866"/>
                  <a:pt x="189957" y="379866"/>
                </a:cubicBezTo>
                <a:cubicBezTo>
                  <a:pt x="85047" y="379866"/>
                  <a:pt x="0" y="294830"/>
                  <a:pt x="0" y="189933"/>
                </a:cubicBezTo>
                <a:cubicBezTo>
                  <a:pt x="0" y="85036"/>
                  <a:pt x="85047" y="0"/>
                  <a:pt x="18995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600" b="0" i="0" u="none" strike="noStrike" kern="1200" cap="none" spc="0" normalizeH="0" baseline="0" noProof="0">
              <a:ln>
                <a:noFill/>
              </a:ln>
              <a:solidFill>
                <a:srgbClr val="84CBC5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33" name="MH_Text_3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5039360" y="4641215"/>
            <a:ext cx="2904490" cy="929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no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探测模式使用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新指令覆盖旧指令进行测试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，这种模式在某些体系结构（如x86体系结构）中比较适用。</a:t>
            </a:r>
          </a:p>
        </p:txBody>
      </p:sp>
      <p:sp>
        <p:nvSpPr>
          <p:cNvPr id="34" name="MH_Title_1"/>
          <p:cNvSpPr/>
          <p:nvPr>
            <p:custDataLst>
              <p:tags r:id="rId10"/>
            </p:custDataLst>
          </p:nvPr>
        </p:nvSpPr>
        <p:spPr>
          <a:xfrm>
            <a:off x="1580953" y="2766018"/>
            <a:ext cx="498182" cy="2417379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0" tIns="0" rIns="0" bIns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10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kumimoji="0" lang="zh-CN" altLang="en-US" sz="2000" b="1" i="0" u="none" strike="noStrike" kern="1200" cap="none" spc="10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种执行模式</a:t>
            </a:r>
          </a:p>
        </p:txBody>
      </p:sp>
      <p:cxnSp>
        <p:nvCxnSpPr>
          <p:cNvPr id="35" name="PA_直接连接符 2"/>
          <p:cNvCxnSpPr/>
          <p:nvPr>
            <p:custDataLst>
              <p:tags r:id="rId11"/>
            </p:custDataLst>
          </p:nvPr>
        </p:nvCxnSpPr>
        <p:spPr>
          <a:xfrm>
            <a:off x="1560210" y="2452265"/>
            <a:ext cx="0" cy="3044887"/>
          </a:xfrm>
          <a:prstGeom prst="line">
            <a:avLst/>
          </a:prstGeom>
          <a:ln>
            <a:solidFill>
              <a:srgbClr val="6BAF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PA_直接连接符 2"/>
          <p:cNvCxnSpPr/>
          <p:nvPr>
            <p:custDataLst>
              <p:tags r:id="rId12"/>
            </p:custDataLst>
          </p:nvPr>
        </p:nvCxnSpPr>
        <p:spPr>
          <a:xfrm>
            <a:off x="2079135" y="2452263"/>
            <a:ext cx="0" cy="3044887"/>
          </a:xfrm>
          <a:prstGeom prst="line">
            <a:avLst/>
          </a:prstGeom>
          <a:ln>
            <a:solidFill>
              <a:srgbClr val="6BAFE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PA_StraightArrowConnector 4"/>
          <p:cNvCxnSpPr/>
          <p:nvPr>
            <p:custDataLst>
              <p:tags r:id="rId13"/>
            </p:custDataLst>
          </p:nvPr>
        </p:nvCxnSpPr>
        <p:spPr>
          <a:xfrm>
            <a:off x="7943798" y="2677754"/>
            <a:ext cx="979506" cy="0"/>
          </a:xfrm>
          <a:prstGeom prst="straightConnector1">
            <a:avLst/>
          </a:prstGeom>
          <a:ln w="12700">
            <a:solidFill>
              <a:srgbClr val="014076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PA_StraightArrowConnector 4"/>
          <p:cNvCxnSpPr/>
          <p:nvPr>
            <p:custDataLst>
              <p:tags r:id="rId14"/>
            </p:custDataLst>
          </p:nvPr>
        </p:nvCxnSpPr>
        <p:spPr>
          <a:xfrm>
            <a:off x="7943797" y="3927355"/>
            <a:ext cx="979506" cy="0"/>
          </a:xfrm>
          <a:prstGeom prst="straightConnector1">
            <a:avLst/>
          </a:prstGeom>
          <a:ln w="12700">
            <a:solidFill>
              <a:srgbClr val="014076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PA_StraightArrowConnector 4"/>
          <p:cNvCxnSpPr/>
          <p:nvPr>
            <p:custDataLst>
              <p:tags r:id="rId15"/>
            </p:custDataLst>
          </p:nvPr>
        </p:nvCxnSpPr>
        <p:spPr>
          <a:xfrm>
            <a:off x="7943794" y="5183398"/>
            <a:ext cx="979506" cy="0"/>
          </a:xfrm>
          <a:prstGeom prst="straightConnector1">
            <a:avLst/>
          </a:prstGeom>
          <a:ln w="12700">
            <a:solidFill>
              <a:srgbClr val="014076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arrow-on-target_68291"/>
          <p:cNvSpPr>
            <a:spLocks noChangeAspect="1"/>
          </p:cNvSpPr>
          <p:nvPr/>
        </p:nvSpPr>
        <p:spPr bwMode="auto">
          <a:xfrm>
            <a:off x="9267194" y="4887561"/>
            <a:ext cx="609590" cy="609590"/>
          </a:xfrm>
          <a:custGeom>
            <a:avLst/>
            <a:gdLst>
              <a:gd name="connsiteX0" fmla="*/ 157638 w 338138"/>
              <a:gd name="connsiteY0" fmla="*/ 144463 h 338138"/>
              <a:gd name="connsiteX1" fmla="*/ 165544 w 338138"/>
              <a:gd name="connsiteY1" fmla="*/ 148443 h 338138"/>
              <a:gd name="connsiteX2" fmla="*/ 249865 w 338138"/>
              <a:gd name="connsiteY2" fmla="*/ 233341 h 338138"/>
              <a:gd name="connsiteX3" fmla="*/ 280167 w 338138"/>
              <a:gd name="connsiteY3" fmla="*/ 232015 h 338138"/>
              <a:gd name="connsiteX4" fmla="*/ 286755 w 338138"/>
              <a:gd name="connsiteY4" fmla="*/ 234668 h 338138"/>
              <a:gd name="connsiteX5" fmla="*/ 335503 w 338138"/>
              <a:gd name="connsiteY5" fmla="*/ 283750 h 338138"/>
              <a:gd name="connsiteX6" fmla="*/ 338138 w 338138"/>
              <a:gd name="connsiteY6" fmla="*/ 293036 h 338138"/>
              <a:gd name="connsiteX7" fmla="*/ 330233 w 338138"/>
              <a:gd name="connsiteY7" fmla="*/ 298342 h 338138"/>
              <a:gd name="connsiteX8" fmla="*/ 311788 w 338138"/>
              <a:gd name="connsiteY8" fmla="*/ 303648 h 338138"/>
              <a:gd name="connsiteX9" fmla="*/ 303883 w 338138"/>
              <a:gd name="connsiteY9" fmla="*/ 310281 h 338138"/>
              <a:gd name="connsiteX10" fmla="*/ 299930 w 338138"/>
              <a:gd name="connsiteY10" fmla="*/ 331505 h 338138"/>
              <a:gd name="connsiteX11" fmla="*/ 293343 w 338138"/>
              <a:gd name="connsiteY11" fmla="*/ 338138 h 338138"/>
              <a:gd name="connsiteX12" fmla="*/ 290708 w 338138"/>
              <a:gd name="connsiteY12" fmla="*/ 338138 h 338138"/>
              <a:gd name="connsiteX13" fmla="*/ 284120 w 338138"/>
              <a:gd name="connsiteY13" fmla="*/ 335485 h 338138"/>
              <a:gd name="connsiteX14" fmla="*/ 235372 w 338138"/>
              <a:gd name="connsiteY14" fmla="*/ 286403 h 338138"/>
              <a:gd name="connsiteX15" fmla="*/ 232737 w 338138"/>
              <a:gd name="connsiteY15" fmla="*/ 279770 h 338138"/>
              <a:gd name="connsiteX16" fmla="*/ 234054 w 338138"/>
              <a:gd name="connsiteY16" fmla="*/ 249260 h 338138"/>
              <a:gd name="connsiteX17" fmla="*/ 149733 w 338138"/>
              <a:gd name="connsiteY17" fmla="*/ 164361 h 338138"/>
              <a:gd name="connsiteX18" fmla="*/ 149733 w 338138"/>
              <a:gd name="connsiteY18" fmla="*/ 148443 h 338138"/>
              <a:gd name="connsiteX19" fmla="*/ 157638 w 338138"/>
              <a:gd name="connsiteY19" fmla="*/ 144463 h 338138"/>
              <a:gd name="connsiteX20" fmla="*/ 145922 w 338138"/>
              <a:gd name="connsiteY20" fmla="*/ 120650 h 338138"/>
              <a:gd name="connsiteX21" fmla="*/ 169863 w 338138"/>
              <a:gd name="connsiteY21" fmla="*/ 137383 h 338138"/>
              <a:gd name="connsiteX22" fmla="*/ 157893 w 338138"/>
              <a:gd name="connsiteY22" fmla="*/ 133522 h 338138"/>
              <a:gd name="connsiteX23" fmla="*/ 141931 w 338138"/>
              <a:gd name="connsiteY23" fmla="*/ 141245 h 338138"/>
              <a:gd name="connsiteX24" fmla="*/ 137941 w 338138"/>
              <a:gd name="connsiteY24" fmla="*/ 168275 h 338138"/>
              <a:gd name="connsiteX25" fmla="*/ 120650 w 338138"/>
              <a:gd name="connsiteY25" fmla="*/ 145106 h 338138"/>
              <a:gd name="connsiteX26" fmla="*/ 145922 w 338138"/>
              <a:gd name="connsiteY26" fmla="*/ 120650 h 338138"/>
              <a:gd name="connsiteX27" fmla="*/ 146051 w 338138"/>
              <a:gd name="connsiteY27" fmla="*/ 60325 h 338138"/>
              <a:gd name="connsiteX28" fmla="*/ 230188 w 338138"/>
              <a:gd name="connsiteY28" fmla="*/ 145257 h 338138"/>
              <a:gd name="connsiteX29" fmla="*/ 219671 w 338138"/>
              <a:gd name="connsiteY29" fmla="*/ 186395 h 338138"/>
              <a:gd name="connsiteX30" fmla="*/ 193378 w 338138"/>
              <a:gd name="connsiteY30" fmla="*/ 161181 h 338138"/>
              <a:gd name="connsiteX31" fmla="*/ 196007 w 338138"/>
              <a:gd name="connsiteY31" fmla="*/ 145257 h 338138"/>
              <a:gd name="connsiteX32" fmla="*/ 146051 w 338138"/>
              <a:gd name="connsiteY32" fmla="*/ 94828 h 338138"/>
              <a:gd name="connsiteX33" fmla="*/ 96094 w 338138"/>
              <a:gd name="connsiteY33" fmla="*/ 145257 h 338138"/>
              <a:gd name="connsiteX34" fmla="*/ 146051 w 338138"/>
              <a:gd name="connsiteY34" fmla="*/ 195685 h 338138"/>
              <a:gd name="connsiteX35" fmla="*/ 161827 w 338138"/>
              <a:gd name="connsiteY35" fmla="*/ 193031 h 338138"/>
              <a:gd name="connsiteX36" fmla="*/ 188119 w 338138"/>
              <a:gd name="connsiteY36" fmla="*/ 219572 h 338138"/>
              <a:gd name="connsiteX37" fmla="*/ 146051 w 338138"/>
              <a:gd name="connsiteY37" fmla="*/ 230188 h 338138"/>
              <a:gd name="connsiteX38" fmla="*/ 61913 w 338138"/>
              <a:gd name="connsiteY38" fmla="*/ 145257 h 338138"/>
              <a:gd name="connsiteX39" fmla="*/ 146051 w 338138"/>
              <a:gd name="connsiteY39" fmla="*/ 60325 h 338138"/>
              <a:gd name="connsiteX40" fmla="*/ 145257 w 338138"/>
              <a:gd name="connsiteY40" fmla="*/ 0 h 338138"/>
              <a:gd name="connsiteX41" fmla="*/ 290513 w 338138"/>
              <a:gd name="connsiteY41" fmla="*/ 145257 h 338138"/>
              <a:gd name="connsiteX42" fmla="*/ 269385 w 338138"/>
              <a:gd name="connsiteY42" fmla="*/ 221846 h 338138"/>
              <a:gd name="connsiteX43" fmla="*/ 254859 w 338138"/>
              <a:gd name="connsiteY43" fmla="*/ 221846 h 338138"/>
              <a:gd name="connsiteX44" fmla="*/ 239013 w 338138"/>
              <a:gd name="connsiteY44" fmla="*/ 206000 h 338138"/>
              <a:gd name="connsiteX45" fmla="*/ 256180 w 338138"/>
              <a:gd name="connsiteY45" fmla="*/ 145257 h 338138"/>
              <a:gd name="connsiteX46" fmla="*/ 145257 w 338138"/>
              <a:gd name="connsiteY46" fmla="*/ 34333 h 338138"/>
              <a:gd name="connsiteX47" fmla="*/ 34333 w 338138"/>
              <a:gd name="connsiteY47" fmla="*/ 145257 h 338138"/>
              <a:gd name="connsiteX48" fmla="*/ 145257 w 338138"/>
              <a:gd name="connsiteY48" fmla="*/ 256180 h 338138"/>
              <a:gd name="connsiteX49" fmla="*/ 206000 w 338138"/>
              <a:gd name="connsiteY49" fmla="*/ 239013 h 338138"/>
              <a:gd name="connsiteX50" fmla="*/ 221847 w 338138"/>
              <a:gd name="connsiteY50" fmla="*/ 254859 h 338138"/>
              <a:gd name="connsiteX51" fmla="*/ 221847 w 338138"/>
              <a:gd name="connsiteY51" fmla="*/ 269385 h 338138"/>
              <a:gd name="connsiteX52" fmla="*/ 145257 w 338138"/>
              <a:gd name="connsiteY52" fmla="*/ 290513 h 338138"/>
              <a:gd name="connsiteX53" fmla="*/ 0 w 338138"/>
              <a:gd name="connsiteY53" fmla="*/ 145257 h 338138"/>
              <a:gd name="connsiteX54" fmla="*/ 145257 w 338138"/>
              <a:gd name="connsiteY54" fmla="*/ 0 h 338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338138" h="338138">
                <a:moveTo>
                  <a:pt x="157638" y="144463"/>
                </a:moveTo>
                <a:cubicBezTo>
                  <a:pt x="160273" y="144463"/>
                  <a:pt x="162908" y="145790"/>
                  <a:pt x="165544" y="148443"/>
                </a:cubicBezTo>
                <a:cubicBezTo>
                  <a:pt x="165544" y="148443"/>
                  <a:pt x="165544" y="148443"/>
                  <a:pt x="249865" y="233341"/>
                </a:cubicBezTo>
                <a:cubicBezTo>
                  <a:pt x="249865" y="233341"/>
                  <a:pt x="249865" y="233341"/>
                  <a:pt x="280167" y="232015"/>
                </a:cubicBezTo>
                <a:cubicBezTo>
                  <a:pt x="282803" y="232015"/>
                  <a:pt x="285438" y="233341"/>
                  <a:pt x="286755" y="234668"/>
                </a:cubicBezTo>
                <a:cubicBezTo>
                  <a:pt x="286755" y="234668"/>
                  <a:pt x="286755" y="234668"/>
                  <a:pt x="335503" y="283750"/>
                </a:cubicBezTo>
                <a:cubicBezTo>
                  <a:pt x="338138" y="286403"/>
                  <a:pt x="338138" y="289056"/>
                  <a:pt x="338138" y="293036"/>
                </a:cubicBezTo>
                <a:cubicBezTo>
                  <a:pt x="336821" y="295689"/>
                  <a:pt x="334186" y="298342"/>
                  <a:pt x="330233" y="298342"/>
                </a:cubicBezTo>
                <a:cubicBezTo>
                  <a:pt x="330233" y="298342"/>
                  <a:pt x="330233" y="298342"/>
                  <a:pt x="311788" y="303648"/>
                </a:cubicBezTo>
                <a:cubicBezTo>
                  <a:pt x="307835" y="303648"/>
                  <a:pt x="305200" y="306301"/>
                  <a:pt x="303883" y="310281"/>
                </a:cubicBezTo>
                <a:cubicBezTo>
                  <a:pt x="303883" y="310281"/>
                  <a:pt x="303883" y="310281"/>
                  <a:pt x="299930" y="331505"/>
                </a:cubicBezTo>
                <a:cubicBezTo>
                  <a:pt x="298613" y="334158"/>
                  <a:pt x="295978" y="336812"/>
                  <a:pt x="293343" y="338138"/>
                </a:cubicBezTo>
                <a:cubicBezTo>
                  <a:pt x="292025" y="338138"/>
                  <a:pt x="292025" y="338138"/>
                  <a:pt x="290708" y="338138"/>
                </a:cubicBezTo>
                <a:cubicBezTo>
                  <a:pt x="288073" y="338138"/>
                  <a:pt x="285438" y="336812"/>
                  <a:pt x="284120" y="335485"/>
                </a:cubicBezTo>
                <a:cubicBezTo>
                  <a:pt x="284120" y="335485"/>
                  <a:pt x="284120" y="335485"/>
                  <a:pt x="235372" y="286403"/>
                </a:cubicBezTo>
                <a:cubicBezTo>
                  <a:pt x="232737" y="283750"/>
                  <a:pt x="232737" y="281097"/>
                  <a:pt x="232737" y="279770"/>
                </a:cubicBezTo>
                <a:cubicBezTo>
                  <a:pt x="232737" y="279770"/>
                  <a:pt x="232737" y="279770"/>
                  <a:pt x="234054" y="249260"/>
                </a:cubicBezTo>
                <a:cubicBezTo>
                  <a:pt x="234054" y="249260"/>
                  <a:pt x="234054" y="249260"/>
                  <a:pt x="149733" y="164361"/>
                </a:cubicBezTo>
                <a:cubicBezTo>
                  <a:pt x="144463" y="159055"/>
                  <a:pt x="144463" y="152422"/>
                  <a:pt x="149733" y="148443"/>
                </a:cubicBezTo>
                <a:cubicBezTo>
                  <a:pt x="151051" y="145790"/>
                  <a:pt x="155003" y="144463"/>
                  <a:pt x="157638" y="144463"/>
                </a:cubicBezTo>
                <a:close/>
                <a:moveTo>
                  <a:pt x="145922" y="120650"/>
                </a:moveTo>
                <a:cubicBezTo>
                  <a:pt x="157893" y="120650"/>
                  <a:pt x="167203" y="128373"/>
                  <a:pt x="169863" y="137383"/>
                </a:cubicBezTo>
                <a:cubicBezTo>
                  <a:pt x="167203" y="134809"/>
                  <a:pt x="161883" y="133522"/>
                  <a:pt x="157893" y="133522"/>
                </a:cubicBezTo>
                <a:cubicBezTo>
                  <a:pt x="151242" y="133522"/>
                  <a:pt x="145922" y="136096"/>
                  <a:pt x="141931" y="141245"/>
                </a:cubicBezTo>
                <a:cubicBezTo>
                  <a:pt x="133951" y="147680"/>
                  <a:pt x="132620" y="160552"/>
                  <a:pt x="137941" y="168275"/>
                </a:cubicBezTo>
                <a:cubicBezTo>
                  <a:pt x="128630" y="165701"/>
                  <a:pt x="120650" y="156691"/>
                  <a:pt x="120650" y="145106"/>
                </a:cubicBezTo>
                <a:cubicBezTo>
                  <a:pt x="120650" y="132234"/>
                  <a:pt x="132620" y="120650"/>
                  <a:pt x="145922" y="120650"/>
                </a:cubicBezTo>
                <a:close/>
                <a:moveTo>
                  <a:pt x="146051" y="60325"/>
                </a:moveTo>
                <a:cubicBezTo>
                  <a:pt x="192063" y="60325"/>
                  <a:pt x="230188" y="98810"/>
                  <a:pt x="230188" y="145257"/>
                </a:cubicBezTo>
                <a:cubicBezTo>
                  <a:pt x="230188" y="159854"/>
                  <a:pt x="226244" y="174452"/>
                  <a:pt x="219671" y="186395"/>
                </a:cubicBezTo>
                <a:lnTo>
                  <a:pt x="193378" y="161181"/>
                </a:lnTo>
                <a:cubicBezTo>
                  <a:pt x="196007" y="155873"/>
                  <a:pt x="196007" y="150565"/>
                  <a:pt x="196007" y="145257"/>
                </a:cubicBezTo>
                <a:cubicBezTo>
                  <a:pt x="196007" y="117388"/>
                  <a:pt x="173658" y="94828"/>
                  <a:pt x="146051" y="94828"/>
                </a:cubicBezTo>
                <a:cubicBezTo>
                  <a:pt x="118443" y="94828"/>
                  <a:pt x="96094" y="117388"/>
                  <a:pt x="96094" y="145257"/>
                </a:cubicBezTo>
                <a:cubicBezTo>
                  <a:pt x="96094" y="173125"/>
                  <a:pt x="118443" y="195685"/>
                  <a:pt x="146051" y="195685"/>
                </a:cubicBezTo>
                <a:cubicBezTo>
                  <a:pt x="151309" y="195685"/>
                  <a:pt x="156568" y="194358"/>
                  <a:pt x="161827" y="193031"/>
                </a:cubicBezTo>
                <a:cubicBezTo>
                  <a:pt x="161827" y="193031"/>
                  <a:pt x="161827" y="193031"/>
                  <a:pt x="188119" y="219572"/>
                </a:cubicBezTo>
                <a:cubicBezTo>
                  <a:pt x="174973" y="226207"/>
                  <a:pt x="161827" y="230188"/>
                  <a:pt x="146051" y="230188"/>
                </a:cubicBezTo>
                <a:cubicBezTo>
                  <a:pt x="100038" y="230188"/>
                  <a:pt x="61913" y="191703"/>
                  <a:pt x="61913" y="145257"/>
                </a:cubicBezTo>
                <a:cubicBezTo>
                  <a:pt x="61913" y="98810"/>
                  <a:pt x="100038" y="60325"/>
                  <a:pt x="146051" y="60325"/>
                </a:cubicBezTo>
                <a:close/>
                <a:moveTo>
                  <a:pt x="145257" y="0"/>
                </a:moveTo>
                <a:cubicBezTo>
                  <a:pt x="225808" y="0"/>
                  <a:pt x="290513" y="64705"/>
                  <a:pt x="290513" y="145257"/>
                </a:cubicBezTo>
                <a:cubicBezTo>
                  <a:pt x="290513" y="172987"/>
                  <a:pt x="282590" y="199398"/>
                  <a:pt x="269385" y="221846"/>
                </a:cubicBezTo>
                <a:cubicBezTo>
                  <a:pt x="269385" y="221846"/>
                  <a:pt x="269385" y="221846"/>
                  <a:pt x="254859" y="221846"/>
                </a:cubicBezTo>
                <a:cubicBezTo>
                  <a:pt x="254859" y="221846"/>
                  <a:pt x="254859" y="221846"/>
                  <a:pt x="239013" y="206000"/>
                </a:cubicBezTo>
                <a:cubicBezTo>
                  <a:pt x="249577" y="188833"/>
                  <a:pt x="256180" y="167705"/>
                  <a:pt x="256180" y="145257"/>
                </a:cubicBezTo>
                <a:cubicBezTo>
                  <a:pt x="256180" y="84513"/>
                  <a:pt x="207321" y="34333"/>
                  <a:pt x="145257" y="34333"/>
                </a:cubicBezTo>
                <a:cubicBezTo>
                  <a:pt x="84513" y="34333"/>
                  <a:pt x="34333" y="84513"/>
                  <a:pt x="34333" y="145257"/>
                </a:cubicBezTo>
                <a:cubicBezTo>
                  <a:pt x="34333" y="207321"/>
                  <a:pt x="84513" y="256180"/>
                  <a:pt x="145257" y="256180"/>
                </a:cubicBezTo>
                <a:cubicBezTo>
                  <a:pt x="167705" y="256180"/>
                  <a:pt x="188834" y="249577"/>
                  <a:pt x="206000" y="239013"/>
                </a:cubicBezTo>
                <a:cubicBezTo>
                  <a:pt x="206000" y="239013"/>
                  <a:pt x="206000" y="239013"/>
                  <a:pt x="221847" y="254859"/>
                </a:cubicBezTo>
                <a:cubicBezTo>
                  <a:pt x="221847" y="254859"/>
                  <a:pt x="221847" y="254859"/>
                  <a:pt x="221847" y="269385"/>
                </a:cubicBezTo>
                <a:cubicBezTo>
                  <a:pt x="199398" y="282590"/>
                  <a:pt x="172988" y="290513"/>
                  <a:pt x="145257" y="290513"/>
                </a:cubicBezTo>
                <a:cubicBezTo>
                  <a:pt x="64705" y="290513"/>
                  <a:pt x="0" y="225808"/>
                  <a:pt x="0" y="145257"/>
                </a:cubicBezTo>
                <a:cubicBezTo>
                  <a:pt x="0" y="64705"/>
                  <a:pt x="64705" y="0"/>
                  <a:pt x="145257" y="0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41" name="computer-service_78951"/>
          <p:cNvSpPr>
            <a:spLocks noChangeAspect="1"/>
          </p:cNvSpPr>
          <p:nvPr/>
        </p:nvSpPr>
        <p:spPr bwMode="auto">
          <a:xfrm>
            <a:off x="9267194" y="2328486"/>
            <a:ext cx="609590" cy="565770"/>
          </a:xfrm>
          <a:custGeom>
            <a:avLst/>
            <a:gdLst>
              <a:gd name="connsiteX0" fmla="*/ 288132 w 338138"/>
              <a:gd name="connsiteY0" fmla="*/ 223343 h 313831"/>
              <a:gd name="connsiteX1" fmla="*/ 279400 w 338138"/>
              <a:gd name="connsiteY1" fmla="*/ 231281 h 313831"/>
              <a:gd name="connsiteX2" fmla="*/ 288132 w 338138"/>
              <a:gd name="connsiteY2" fmla="*/ 239219 h 313831"/>
              <a:gd name="connsiteX3" fmla="*/ 296864 w 338138"/>
              <a:gd name="connsiteY3" fmla="*/ 231281 h 313831"/>
              <a:gd name="connsiteX4" fmla="*/ 288132 w 338138"/>
              <a:gd name="connsiteY4" fmla="*/ 223343 h 313831"/>
              <a:gd name="connsiteX5" fmla="*/ 261938 w 338138"/>
              <a:gd name="connsiteY5" fmla="*/ 223343 h 313831"/>
              <a:gd name="connsiteX6" fmla="*/ 254000 w 338138"/>
              <a:gd name="connsiteY6" fmla="*/ 231281 h 313831"/>
              <a:gd name="connsiteX7" fmla="*/ 261938 w 338138"/>
              <a:gd name="connsiteY7" fmla="*/ 239219 h 313831"/>
              <a:gd name="connsiteX8" fmla="*/ 269876 w 338138"/>
              <a:gd name="connsiteY8" fmla="*/ 231281 h 313831"/>
              <a:gd name="connsiteX9" fmla="*/ 261938 w 338138"/>
              <a:gd name="connsiteY9" fmla="*/ 223343 h 313831"/>
              <a:gd name="connsiteX10" fmla="*/ 116535 w 338138"/>
              <a:gd name="connsiteY10" fmla="*/ 45543 h 313831"/>
              <a:gd name="connsiteX11" fmla="*/ 141773 w 338138"/>
              <a:gd name="connsiteY11" fmla="*/ 88073 h 313831"/>
              <a:gd name="connsiteX12" fmla="*/ 108565 w 338138"/>
              <a:gd name="connsiteY12" fmla="*/ 102693 h 313831"/>
              <a:gd name="connsiteX13" fmla="*/ 87312 w 338138"/>
              <a:gd name="connsiteY13" fmla="*/ 74783 h 313831"/>
              <a:gd name="connsiteX14" fmla="*/ 116535 w 338138"/>
              <a:gd name="connsiteY14" fmla="*/ 45543 h 313831"/>
              <a:gd name="connsiteX15" fmla="*/ 254349 w 338138"/>
              <a:gd name="connsiteY15" fmla="*/ 30428 h 313831"/>
              <a:gd name="connsiteX16" fmla="*/ 275361 w 338138"/>
              <a:gd name="connsiteY16" fmla="*/ 48787 h 313831"/>
              <a:gd name="connsiteX17" fmla="*/ 255662 w 338138"/>
              <a:gd name="connsiteY17" fmla="*/ 85507 h 313831"/>
              <a:gd name="connsiteX18" fmla="*/ 266168 w 338138"/>
              <a:gd name="connsiteY18" fmla="*/ 89441 h 313831"/>
              <a:gd name="connsiteX19" fmla="*/ 289806 w 338138"/>
              <a:gd name="connsiteY19" fmla="*/ 80261 h 313831"/>
              <a:gd name="connsiteX20" fmla="*/ 287180 w 338138"/>
              <a:gd name="connsiteY20" fmla="*/ 109113 h 313831"/>
              <a:gd name="connsiteX21" fmla="*/ 225458 w 338138"/>
              <a:gd name="connsiteY21" fmla="*/ 111735 h 313831"/>
              <a:gd name="connsiteX22" fmla="*/ 92823 w 338138"/>
              <a:gd name="connsiteY22" fmla="*/ 166815 h 313831"/>
              <a:gd name="connsiteX23" fmla="*/ 75751 w 338138"/>
              <a:gd name="connsiteY23" fmla="*/ 127472 h 313831"/>
              <a:gd name="connsiteX24" fmla="*/ 208386 w 338138"/>
              <a:gd name="connsiteY24" fmla="*/ 72393 h 313831"/>
              <a:gd name="connsiteX25" fmla="*/ 242530 w 338138"/>
              <a:gd name="connsiteY25" fmla="*/ 33050 h 313831"/>
              <a:gd name="connsiteX26" fmla="*/ 254349 w 338138"/>
              <a:gd name="connsiteY26" fmla="*/ 30428 h 313831"/>
              <a:gd name="connsiteX27" fmla="*/ 186871 w 338138"/>
              <a:gd name="connsiteY27" fmla="*/ 24906 h 313831"/>
              <a:gd name="connsiteX28" fmla="*/ 231775 w 338138"/>
              <a:gd name="connsiteY28" fmla="*/ 24906 h 313831"/>
              <a:gd name="connsiteX29" fmla="*/ 207282 w 338138"/>
              <a:gd name="connsiteY29" fmla="*/ 48190 h 313831"/>
              <a:gd name="connsiteX30" fmla="*/ 201839 w 338138"/>
              <a:gd name="connsiteY30" fmla="*/ 59831 h 313831"/>
              <a:gd name="connsiteX31" fmla="*/ 184150 w 338138"/>
              <a:gd name="connsiteY31" fmla="*/ 45603 h 313831"/>
              <a:gd name="connsiteX32" fmla="*/ 186871 w 338138"/>
              <a:gd name="connsiteY32" fmla="*/ 24906 h 313831"/>
              <a:gd name="connsiteX33" fmla="*/ 18492 w 338138"/>
              <a:gd name="connsiteY33" fmla="*/ 24906 h 313831"/>
              <a:gd name="connsiteX34" fmla="*/ 43588 w 338138"/>
              <a:gd name="connsiteY34" fmla="*/ 24906 h 313831"/>
              <a:gd name="connsiteX35" fmla="*/ 46230 w 338138"/>
              <a:gd name="connsiteY35" fmla="*/ 46015 h 313831"/>
              <a:gd name="connsiteX36" fmla="*/ 29059 w 338138"/>
              <a:gd name="connsiteY36" fmla="*/ 63166 h 313831"/>
              <a:gd name="connsiteX37" fmla="*/ 31700 w 338138"/>
              <a:gd name="connsiteY37" fmla="*/ 96148 h 313831"/>
              <a:gd name="connsiteX38" fmla="*/ 31700 w 338138"/>
              <a:gd name="connsiteY38" fmla="*/ 206969 h 313831"/>
              <a:gd name="connsiteX39" fmla="*/ 39626 w 338138"/>
              <a:gd name="connsiteY39" fmla="*/ 214884 h 313831"/>
              <a:gd name="connsiteX40" fmla="*/ 298512 w 338138"/>
              <a:gd name="connsiteY40" fmla="*/ 214884 h 313831"/>
              <a:gd name="connsiteX41" fmla="*/ 306438 w 338138"/>
              <a:gd name="connsiteY41" fmla="*/ 206969 h 313831"/>
              <a:gd name="connsiteX42" fmla="*/ 306438 w 338138"/>
              <a:gd name="connsiteY42" fmla="*/ 104064 h 313831"/>
              <a:gd name="connsiteX43" fmla="*/ 306438 w 338138"/>
              <a:gd name="connsiteY43" fmla="*/ 77678 h 313831"/>
              <a:gd name="connsiteX44" fmla="*/ 274737 w 338138"/>
              <a:gd name="connsiteY44" fmla="*/ 61846 h 313831"/>
              <a:gd name="connsiteX45" fmla="*/ 281341 w 338138"/>
              <a:gd name="connsiteY45" fmla="*/ 59208 h 313831"/>
              <a:gd name="connsiteX46" fmla="*/ 280021 w 338138"/>
              <a:gd name="connsiteY46" fmla="*/ 24906 h 313831"/>
              <a:gd name="connsiteX47" fmla="*/ 319646 w 338138"/>
              <a:gd name="connsiteY47" fmla="*/ 24906 h 313831"/>
              <a:gd name="connsiteX48" fmla="*/ 338138 w 338138"/>
              <a:gd name="connsiteY48" fmla="*/ 43376 h 313831"/>
              <a:gd name="connsiteX49" fmla="*/ 338138 w 338138"/>
              <a:gd name="connsiteY49" fmla="*/ 234674 h 313831"/>
              <a:gd name="connsiteX50" fmla="*/ 319646 w 338138"/>
              <a:gd name="connsiteY50" fmla="*/ 251825 h 313831"/>
              <a:gd name="connsiteX51" fmla="*/ 200769 w 338138"/>
              <a:gd name="connsiteY51" fmla="*/ 251825 h 313831"/>
              <a:gd name="connsiteX52" fmla="*/ 216620 w 338138"/>
              <a:gd name="connsiteY52" fmla="*/ 290084 h 313831"/>
              <a:gd name="connsiteX53" fmla="*/ 224545 w 338138"/>
              <a:gd name="connsiteY53" fmla="*/ 290084 h 313831"/>
              <a:gd name="connsiteX54" fmla="*/ 235112 w 338138"/>
              <a:gd name="connsiteY54" fmla="*/ 301958 h 313831"/>
              <a:gd name="connsiteX55" fmla="*/ 224545 w 338138"/>
              <a:gd name="connsiteY55" fmla="*/ 313831 h 313831"/>
              <a:gd name="connsiteX56" fmla="*/ 113593 w 338138"/>
              <a:gd name="connsiteY56" fmla="*/ 313831 h 313831"/>
              <a:gd name="connsiteX57" fmla="*/ 103026 w 338138"/>
              <a:gd name="connsiteY57" fmla="*/ 301958 h 313831"/>
              <a:gd name="connsiteX58" fmla="*/ 113593 w 338138"/>
              <a:gd name="connsiteY58" fmla="*/ 290084 h 313831"/>
              <a:gd name="connsiteX59" fmla="*/ 121518 w 338138"/>
              <a:gd name="connsiteY59" fmla="*/ 290084 h 313831"/>
              <a:gd name="connsiteX60" fmla="*/ 137369 w 338138"/>
              <a:gd name="connsiteY60" fmla="*/ 251825 h 313831"/>
              <a:gd name="connsiteX61" fmla="*/ 18492 w 338138"/>
              <a:gd name="connsiteY61" fmla="*/ 251825 h 313831"/>
              <a:gd name="connsiteX62" fmla="*/ 0 w 338138"/>
              <a:gd name="connsiteY62" fmla="*/ 234674 h 313831"/>
              <a:gd name="connsiteX63" fmla="*/ 0 w 338138"/>
              <a:gd name="connsiteY63" fmla="*/ 43376 h 313831"/>
              <a:gd name="connsiteX64" fmla="*/ 18492 w 338138"/>
              <a:gd name="connsiteY64" fmla="*/ 24906 h 313831"/>
              <a:gd name="connsiteX65" fmla="*/ 109666 w 338138"/>
              <a:gd name="connsiteY65" fmla="*/ 1 h 313831"/>
              <a:gd name="connsiteX66" fmla="*/ 126932 w 338138"/>
              <a:gd name="connsiteY66" fmla="*/ 267 h 313831"/>
              <a:gd name="connsiteX67" fmla="*/ 133580 w 338138"/>
              <a:gd name="connsiteY67" fmla="*/ 18637 h 313831"/>
              <a:gd name="connsiteX68" fmla="*/ 144218 w 338138"/>
              <a:gd name="connsiteY68" fmla="*/ 22573 h 313831"/>
              <a:gd name="connsiteX69" fmla="*/ 177460 w 338138"/>
              <a:gd name="connsiteY69" fmla="*/ 29134 h 313831"/>
              <a:gd name="connsiteX70" fmla="*/ 168152 w 338138"/>
              <a:gd name="connsiteY70" fmla="*/ 47504 h 313831"/>
              <a:gd name="connsiteX71" fmla="*/ 173471 w 338138"/>
              <a:gd name="connsiteY71" fmla="*/ 58001 h 313831"/>
              <a:gd name="connsiteX72" fmla="*/ 192087 w 338138"/>
              <a:gd name="connsiteY72" fmla="*/ 67186 h 313831"/>
              <a:gd name="connsiteX73" fmla="*/ 154855 w 338138"/>
              <a:gd name="connsiteY73" fmla="*/ 82931 h 313831"/>
              <a:gd name="connsiteX74" fmla="*/ 116294 w 338138"/>
              <a:gd name="connsiteY74" fmla="*/ 35695 h 313831"/>
              <a:gd name="connsiteX75" fmla="*/ 76403 w 338138"/>
              <a:gd name="connsiteY75" fmla="*/ 75059 h 313831"/>
              <a:gd name="connsiteX76" fmla="*/ 93689 w 338138"/>
              <a:gd name="connsiteY76" fmla="*/ 107862 h 313831"/>
              <a:gd name="connsiteX77" fmla="*/ 59117 w 338138"/>
              <a:gd name="connsiteY77" fmla="*/ 124919 h 313831"/>
              <a:gd name="connsiteX78" fmla="*/ 63106 w 338138"/>
              <a:gd name="connsiteY78" fmla="*/ 102613 h 313831"/>
              <a:gd name="connsiteX79" fmla="*/ 59117 w 338138"/>
              <a:gd name="connsiteY79" fmla="*/ 92116 h 313831"/>
              <a:gd name="connsiteX80" fmla="*/ 40501 w 338138"/>
              <a:gd name="connsiteY80" fmla="*/ 63249 h 313831"/>
              <a:gd name="connsiteX81" fmla="*/ 59117 w 338138"/>
              <a:gd name="connsiteY81" fmla="*/ 58001 h 313831"/>
              <a:gd name="connsiteX82" fmla="*/ 63106 w 338138"/>
              <a:gd name="connsiteY82" fmla="*/ 47504 h 313831"/>
              <a:gd name="connsiteX83" fmla="*/ 69755 w 338138"/>
              <a:gd name="connsiteY83" fmla="*/ 14700 h 313831"/>
              <a:gd name="connsiteX84" fmla="*/ 88370 w 338138"/>
              <a:gd name="connsiteY84" fmla="*/ 22573 h 313831"/>
              <a:gd name="connsiteX85" fmla="*/ 99008 w 338138"/>
              <a:gd name="connsiteY85" fmla="*/ 18637 h 313831"/>
              <a:gd name="connsiteX86" fmla="*/ 109666 w 338138"/>
              <a:gd name="connsiteY86" fmla="*/ 1 h 313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338138" h="313831">
                <a:moveTo>
                  <a:pt x="288132" y="223343"/>
                </a:moveTo>
                <a:cubicBezTo>
                  <a:pt x="283309" y="223343"/>
                  <a:pt x="279400" y="226897"/>
                  <a:pt x="279400" y="231281"/>
                </a:cubicBezTo>
                <a:cubicBezTo>
                  <a:pt x="279400" y="235665"/>
                  <a:pt x="283309" y="239219"/>
                  <a:pt x="288132" y="239219"/>
                </a:cubicBezTo>
                <a:cubicBezTo>
                  <a:pt x="292955" y="239219"/>
                  <a:pt x="296864" y="235665"/>
                  <a:pt x="296864" y="231281"/>
                </a:cubicBezTo>
                <a:cubicBezTo>
                  <a:pt x="296864" y="226897"/>
                  <a:pt x="292955" y="223343"/>
                  <a:pt x="288132" y="223343"/>
                </a:cubicBezTo>
                <a:close/>
                <a:moveTo>
                  <a:pt x="261938" y="223343"/>
                </a:moveTo>
                <a:cubicBezTo>
                  <a:pt x="257554" y="223343"/>
                  <a:pt x="254000" y="226897"/>
                  <a:pt x="254000" y="231281"/>
                </a:cubicBezTo>
                <a:cubicBezTo>
                  <a:pt x="254000" y="235665"/>
                  <a:pt x="257554" y="239219"/>
                  <a:pt x="261938" y="239219"/>
                </a:cubicBezTo>
                <a:cubicBezTo>
                  <a:pt x="266322" y="239219"/>
                  <a:pt x="269876" y="235665"/>
                  <a:pt x="269876" y="231281"/>
                </a:cubicBezTo>
                <a:cubicBezTo>
                  <a:pt x="269876" y="226897"/>
                  <a:pt x="266322" y="223343"/>
                  <a:pt x="261938" y="223343"/>
                </a:cubicBezTo>
                <a:close/>
                <a:moveTo>
                  <a:pt x="116535" y="45543"/>
                </a:moveTo>
                <a:cubicBezTo>
                  <a:pt x="137788" y="45543"/>
                  <a:pt x="152400" y="68137"/>
                  <a:pt x="141773" y="88073"/>
                </a:cubicBezTo>
                <a:cubicBezTo>
                  <a:pt x="141773" y="88073"/>
                  <a:pt x="141773" y="88073"/>
                  <a:pt x="108565" y="102693"/>
                </a:cubicBezTo>
                <a:cubicBezTo>
                  <a:pt x="96610" y="98706"/>
                  <a:pt x="87312" y="88073"/>
                  <a:pt x="87312" y="74783"/>
                </a:cubicBezTo>
                <a:cubicBezTo>
                  <a:pt x="87312" y="58834"/>
                  <a:pt x="100595" y="45543"/>
                  <a:pt x="116535" y="45543"/>
                </a:cubicBezTo>
                <a:close/>
                <a:moveTo>
                  <a:pt x="254349" y="30428"/>
                </a:moveTo>
                <a:cubicBezTo>
                  <a:pt x="271421" y="26493"/>
                  <a:pt x="284553" y="44853"/>
                  <a:pt x="275361" y="48787"/>
                </a:cubicBezTo>
                <a:cubicBezTo>
                  <a:pt x="242530" y="63213"/>
                  <a:pt x="243843" y="57967"/>
                  <a:pt x="255662" y="85507"/>
                </a:cubicBezTo>
                <a:cubicBezTo>
                  <a:pt x="256976" y="89441"/>
                  <a:pt x="262228" y="92064"/>
                  <a:pt x="266168" y="89441"/>
                </a:cubicBezTo>
                <a:cubicBezTo>
                  <a:pt x="266168" y="89441"/>
                  <a:pt x="266168" y="89441"/>
                  <a:pt x="289806" y="80261"/>
                </a:cubicBezTo>
                <a:cubicBezTo>
                  <a:pt x="297685" y="76327"/>
                  <a:pt x="301625" y="99933"/>
                  <a:pt x="287180" y="109113"/>
                </a:cubicBezTo>
                <a:cubicBezTo>
                  <a:pt x="260915" y="124850"/>
                  <a:pt x="259602" y="123538"/>
                  <a:pt x="225458" y="111735"/>
                </a:cubicBezTo>
                <a:cubicBezTo>
                  <a:pt x="225458" y="111735"/>
                  <a:pt x="225458" y="111735"/>
                  <a:pt x="92823" y="166815"/>
                </a:cubicBezTo>
                <a:cubicBezTo>
                  <a:pt x="66559" y="177306"/>
                  <a:pt x="50800" y="137964"/>
                  <a:pt x="75751" y="127472"/>
                </a:cubicBezTo>
                <a:cubicBezTo>
                  <a:pt x="75751" y="127472"/>
                  <a:pt x="75751" y="127472"/>
                  <a:pt x="208386" y="72393"/>
                </a:cubicBezTo>
                <a:cubicBezTo>
                  <a:pt x="217579" y="54033"/>
                  <a:pt x="222832" y="38296"/>
                  <a:pt x="242530" y="33050"/>
                </a:cubicBezTo>
                <a:cubicBezTo>
                  <a:pt x="242530" y="33050"/>
                  <a:pt x="242530" y="33050"/>
                  <a:pt x="254349" y="30428"/>
                </a:cubicBezTo>
                <a:close/>
                <a:moveTo>
                  <a:pt x="186871" y="24906"/>
                </a:moveTo>
                <a:cubicBezTo>
                  <a:pt x="186871" y="24906"/>
                  <a:pt x="186871" y="24906"/>
                  <a:pt x="231775" y="24906"/>
                </a:cubicBezTo>
                <a:cubicBezTo>
                  <a:pt x="220889" y="30080"/>
                  <a:pt x="212725" y="37841"/>
                  <a:pt x="207282" y="48190"/>
                </a:cubicBezTo>
                <a:cubicBezTo>
                  <a:pt x="207282" y="48190"/>
                  <a:pt x="207282" y="48190"/>
                  <a:pt x="201839" y="59831"/>
                </a:cubicBezTo>
                <a:cubicBezTo>
                  <a:pt x="200479" y="52070"/>
                  <a:pt x="193675" y="45603"/>
                  <a:pt x="184150" y="45603"/>
                </a:cubicBezTo>
                <a:cubicBezTo>
                  <a:pt x="190954" y="39135"/>
                  <a:pt x="190954" y="31374"/>
                  <a:pt x="186871" y="24906"/>
                </a:cubicBezTo>
                <a:close/>
                <a:moveTo>
                  <a:pt x="18492" y="24906"/>
                </a:moveTo>
                <a:cubicBezTo>
                  <a:pt x="18492" y="24906"/>
                  <a:pt x="18492" y="24906"/>
                  <a:pt x="43588" y="24906"/>
                </a:cubicBezTo>
                <a:cubicBezTo>
                  <a:pt x="39626" y="32822"/>
                  <a:pt x="40946" y="40738"/>
                  <a:pt x="46230" y="46015"/>
                </a:cubicBezTo>
                <a:cubicBezTo>
                  <a:pt x="36984" y="46015"/>
                  <a:pt x="29059" y="53931"/>
                  <a:pt x="29059" y="63166"/>
                </a:cubicBezTo>
                <a:cubicBezTo>
                  <a:pt x="29059" y="82955"/>
                  <a:pt x="27738" y="89552"/>
                  <a:pt x="31700" y="96148"/>
                </a:cubicBezTo>
                <a:cubicBezTo>
                  <a:pt x="31700" y="96148"/>
                  <a:pt x="31700" y="96148"/>
                  <a:pt x="31700" y="206969"/>
                </a:cubicBezTo>
                <a:cubicBezTo>
                  <a:pt x="31700" y="210926"/>
                  <a:pt x="35663" y="214884"/>
                  <a:pt x="39626" y="214884"/>
                </a:cubicBezTo>
                <a:cubicBezTo>
                  <a:pt x="39626" y="214884"/>
                  <a:pt x="39626" y="214884"/>
                  <a:pt x="298512" y="214884"/>
                </a:cubicBezTo>
                <a:cubicBezTo>
                  <a:pt x="302475" y="214884"/>
                  <a:pt x="306438" y="210926"/>
                  <a:pt x="306438" y="206969"/>
                </a:cubicBezTo>
                <a:cubicBezTo>
                  <a:pt x="306438" y="206969"/>
                  <a:pt x="306438" y="206969"/>
                  <a:pt x="306438" y="104064"/>
                </a:cubicBezTo>
                <a:cubicBezTo>
                  <a:pt x="309079" y="96148"/>
                  <a:pt x="310400" y="86913"/>
                  <a:pt x="306438" y="77678"/>
                </a:cubicBezTo>
                <a:cubicBezTo>
                  <a:pt x="306438" y="59208"/>
                  <a:pt x="306438" y="61846"/>
                  <a:pt x="274737" y="61846"/>
                </a:cubicBezTo>
                <a:cubicBezTo>
                  <a:pt x="274737" y="61846"/>
                  <a:pt x="274737" y="61846"/>
                  <a:pt x="281341" y="59208"/>
                </a:cubicBezTo>
                <a:cubicBezTo>
                  <a:pt x="293229" y="53931"/>
                  <a:pt x="294550" y="38099"/>
                  <a:pt x="280021" y="24906"/>
                </a:cubicBezTo>
                <a:cubicBezTo>
                  <a:pt x="280021" y="24906"/>
                  <a:pt x="280021" y="24906"/>
                  <a:pt x="319646" y="24906"/>
                </a:cubicBezTo>
                <a:cubicBezTo>
                  <a:pt x="330213" y="24906"/>
                  <a:pt x="338138" y="34141"/>
                  <a:pt x="338138" y="43376"/>
                </a:cubicBezTo>
                <a:cubicBezTo>
                  <a:pt x="338138" y="43376"/>
                  <a:pt x="338138" y="43376"/>
                  <a:pt x="338138" y="234674"/>
                </a:cubicBezTo>
                <a:cubicBezTo>
                  <a:pt x="338138" y="243909"/>
                  <a:pt x="330213" y="251825"/>
                  <a:pt x="319646" y="251825"/>
                </a:cubicBezTo>
                <a:cubicBezTo>
                  <a:pt x="319646" y="251825"/>
                  <a:pt x="319646" y="251825"/>
                  <a:pt x="200769" y="251825"/>
                </a:cubicBezTo>
                <a:cubicBezTo>
                  <a:pt x="200769" y="251825"/>
                  <a:pt x="200769" y="251825"/>
                  <a:pt x="216620" y="290084"/>
                </a:cubicBezTo>
                <a:cubicBezTo>
                  <a:pt x="216620" y="290084"/>
                  <a:pt x="216620" y="290084"/>
                  <a:pt x="224545" y="290084"/>
                </a:cubicBezTo>
                <a:cubicBezTo>
                  <a:pt x="229828" y="290084"/>
                  <a:pt x="235112" y="295361"/>
                  <a:pt x="235112" y="301958"/>
                </a:cubicBezTo>
                <a:cubicBezTo>
                  <a:pt x="235112" y="308554"/>
                  <a:pt x="229828" y="313831"/>
                  <a:pt x="224545" y="313831"/>
                </a:cubicBezTo>
                <a:cubicBezTo>
                  <a:pt x="224545" y="313831"/>
                  <a:pt x="224545" y="313831"/>
                  <a:pt x="113593" y="313831"/>
                </a:cubicBezTo>
                <a:cubicBezTo>
                  <a:pt x="108310" y="313831"/>
                  <a:pt x="103026" y="308554"/>
                  <a:pt x="103026" y="301958"/>
                </a:cubicBezTo>
                <a:cubicBezTo>
                  <a:pt x="103026" y="295361"/>
                  <a:pt x="108310" y="290084"/>
                  <a:pt x="113593" y="290084"/>
                </a:cubicBezTo>
                <a:cubicBezTo>
                  <a:pt x="113593" y="290084"/>
                  <a:pt x="113593" y="290084"/>
                  <a:pt x="121518" y="290084"/>
                </a:cubicBezTo>
                <a:cubicBezTo>
                  <a:pt x="121518" y="290084"/>
                  <a:pt x="121518" y="290084"/>
                  <a:pt x="137369" y="251825"/>
                </a:cubicBezTo>
                <a:cubicBezTo>
                  <a:pt x="137369" y="251825"/>
                  <a:pt x="137369" y="251825"/>
                  <a:pt x="18492" y="251825"/>
                </a:cubicBezTo>
                <a:cubicBezTo>
                  <a:pt x="7925" y="251825"/>
                  <a:pt x="0" y="243909"/>
                  <a:pt x="0" y="234674"/>
                </a:cubicBezTo>
                <a:cubicBezTo>
                  <a:pt x="0" y="234674"/>
                  <a:pt x="0" y="234674"/>
                  <a:pt x="0" y="43376"/>
                </a:cubicBezTo>
                <a:cubicBezTo>
                  <a:pt x="0" y="34141"/>
                  <a:pt x="7925" y="24906"/>
                  <a:pt x="18492" y="24906"/>
                </a:cubicBezTo>
                <a:close/>
                <a:moveTo>
                  <a:pt x="109666" y="1"/>
                </a:moveTo>
                <a:cubicBezTo>
                  <a:pt x="113718" y="21"/>
                  <a:pt x="119286" y="267"/>
                  <a:pt x="126932" y="267"/>
                </a:cubicBezTo>
                <a:cubicBezTo>
                  <a:pt x="134910" y="267"/>
                  <a:pt x="133580" y="10764"/>
                  <a:pt x="133580" y="18637"/>
                </a:cubicBezTo>
                <a:cubicBezTo>
                  <a:pt x="137569" y="19949"/>
                  <a:pt x="140229" y="21261"/>
                  <a:pt x="144218" y="22573"/>
                </a:cubicBezTo>
                <a:cubicBezTo>
                  <a:pt x="158845" y="6828"/>
                  <a:pt x="154855" y="8140"/>
                  <a:pt x="177460" y="29134"/>
                </a:cubicBezTo>
                <a:cubicBezTo>
                  <a:pt x="182779" y="35695"/>
                  <a:pt x="174801" y="40943"/>
                  <a:pt x="168152" y="47504"/>
                </a:cubicBezTo>
                <a:cubicBezTo>
                  <a:pt x="170812" y="50128"/>
                  <a:pt x="172142" y="54065"/>
                  <a:pt x="173471" y="58001"/>
                </a:cubicBezTo>
                <a:cubicBezTo>
                  <a:pt x="188098" y="58001"/>
                  <a:pt x="192087" y="55377"/>
                  <a:pt x="192087" y="67186"/>
                </a:cubicBezTo>
                <a:cubicBezTo>
                  <a:pt x="192087" y="67186"/>
                  <a:pt x="192087" y="67186"/>
                  <a:pt x="154855" y="82931"/>
                </a:cubicBezTo>
                <a:cubicBezTo>
                  <a:pt x="160174" y="58001"/>
                  <a:pt x="140229" y="35695"/>
                  <a:pt x="116294" y="35695"/>
                </a:cubicBezTo>
                <a:cubicBezTo>
                  <a:pt x="93689" y="35695"/>
                  <a:pt x="76403" y="52753"/>
                  <a:pt x="76403" y="75059"/>
                </a:cubicBezTo>
                <a:cubicBezTo>
                  <a:pt x="76403" y="88180"/>
                  <a:pt x="83052" y="101301"/>
                  <a:pt x="93689" y="107862"/>
                </a:cubicBezTo>
                <a:cubicBezTo>
                  <a:pt x="73744" y="117047"/>
                  <a:pt x="67095" y="118359"/>
                  <a:pt x="59117" y="124919"/>
                </a:cubicBezTo>
                <a:cubicBezTo>
                  <a:pt x="48479" y="114422"/>
                  <a:pt x="49809" y="115734"/>
                  <a:pt x="63106" y="102613"/>
                </a:cubicBezTo>
                <a:cubicBezTo>
                  <a:pt x="61776" y="98677"/>
                  <a:pt x="60447" y="96053"/>
                  <a:pt x="59117" y="92116"/>
                </a:cubicBezTo>
                <a:cubicBezTo>
                  <a:pt x="36512" y="92116"/>
                  <a:pt x="40501" y="94740"/>
                  <a:pt x="40501" y="63249"/>
                </a:cubicBezTo>
                <a:cubicBezTo>
                  <a:pt x="40501" y="55377"/>
                  <a:pt x="51139" y="58001"/>
                  <a:pt x="59117" y="58001"/>
                </a:cubicBezTo>
                <a:cubicBezTo>
                  <a:pt x="60447" y="54065"/>
                  <a:pt x="61776" y="50128"/>
                  <a:pt x="63106" y="47504"/>
                </a:cubicBezTo>
                <a:cubicBezTo>
                  <a:pt x="47150" y="31759"/>
                  <a:pt x="48479" y="35695"/>
                  <a:pt x="69755" y="14700"/>
                </a:cubicBezTo>
                <a:cubicBezTo>
                  <a:pt x="76403" y="8140"/>
                  <a:pt x="81722" y="17325"/>
                  <a:pt x="88370" y="22573"/>
                </a:cubicBezTo>
                <a:cubicBezTo>
                  <a:pt x="91030" y="21261"/>
                  <a:pt x="95019" y="19949"/>
                  <a:pt x="99008" y="18637"/>
                </a:cubicBezTo>
                <a:cubicBezTo>
                  <a:pt x="99008" y="1907"/>
                  <a:pt x="97512" y="-61"/>
                  <a:pt x="109666" y="1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</p:sp>
      <p:sp>
        <p:nvSpPr>
          <p:cNvPr id="42" name="graph_134483"/>
          <p:cNvSpPr>
            <a:spLocks noChangeAspect="1"/>
          </p:cNvSpPr>
          <p:nvPr/>
        </p:nvSpPr>
        <p:spPr bwMode="auto">
          <a:xfrm>
            <a:off x="9267194" y="3535964"/>
            <a:ext cx="609590" cy="555345"/>
          </a:xfrm>
          <a:custGeom>
            <a:avLst/>
            <a:gdLst>
              <a:gd name="connsiteX0" fmla="*/ 260506 w 331788"/>
              <a:gd name="connsiteY0" fmla="*/ 76839 h 302264"/>
              <a:gd name="connsiteX1" fmla="*/ 326604 w 331788"/>
              <a:gd name="connsiteY1" fmla="*/ 76839 h 302264"/>
              <a:gd name="connsiteX2" fmla="*/ 326604 w 331788"/>
              <a:gd name="connsiteY2" fmla="*/ 291959 h 302264"/>
              <a:gd name="connsiteX3" fmla="*/ 331788 w 331788"/>
              <a:gd name="connsiteY3" fmla="*/ 297111 h 302264"/>
              <a:gd name="connsiteX4" fmla="*/ 326604 w 331788"/>
              <a:gd name="connsiteY4" fmla="*/ 302264 h 302264"/>
              <a:gd name="connsiteX5" fmla="*/ 5184 w 331788"/>
              <a:gd name="connsiteY5" fmla="*/ 302264 h 302264"/>
              <a:gd name="connsiteX6" fmla="*/ 0 w 331788"/>
              <a:gd name="connsiteY6" fmla="*/ 297111 h 302264"/>
              <a:gd name="connsiteX7" fmla="*/ 5184 w 331788"/>
              <a:gd name="connsiteY7" fmla="*/ 291959 h 302264"/>
              <a:gd name="connsiteX8" fmla="*/ 11664 w 331788"/>
              <a:gd name="connsiteY8" fmla="*/ 291959 h 302264"/>
              <a:gd name="connsiteX9" fmla="*/ 11664 w 331788"/>
              <a:gd name="connsiteY9" fmla="*/ 214670 h 302264"/>
              <a:gd name="connsiteX10" fmla="*/ 77763 w 331788"/>
              <a:gd name="connsiteY10" fmla="*/ 214670 h 302264"/>
              <a:gd name="connsiteX11" fmla="*/ 77763 w 331788"/>
              <a:gd name="connsiteY11" fmla="*/ 291959 h 302264"/>
              <a:gd name="connsiteX12" fmla="*/ 94612 w 331788"/>
              <a:gd name="connsiteY12" fmla="*/ 291959 h 302264"/>
              <a:gd name="connsiteX13" fmla="*/ 94612 w 331788"/>
              <a:gd name="connsiteY13" fmla="*/ 165721 h 302264"/>
              <a:gd name="connsiteX14" fmla="*/ 160710 w 331788"/>
              <a:gd name="connsiteY14" fmla="*/ 165721 h 302264"/>
              <a:gd name="connsiteX15" fmla="*/ 160710 w 331788"/>
              <a:gd name="connsiteY15" fmla="*/ 291959 h 302264"/>
              <a:gd name="connsiteX16" fmla="*/ 177559 w 331788"/>
              <a:gd name="connsiteY16" fmla="*/ 291959 h 302264"/>
              <a:gd name="connsiteX17" fmla="*/ 177559 w 331788"/>
              <a:gd name="connsiteY17" fmla="*/ 121924 h 302264"/>
              <a:gd name="connsiteX18" fmla="*/ 243657 w 331788"/>
              <a:gd name="connsiteY18" fmla="*/ 121924 h 302264"/>
              <a:gd name="connsiteX19" fmla="*/ 243657 w 331788"/>
              <a:gd name="connsiteY19" fmla="*/ 291959 h 302264"/>
              <a:gd name="connsiteX20" fmla="*/ 260506 w 331788"/>
              <a:gd name="connsiteY20" fmla="*/ 291959 h 302264"/>
              <a:gd name="connsiteX21" fmla="*/ 260506 w 331788"/>
              <a:gd name="connsiteY21" fmla="*/ 76839 h 302264"/>
              <a:gd name="connsiteX22" fmla="*/ 212230 w 331788"/>
              <a:gd name="connsiteY22" fmla="*/ 334 h 302264"/>
              <a:gd name="connsiteX23" fmla="*/ 259954 w 331788"/>
              <a:gd name="connsiteY23" fmla="*/ 4179 h 302264"/>
              <a:gd name="connsiteX24" fmla="*/ 261244 w 331788"/>
              <a:gd name="connsiteY24" fmla="*/ 5460 h 302264"/>
              <a:gd name="connsiteX25" fmla="*/ 262534 w 331788"/>
              <a:gd name="connsiteY25" fmla="*/ 5460 h 302264"/>
              <a:gd name="connsiteX26" fmla="*/ 263823 w 331788"/>
              <a:gd name="connsiteY26" fmla="*/ 6742 h 302264"/>
              <a:gd name="connsiteX27" fmla="*/ 263823 w 331788"/>
              <a:gd name="connsiteY27" fmla="*/ 8024 h 302264"/>
              <a:gd name="connsiteX28" fmla="*/ 265113 w 331788"/>
              <a:gd name="connsiteY28" fmla="*/ 8024 h 302264"/>
              <a:gd name="connsiteX29" fmla="*/ 265113 w 331788"/>
              <a:gd name="connsiteY29" fmla="*/ 9305 h 302264"/>
              <a:gd name="connsiteX30" fmla="*/ 265113 w 331788"/>
              <a:gd name="connsiteY30" fmla="*/ 10587 h 302264"/>
              <a:gd name="connsiteX31" fmla="*/ 265113 w 331788"/>
              <a:gd name="connsiteY31" fmla="*/ 11869 h 302264"/>
              <a:gd name="connsiteX32" fmla="*/ 263823 w 331788"/>
              <a:gd name="connsiteY32" fmla="*/ 11869 h 302264"/>
              <a:gd name="connsiteX33" fmla="*/ 244476 w 331788"/>
              <a:gd name="connsiteY33" fmla="*/ 55445 h 302264"/>
              <a:gd name="connsiteX34" fmla="*/ 239316 w 331788"/>
              <a:gd name="connsiteY34" fmla="*/ 58008 h 302264"/>
              <a:gd name="connsiteX35" fmla="*/ 238026 w 331788"/>
              <a:gd name="connsiteY35" fmla="*/ 58008 h 302264"/>
              <a:gd name="connsiteX36" fmla="*/ 234157 w 331788"/>
              <a:gd name="connsiteY36" fmla="*/ 50318 h 302264"/>
              <a:gd name="connsiteX37" fmla="*/ 247055 w 331788"/>
              <a:gd name="connsiteY37" fmla="*/ 23403 h 302264"/>
              <a:gd name="connsiteX38" fmla="*/ 47129 w 331788"/>
              <a:gd name="connsiteY38" fmla="*/ 137470 h 302264"/>
              <a:gd name="connsiteX39" fmla="*/ 44549 w 331788"/>
              <a:gd name="connsiteY39" fmla="*/ 138752 h 302264"/>
              <a:gd name="connsiteX40" fmla="*/ 40680 w 331788"/>
              <a:gd name="connsiteY40" fmla="*/ 136189 h 302264"/>
              <a:gd name="connsiteX41" fmla="*/ 41970 w 331788"/>
              <a:gd name="connsiteY41" fmla="*/ 128499 h 302264"/>
              <a:gd name="connsiteX42" fmla="*/ 241896 w 331788"/>
              <a:gd name="connsiteY42" fmla="*/ 13150 h 302264"/>
              <a:gd name="connsiteX43" fmla="*/ 212230 w 331788"/>
              <a:gd name="connsiteY43" fmla="*/ 10587 h 302264"/>
              <a:gd name="connsiteX44" fmla="*/ 207070 w 331788"/>
              <a:gd name="connsiteY44" fmla="*/ 5460 h 302264"/>
              <a:gd name="connsiteX45" fmla="*/ 212230 w 331788"/>
              <a:gd name="connsiteY45" fmla="*/ 334 h 302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331788" h="302264">
                <a:moveTo>
                  <a:pt x="260506" y="76839"/>
                </a:moveTo>
                <a:cubicBezTo>
                  <a:pt x="260506" y="76839"/>
                  <a:pt x="260506" y="76839"/>
                  <a:pt x="326604" y="76839"/>
                </a:cubicBezTo>
                <a:cubicBezTo>
                  <a:pt x="326604" y="76839"/>
                  <a:pt x="326604" y="76839"/>
                  <a:pt x="326604" y="291959"/>
                </a:cubicBezTo>
                <a:cubicBezTo>
                  <a:pt x="329196" y="291959"/>
                  <a:pt x="331788" y="294535"/>
                  <a:pt x="331788" y="297111"/>
                </a:cubicBezTo>
                <a:cubicBezTo>
                  <a:pt x="331788" y="299688"/>
                  <a:pt x="329196" y="302264"/>
                  <a:pt x="326604" y="302264"/>
                </a:cubicBezTo>
                <a:cubicBezTo>
                  <a:pt x="326604" y="302264"/>
                  <a:pt x="326604" y="302264"/>
                  <a:pt x="5184" y="302264"/>
                </a:cubicBezTo>
                <a:cubicBezTo>
                  <a:pt x="2592" y="302264"/>
                  <a:pt x="0" y="299688"/>
                  <a:pt x="0" y="297111"/>
                </a:cubicBezTo>
                <a:cubicBezTo>
                  <a:pt x="0" y="294535"/>
                  <a:pt x="2592" y="291959"/>
                  <a:pt x="5184" y="291959"/>
                </a:cubicBezTo>
                <a:cubicBezTo>
                  <a:pt x="5184" y="291959"/>
                  <a:pt x="5184" y="291959"/>
                  <a:pt x="11664" y="291959"/>
                </a:cubicBezTo>
                <a:cubicBezTo>
                  <a:pt x="11664" y="291959"/>
                  <a:pt x="11664" y="291959"/>
                  <a:pt x="11664" y="214670"/>
                </a:cubicBezTo>
                <a:cubicBezTo>
                  <a:pt x="11664" y="214670"/>
                  <a:pt x="11664" y="214670"/>
                  <a:pt x="77763" y="214670"/>
                </a:cubicBezTo>
                <a:cubicBezTo>
                  <a:pt x="77763" y="214670"/>
                  <a:pt x="77763" y="214670"/>
                  <a:pt x="77763" y="291959"/>
                </a:cubicBezTo>
                <a:cubicBezTo>
                  <a:pt x="77763" y="291959"/>
                  <a:pt x="77763" y="291959"/>
                  <a:pt x="94612" y="291959"/>
                </a:cubicBezTo>
                <a:cubicBezTo>
                  <a:pt x="94612" y="291959"/>
                  <a:pt x="94612" y="291959"/>
                  <a:pt x="94612" y="165721"/>
                </a:cubicBezTo>
                <a:cubicBezTo>
                  <a:pt x="94612" y="165721"/>
                  <a:pt x="94612" y="165721"/>
                  <a:pt x="160710" y="165721"/>
                </a:cubicBezTo>
                <a:cubicBezTo>
                  <a:pt x="160710" y="165721"/>
                  <a:pt x="160710" y="165721"/>
                  <a:pt x="160710" y="291959"/>
                </a:cubicBezTo>
                <a:cubicBezTo>
                  <a:pt x="160710" y="291959"/>
                  <a:pt x="160710" y="291959"/>
                  <a:pt x="177559" y="291959"/>
                </a:cubicBezTo>
                <a:cubicBezTo>
                  <a:pt x="177559" y="291959"/>
                  <a:pt x="177559" y="291959"/>
                  <a:pt x="177559" y="121924"/>
                </a:cubicBezTo>
                <a:cubicBezTo>
                  <a:pt x="177559" y="121924"/>
                  <a:pt x="177559" y="121924"/>
                  <a:pt x="243657" y="121924"/>
                </a:cubicBezTo>
                <a:cubicBezTo>
                  <a:pt x="243657" y="121924"/>
                  <a:pt x="243657" y="121924"/>
                  <a:pt x="243657" y="291959"/>
                </a:cubicBezTo>
                <a:cubicBezTo>
                  <a:pt x="243657" y="291959"/>
                  <a:pt x="243657" y="291959"/>
                  <a:pt x="260506" y="291959"/>
                </a:cubicBezTo>
                <a:cubicBezTo>
                  <a:pt x="260506" y="291959"/>
                  <a:pt x="260506" y="291959"/>
                  <a:pt x="260506" y="76839"/>
                </a:cubicBezTo>
                <a:close/>
                <a:moveTo>
                  <a:pt x="212230" y="334"/>
                </a:moveTo>
                <a:cubicBezTo>
                  <a:pt x="212230" y="334"/>
                  <a:pt x="212230" y="334"/>
                  <a:pt x="259954" y="4179"/>
                </a:cubicBezTo>
                <a:cubicBezTo>
                  <a:pt x="259954" y="4179"/>
                  <a:pt x="261244" y="4179"/>
                  <a:pt x="261244" y="5460"/>
                </a:cubicBezTo>
                <a:cubicBezTo>
                  <a:pt x="262534" y="5460"/>
                  <a:pt x="262534" y="5460"/>
                  <a:pt x="262534" y="5460"/>
                </a:cubicBezTo>
                <a:cubicBezTo>
                  <a:pt x="262534" y="5460"/>
                  <a:pt x="263823" y="6742"/>
                  <a:pt x="263823" y="6742"/>
                </a:cubicBezTo>
                <a:cubicBezTo>
                  <a:pt x="263823" y="6742"/>
                  <a:pt x="263823" y="8024"/>
                  <a:pt x="263823" y="8024"/>
                </a:cubicBezTo>
                <a:cubicBezTo>
                  <a:pt x="263823" y="8024"/>
                  <a:pt x="265113" y="8024"/>
                  <a:pt x="265113" y="8024"/>
                </a:cubicBezTo>
                <a:cubicBezTo>
                  <a:pt x="265113" y="8024"/>
                  <a:pt x="265113" y="8024"/>
                  <a:pt x="265113" y="9305"/>
                </a:cubicBezTo>
                <a:cubicBezTo>
                  <a:pt x="265113" y="9305"/>
                  <a:pt x="265113" y="10587"/>
                  <a:pt x="265113" y="10587"/>
                </a:cubicBezTo>
                <a:cubicBezTo>
                  <a:pt x="265113" y="10587"/>
                  <a:pt x="265113" y="11869"/>
                  <a:pt x="265113" y="11869"/>
                </a:cubicBezTo>
                <a:cubicBezTo>
                  <a:pt x="263823" y="11869"/>
                  <a:pt x="263823" y="11869"/>
                  <a:pt x="263823" y="11869"/>
                </a:cubicBezTo>
                <a:cubicBezTo>
                  <a:pt x="263823" y="11869"/>
                  <a:pt x="263823" y="11869"/>
                  <a:pt x="244476" y="55445"/>
                </a:cubicBezTo>
                <a:cubicBezTo>
                  <a:pt x="244476" y="56726"/>
                  <a:pt x="241896" y="58008"/>
                  <a:pt x="239316" y="58008"/>
                </a:cubicBezTo>
                <a:cubicBezTo>
                  <a:pt x="239316" y="58008"/>
                  <a:pt x="238026" y="58008"/>
                  <a:pt x="238026" y="58008"/>
                </a:cubicBezTo>
                <a:cubicBezTo>
                  <a:pt x="234157" y="56726"/>
                  <a:pt x="232867" y="52881"/>
                  <a:pt x="234157" y="50318"/>
                </a:cubicBezTo>
                <a:cubicBezTo>
                  <a:pt x="234157" y="50318"/>
                  <a:pt x="234157" y="50318"/>
                  <a:pt x="247055" y="23403"/>
                </a:cubicBezTo>
                <a:cubicBezTo>
                  <a:pt x="247055" y="23403"/>
                  <a:pt x="247055" y="23403"/>
                  <a:pt x="47129" y="137470"/>
                </a:cubicBezTo>
                <a:cubicBezTo>
                  <a:pt x="47129" y="138752"/>
                  <a:pt x="45839" y="138752"/>
                  <a:pt x="44549" y="138752"/>
                </a:cubicBezTo>
                <a:cubicBezTo>
                  <a:pt x="43260" y="138752"/>
                  <a:pt x="40680" y="137470"/>
                  <a:pt x="40680" y="136189"/>
                </a:cubicBezTo>
                <a:cubicBezTo>
                  <a:pt x="38100" y="133625"/>
                  <a:pt x="39390" y="129780"/>
                  <a:pt x="41970" y="128499"/>
                </a:cubicBezTo>
                <a:cubicBezTo>
                  <a:pt x="41970" y="128499"/>
                  <a:pt x="41970" y="128499"/>
                  <a:pt x="241896" y="13150"/>
                </a:cubicBezTo>
                <a:cubicBezTo>
                  <a:pt x="241896" y="13150"/>
                  <a:pt x="241896" y="13150"/>
                  <a:pt x="212230" y="10587"/>
                </a:cubicBezTo>
                <a:cubicBezTo>
                  <a:pt x="208360" y="10587"/>
                  <a:pt x="207070" y="8024"/>
                  <a:pt x="207070" y="5460"/>
                </a:cubicBezTo>
                <a:cubicBezTo>
                  <a:pt x="207070" y="1615"/>
                  <a:pt x="209650" y="-948"/>
                  <a:pt x="212230" y="334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2486868" y="2039565"/>
            <a:ext cx="2218202" cy="3385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Just-In</a:t>
            </a: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-Time </a:t>
            </a:r>
            <a:r>
              <a:rPr lang="en-US" altLang="zh-CN"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Mode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2515870" y="3261360"/>
            <a:ext cx="227965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Interpretation Mode</a:t>
            </a:r>
          </a:p>
        </p:txBody>
      </p:sp>
      <p:sp>
        <p:nvSpPr>
          <p:cNvPr id="45" name="文本框 44"/>
          <p:cNvSpPr txBox="1"/>
          <p:nvPr/>
        </p:nvSpPr>
        <p:spPr>
          <a:xfrm>
            <a:off x="2830830" y="4499610"/>
            <a:ext cx="145732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Probe Mode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3.3.1	目标代码插桩</a:t>
            </a:r>
          </a:p>
        </p:txBody>
      </p:sp>
      <p:sp>
        <p:nvSpPr>
          <p:cNvPr id="2" name="TextBox 35"/>
          <p:cNvSpPr txBox="1">
            <a:spLocks noChangeArrowheads="1"/>
          </p:cNvSpPr>
          <p:nvPr/>
        </p:nvSpPr>
        <p:spPr bwMode="auto">
          <a:xfrm>
            <a:off x="1191895" y="837565"/>
            <a:ext cx="9805670" cy="51552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en-US" altLang="zh-CN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目标代码插桩工具</a:t>
            </a: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常见的目标代码插桩工具主要有以下2种。</a:t>
            </a: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Pin-</a:t>
            </a: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Dynamic 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Binary 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Instrumentation Tool（Pin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Pin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是由Intel公司开发的免费框架，它可以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用于二进制代码检测与源代码检测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。Pin支持IA-32、x86-64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、MIC（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Many Integrated Core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，众核架构）体系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，可以运行在Linux平台、Windows平台和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Android平台上。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Pin具有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基本块分析器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缓存模拟器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指令跟踪生成器等模块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，使用该工具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可以创建程序分析工具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监视程序运行的状态信息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等。Pin非常稳定可靠，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常用于大型程序</a:t>
            </a:r>
            <a:r>
              <a:rPr lang="zh-CN" altLang="en-US" sz="1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，（如Office办公软件、虚拟现实引擎等）测试。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DynamoRIO</a:t>
            </a: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DynamoRIO是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一个受许可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的动态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二进制代码检测框架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，作为应用程序和操作系统的中间平台，它可以在程序执行时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实现程序任何部分的代码转换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。DynamoRIO支持IA-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32、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x86-64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AArch64体系，可以运行在Linux平台、Windows平台和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Android平台上。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DynamoRIO包含内存调试工具、内存跟踪工具、指令跟踪工具等。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5" name="TextBox 35"/>
          <p:cNvSpPr txBox="1">
            <a:spLocks noChangeArrowheads="1"/>
          </p:cNvSpPr>
          <p:nvPr/>
        </p:nvSpPr>
        <p:spPr bwMode="auto">
          <a:xfrm>
            <a:off x="5935354" y="3213770"/>
            <a:ext cx="5669299" cy="10439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sz="2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掌握源代码插桩法的使用，能够</a:t>
            </a:r>
            <a:r>
              <a:rPr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应用探针代码测试程序</a:t>
            </a:r>
            <a:endParaRPr 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5452110" y="3540125"/>
            <a:ext cx="405130" cy="405130"/>
            <a:chOff x="8881" y="4685"/>
            <a:chExt cx="638" cy="638"/>
          </a:xfrm>
        </p:grpSpPr>
        <p:sp>
          <p:nvSpPr>
            <p:cNvPr id="18" name="椭圆 17"/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3.3.2	源代码插桩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982980" y="909955"/>
            <a:ext cx="10286365" cy="951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源代码插桩是指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对源文件进行完整的词法、语法分析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后，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确认插桩的位置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植入</a:t>
            </a:r>
            <a:r>
              <a:rPr lang="zh-CN" altLang="en-US"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探针代码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（测试代码）。相比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目标代码插桩，源代码插桩具有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针对性和更高的精确性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源代码插桩模型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如下图所示。</a:t>
            </a:r>
          </a:p>
        </p:txBody>
      </p:sp>
      <p:sp>
        <p:nvSpPr>
          <p:cNvPr id="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3.3.2	源代码插桩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7206" y="1998059"/>
            <a:ext cx="5328000" cy="46347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982980" y="909955"/>
            <a:ext cx="10286365" cy="2200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下面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通过一个小案例来讲解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源代码插桩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，该案例是一个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除法运算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，具体代码如下所示。</a:t>
            </a:r>
          </a:p>
          <a:p>
            <a:pPr algn="just">
              <a:lnSpc>
                <a:spcPct val="150000"/>
              </a:lnSpc>
              <a:buClrTx/>
              <a:buSzTx/>
              <a:buFontTx/>
            </a:pP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程序运行后，提示输入被除数和除数，在输入除数后，程序宏函数ASSERT(y)判断除数是否为0，若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除数为</a:t>
            </a:r>
            <a:r>
              <a:rPr lang="zh-CN" altLang="en-US"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则</a:t>
            </a:r>
            <a:r>
              <a:rPr lang="zh-CN" altLang="en-US"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输出错误信息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，程序运行结束；若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除数不为0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，则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进行除法</a:t>
            </a:r>
            <a:r>
              <a:rPr lang="zh-CN" altLang="en-US"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</a:t>
            </a:r>
            <a:r>
              <a:rPr lang="zh-CN" altLang="en-US"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3.3.2	源代码插桩</a:t>
            </a:r>
          </a:p>
        </p:txBody>
      </p:sp>
      <p:pic>
        <p:nvPicPr>
          <p:cNvPr id="5" name="Picture 2" descr="C:\Users\Administrator\Desktop\ppt展示模板-8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15109" y="3573632"/>
            <a:ext cx="5059808" cy="3044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/>
          <p:cNvSpPr/>
          <p:nvPr/>
        </p:nvSpPr>
        <p:spPr>
          <a:xfrm>
            <a:off x="3908103" y="3949772"/>
            <a:ext cx="3665189" cy="2112881"/>
          </a:xfrm>
          <a:prstGeom prst="rect">
            <a:avLst/>
          </a:prstGeom>
          <a:blipFill>
            <a:blip r:embed="rId4" cstate="screen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>
              <a:latin typeface="Arial" panose="020B0604020202020204" pitchFamily="34" charset="0"/>
              <a:ea typeface="思源黑体 CN Regular" panose="020B0500000000000000" pitchFamily="34" charset="-122"/>
              <a:cs typeface="+mn-ea"/>
              <a:sym typeface="Arial" panose="020B0604020202020204" pitchFamily="34" charset="0"/>
            </a:endParaRPr>
          </a:p>
        </p:txBody>
      </p:sp>
      <p:pic>
        <p:nvPicPr>
          <p:cNvPr id="19" name="Picture 13" descr="C:\Users\Administrator\Desktop\未标题-2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0362" y="1725319"/>
            <a:ext cx="439519" cy="38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矩形 19"/>
          <p:cNvSpPr>
            <a:spLocks noChangeArrowheads="1"/>
          </p:cNvSpPr>
          <p:nvPr/>
        </p:nvSpPr>
        <p:spPr bwMode="auto">
          <a:xfrm>
            <a:off x="5062441" y="1748777"/>
            <a:ext cx="138050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altLang="zh-CN" sz="1400" dirty="0">
                <a:solidFill>
                  <a:srgbClr val="F0A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zh-CN" altLang="en-US" sz="1400" dirty="0">
                <a:solidFill>
                  <a:srgbClr val="F0A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单击查看源码</a:t>
            </a:r>
            <a:r>
              <a:rPr lang="en-US" altLang="zh-CN" sz="1400" dirty="0">
                <a:solidFill>
                  <a:srgbClr val="F0A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endParaRPr lang="zh-CN" altLang="zh-CN" sz="1400" dirty="0">
              <a:solidFill>
                <a:srgbClr val="F0A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立方体 18"/>
          <p:cNvSpPr>
            <a:spLocks noChangeArrowheads="1"/>
          </p:cNvSpPr>
          <p:nvPr/>
        </p:nvSpPr>
        <p:spPr bwMode="auto">
          <a:xfrm>
            <a:off x="4868329" y="1803327"/>
            <a:ext cx="227272" cy="226754"/>
          </a:xfrm>
          <a:prstGeom prst="cube">
            <a:avLst>
              <a:gd name="adj" fmla="val 25000"/>
            </a:avLst>
          </a:prstGeom>
          <a:solidFill>
            <a:srgbClr val="F3B600"/>
          </a:solidFill>
          <a:ln w="19050" algn="ctr">
            <a:solidFill>
              <a:schemeClr val="bg1"/>
            </a:solidFill>
            <a:rou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22" name="半闭框 21"/>
          <p:cNvSpPr/>
          <p:nvPr/>
        </p:nvSpPr>
        <p:spPr bwMode="auto">
          <a:xfrm>
            <a:off x="4815260" y="1755482"/>
            <a:ext cx="90487" cy="114300"/>
          </a:xfrm>
          <a:prstGeom prst="halfFrame">
            <a:avLst/>
          </a:prstGeom>
          <a:solidFill>
            <a:srgbClr val="F3B600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23" name="半闭框 22"/>
          <p:cNvSpPr/>
          <p:nvPr/>
        </p:nvSpPr>
        <p:spPr bwMode="auto">
          <a:xfrm flipH="1" flipV="1">
            <a:off x="6844085" y="1980907"/>
            <a:ext cx="90487" cy="112712"/>
          </a:xfrm>
          <a:prstGeom prst="halfFrame">
            <a:avLst/>
          </a:prstGeom>
          <a:solidFill>
            <a:srgbClr val="F3B600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24" name="矩形 23">
            <a:hlinkClick r:id="rId6"/>
          </p:cNvPr>
          <p:cNvSpPr/>
          <p:nvPr/>
        </p:nvSpPr>
        <p:spPr>
          <a:xfrm>
            <a:off x="4727206" y="1629794"/>
            <a:ext cx="2276475" cy="552450"/>
          </a:xfrm>
          <a:prstGeom prst="rect">
            <a:avLst/>
          </a:prstGeom>
          <a:solidFill>
            <a:schemeClr val="bg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951865" y="837565"/>
            <a:ext cx="10286365" cy="5359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根据除法运算程序设计测试用例，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除法运算测试用例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如下表所示。</a:t>
            </a:r>
          </a:p>
        </p:txBody>
      </p:sp>
      <p:sp>
        <p:nvSpPr>
          <p:cNvPr id="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3.3.2	源代码插桩</a:t>
            </a:r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3070860" y="1510030"/>
          <a:ext cx="5429250" cy="4935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2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21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49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1505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测试用例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测试数据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预期结果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3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test1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1,1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117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test</a:t>
                      </a:r>
                      <a:r>
                        <a:rPr 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1,-1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test</a:t>
                      </a:r>
                      <a:r>
                        <a:rPr 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-1,-1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1965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test</a:t>
                      </a:r>
                      <a:r>
                        <a:rPr lang="en-US" alt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-1,1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-1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1965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test5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1,0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错误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1965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test6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-1,0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错误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1965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test7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0,0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错误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1965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test8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0,1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81965">
                <a:tc>
                  <a:txBody>
                    <a:bodyPr/>
                    <a:lstStyle/>
                    <a:p>
                      <a:pPr marL="0" algn="ctr" defTabSz="1219200" rtl="0" eaLnBrk="1" latinLnBrk="0" hangingPunct="1">
                        <a:buClrTx/>
                        <a:buSzTx/>
                        <a:buFontTx/>
                        <a:buNone/>
                      </a:pPr>
                      <a:r>
                        <a:rPr lang="en-US" alt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test9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1219200" rtl="0" eaLnBrk="1" latinLnBrk="0" hangingPunct="1">
                        <a:buClrTx/>
                        <a:buSzTx/>
                        <a:buFontTx/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0,-1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1219200" rtl="0" eaLnBrk="1" latinLnBrk="0" hangingPunct="1">
                        <a:buClrTx/>
                        <a:buSzTx/>
                        <a:buFontTx/>
                        <a:buNone/>
                      </a:pPr>
                      <a:r>
                        <a:rPr lang="en-US" alt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951865" y="837565"/>
            <a:ext cx="10286365" cy="13671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程序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</a:t>
            </a:r>
            <a:r>
              <a:rPr lang="zh-CN" altLang="en-US"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目标代码插桩与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源代码插桩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测试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方法有效</a:t>
            </a:r>
            <a:r>
              <a:rPr lang="zh-CN" altLang="en-US"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提高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了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代码测试覆盖率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，但是使用插桩测试方法会出现代码膨胀、执行效率低下、HeisenBugs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等问题。在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一般情况下，插桩后的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代码膨胀率在20%~40%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甚至能达到100%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，导致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插桩测试失败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3.3.2	源代码插桩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022975" y="3573780"/>
            <a:ext cx="5350510" cy="25177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HeisenBugs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即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海森堡Bug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，它是一种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软件缺陷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，这种缺陷的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重现率很低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，当开发人员试图研究</a:t>
            </a: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时，它会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消失或改变</a:t>
            </a: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。实际软件测试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中，这种缺陷也比较常见，例如，测试人员测试到一个缺陷并提交给开发人员后，开发人员按照测试人员提交的</a:t>
            </a: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缺陷报告中的步骤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执行时，却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无法重现缺陷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，其原因是</a:t>
            </a: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缺陷</a:t>
            </a:r>
            <a:r>
              <a:rPr lang="zh-CN" altLang="en-US" sz="1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已经消失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或者出现了其他缺陷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37" name="原创设计师QQ598969553          _3"/>
          <p:cNvSpPr/>
          <p:nvPr/>
        </p:nvSpPr>
        <p:spPr>
          <a:xfrm>
            <a:off x="5807075" y="3213735"/>
            <a:ext cx="5854065" cy="2972435"/>
          </a:xfrm>
          <a:prstGeom prst="roundRect">
            <a:avLst>
              <a:gd name="adj" fmla="val 9083"/>
            </a:avLst>
          </a:prstGeom>
          <a:noFill/>
          <a:ln>
            <a:solidFill>
              <a:srgbClr val="ADBAC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5" name="原创设计师QQ598969553          _6"/>
          <p:cNvSpPr/>
          <p:nvPr/>
        </p:nvSpPr>
        <p:spPr>
          <a:xfrm>
            <a:off x="6125845" y="2943860"/>
            <a:ext cx="2984500" cy="46228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>
            <a:outerShdw blurRad="101600" dist="762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pPr algn="ctr" defTabSz="1450340">
              <a:lnSpc>
                <a:spcPct val="200000"/>
              </a:lnSpc>
            </a:pPr>
            <a:endParaRPr lang="zh-CN" altLang="en-US" sz="1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原创设计师QQ598969553          _7"/>
          <p:cNvSpPr txBox="1"/>
          <p:nvPr/>
        </p:nvSpPr>
        <p:spPr>
          <a:xfrm>
            <a:off x="6125845" y="2975610"/>
            <a:ext cx="29317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小提示：HeisenBugs</a:t>
            </a:r>
          </a:p>
        </p:txBody>
      </p:sp>
      <p:pic>
        <p:nvPicPr>
          <p:cNvPr id="6" name="Picture 2" descr="C:\Users\Administrator\Desktop\ppt展示模板-8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0649" y="3070077"/>
            <a:ext cx="5059808" cy="3044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矩形 6"/>
          <p:cNvSpPr/>
          <p:nvPr/>
        </p:nvSpPr>
        <p:spPr>
          <a:xfrm>
            <a:off x="1243643" y="3446217"/>
            <a:ext cx="3665189" cy="2112881"/>
          </a:xfrm>
          <a:prstGeom prst="rect">
            <a:avLst/>
          </a:prstGeom>
          <a:blipFill>
            <a:blip r:embed="rId4" cstate="screen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>
              <a:latin typeface="Arial" panose="020B0604020202020204" pitchFamily="34" charset="0"/>
              <a:ea typeface="思源黑体 CN Regular" panose="020B0500000000000000" pitchFamily="34" charset="-122"/>
              <a:cs typeface="+mn-ea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形 22" descr="讲故事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2767" y="1398145"/>
            <a:ext cx="1015842" cy="1015842"/>
          </a:xfrm>
          <a:prstGeom prst="rect">
            <a:avLst/>
          </a:prstGeom>
        </p:spPr>
      </p:pic>
      <p:sp>
        <p:nvSpPr>
          <p:cNvPr id="25" name="矩形 24"/>
          <p:cNvSpPr/>
          <p:nvPr/>
        </p:nvSpPr>
        <p:spPr>
          <a:xfrm>
            <a:off x="2150110" y="1607820"/>
            <a:ext cx="2637155" cy="6705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107565" y="1743710"/>
            <a:ext cx="27133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黑盒测试和白盒测试异同</a:t>
            </a:r>
          </a:p>
        </p:txBody>
      </p:sp>
      <p:sp>
        <p:nvSpPr>
          <p:cNvPr id="27" name="矩形 26"/>
          <p:cNvSpPr/>
          <p:nvPr/>
        </p:nvSpPr>
        <p:spPr>
          <a:xfrm>
            <a:off x="4840419" y="1608089"/>
            <a:ext cx="83114" cy="6704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5028118" y="1608089"/>
            <a:ext cx="83114" cy="6704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982980" y="838200"/>
            <a:ext cx="1779905" cy="5060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多学一招</a:t>
            </a:r>
          </a:p>
        </p:txBody>
      </p:sp>
      <p:sp>
        <p:nvSpPr>
          <p:cNvPr id="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3.3.2	源代码插桩</a:t>
            </a:r>
          </a:p>
        </p:txBody>
      </p:sp>
      <p:sp>
        <p:nvSpPr>
          <p:cNvPr id="8" name="矩形"/>
          <p:cNvSpPr/>
          <p:nvPr/>
        </p:nvSpPr>
        <p:spPr>
          <a:xfrm>
            <a:off x="1488642" y="3565646"/>
            <a:ext cx="2777713" cy="46618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58号-创中黑" panose="00000500000000000000" pitchFamily="2" charset="-122"/>
              <a:ea typeface="字魂58号-创中黑" panose="00000500000000000000" pitchFamily="2" charset="-122"/>
            </a:endParaRPr>
          </a:p>
        </p:txBody>
      </p:sp>
      <p:sp>
        <p:nvSpPr>
          <p:cNvPr id="9" name="矩形"/>
          <p:cNvSpPr/>
          <p:nvPr/>
        </p:nvSpPr>
        <p:spPr>
          <a:xfrm>
            <a:off x="8082371" y="3565646"/>
            <a:ext cx="2777713" cy="46618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58号-创中黑" panose="00000500000000000000" pitchFamily="2" charset="-122"/>
              <a:ea typeface="字魂58号-创中黑" panose="00000500000000000000" pitchFamily="2" charset="-122"/>
            </a:endParaRPr>
          </a:p>
        </p:txBody>
      </p:sp>
      <p:sp>
        <p:nvSpPr>
          <p:cNvPr id="10" name="五边形"/>
          <p:cNvSpPr/>
          <p:nvPr/>
        </p:nvSpPr>
        <p:spPr>
          <a:xfrm>
            <a:off x="787676" y="4292407"/>
            <a:ext cx="4606907" cy="2220572"/>
          </a:xfrm>
          <a:prstGeom prst="chevron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58号-创中黑" panose="00000500000000000000" pitchFamily="2" charset="-122"/>
              <a:ea typeface="字魂58号-创中黑" panose="00000500000000000000" pitchFamily="2" charset="-122"/>
            </a:endParaRPr>
          </a:p>
        </p:txBody>
      </p:sp>
      <p:sp>
        <p:nvSpPr>
          <p:cNvPr id="11" name="五边形"/>
          <p:cNvSpPr/>
          <p:nvPr/>
        </p:nvSpPr>
        <p:spPr>
          <a:xfrm flipH="1">
            <a:off x="6958982" y="4292407"/>
            <a:ext cx="4606907" cy="2220572"/>
          </a:xfrm>
          <a:prstGeom prst="chevron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58号-创中黑" panose="00000500000000000000" pitchFamily="2" charset="-122"/>
              <a:ea typeface="字魂58号-创中黑" panose="00000500000000000000" pitchFamily="2" charset="-122"/>
            </a:endParaRPr>
          </a:p>
        </p:txBody>
      </p:sp>
      <p:sp>
        <p:nvSpPr>
          <p:cNvPr id="12" name="圆"/>
          <p:cNvSpPr/>
          <p:nvPr/>
        </p:nvSpPr>
        <p:spPr>
          <a:xfrm>
            <a:off x="5611246" y="4896511"/>
            <a:ext cx="1131073" cy="1157904"/>
          </a:xfrm>
          <a:prstGeom prst="ellipse">
            <a:avLst/>
          </a:prstGeom>
          <a:solidFill>
            <a:srgbClr val="4949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800" b="1" i="1" dirty="0">
              <a:solidFill>
                <a:srgbClr val="C00000"/>
              </a:solidFill>
              <a:latin typeface="字魂58号-创中黑" panose="00000500000000000000" pitchFamily="2" charset="-122"/>
              <a:ea typeface="字魂58号-创中黑" panose="00000500000000000000" pitchFamily="2" charset="-122"/>
            </a:endParaRPr>
          </a:p>
        </p:txBody>
      </p:sp>
      <p:sp>
        <p:nvSpPr>
          <p:cNvPr id="13" name="文本"/>
          <p:cNvSpPr/>
          <p:nvPr/>
        </p:nvSpPr>
        <p:spPr>
          <a:xfrm>
            <a:off x="5519206" y="5013798"/>
            <a:ext cx="1152751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5400" b="1" i="1" spc="2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VS</a:t>
            </a:r>
            <a:endParaRPr lang="zh-CN" altLang="en-US" sz="5400" b="1" i="1" spc="2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"/>
          <p:cNvSpPr/>
          <p:nvPr/>
        </p:nvSpPr>
        <p:spPr>
          <a:xfrm>
            <a:off x="1804127" y="3594795"/>
            <a:ext cx="2042427" cy="39878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黑盒测试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1811020" y="4387215"/>
            <a:ext cx="2770505" cy="19888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黑盒测试可以发现以下3种类型的缺陷。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外部逻辑</a:t>
            </a:r>
            <a:r>
              <a:rPr lang="zh-CN" altLang="en-US"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功能缺陷。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兼容性错误。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性能问题。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"/>
          <p:cNvSpPr/>
          <p:nvPr/>
        </p:nvSpPr>
        <p:spPr>
          <a:xfrm>
            <a:off x="8390896" y="3569784"/>
            <a:ext cx="2042427" cy="40011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白盒测试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7877058" y="4292407"/>
            <a:ext cx="2770753" cy="2264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白盒测试常用于以下2种情况。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源程序中含有多个分支，在设计测试用例时要尽可能覆盖</a:t>
            </a:r>
            <a:r>
              <a:rPr lang="zh-CN" altLang="en-US"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所有分支，提高测试覆盖率。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检查</a:t>
            </a:r>
            <a:r>
              <a:rPr lang="zh-CN" altLang="en-US"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内存泄漏。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343206" y="2475845"/>
            <a:ext cx="10077247" cy="9233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en-US" altLang="zh-CN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黑盒测试和白盒测试比较</a:t>
            </a: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黑盒测试过程中不用考虑程序内部的逻辑结构，仅仅</a:t>
            </a:r>
            <a:r>
              <a: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需要验证程序</a:t>
            </a:r>
            <a:r>
              <a:rPr lang="zh-CN" altLang="en-US"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外部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功能是否符合用户实际需求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3.3.2	源代码插桩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055370" y="1340485"/>
            <a:ext cx="10079836" cy="9233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en-US" altLang="zh-CN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测试阶段</a:t>
            </a: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黑盒测试与白盒测试在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不同</a:t>
            </a:r>
            <a:r>
              <a:rPr lang="zh-CN" altLang="en-US"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的测试阶段的使用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情况也</a:t>
            </a:r>
            <a:r>
              <a:rPr lang="zh-CN" altLang="en-US"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不同</a:t>
            </a:r>
            <a:r>
              <a: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，两者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在不同阶段的使用情况如下表所示。</a:t>
            </a:r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2567206" y="2925794"/>
          <a:ext cx="7776000" cy="25253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69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10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1505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测试名称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测试对象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测试</a:t>
                      </a:r>
                      <a:r>
                        <a:rPr lang="zh-CN" altLang="en-US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方法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3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单元测试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8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模块</a:t>
                      </a:r>
                      <a:r>
                        <a:rPr lang="zh-CN" altLang="en-US" sz="18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中的</a:t>
                      </a:r>
                      <a:r>
                        <a:rPr lang="en-US" altLang="zh-CN" sz="18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功能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8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白盒测试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117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8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集成测试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8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模块间的接口</a:t>
                      </a:r>
                      <a:endParaRPr lang="en-US" altLang="zh-CN" sz="180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8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黑盒测试、白盒测试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8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系统测试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8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整个系统（软件、硬件）</a:t>
                      </a:r>
                      <a:endParaRPr lang="en-US" altLang="zh-CN" sz="180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8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黑盒测试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1965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8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验收测试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8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整个</a:t>
                      </a:r>
                      <a:r>
                        <a:rPr lang="en-US" altLang="zh-CN" sz="18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系统（软件、硬件、用户体验）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8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黑盒测试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矩形 19"/>
          <p:cNvSpPr/>
          <p:nvPr/>
        </p:nvSpPr>
        <p:spPr>
          <a:xfrm>
            <a:off x="982980" y="838200"/>
            <a:ext cx="1779905" cy="5060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多学一招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417f8e4a56fc57c2e92e6fdc581ab83ee55365e"/>
  <p:tag name="KSO_WPP_MARK_KEY" val="f71d5144-0573-45f9-bb21-9102466a32de"/>
  <p:tag name="COMMONDATA" val="eyJoZGlkIjoiZmIyYTRhZmU2ZjA1MzE5NWYzOWIzNGFiZmU1NDg0OTM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6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6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6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6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6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c576ede5-c590-414e-9914-ca27eb4087d3}"/>
  <p:tag name="TABLE_ENDDRAG_ORIGIN_RECT" val="542*451"/>
  <p:tag name="TABLE_ENDDRAG_RECT" val="219*82*542*45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c576ede5-c590-414e-9914-ca27eb4087d3}"/>
  <p:tag name="TABLE_ENDDRAG_ORIGIN_RECT" val="565*245"/>
  <p:tag name="TABLE_ENDDRAG_RECT" val="219*137*565*24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c576ede5-c590-414e-9914-ca27eb4087d3}"/>
  <p:tag name="TABLE_ENDDRAG_ORIGIN_RECT" val="550*246"/>
  <p:tag name="TABLE_ENDDRAG_RECT" val="207*270*551*246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c576ede5-c590-414e-9914-ca27eb4087d3}"/>
  <p:tag name="TABLE_ENDDRAG_ORIGIN_RECT" val="565*245"/>
  <p:tag name="TABLE_ENDDRAG_RECT" val="219*137*565*24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c576ede5-c590-414e-9914-ca27eb4087d3}"/>
  <p:tag name="TABLE_ENDDRAG_ORIGIN_RECT" val="799*260"/>
  <p:tag name="TABLE_ENDDRAG_RECT" val="94*151*799*26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c576ede5-c590-414e-9914-ca27eb4087d3}"/>
  <p:tag name="TABLE_ENDDRAG_ORIGIN_RECT" val="650*230"/>
  <p:tag name="TABLE_ENDDRAG_RECT" val="162*122*650*23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c576ede5-c590-414e-9914-ca27eb4087d3}"/>
  <p:tag name="TABLE_ENDDRAG_ORIGIN_RECT" val="715*338"/>
  <p:tag name="TABLE_ENDDRAG_RECT" val="140*139*715*338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43502"/>
  <p:tag name="MH_LIBRARY" val="GRAPHIC"/>
  <p:tag name="MH_TYPE" val="SubTitle"/>
  <p:tag name="MH_ORDER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43502"/>
  <p:tag name="MH_LIBRARY" val="GRAPHIC"/>
  <p:tag name="MH_TYPE" val="Other"/>
  <p:tag name="MH_ORDER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43502"/>
  <p:tag name="MH_LIBRARY" val="GRAPHIC"/>
  <p:tag name="MH_TYPE" val="Text"/>
  <p:tag name="MH_ORDER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43502"/>
  <p:tag name="MH_LIBRARY" val="GRAPHIC"/>
  <p:tag name="MH_TYPE" val="SubTitle"/>
  <p:tag name="MH_ORDER" val="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43502"/>
  <p:tag name="MH_LIBRARY" val="GRAPHIC"/>
  <p:tag name="MH_TYPE" val="Other"/>
  <p:tag name="MH_ORDER" val="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43502"/>
  <p:tag name="MH_LIBRARY" val="GRAPHIC"/>
  <p:tag name="MH_TYPE" val="Text"/>
  <p:tag name="MH_ORDER" val="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43502"/>
  <p:tag name="MH_LIBRARY" val="GRAPHIC"/>
  <p:tag name="MH_TYPE" val="SubTitle"/>
  <p:tag name="MH_ORDER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43502"/>
  <p:tag name="MH_LIBRARY" val="GRAPHIC"/>
  <p:tag name="MH_TYPE" val="Other"/>
  <p:tag name="MH_ORDER" val="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43502"/>
  <p:tag name="MH_LIBRARY" val="GRAPHIC"/>
  <p:tag name="MH_TYPE" val="Text"/>
  <p:tag name="MH_ORDER" val="3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43502"/>
  <p:tag name="MH_LIBRARY" val="GRAPHIC"/>
  <p:tag name="MH_TYPE" val="Title"/>
  <p:tag name="MH_ORDER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c576ede5-c590-414e-9914-ca27eb4087d3}"/>
  <p:tag name="TABLE_ENDDRAG_ORIGIN_RECT" val="669*336"/>
  <p:tag name="TABLE_ENDDRAG_RECT" val="117*145*669*336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c576ede5-c590-414e-9914-ca27eb4087d3}"/>
  <p:tag name="TABLE_ENDDRAG_ORIGIN_RECT" val="533*215"/>
  <p:tag name="TABLE_ENDDRAG_RECT" val="213*159*533*215"/>
</p:tagLst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自定义 23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5DA2"/>
      </a:accent1>
      <a:accent2>
        <a:srgbClr val="C4C7CB"/>
      </a:accent2>
      <a:accent3>
        <a:srgbClr val="7F7F7F"/>
      </a:accent3>
      <a:accent4>
        <a:srgbClr val="7F7F7F"/>
      </a:accent4>
      <a:accent5>
        <a:srgbClr val="7F7F7F"/>
      </a:accent5>
      <a:accent6>
        <a:srgbClr val="7F7F7F"/>
      </a:accent6>
      <a:hlink>
        <a:srgbClr val="17365D"/>
      </a:hlink>
      <a:folHlink>
        <a:srgbClr val="548DD4"/>
      </a:folHlink>
    </a:clrScheme>
    <a:fontScheme name="ud0ofpxa">
      <a:majorFont>
        <a:latin typeface="字魂105号-简雅黑"/>
        <a:ea typeface="字魂105号-简雅黑"/>
        <a:cs typeface=""/>
      </a:majorFont>
      <a:minorFont>
        <a:latin typeface="字魂105号-简雅黑"/>
        <a:ea typeface="字魂105号-简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4142</Words>
  <Application>Microsoft Office PowerPoint</Application>
  <PresentationFormat>自定义</PresentationFormat>
  <Paragraphs>465</Paragraphs>
  <Slides>42</Slides>
  <Notes>42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42</vt:i4>
      </vt:variant>
    </vt:vector>
  </HeadingPairs>
  <TitlesOfParts>
    <vt:vector size="51" baseType="lpstr">
      <vt:lpstr>思源黑体旧字形 ExtraLight</vt:lpstr>
      <vt:lpstr>微软雅黑</vt:lpstr>
      <vt:lpstr>字魂105号-简雅黑</vt:lpstr>
      <vt:lpstr>字魂58号-创中黑</vt:lpstr>
      <vt:lpstr>Arial</vt:lpstr>
      <vt:lpstr>Calibri</vt:lpstr>
      <vt:lpstr>Wingdings</vt:lpstr>
      <vt:lpstr>webwppDefTheme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蓝白商务述职报告工作总结ppt模板</dc:title>
  <dc:creator>常董</dc:creator>
  <cp:lastModifiedBy>欧 李</cp:lastModifiedBy>
  <cp:revision>3198</cp:revision>
  <dcterms:created xsi:type="dcterms:W3CDTF">2020-09-03T07:01:00Z</dcterms:created>
  <dcterms:modified xsi:type="dcterms:W3CDTF">2025-11-04T16:15:54Z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2052-12.1.0.17857</vt:lpwstr>
  </property>
  <property fmtid="{D5CDD505-2E9C-101B-9397-08002B2CF9AE}" pid="3" name="ICV">
    <vt:lpwstr>16C8AB3A226C4F0FBD8994D9673D7F19_13</vt:lpwstr>
  </property>
</Properties>
</file>