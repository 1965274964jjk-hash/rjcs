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68.xml" ContentType="application/vnd.openxmlformats-officedocument.presentationml.tags+xml"/>
  <Override PartName="/ppt/notesSlides/notesSlide53.xml" ContentType="application/vnd.openxmlformats-officedocument.presentationml.notesSlide+xml"/>
  <Override PartName="/ppt/tags/tag69.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70"/>
  </p:notesMasterIdLst>
  <p:handoutMasterIdLst>
    <p:handoutMasterId r:id="rId71"/>
  </p:handoutMasterIdLst>
  <p:sldIdLst>
    <p:sldId id="325" r:id="rId3"/>
    <p:sldId id="328" r:id="rId4"/>
    <p:sldId id="926" r:id="rId5"/>
    <p:sldId id="1171" r:id="rId6"/>
    <p:sldId id="1172" r:id="rId7"/>
    <p:sldId id="1175" r:id="rId8"/>
    <p:sldId id="1343" r:id="rId9"/>
    <p:sldId id="1248" r:id="rId10"/>
    <p:sldId id="1249" r:id="rId11"/>
    <p:sldId id="1193" r:id="rId12"/>
    <p:sldId id="1254" r:id="rId13"/>
    <p:sldId id="1174" r:id="rId14"/>
    <p:sldId id="1217" r:id="rId15"/>
    <p:sldId id="1256" r:id="rId16"/>
    <p:sldId id="1255" r:id="rId17"/>
    <p:sldId id="1250" r:id="rId18"/>
    <p:sldId id="1257" r:id="rId19"/>
    <p:sldId id="1258" r:id="rId20"/>
    <p:sldId id="1259" r:id="rId21"/>
    <p:sldId id="1260" r:id="rId22"/>
    <p:sldId id="1261" r:id="rId23"/>
    <p:sldId id="1262" r:id="rId24"/>
    <p:sldId id="1263" r:id="rId25"/>
    <p:sldId id="1264" r:id="rId26"/>
    <p:sldId id="1265" r:id="rId27"/>
    <p:sldId id="1266" r:id="rId28"/>
    <p:sldId id="1267" r:id="rId29"/>
    <p:sldId id="1268" r:id="rId30"/>
    <p:sldId id="1269" r:id="rId31"/>
    <p:sldId id="1270" r:id="rId32"/>
    <p:sldId id="1271" r:id="rId33"/>
    <p:sldId id="1272" r:id="rId34"/>
    <p:sldId id="1274" r:id="rId35"/>
    <p:sldId id="1275" r:id="rId36"/>
    <p:sldId id="1277" r:id="rId37"/>
    <p:sldId id="1278" r:id="rId38"/>
    <p:sldId id="1279" r:id="rId39"/>
    <p:sldId id="1280" r:id="rId40"/>
    <p:sldId id="1281" r:id="rId41"/>
    <p:sldId id="1282" r:id="rId42"/>
    <p:sldId id="1224" r:id="rId43"/>
    <p:sldId id="1199" r:id="rId44"/>
    <p:sldId id="1297" r:id="rId45"/>
    <p:sldId id="944" r:id="rId46"/>
    <p:sldId id="1301" r:id="rId47"/>
    <p:sldId id="1196" r:id="rId48"/>
    <p:sldId id="1303" r:id="rId49"/>
    <p:sldId id="1304" r:id="rId50"/>
    <p:sldId id="1305" r:id="rId51"/>
    <p:sldId id="1306" r:id="rId52"/>
    <p:sldId id="1307" r:id="rId53"/>
    <p:sldId id="1311" r:id="rId54"/>
    <p:sldId id="1204" r:id="rId55"/>
    <p:sldId id="1342" r:id="rId56"/>
    <p:sldId id="1312" r:id="rId57"/>
    <p:sldId id="1314" r:id="rId58"/>
    <p:sldId id="1315" r:id="rId59"/>
    <p:sldId id="1316" r:id="rId60"/>
    <p:sldId id="1317" r:id="rId61"/>
    <p:sldId id="1318" r:id="rId62"/>
    <p:sldId id="1319" r:id="rId63"/>
    <p:sldId id="1320" r:id="rId64"/>
    <p:sldId id="1321" r:id="rId65"/>
    <p:sldId id="1322" r:id="rId66"/>
    <p:sldId id="1323" r:id="rId67"/>
    <p:sldId id="1324" r:id="rId68"/>
    <p:sldId id="1325" r:id="rId69"/>
  </p:sldIdLst>
  <p:sldSz cx="12190413" cy="6859588"/>
  <p:notesSz cx="6858000" cy="9144000"/>
  <p:custDataLst>
    <p:tags r:id="rId72"/>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619" userDrawn="1">
          <p15:clr>
            <a:srgbClr val="A4A3A4"/>
          </p15:clr>
        </p15:guide>
        <p15:guide id="3" pos="7247" userDrawn="1">
          <p15:clr>
            <a:srgbClr val="A4A3A4"/>
          </p15:clr>
        </p15:guide>
      </p15:sldGuideLst>
    </p:ext>
    <p:ext uri="{2D200454-40CA-4A62-9FC3-DE9A4176ACB9}">
      <p15:notesGuideLst xmlns:p15="http://schemas.microsoft.com/office/powerpoint/2012/main">
        <p15:guide id="1" orient="horz" pos="3103">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1369B2"/>
    <a:srgbClr val="FF0000"/>
    <a:srgbClr val="FAFAFA"/>
    <a:srgbClr val="F2F2F2"/>
    <a:srgbClr val="006BBC"/>
    <a:srgbClr val="0075CC"/>
    <a:srgbClr val="008DF6"/>
    <a:srgbClr val="005DA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99" autoAdjust="0"/>
    <p:restoredTop sz="94590" autoAdjust="0"/>
  </p:normalViewPr>
  <p:slideViewPr>
    <p:cSldViewPr showGuides="1">
      <p:cViewPr varScale="1">
        <p:scale>
          <a:sx n="90" d="100"/>
          <a:sy n="90" d="100"/>
        </p:scale>
        <p:origin x="720" y="72"/>
      </p:cViewPr>
      <p:guideLst>
        <p:guide orient="horz" pos="2328"/>
        <p:guide pos="619"/>
        <p:guide pos="7247"/>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7" d="100"/>
          <a:sy n="87" d="100"/>
        </p:scale>
        <p:origin x="3840" y="96"/>
      </p:cViewPr>
      <p:guideLst>
        <p:guide orient="horz" pos="3103"/>
        <p:guide pos="2212"/>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gs" Target="tags/tag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handoutMaster" Target="handoutMasters/handoutMaster1.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ags" Target="../tags/tag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
        <p:nvSpPr>
          <p:cNvPr id="2" name="矩形 1"/>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0"/>
            </p:custDataLst>
          </p:nvPr>
        </p:nvPicPr>
        <p:blipFill>
          <a:blip r:embed="rId11"/>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
        <p:nvSpPr>
          <p:cNvPr id="9" name="矩形 8"/>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5"/>
            </p:custDataLst>
          </p:nvPr>
        </p:nvPicPr>
        <p:blipFill>
          <a:blip r:embed="rId16"/>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slideLayout" Target="../slideLayouts/slideLayout10.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notesSlide" Target="../notesSlides/notesSlide19.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Layout" Target="../slideLayouts/slideLayout10.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notesSlide" Target="../notesSlides/notesSlide21.xml"/><Relationship Id="rId2" Type="http://schemas.openxmlformats.org/officeDocument/2006/relationships/tags" Target="../tags/tag28.xml"/><Relationship Id="rId16" Type="http://schemas.openxmlformats.org/officeDocument/2006/relationships/slideLayout" Target="../slideLayouts/slideLayout10.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tags" Target="../tags/tag41.xml"/><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notesSlide" Target="../notesSlides/notesSlide33.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slideLayout" Target="../slideLayouts/slideLayout10.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0" Type="http://schemas.openxmlformats.org/officeDocument/2006/relationships/tags" Target="../tags/tag51.xml"/><Relationship Id="rId4" Type="http://schemas.openxmlformats.org/officeDocument/2006/relationships/tags" Target="../tags/tag45.xml"/><Relationship Id="rId9" Type="http://schemas.openxmlformats.org/officeDocument/2006/relationships/tags" Target="../tags/tag50.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notesSlide" Target="../notesSlides/notesSlide44.xml"/><Relationship Id="rId2" Type="http://schemas.openxmlformats.org/officeDocument/2006/relationships/tags" Target="../tags/tag54.xml"/><Relationship Id="rId16" Type="http://schemas.openxmlformats.org/officeDocument/2006/relationships/slideLayout" Target="../slideLayouts/slideLayout10.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tags" Target="../tags/tag67.xml"/><Relationship Id="rId10" Type="http://schemas.openxmlformats.org/officeDocument/2006/relationships/tags" Target="../tags/tag62.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68.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69.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10.xml"/><Relationship Id="rId4" Type="http://schemas.openxmlformats.org/officeDocument/2006/relationships/hyperlink" Target="http://stu.ityxb.com/ebookview/081a7c6ab47ab6cddfbae6aea98257d6"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503294" y="2637790"/>
            <a:ext cx="5975911" cy="78483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7</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sz="4500" dirty="0" err="1">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A</a:t>
            </a:r>
            <a:r>
              <a:rPr lang="en-US" altLang="zh-CN" sz="4500" dirty="0" err="1">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pp</a:t>
            </a:r>
            <a:r>
              <a:rPr sz="4500" dirty="0" err="1">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测试</a:t>
            </a:r>
            <a:endPar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6598920" y="3933825"/>
            <a:ext cx="352425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sz="2400" dirty="0">
                <a:solidFill>
                  <a:srgbClr val="595959"/>
                </a:solidFill>
                <a:latin typeface="微软雅黑" panose="020B0503020204020204" pitchFamily="34" charset="-122"/>
                <a:ea typeface="微软雅黑" panose="020B0503020204020204" pitchFamily="34" charset="-122"/>
                <a:cs typeface="+mn-ea"/>
                <a:sym typeface="+mn-lt"/>
              </a:rPr>
              <a:t>软件测试（第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487206" y="2205503"/>
            <a:ext cx="9144000"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a:solidFill>
                  <a:srgbClr val="595959"/>
                </a:solidFill>
                <a:latin typeface="微软雅黑" panose="020B0503020204020204" pitchFamily="34" charset="-122"/>
                <a:ea typeface="微软雅黑" panose="020B0503020204020204" pitchFamily="34" charset="-122"/>
              </a:rPr>
              <a:t>移动设备因</a:t>
            </a:r>
            <a:r>
              <a:rPr lang="zh-CN" altLang="zh-CN" sz="2000">
                <a:solidFill>
                  <a:srgbClr val="595959"/>
                </a:solidFill>
                <a:latin typeface="微软雅黑" panose="020B0503020204020204" pitchFamily="34" charset="-122"/>
                <a:ea typeface="微软雅黑" panose="020B0503020204020204" pitchFamily="34" charset="-122"/>
              </a:rPr>
              <a:t>其</a:t>
            </a:r>
            <a:r>
              <a:rPr lang="zh-CN" altLang="en-US" sz="2000">
                <a:solidFill>
                  <a:srgbClr val="595959"/>
                </a:solidFill>
                <a:latin typeface="微软雅黑" panose="020B0503020204020204" pitchFamily="34" charset="-122"/>
                <a:ea typeface="微软雅黑" panose="020B0503020204020204" pitchFamily="34" charset="-122"/>
              </a:rPr>
              <a:t>具有</a:t>
            </a:r>
            <a:r>
              <a:rPr lang="zh-CN" altLang="zh-CN" sz="2000">
                <a:solidFill>
                  <a:srgbClr val="0070C0"/>
                </a:solidFill>
                <a:latin typeface="微软雅黑" panose="020B0503020204020204" pitchFamily="34" charset="-122"/>
                <a:ea typeface="微软雅黑" panose="020B0503020204020204" pitchFamily="34" charset="-122"/>
              </a:rPr>
              <a:t>智能性</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0070C0"/>
                </a:solidFill>
                <a:latin typeface="微软雅黑" panose="020B0503020204020204" pitchFamily="34" charset="-122"/>
                <a:ea typeface="微软雅黑" panose="020B0503020204020204" pitchFamily="34" charset="-122"/>
              </a:rPr>
              <a:t>互动性</a:t>
            </a:r>
            <a:r>
              <a:rPr lang="zh-CN" altLang="zh-CN" sz="2000" dirty="0">
                <a:solidFill>
                  <a:srgbClr val="595959"/>
                </a:solidFill>
                <a:latin typeface="微软雅黑" panose="020B0503020204020204" pitchFamily="34" charset="-122"/>
                <a:ea typeface="微软雅黑" panose="020B0503020204020204" pitchFamily="34" charset="-122"/>
              </a:rPr>
              <a:t>等特点被广泛应用于人们的日常生活。随着移动设备的普及，越来越多的</a:t>
            </a: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a:solidFill>
                  <a:srgbClr val="595959"/>
                </a:solidFill>
                <a:latin typeface="微软雅黑" panose="020B0503020204020204" pitchFamily="34" charset="-122"/>
                <a:ea typeface="微软雅黑" panose="020B0503020204020204" pitchFamily="34" charset="-122"/>
              </a:rPr>
              <a:t>诞生，</a:t>
            </a:r>
            <a:r>
              <a:rPr lang="zh-CN" altLang="en-US" sz="2000">
                <a:solidFill>
                  <a:srgbClr val="595959"/>
                </a:solidFill>
                <a:latin typeface="微软雅黑" panose="020B0503020204020204" pitchFamily="34" charset="-122"/>
                <a:ea typeface="微软雅黑" panose="020B0503020204020204" pitchFamily="34" charset="-122"/>
              </a:rPr>
              <a:t>例</a:t>
            </a:r>
            <a:r>
              <a:rPr lang="zh-CN" altLang="zh-CN" sz="2000">
                <a:solidFill>
                  <a:srgbClr val="595959"/>
                </a:solidFill>
                <a:latin typeface="微软雅黑" panose="020B0503020204020204" pitchFamily="34" charset="-122"/>
                <a:ea typeface="微软雅黑" panose="020B0503020204020204" pitchFamily="34" charset="-122"/>
              </a:rPr>
              <a:t>如</a:t>
            </a:r>
            <a:r>
              <a:rPr lang="zh-CN" altLang="zh-CN" sz="2000" dirty="0">
                <a:solidFill>
                  <a:srgbClr val="595959"/>
                </a:solidFill>
                <a:latin typeface="微软雅黑" panose="020B0503020204020204" pitchFamily="34" charset="-122"/>
                <a:ea typeface="微软雅黑" panose="020B0503020204020204" pitchFamily="34" charset="-122"/>
              </a:rPr>
              <a:t>美团、百度地图、抖音等，这些</a:t>
            </a: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zh-CN" sz="2000" dirty="0">
                <a:solidFill>
                  <a:srgbClr val="595959"/>
                </a:solidFill>
                <a:latin typeface="微软雅黑" panose="020B0503020204020204" pitchFamily="34" charset="-122"/>
                <a:ea typeface="微软雅黑" panose="020B0503020204020204" pitchFamily="34" charset="-122"/>
              </a:rPr>
              <a:t>只需要安装在移动设备上就能随时随地使用。由于</a:t>
            </a:r>
            <a:r>
              <a:rPr lang="zh-CN" altLang="zh-CN" sz="2000" dirty="0">
                <a:solidFill>
                  <a:srgbClr val="0070C0"/>
                </a:solidFill>
                <a:latin typeface="微软雅黑" panose="020B0503020204020204" pitchFamily="34" charset="-122"/>
                <a:ea typeface="微软雅黑" panose="020B0503020204020204" pitchFamily="34" charset="-122"/>
              </a:rPr>
              <a:t>移动设备的使用环境比较复杂</a:t>
            </a:r>
            <a:r>
              <a:rPr lang="zh-CN" altLang="zh-CN" sz="2000" dirty="0">
                <a:solidFill>
                  <a:srgbClr val="595959"/>
                </a:solidFill>
                <a:latin typeface="微软雅黑" panose="020B0503020204020204" pitchFamily="34" charset="-122"/>
                <a:ea typeface="微软雅黑" panose="020B0503020204020204" pitchFamily="34" charset="-122"/>
              </a:rPr>
              <a:t>，所以</a:t>
            </a: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zh-CN" sz="2000" dirty="0">
                <a:solidFill>
                  <a:srgbClr val="595959"/>
                </a:solidFill>
                <a:latin typeface="微软雅黑" panose="020B0503020204020204" pitchFamily="34" charset="-122"/>
                <a:ea typeface="微软雅黑" panose="020B0503020204020204" pitchFamily="34" charset="-122"/>
              </a:rPr>
              <a:t>在正式上线前都需要进行测试，如果没有经过测试就直接上线，可能会出现一系列</a:t>
            </a:r>
            <a:r>
              <a:rPr lang="zh-CN" altLang="zh-CN" sz="2000">
                <a:solidFill>
                  <a:srgbClr val="595959"/>
                </a:solidFill>
                <a:latin typeface="微软雅黑" panose="020B0503020204020204" pitchFamily="34" charset="-122"/>
                <a:ea typeface="微软雅黑" panose="020B0503020204020204" pitchFamily="34" charset="-122"/>
              </a:rPr>
              <a:t>问题，</a:t>
            </a:r>
            <a:r>
              <a:rPr lang="zh-CN" altLang="en-US" sz="2000">
                <a:solidFill>
                  <a:srgbClr val="595959"/>
                </a:solidFill>
                <a:latin typeface="微软雅黑" panose="020B0503020204020204" pitchFamily="34" charset="-122"/>
                <a:ea typeface="微软雅黑" panose="020B0503020204020204" pitchFamily="34" charset="-122"/>
              </a:rPr>
              <a:t>例</a:t>
            </a:r>
            <a:r>
              <a:rPr lang="zh-CN" altLang="zh-CN" sz="2000">
                <a:solidFill>
                  <a:srgbClr val="595959"/>
                </a:solidFill>
                <a:latin typeface="微软雅黑" panose="020B0503020204020204" pitchFamily="34" charset="-122"/>
                <a:ea typeface="微软雅黑" panose="020B0503020204020204" pitchFamily="34" charset="-122"/>
              </a:rPr>
              <a:t>如</a:t>
            </a:r>
            <a:r>
              <a:rPr lang="zh-CN" altLang="zh-CN" sz="2000">
                <a:solidFill>
                  <a:srgbClr val="0070C0"/>
                </a:solidFill>
                <a:latin typeface="微软雅黑" panose="020B0503020204020204" pitchFamily="34" charset="-122"/>
                <a:ea typeface="微软雅黑" panose="020B0503020204020204" pitchFamily="34" charset="-122"/>
              </a:rPr>
              <a:t>用户</a:t>
            </a:r>
            <a:r>
              <a:rPr lang="zh-CN" altLang="zh-CN" sz="2000" dirty="0">
                <a:solidFill>
                  <a:srgbClr val="0070C0"/>
                </a:solidFill>
                <a:latin typeface="微软雅黑" panose="020B0503020204020204" pitchFamily="34" charset="-122"/>
                <a:ea typeface="微软雅黑" panose="020B0503020204020204" pitchFamily="34" charset="-122"/>
              </a:rPr>
              <a:t>信息的泄露</a:t>
            </a:r>
            <a:r>
              <a:rPr lang="zh-CN"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0070C0"/>
                </a:solidFill>
                <a:latin typeface="微软雅黑" panose="020B0503020204020204" pitchFamily="34" charset="-122"/>
                <a:ea typeface="微软雅黑" panose="020B0503020204020204" pitchFamily="34" charset="-122"/>
              </a:rPr>
              <a:t>App</a:t>
            </a:r>
            <a:r>
              <a:rPr lang="zh-CN" altLang="zh-CN" sz="2000">
                <a:solidFill>
                  <a:srgbClr val="0070C0"/>
                </a:solidFill>
                <a:latin typeface="微软雅黑" panose="020B0503020204020204" pitchFamily="34" charset="-122"/>
                <a:ea typeface="微软雅黑" panose="020B0503020204020204" pitchFamily="34" charset="-122"/>
              </a:rPr>
              <a:t>的</a:t>
            </a:r>
            <a:r>
              <a:rPr lang="zh-CN" altLang="zh-CN" sz="2000" dirty="0">
                <a:solidFill>
                  <a:srgbClr val="0070C0"/>
                </a:solidFill>
                <a:latin typeface="微软雅黑" panose="020B0503020204020204" pitchFamily="34" charset="-122"/>
                <a:ea typeface="微软雅黑" panose="020B0503020204020204" pitchFamily="34" charset="-122"/>
              </a:rPr>
              <a:t>崩溃</a:t>
            </a:r>
            <a:r>
              <a:rPr lang="zh-CN"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0070C0"/>
                </a:solidFill>
                <a:latin typeface="微软雅黑" panose="020B0503020204020204" pitchFamily="34" charset="-122"/>
                <a:ea typeface="微软雅黑" panose="020B0503020204020204" pitchFamily="34" charset="-122"/>
              </a:rPr>
              <a:t>App</a:t>
            </a:r>
            <a:r>
              <a:rPr lang="zh-CN" altLang="en-US" sz="2000">
                <a:solidFill>
                  <a:srgbClr val="0070C0"/>
                </a:solidFill>
                <a:latin typeface="微软雅黑" panose="020B0503020204020204" pitchFamily="34" charset="-122"/>
                <a:ea typeface="微软雅黑" panose="020B0503020204020204" pitchFamily="34" charset="-122"/>
              </a:rPr>
              <a:t>在</a:t>
            </a:r>
            <a:r>
              <a:rPr lang="zh-CN" altLang="zh-CN" sz="2000">
                <a:solidFill>
                  <a:srgbClr val="0070C0"/>
                </a:solidFill>
                <a:latin typeface="微软雅黑" panose="020B0503020204020204" pitchFamily="34" charset="-122"/>
                <a:ea typeface="微软雅黑" panose="020B0503020204020204" pitchFamily="34" charset="-122"/>
              </a:rPr>
              <a:t>使用过程</a:t>
            </a:r>
            <a:r>
              <a:rPr lang="zh-CN" altLang="en-US" sz="2000">
                <a:solidFill>
                  <a:srgbClr val="0070C0"/>
                </a:solidFill>
                <a:latin typeface="微软雅黑" panose="020B0503020204020204" pitchFamily="34" charset="-122"/>
                <a:ea typeface="微软雅黑" panose="020B0503020204020204" pitchFamily="34" charset="-122"/>
              </a:rPr>
              <a:t>中</a:t>
            </a:r>
            <a:r>
              <a:rPr lang="zh-CN" altLang="zh-CN" sz="2000">
                <a:solidFill>
                  <a:srgbClr val="0070C0"/>
                </a:solidFill>
                <a:latin typeface="微软雅黑" panose="020B0503020204020204" pitchFamily="34" charset="-122"/>
                <a:ea typeface="微软雅黑" panose="020B0503020204020204" pitchFamily="34" charset="-122"/>
              </a:rPr>
              <a:t>经常</a:t>
            </a:r>
            <a:r>
              <a:rPr lang="zh-CN" altLang="zh-CN" sz="2000" dirty="0">
                <a:solidFill>
                  <a:srgbClr val="0070C0"/>
                </a:solidFill>
                <a:latin typeface="微软雅黑" panose="020B0503020204020204" pitchFamily="34" charset="-122"/>
                <a:ea typeface="微软雅黑" panose="020B0503020204020204" pitchFamily="34" charset="-122"/>
              </a:rPr>
              <a:t>卡</a:t>
            </a:r>
            <a:r>
              <a:rPr lang="zh-CN" altLang="zh-CN" sz="2000">
                <a:solidFill>
                  <a:srgbClr val="0070C0"/>
                </a:solidFill>
                <a:latin typeface="微软雅黑" panose="020B0503020204020204" pitchFamily="34" charset="-122"/>
                <a:ea typeface="微软雅黑" panose="020B0503020204020204" pitchFamily="34" charset="-122"/>
              </a:rPr>
              <a:t>顿</a:t>
            </a:r>
            <a:r>
              <a:rPr lang="zh-CN" altLang="zh-CN" sz="2000">
                <a:solidFill>
                  <a:srgbClr val="595959"/>
                </a:solidFill>
                <a:latin typeface="微软雅黑" panose="020B0503020204020204" pitchFamily="34" charset="-122"/>
                <a:ea typeface="微软雅黑" panose="020B0503020204020204" pitchFamily="34" charset="-122"/>
              </a:rPr>
              <a:t>等</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这些问题不但</a:t>
            </a:r>
            <a:r>
              <a:rPr lang="zh-CN" altLang="en-US" sz="2000">
                <a:solidFill>
                  <a:srgbClr val="595959"/>
                </a:solidFill>
                <a:latin typeface="微软雅黑" panose="020B0503020204020204" pitchFamily="34" charset="-122"/>
                <a:ea typeface="微软雅黑" panose="020B0503020204020204" pitchFamily="34" charset="-122"/>
              </a:rPr>
              <a:t>会</a:t>
            </a:r>
            <a:r>
              <a:rPr lang="zh-CN" altLang="zh-CN" sz="2000">
                <a:solidFill>
                  <a:srgbClr val="0070C0"/>
                </a:solidFill>
                <a:latin typeface="微软雅黑" panose="020B0503020204020204" pitchFamily="34" charset="-122"/>
                <a:ea typeface="微软雅黑" panose="020B0503020204020204" pitchFamily="34" charset="-122"/>
              </a:rPr>
              <a:t>增加</a:t>
            </a: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的维护成本</a:t>
            </a:r>
            <a:r>
              <a:rPr lang="zh-CN" altLang="zh-CN" sz="2000">
                <a:solidFill>
                  <a:srgbClr val="595959"/>
                </a:solidFill>
                <a:latin typeface="微软雅黑" panose="020B0503020204020204" pitchFamily="34" charset="-122"/>
                <a:ea typeface="微软雅黑" panose="020B0503020204020204" pitchFamily="34" charset="-122"/>
              </a:rPr>
              <a:t>，而且</a:t>
            </a:r>
            <a:r>
              <a:rPr lang="zh-CN" altLang="en-US" sz="2000">
                <a:solidFill>
                  <a:srgbClr val="595959"/>
                </a:solidFill>
                <a:latin typeface="微软雅黑" panose="020B0503020204020204" pitchFamily="34" charset="-122"/>
                <a:ea typeface="微软雅黑" panose="020B0503020204020204" pitchFamily="34" charset="-122"/>
              </a:rPr>
              <a:t>会</a:t>
            </a:r>
            <a:r>
              <a:rPr lang="zh-CN" altLang="zh-CN" sz="2000">
                <a:solidFill>
                  <a:srgbClr val="0070C0"/>
                </a:solidFill>
                <a:latin typeface="微软雅黑" panose="020B0503020204020204" pitchFamily="34" charset="-122"/>
                <a:ea typeface="微软雅黑" panose="020B0503020204020204" pitchFamily="34" charset="-122"/>
              </a:rPr>
              <a:t>影响</a:t>
            </a:r>
            <a:r>
              <a:rPr lang="zh-CN" altLang="zh-CN" sz="2000" dirty="0">
                <a:solidFill>
                  <a:srgbClr val="0070C0"/>
                </a:solidFill>
                <a:latin typeface="微软雅黑" panose="020B0503020204020204" pitchFamily="34" charset="-122"/>
                <a:ea typeface="微软雅黑" panose="020B0503020204020204" pitchFamily="34" charset="-122"/>
              </a:rPr>
              <a:t>用户的使用体验</a:t>
            </a:r>
            <a:r>
              <a:rPr lang="zh-CN" altLang="zh-CN" sz="2000" dirty="0">
                <a:solidFill>
                  <a:srgbClr val="595959"/>
                </a:solidFill>
                <a:latin typeface="微软雅黑" panose="020B0503020204020204" pitchFamily="34" charset="-122"/>
                <a:ea typeface="微软雅黑" panose="020B0503020204020204" pitchFamily="34" charset="-122"/>
              </a:rPr>
              <a:t>。由此可见，</a:t>
            </a: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的质量保证离不开测试</a:t>
            </a:r>
            <a:r>
              <a:rPr lang="zh-CN" altLang="zh-CN" sz="2000" dirty="0">
                <a:solidFill>
                  <a:srgbClr val="595959"/>
                </a:solidFill>
                <a:latin typeface="微软雅黑" panose="020B0503020204020204" pitchFamily="34" charset="-122"/>
                <a:ea typeface="微软雅黑" panose="020B0503020204020204" pitchFamily="34" charset="-122"/>
              </a:rPr>
              <a:t>。本章将对</a:t>
            </a: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测试</a:t>
            </a:r>
            <a:r>
              <a:rPr lang="zh-CN" altLang="zh-CN" sz="2000" dirty="0">
                <a:solidFill>
                  <a:srgbClr val="595959"/>
                </a:solidFill>
                <a:latin typeface="微软雅黑" panose="020B0503020204020204" pitchFamily="34" charset="-122"/>
                <a:ea typeface="微软雅黑" panose="020B0503020204020204" pitchFamily="34" charset="-122"/>
              </a:rPr>
              <a:t>的相关知识进行讲解。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en-US" altLang="zh-CN"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App</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7.1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7.1 App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5133404" y="2248279"/>
            <a:ext cx="6337138" cy="1477328"/>
          </a:xfrm>
          <a:prstGeom prst="rect">
            <a:avLst/>
          </a:prstGeom>
          <a:noFill/>
        </p:spPr>
        <p:txBody>
          <a:bodyPr wrap="square" rtlCol="0">
            <a:spAutoFit/>
          </a:bodyPr>
          <a:lstStyle/>
          <a:p>
            <a:pPr lvl="0" defTabSz="1216660">
              <a:lnSpc>
                <a:spcPct val="150000"/>
              </a:lnSpc>
              <a:spcBef>
                <a:spcPct val="20000"/>
              </a:spcBef>
              <a:defRPr/>
            </a:pP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Application</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应用程序）是指安装在手机、平板电脑等移动设备上的软件</a:t>
            </a:r>
            <a:r>
              <a:rPr lang="zh-CN" altLang="zh-CN" sz="2000" dirty="0">
                <a:solidFill>
                  <a:srgbClr val="595959"/>
                </a:solidFill>
                <a:latin typeface="微软雅黑" panose="020B0503020204020204" pitchFamily="34" charset="-122"/>
                <a:ea typeface="微软雅黑" panose="020B0503020204020204" pitchFamily="34" charset="-122"/>
                <a:cs typeface="+mn-ea"/>
              </a:rPr>
              <a:t>。由于</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缺陷导致的事故时有发生，所以</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测试至关重要。</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7.1 App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3809076" y="1142599"/>
            <a:ext cx="7038130" cy="1478033"/>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5519207" y="925063"/>
            <a:ext cx="3312000"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000" b="1" dirty="0">
                <a:latin typeface="微软雅黑" panose="020B0503020204020204" pitchFamily="34" charset="-122"/>
                <a:ea typeface="微软雅黑" panose="020B0503020204020204" pitchFamily="34" charset="-122"/>
                <a:cs typeface="+mn-ea"/>
                <a:sym typeface="+mn-lt"/>
              </a:rPr>
              <a:t>设备多样性</a:t>
            </a:r>
          </a:p>
        </p:txBody>
      </p:sp>
      <p:sp>
        <p:nvSpPr>
          <p:cNvPr id="8" name="六边形 7"/>
          <p:cNvSpPr/>
          <p:nvPr/>
        </p:nvSpPr>
        <p:spPr>
          <a:xfrm>
            <a:off x="1143692" y="3030203"/>
            <a:ext cx="1648410" cy="1453679"/>
          </a:xfrm>
          <a:prstGeom prst="hexag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lnSpc>
                <a:spcPct val="150000"/>
              </a:lnSpc>
            </a:pPr>
            <a:r>
              <a:rPr lang="en-US" altLang="zh-CN" sz="2000" b="1" dirty="0">
                <a:latin typeface="微软雅黑" panose="020B0503020204020204" pitchFamily="34" charset="-122"/>
                <a:ea typeface="微软雅黑" panose="020B0503020204020204" pitchFamily="34" charset="-122"/>
                <a:cs typeface="+mn-ea"/>
                <a:sym typeface="+mn-lt"/>
              </a:rPr>
              <a:t>App</a:t>
            </a:r>
            <a:r>
              <a:rPr lang="zh-CN" altLang="en-US" sz="2000" b="1" dirty="0">
                <a:latin typeface="微软雅黑" panose="020B0503020204020204" pitchFamily="34" charset="-122"/>
                <a:ea typeface="微软雅黑" panose="020B0503020204020204" pitchFamily="34" charset="-122"/>
                <a:cs typeface="+mn-ea"/>
                <a:sym typeface="+mn-lt"/>
              </a:rPr>
              <a:t>的特性</a:t>
            </a:r>
          </a:p>
        </p:txBody>
      </p:sp>
      <p:cxnSp>
        <p:nvCxnSpPr>
          <p:cNvPr id="9" name="直接箭头连接符 8"/>
          <p:cNvCxnSpPr>
            <a:stCxn id="8" idx="5"/>
            <a:endCxn id="6" idx="1"/>
          </p:cNvCxnSpPr>
          <p:nvPr/>
        </p:nvCxnSpPr>
        <p:spPr>
          <a:xfrm flipV="1">
            <a:off x="2428682" y="1881616"/>
            <a:ext cx="1380394" cy="114858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 idx="0"/>
            <a:endCxn id="15" idx="1"/>
          </p:cNvCxnSpPr>
          <p:nvPr/>
        </p:nvCxnSpPr>
        <p:spPr>
          <a:xfrm>
            <a:off x="2792102" y="3757043"/>
            <a:ext cx="1029574" cy="6235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1"/>
            <a:endCxn id="19" idx="1"/>
          </p:cNvCxnSpPr>
          <p:nvPr/>
        </p:nvCxnSpPr>
        <p:spPr>
          <a:xfrm>
            <a:off x="2428682" y="4483882"/>
            <a:ext cx="1366996" cy="1153679"/>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944140" y="1419172"/>
            <a:ext cx="7017473" cy="1052598"/>
          </a:xfrm>
          <a:prstGeom prst="rect">
            <a:avLst/>
          </a:prstGeom>
          <a:noFill/>
        </p:spPr>
        <p:txBody>
          <a:bodyPr wrap="square" lIns="91445" tIns="45721" rIns="91445" bIns="45721" rtlCol="0">
            <a:spAutoFit/>
          </a:bodyPr>
          <a:lstStyle/>
          <a:p>
            <a:pPr>
              <a:lnSpc>
                <a:spcPct val="13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传统的</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PC</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端软件都是</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安装在</a:t>
            </a:r>
            <a:r>
              <a:rPr lang="zh-CN" altLang="zh-CN" sz="1600">
                <a:solidFill>
                  <a:srgbClr val="0070C0"/>
                </a:solidFill>
                <a:latin typeface="微软雅黑" panose="020B0503020204020204" pitchFamily="34" charset="-122"/>
                <a:ea typeface="微软雅黑" panose="020B0503020204020204" pitchFamily="34" charset="-122"/>
                <a:cs typeface="+mn-ea"/>
              </a:rPr>
              <a:t>计算机</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中的</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a:t> </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而可以安装 App 的设备比较多，例如</a:t>
            </a:r>
            <a:r>
              <a:rPr lang="en-US" altLang="zh-CN" sz="1600">
                <a:solidFill>
                  <a:srgbClr val="0070C0"/>
                </a:solidFill>
                <a:latin typeface="微软雅黑" panose="020B0503020204020204" pitchFamily="34" charset="-122"/>
                <a:ea typeface="微软雅黑" panose="020B0503020204020204" pitchFamily="34" charset="-122"/>
                <a:cs typeface="+mn-ea"/>
              </a:rPr>
              <a:t>手机</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a:solidFill>
                  <a:srgbClr val="0070C0"/>
                </a:solidFill>
                <a:latin typeface="微软雅黑" panose="020B0503020204020204" pitchFamily="34" charset="-122"/>
                <a:ea typeface="微软雅黑" panose="020B0503020204020204" pitchFamily="34" charset="-122"/>
                <a:cs typeface="+mn-ea"/>
              </a:rPr>
              <a:t>平板电脑</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a:solidFill>
                  <a:srgbClr val="0070C0"/>
                </a:solidFill>
                <a:latin typeface="微软雅黑" panose="020B0503020204020204" pitchFamily="34" charset="-122"/>
                <a:ea typeface="微软雅黑" panose="020B0503020204020204" pitchFamily="34" charset="-122"/>
                <a:cs typeface="+mn-ea"/>
              </a:rPr>
              <a:t>智能手表</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等，这些设备轻巧便携，满足了用户对移动生活、工作的强烈需求。</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3821676" y="3019185"/>
            <a:ext cx="7030450" cy="160043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17" name="矩形 16"/>
          <p:cNvSpPr/>
          <p:nvPr/>
        </p:nvSpPr>
        <p:spPr>
          <a:xfrm>
            <a:off x="5519207" y="2811892"/>
            <a:ext cx="3312000"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lvl="0" algn="ctr"/>
            <a:r>
              <a:rPr lang="zh-CN" altLang="en-US" sz="2000" b="1" dirty="0">
                <a:latin typeface="微软雅黑" panose="020B0503020204020204" pitchFamily="34" charset="-122"/>
                <a:ea typeface="微软雅黑" panose="020B0503020204020204" pitchFamily="34" charset="-122"/>
                <a:cs typeface="+mn-ea"/>
                <a:sym typeface="+mn-lt"/>
              </a:rPr>
              <a:t>网络多样性</a:t>
            </a:r>
          </a:p>
        </p:txBody>
      </p:sp>
      <p:sp>
        <p:nvSpPr>
          <p:cNvPr id="18" name="TextBox 17"/>
          <p:cNvSpPr txBox="1"/>
          <p:nvPr/>
        </p:nvSpPr>
        <p:spPr>
          <a:xfrm>
            <a:off x="3944140" y="3293101"/>
            <a:ext cx="6768001" cy="1372685"/>
          </a:xfrm>
          <a:prstGeom prst="rect">
            <a:avLst/>
          </a:prstGeom>
          <a:noFill/>
        </p:spPr>
        <p:txBody>
          <a:bodyPr wrap="square" lIns="91445" tIns="45721" rIns="91445" bIns="45721" rtlCol="0">
            <a:spAutoFit/>
          </a:bodyPr>
          <a:lstStyle/>
          <a:p>
            <a:pPr lvl="0">
              <a:lnSpc>
                <a:spcPct val="130000"/>
              </a:lnSpc>
            </a:pP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传统的 PC 端软件一般都是</a:t>
            </a:r>
            <a:r>
              <a:rPr lang="en-US" altLang="zh-CN" sz="1600">
                <a:solidFill>
                  <a:srgbClr val="0070C0"/>
                </a:solidFill>
                <a:latin typeface="微软雅黑" panose="020B0503020204020204" pitchFamily="34" charset="-122"/>
                <a:ea typeface="微软雅黑" panose="020B0503020204020204" pitchFamily="34" charset="-122"/>
                <a:cs typeface="+mn-ea"/>
              </a:rPr>
              <a:t>通过计算机连接有线网络</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进行使用的，虽然现代的计算机也可以连接无线网络，但是这些网络都是比较稳定的。App 通过移动设备连接移动通信网络或无线网络进行使用，例如 </a:t>
            </a:r>
            <a:r>
              <a:rPr lang="en-US" altLang="zh-CN" sz="1600">
                <a:solidFill>
                  <a:srgbClr val="0070C0"/>
                </a:solidFill>
                <a:latin typeface="微软雅黑" panose="020B0503020204020204" pitchFamily="34" charset="-122"/>
                <a:ea typeface="微软雅黑" panose="020B0503020204020204" pitchFamily="34" charset="-122"/>
                <a:cs typeface="+mn-ea"/>
              </a:rPr>
              <a:t>3G、4G、5G、Wi-Fi</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3795678" y="4965327"/>
            <a:ext cx="7051527" cy="1344467"/>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5519207" y="4758035"/>
            <a:ext cx="3312000"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algn="ctr"/>
            <a:r>
              <a:rPr lang="zh-CN" altLang="en-US" sz="2000" b="1" dirty="0">
                <a:latin typeface="微软雅黑" panose="020B0503020204020204" pitchFamily="34" charset="-122"/>
                <a:ea typeface="微软雅黑" panose="020B0503020204020204" pitchFamily="34" charset="-122"/>
                <a:cs typeface="+mn-ea"/>
                <a:sym typeface="+mn-lt"/>
              </a:rPr>
              <a:t>平台多样性</a:t>
            </a:r>
          </a:p>
        </p:txBody>
      </p:sp>
      <p:sp>
        <p:nvSpPr>
          <p:cNvPr id="21" name="TextBox 20"/>
          <p:cNvSpPr txBox="1"/>
          <p:nvPr/>
        </p:nvSpPr>
        <p:spPr>
          <a:xfrm>
            <a:off x="3892981" y="5203896"/>
            <a:ext cx="6956051" cy="1052598"/>
          </a:xfrm>
          <a:prstGeom prst="rect">
            <a:avLst/>
          </a:prstGeom>
          <a:noFill/>
        </p:spPr>
        <p:txBody>
          <a:bodyPr wrap="square" lIns="91445" tIns="45721" rIns="91445" bIns="45721" rtlCol="0">
            <a:spAutoFit/>
          </a:bodyPr>
          <a:lstStyle/>
          <a:p>
            <a:pPr lvl="0">
              <a:lnSpc>
                <a:spcPct val="130000"/>
              </a:lnSpc>
            </a:pP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传统的 PC 端软件所依赖的平台主要有</a:t>
            </a:r>
            <a:r>
              <a:rPr lang="en-US" altLang="zh-CN" sz="1600">
                <a:solidFill>
                  <a:srgbClr val="0070C0"/>
                </a:solidFill>
                <a:latin typeface="微软雅黑" panose="020B0503020204020204" pitchFamily="34" charset="-122"/>
                <a:ea typeface="微软雅黑" panose="020B0503020204020204" pitchFamily="34" charset="-122"/>
                <a:cs typeface="+mn-ea"/>
              </a:rPr>
              <a:t> Windows、macOS、Linux </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等，种类相对较少，而 App 所依赖的平台则有很多种，例如 </a:t>
            </a:r>
            <a:r>
              <a:rPr lang="en-US" altLang="zh-CN" sz="1600">
                <a:solidFill>
                  <a:srgbClr val="0070C0"/>
                </a:solidFill>
                <a:latin typeface="微软雅黑" panose="020B0503020204020204" pitchFamily="34" charset="-122"/>
                <a:ea typeface="微软雅黑" panose="020B0503020204020204" pitchFamily="34" charset="-122"/>
                <a:cs typeface="+mn-ea"/>
              </a:rPr>
              <a:t>iOS、Android、Windows Phone、BlackBerry </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等，</a:t>
            </a:r>
            <a:r>
              <a:rPr lang="en-US" altLang="zh-CN" sz="1600">
                <a:solidFill>
                  <a:srgbClr val="0070C0"/>
                </a:solidFill>
                <a:latin typeface="微软雅黑" panose="020B0503020204020204" pitchFamily="34" charset="-122"/>
                <a:ea typeface="微软雅黑" panose="020B0503020204020204" pitchFamily="34" charset="-122"/>
                <a:cs typeface="+mn-ea"/>
              </a:rPr>
              <a:t>其中使用较多的平台是 iOS 和Android</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7.1 App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1055206" y="1773794"/>
            <a:ext cx="7128000" cy="1938992"/>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无论是</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测试</a:t>
            </a:r>
            <a:r>
              <a:rPr lang="zh-CN" altLang="zh-CN" sz="2000" dirty="0">
                <a:solidFill>
                  <a:srgbClr val="595959"/>
                </a:solidFill>
                <a:latin typeface="微软雅黑" panose="020B0503020204020204" pitchFamily="34" charset="-122"/>
                <a:ea typeface="微软雅黑" panose="020B0503020204020204" pitchFamily="34" charset="-122"/>
                <a:cs typeface="+mn-ea"/>
              </a:rPr>
              <a:t>还是</a:t>
            </a:r>
            <a:r>
              <a:rPr lang="en-US" altLang="zh-CN" sz="2000" dirty="0">
                <a:solidFill>
                  <a:srgbClr val="1369B2"/>
                </a:solidFill>
                <a:latin typeface="微软雅黑" panose="020B0503020204020204" pitchFamily="34" charset="-122"/>
                <a:ea typeface="微软雅黑" panose="020B0503020204020204" pitchFamily="34" charset="-122"/>
                <a:cs typeface="+mn-ea"/>
              </a:rPr>
              <a:t>PC</a:t>
            </a:r>
            <a:r>
              <a:rPr lang="zh-CN" altLang="zh-CN" sz="2000" dirty="0">
                <a:solidFill>
                  <a:srgbClr val="1369B2"/>
                </a:solidFill>
                <a:latin typeface="微软雅黑" panose="020B0503020204020204" pitchFamily="34" charset="-122"/>
                <a:ea typeface="微软雅黑" panose="020B0503020204020204" pitchFamily="34" charset="-122"/>
                <a:cs typeface="+mn-ea"/>
              </a:rPr>
              <a:t>端软件测试</a:t>
            </a:r>
            <a:r>
              <a:rPr lang="zh-CN" altLang="zh-CN" sz="2000" dirty="0">
                <a:solidFill>
                  <a:srgbClr val="595959"/>
                </a:solidFill>
                <a:latin typeface="微软雅黑" panose="020B0503020204020204" pitchFamily="34" charset="-122"/>
                <a:ea typeface="微软雅黑" panose="020B0503020204020204" pitchFamily="34" charset="-122"/>
                <a:cs typeface="+mn-ea"/>
              </a:rPr>
              <a:t>，都离不开测试的基础</a:t>
            </a:r>
            <a:r>
              <a:rPr lang="zh-CN" altLang="zh-CN" sz="2000">
                <a:solidFill>
                  <a:srgbClr val="595959"/>
                </a:solidFill>
                <a:latin typeface="微软雅黑" panose="020B0503020204020204" pitchFamily="34" charset="-122"/>
                <a:ea typeface="微软雅黑" panose="020B0503020204020204" pitchFamily="34" charset="-122"/>
                <a:cs typeface="+mn-ea"/>
              </a:rPr>
              <a:t>知识，</a:t>
            </a:r>
            <a:r>
              <a:rPr lang="zh-CN" altLang="en-US" sz="2000">
                <a:solidFill>
                  <a:srgbClr val="595959"/>
                </a:solidFill>
                <a:latin typeface="微软雅黑" panose="020B0503020204020204" pitchFamily="34" charset="-122"/>
                <a:ea typeface="微软雅黑" panose="020B0503020204020204" pitchFamily="34" charset="-122"/>
                <a:cs typeface="+mn-ea"/>
              </a:rPr>
              <a:t>它们</a:t>
            </a:r>
            <a:r>
              <a:rPr lang="zh-CN" altLang="zh-CN" sz="2000">
                <a:solidFill>
                  <a:srgbClr val="1369B2"/>
                </a:solidFill>
                <a:latin typeface="微软雅黑" panose="020B0503020204020204" pitchFamily="34" charset="-122"/>
                <a:ea typeface="微软雅黑" panose="020B0503020204020204" pitchFamily="34" charset="-122"/>
                <a:cs typeface="+mn-ea"/>
              </a:rPr>
              <a:t>测试</a:t>
            </a:r>
            <a:r>
              <a:rPr lang="zh-CN" altLang="zh-CN" sz="2000" dirty="0">
                <a:solidFill>
                  <a:srgbClr val="1369B2"/>
                </a:solidFill>
                <a:latin typeface="微软雅黑" panose="020B0503020204020204" pitchFamily="34" charset="-122"/>
                <a:ea typeface="微软雅黑" panose="020B0503020204020204" pitchFamily="34" charset="-122"/>
                <a:cs typeface="+mn-ea"/>
              </a:rPr>
              <a:t>的流程和方法基本相同</a:t>
            </a:r>
            <a:r>
              <a:rPr lang="zh-CN" altLang="zh-CN" sz="2000" dirty="0">
                <a:solidFill>
                  <a:srgbClr val="595959"/>
                </a:solidFill>
                <a:latin typeface="微软雅黑" panose="020B0503020204020204" pitchFamily="34" charset="-122"/>
                <a:ea typeface="微软雅黑" panose="020B0503020204020204" pitchFamily="34" charset="-122"/>
                <a:cs typeface="+mn-ea"/>
              </a:rPr>
              <a:t>。例如，</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测试和</a:t>
            </a:r>
            <a:r>
              <a:rPr lang="en-US" altLang="zh-CN" sz="2000" dirty="0">
                <a:solidFill>
                  <a:srgbClr val="595959"/>
                </a:solidFill>
                <a:latin typeface="微软雅黑" panose="020B0503020204020204" pitchFamily="34" charset="-122"/>
                <a:ea typeface="微软雅黑" panose="020B0503020204020204" pitchFamily="34" charset="-122"/>
                <a:cs typeface="+mn-ea"/>
              </a:rPr>
              <a:t>PC</a:t>
            </a:r>
            <a:r>
              <a:rPr lang="zh-CN" altLang="zh-CN" sz="2000" dirty="0">
                <a:solidFill>
                  <a:srgbClr val="595959"/>
                </a:solidFill>
                <a:latin typeface="微软雅黑" panose="020B0503020204020204" pitchFamily="34" charset="-122"/>
                <a:ea typeface="微软雅黑" panose="020B0503020204020204" pitchFamily="34" charset="-122"/>
                <a:cs typeface="+mn-ea"/>
              </a:rPr>
              <a:t>端软件测试都需要</a:t>
            </a:r>
            <a:r>
              <a:rPr lang="zh-CN" altLang="zh-CN" sz="2000" dirty="0">
                <a:solidFill>
                  <a:srgbClr val="1369B2"/>
                </a:solidFill>
                <a:latin typeface="微软雅黑" panose="020B0503020204020204" pitchFamily="34" charset="-122"/>
                <a:ea typeface="微软雅黑" panose="020B0503020204020204" pitchFamily="34" charset="-122"/>
                <a:cs typeface="+mn-ea"/>
              </a:rPr>
              <a:t>检查界面</a:t>
            </a:r>
            <a:r>
              <a:rPr lang="zh-CN" altLang="zh-CN" sz="2000">
                <a:solidFill>
                  <a:srgbClr val="1369B2"/>
                </a:solidFill>
                <a:latin typeface="微软雅黑" panose="020B0503020204020204" pitchFamily="34" charset="-122"/>
                <a:ea typeface="微软雅黑" panose="020B0503020204020204" pitchFamily="34" charset="-122"/>
                <a:cs typeface="+mn-ea"/>
              </a:rPr>
              <a:t>的布局</a:t>
            </a:r>
            <a:r>
              <a:rPr lang="zh-CN" altLang="en-US" sz="2000">
                <a:solidFill>
                  <a:srgbClr val="595959"/>
                </a:solidFill>
                <a:latin typeface="微软雅黑" panose="020B0503020204020204" pitchFamily="34" charset="-122"/>
                <a:ea typeface="微软雅黑" panose="020B0503020204020204" pitchFamily="34" charset="-122"/>
                <a:cs typeface="+mn-ea"/>
              </a:rPr>
              <a:t>，它们</a:t>
            </a:r>
            <a:r>
              <a:rPr lang="zh-CN" altLang="zh-CN" sz="2000">
                <a:solidFill>
                  <a:srgbClr val="1369B2"/>
                </a:solidFill>
                <a:latin typeface="微软雅黑" panose="020B0503020204020204" pitchFamily="34" charset="-122"/>
                <a:ea typeface="微软雅黑" panose="020B0503020204020204" pitchFamily="34" charset="-122"/>
                <a:cs typeface="+mn-ea"/>
              </a:rPr>
              <a:t>可以</a:t>
            </a:r>
            <a:r>
              <a:rPr lang="zh-CN" altLang="zh-CN" sz="2000" dirty="0">
                <a:solidFill>
                  <a:srgbClr val="1369B2"/>
                </a:solidFill>
                <a:latin typeface="微软雅黑" panose="020B0503020204020204" pitchFamily="34" charset="-122"/>
                <a:ea typeface="微软雅黑" panose="020B0503020204020204" pitchFamily="34" charset="-122"/>
                <a:cs typeface="+mn-ea"/>
              </a:rPr>
              <a:t>使用同样的测试方法设计</a:t>
            </a:r>
            <a:r>
              <a:rPr lang="zh-CN" altLang="zh-CN" sz="2000">
                <a:solidFill>
                  <a:srgbClr val="1369B2"/>
                </a:solidFill>
                <a:latin typeface="微软雅黑" panose="020B0503020204020204" pitchFamily="34" charset="-122"/>
                <a:ea typeface="微软雅黑" panose="020B0503020204020204" pitchFamily="34" charset="-122"/>
                <a:cs typeface="+mn-ea"/>
              </a:rPr>
              <a:t>测试用例</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595959"/>
                </a:solidFill>
                <a:latin typeface="微软雅黑" panose="020B0503020204020204" pitchFamily="34" charset="-122"/>
                <a:ea typeface="微软雅黑" panose="020B0503020204020204" pitchFamily="34" charset="-122"/>
                <a:cs typeface="+mn-ea"/>
              </a:rPr>
              <a:t>边界值分析法、等价类划分法等。</a:t>
            </a:r>
          </a:p>
        </p:txBody>
      </p:sp>
      <p:pic>
        <p:nvPicPr>
          <p:cNvPr id="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7.1 App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Shape 2012"/>
          <p:cNvSpPr/>
          <p:nvPr/>
        </p:nvSpPr>
        <p:spPr>
          <a:xfrm>
            <a:off x="7160739" y="1341794"/>
            <a:ext cx="4367782" cy="225449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Shape 2013"/>
          <p:cNvSpPr/>
          <p:nvPr/>
        </p:nvSpPr>
        <p:spPr>
          <a:xfrm>
            <a:off x="7160739" y="3840148"/>
            <a:ext cx="4367782" cy="2181646"/>
          </a:xfrm>
          <a:prstGeom prst="roundRect">
            <a:avLst>
              <a:gd name="adj" fmla="val 6925"/>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8" name="Shape 2014"/>
          <p:cNvSpPr/>
          <p:nvPr/>
        </p:nvSpPr>
        <p:spPr>
          <a:xfrm>
            <a:off x="983206" y="3839254"/>
            <a:ext cx="4265433" cy="2182540"/>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Shape 2015"/>
          <p:cNvSpPr/>
          <p:nvPr/>
        </p:nvSpPr>
        <p:spPr>
          <a:xfrm>
            <a:off x="983206" y="1341794"/>
            <a:ext cx="4265433" cy="225449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1" name="Shape 2016"/>
          <p:cNvSpPr/>
          <p:nvPr/>
        </p:nvSpPr>
        <p:spPr>
          <a:xfrm>
            <a:off x="4757242" y="2277313"/>
            <a:ext cx="2887903" cy="28879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2" name="Shape 2021"/>
          <p:cNvSpPr/>
          <p:nvPr/>
        </p:nvSpPr>
        <p:spPr>
          <a:xfrm>
            <a:off x="1120785" y="1741228"/>
            <a:ext cx="3662751" cy="1753787"/>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对于 PC 端软件，</a:t>
            </a:r>
            <a:r>
              <a:rPr lang="en-US" altLang="zh-CN" sz="1600">
                <a:solidFill>
                  <a:srgbClr val="1369B2"/>
                </a:solidFill>
                <a:latin typeface="微软雅黑" panose="020B0503020204020204" pitchFamily="34" charset="-122"/>
                <a:ea typeface="微软雅黑" panose="020B0503020204020204" pitchFamily="34" charset="-122"/>
                <a:cs typeface="+mn-ea"/>
              </a:rPr>
              <a:t>计算机设备屏幕比较大</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a:solidFill>
                  <a:srgbClr val="1369B2"/>
                </a:solidFill>
                <a:latin typeface="微软雅黑" panose="020B0503020204020204" pitchFamily="34" charset="-122"/>
                <a:ea typeface="微软雅黑" panose="020B0503020204020204" pitchFamily="34" charset="-122"/>
                <a:cs typeface="+mn-ea"/>
              </a:rPr>
              <a:t>可以同时显示很多信息</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，用户可以快速看到屏幕上显示的所有信息，页面布局比较灵活。但是对于 App，</a:t>
            </a:r>
            <a:r>
              <a:rPr lang="en-US" altLang="zh-CN" sz="1600">
                <a:solidFill>
                  <a:srgbClr val="1369B2"/>
                </a:solidFill>
                <a:latin typeface="微软雅黑" panose="020B0503020204020204" pitchFamily="34" charset="-122"/>
                <a:ea typeface="微软雅黑" panose="020B0503020204020204" pitchFamily="34" charset="-122"/>
                <a:cs typeface="+mn-ea"/>
              </a:rPr>
              <a:t>移动设备屏幕小</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a:solidFill>
                  <a:srgbClr val="1369B2"/>
                </a:solidFill>
                <a:latin typeface="微软雅黑" panose="020B0503020204020204" pitchFamily="34" charset="-122"/>
                <a:ea typeface="微软雅黑" panose="020B0503020204020204" pitchFamily="34" charset="-122"/>
                <a:cs typeface="+mn-ea"/>
              </a:rPr>
              <a:t>显示的信息有限</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，在测试时需要</a:t>
            </a:r>
            <a:r>
              <a:rPr lang="en-US" altLang="zh-CN" sz="1600">
                <a:solidFill>
                  <a:srgbClr val="1369B2"/>
                </a:solidFill>
                <a:latin typeface="微软雅黑" panose="020B0503020204020204" pitchFamily="34" charset="-122"/>
                <a:ea typeface="微软雅黑" panose="020B0503020204020204" pitchFamily="34" charset="-122"/>
                <a:cs typeface="+mn-ea"/>
              </a:rPr>
              <a:t>考虑布局是否合理</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sp>
        <p:nvSpPr>
          <p:cNvPr id="13" name="Shape 2022"/>
          <p:cNvSpPr/>
          <p:nvPr/>
        </p:nvSpPr>
        <p:spPr>
          <a:xfrm>
            <a:off x="1113364" y="1339613"/>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页面布局不同</a:t>
            </a:r>
          </a:p>
        </p:txBody>
      </p:sp>
      <p:sp>
        <p:nvSpPr>
          <p:cNvPr id="14" name="Shape 2023"/>
          <p:cNvSpPr/>
          <p:nvPr/>
        </p:nvSpPr>
        <p:spPr>
          <a:xfrm>
            <a:off x="1147080" y="4366906"/>
            <a:ext cx="3585080" cy="1438887"/>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PC</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端软件大多使用</a:t>
            </a:r>
            <a:r>
              <a:rPr lang="zh-CN" altLang="zh-CN" sz="1600" dirty="0">
                <a:solidFill>
                  <a:srgbClr val="1369B2"/>
                </a:solidFill>
                <a:latin typeface="微软雅黑" panose="020B0503020204020204" pitchFamily="34" charset="-122"/>
                <a:ea typeface="微软雅黑" panose="020B0503020204020204" pitchFamily="34" charset="-122"/>
                <a:cs typeface="+mn-ea"/>
              </a:rPr>
              <a:t>键盘</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和</a:t>
            </a:r>
            <a:r>
              <a:rPr lang="zh-CN" altLang="zh-CN" sz="1600" dirty="0">
                <a:solidFill>
                  <a:srgbClr val="1369B2"/>
                </a:solidFill>
                <a:latin typeface="微软雅黑" panose="020B0503020204020204" pitchFamily="34" charset="-122"/>
                <a:ea typeface="微软雅黑" panose="020B0503020204020204" pitchFamily="34" charset="-122"/>
                <a:cs typeface="+mn-ea"/>
              </a:rPr>
              <a:t>鼠标</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进行输入，</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在移动设备上使用时，输入方法比较</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多，</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例</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如</a:t>
            </a:r>
            <a:r>
              <a:rPr lang="zh-CN" altLang="zh-CN" sz="1600" dirty="0">
                <a:solidFill>
                  <a:srgbClr val="1369B2"/>
                </a:solidFill>
                <a:latin typeface="微软雅黑" panose="020B0503020204020204" pitchFamily="34" charset="-122"/>
                <a:ea typeface="微软雅黑" panose="020B0503020204020204" pitchFamily="34" charset="-122"/>
                <a:cs typeface="+mn-ea"/>
              </a:rPr>
              <a:t>触屏</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1369B2"/>
                </a:solidFill>
                <a:latin typeface="微软雅黑" panose="020B0503020204020204" pitchFamily="34" charset="-122"/>
                <a:ea typeface="微软雅黑" panose="020B0503020204020204" pitchFamily="34" charset="-122"/>
                <a:cs typeface="+mn-ea"/>
              </a:rPr>
              <a:t>电容笔</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1369B2"/>
                </a:solidFill>
                <a:latin typeface="微软雅黑" panose="020B0503020204020204" pitchFamily="34" charset="-122"/>
                <a:ea typeface="微软雅黑" panose="020B0503020204020204" pitchFamily="34" charset="-122"/>
                <a:cs typeface="+mn-ea"/>
              </a:rPr>
              <a:t>语音</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等。</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测试时需要</a:t>
            </a:r>
            <a:r>
              <a:rPr lang="zh-CN" altLang="zh-CN" sz="1600" dirty="0">
                <a:solidFill>
                  <a:srgbClr val="1369B2"/>
                </a:solidFill>
                <a:latin typeface="微软雅黑" panose="020B0503020204020204" pitchFamily="34" charset="-122"/>
                <a:ea typeface="微软雅黑" panose="020B0503020204020204" pitchFamily="34" charset="-122"/>
                <a:cs typeface="+mn-ea"/>
              </a:rPr>
              <a:t>测试多种输入方法是否都能正常使用</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15" name="Shape 2024"/>
          <p:cNvSpPr/>
          <p:nvPr/>
        </p:nvSpPr>
        <p:spPr>
          <a:xfrm>
            <a:off x="1147080" y="3878642"/>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输入方法不同</a:t>
            </a:r>
          </a:p>
        </p:txBody>
      </p:sp>
      <p:sp>
        <p:nvSpPr>
          <p:cNvPr id="16" name="Shape 2025"/>
          <p:cNvSpPr/>
          <p:nvPr/>
        </p:nvSpPr>
        <p:spPr>
          <a:xfrm>
            <a:off x="7670227" y="1822474"/>
            <a:ext cx="3774036" cy="1745255"/>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l"/>
            <a:r>
              <a:rPr lang="en-US" altLang="zh-CN" sz="1600" dirty="0">
                <a:solidFill>
                  <a:srgbClr val="1369B2"/>
                </a:solidFill>
                <a:latin typeface="微软雅黑" panose="020B0503020204020204" pitchFamily="34" charset="-122"/>
                <a:ea typeface="微软雅黑" panose="020B0503020204020204" pitchFamily="34" charset="-122"/>
                <a:cs typeface="+mn-ea"/>
              </a:rPr>
              <a:t>PC</a:t>
            </a:r>
            <a:r>
              <a:rPr lang="zh-CN" altLang="zh-CN" sz="1600">
                <a:solidFill>
                  <a:srgbClr val="1369B2"/>
                </a:solidFill>
                <a:latin typeface="微软雅黑" panose="020B0503020204020204" pitchFamily="34" charset="-122"/>
                <a:ea typeface="微软雅黑" panose="020B0503020204020204" pitchFamily="34" charset="-122"/>
                <a:cs typeface="+mn-ea"/>
              </a:rPr>
              <a:t>端软件</a:t>
            </a:r>
            <a:r>
              <a:rPr lang="zh-CN" altLang="en-US" sz="1600">
                <a:solidFill>
                  <a:srgbClr val="1369B2"/>
                </a:solidFill>
                <a:latin typeface="微软雅黑" panose="020B0503020204020204" pitchFamily="34" charset="-122"/>
                <a:ea typeface="微软雅黑" panose="020B0503020204020204" pitchFamily="34" charset="-122"/>
                <a:cs typeface="+mn-ea"/>
              </a:rPr>
              <a:t>的</a:t>
            </a:r>
            <a:r>
              <a:rPr lang="zh-CN" altLang="zh-CN" sz="1600">
                <a:solidFill>
                  <a:srgbClr val="1369B2"/>
                </a:solidFill>
                <a:latin typeface="微软雅黑" panose="020B0503020204020204" pitchFamily="34" charset="-122"/>
                <a:ea typeface="微软雅黑" panose="020B0503020204020204" pitchFamily="34" charset="-122"/>
                <a:cs typeface="+mn-ea"/>
              </a:rPr>
              <a:t>使用</a:t>
            </a:r>
            <a:r>
              <a:rPr lang="zh-CN" altLang="zh-CN" sz="1600" dirty="0">
                <a:solidFill>
                  <a:srgbClr val="1369B2"/>
                </a:solidFill>
                <a:latin typeface="微软雅黑" panose="020B0503020204020204" pitchFamily="34" charset="-122"/>
                <a:ea typeface="微软雅黑" panose="020B0503020204020204" pitchFamily="34" charset="-122"/>
                <a:cs typeface="+mn-ea"/>
              </a:rPr>
              <a:t>地点比较固定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1369B2"/>
                </a:solidFill>
                <a:latin typeface="微软雅黑" panose="020B0503020204020204" pitchFamily="34" charset="-122"/>
                <a:ea typeface="微软雅黑" panose="020B0503020204020204" pitchFamily="34" charset="-122"/>
                <a:cs typeface="+mn-ea"/>
              </a:rPr>
              <a:t>网络信号</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相对也比较稳定；</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而</a:t>
            </a:r>
            <a:r>
              <a:rPr lang="en-US" altLang="zh-CN" sz="1600">
                <a:solidFill>
                  <a:srgbClr val="1369B2"/>
                </a:solidFill>
                <a:latin typeface="微软雅黑" panose="020B0503020204020204" pitchFamily="34" charset="-122"/>
                <a:ea typeface="微软雅黑" panose="020B0503020204020204" pitchFamily="34" charset="-122"/>
                <a:cs typeface="+mn-ea"/>
              </a:rPr>
              <a:t>App</a:t>
            </a:r>
            <a:r>
              <a:rPr lang="zh-CN" altLang="en-US" sz="1600">
                <a:solidFill>
                  <a:srgbClr val="1369B2"/>
                </a:solidFill>
                <a:latin typeface="微软雅黑" panose="020B0503020204020204" pitchFamily="34" charset="-122"/>
                <a:ea typeface="微软雅黑" panose="020B0503020204020204" pitchFamily="34" charset="-122"/>
                <a:cs typeface="+mn-ea"/>
              </a:rPr>
              <a:t>的</a:t>
            </a:r>
            <a:r>
              <a:rPr lang="zh-CN" altLang="zh-CN" sz="1600">
                <a:solidFill>
                  <a:srgbClr val="1369B2"/>
                </a:solidFill>
                <a:latin typeface="微软雅黑" panose="020B0503020204020204" pitchFamily="34" charset="-122"/>
                <a:ea typeface="微软雅黑" panose="020B0503020204020204" pitchFamily="34" charset="-122"/>
                <a:cs typeface="+mn-ea"/>
              </a:rPr>
              <a:t>使用</a:t>
            </a:r>
            <a:r>
              <a:rPr lang="zh-CN" altLang="zh-CN" sz="1600" dirty="0">
                <a:solidFill>
                  <a:srgbClr val="1369B2"/>
                </a:solidFill>
                <a:latin typeface="微软雅黑" panose="020B0503020204020204" pitchFamily="34" charset="-122"/>
                <a:ea typeface="微软雅黑" panose="020B0503020204020204" pitchFamily="34" charset="-122"/>
                <a:cs typeface="+mn-ea"/>
              </a:rPr>
              <a:t>地点不固定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1369B2"/>
                </a:solidFill>
                <a:latin typeface="微软雅黑" panose="020B0503020204020204" pitchFamily="34" charset="-122"/>
                <a:ea typeface="微软雅黑" panose="020B0503020204020204" pitchFamily="34" charset="-122"/>
                <a:cs typeface="+mn-ea"/>
              </a:rPr>
              <a:t>网络信号相对也不稳定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，测试时需要考虑网络信号较差的情况下</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的使用情况。此外，还要考虑在</a:t>
            </a:r>
            <a:r>
              <a:rPr lang="zh-CN" altLang="zh-CN" sz="1600" dirty="0">
                <a:solidFill>
                  <a:srgbClr val="1369B2"/>
                </a:solidFill>
                <a:latin typeface="微软雅黑" panose="020B0503020204020204" pitchFamily="34" charset="-122"/>
                <a:ea typeface="微软雅黑" panose="020B0503020204020204" pitchFamily="34" charset="-122"/>
                <a:cs typeface="+mn-ea"/>
              </a:rPr>
              <a:t>移动设备电量不足</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的情况下，</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是否能正常使用。</a:t>
            </a:r>
          </a:p>
          <a:p>
            <a:pPr algn="just"/>
            <a:endParaRPr 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7" name="Shape 2026"/>
          <p:cNvSpPr/>
          <p:nvPr/>
        </p:nvSpPr>
        <p:spPr>
          <a:xfrm>
            <a:off x="7568521" y="1354924"/>
            <a:ext cx="1400469"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使用场合不同</a:t>
            </a:r>
          </a:p>
        </p:txBody>
      </p:sp>
      <p:sp>
        <p:nvSpPr>
          <p:cNvPr id="18" name="Shape 2027"/>
          <p:cNvSpPr/>
          <p:nvPr/>
        </p:nvSpPr>
        <p:spPr>
          <a:xfrm>
            <a:off x="7599431" y="4439346"/>
            <a:ext cx="3819750" cy="1366447"/>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l"/>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PC</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端软件使用鼠标可以精确操作，而</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在移动</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设备上</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使用时</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大多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是</a:t>
            </a:r>
            <a:r>
              <a:rPr lang="zh-CN" altLang="zh-CN" sz="1600" dirty="0">
                <a:solidFill>
                  <a:srgbClr val="1369B2"/>
                </a:solidFill>
                <a:latin typeface="微软雅黑" panose="020B0503020204020204" pitchFamily="34" charset="-122"/>
                <a:ea typeface="微软雅黑" panose="020B0503020204020204" pitchFamily="34" charset="-122"/>
                <a:cs typeface="+mn-ea"/>
              </a:rPr>
              <a:t>触屏操作</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，点击时误差较大，且</a:t>
            </a:r>
            <a:r>
              <a:rPr lang="zh-CN" altLang="zh-CN" sz="1600" dirty="0">
                <a:solidFill>
                  <a:srgbClr val="1369B2"/>
                </a:solidFill>
                <a:latin typeface="微软雅黑" panose="020B0503020204020204" pitchFamily="34" charset="-122"/>
                <a:ea typeface="微软雅黑" panose="020B0503020204020204" pitchFamily="34" charset="-122"/>
                <a:cs typeface="+mn-ea"/>
              </a:rPr>
              <a:t>不支持鼠标指针悬停事件</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19" name="Shape 2028"/>
          <p:cNvSpPr/>
          <p:nvPr/>
        </p:nvSpPr>
        <p:spPr>
          <a:xfrm>
            <a:off x="7645145" y="3899870"/>
            <a:ext cx="1500713"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操作方式不同</a:t>
            </a:r>
          </a:p>
        </p:txBody>
      </p:sp>
      <p:sp>
        <p:nvSpPr>
          <p:cNvPr id="20" name="Text Placeholder 5"/>
          <p:cNvSpPr txBox="1"/>
          <p:nvPr/>
        </p:nvSpPr>
        <p:spPr>
          <a:xfrm>
            <a:off x="5248638" y="2908729"/>
            <a:ext cx="2103883" cy="1559363"/>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altLang="zh-CN" sz="2400" b="1" dirty="0">
                <a:solidFill>
                  <a:schemeClr val="bg1"/>
                </a:solidFill>
                <a:latin typeface="微软雅黑" panose="020B0503020204020204" pitchFamily="34" charset="-122"/>
                <a:ea typeface="微软雅黑" panose="020B0503020204020204" pitchFamily="34" charset="-122"/>
                <a:cs typeface="+mn-ea"/>
              </a:rPr>
              <a:t>App</a:t>
            </a:r>
            <a:r>
              <a:rPr lang="zh-CN" altLang="zh-CN" sz="2400" b="1" dirty="0">
                <a:solidFill>
                  <a:schemeClr val="bg1"/>
                </a:solidFill>
                <a:latin typeface="微软雅黑" panose="020B0503020204020204" pitchFamily="34" charset="-122"/>
                <a:ea typeface="微软雅黑" panose="020B0503020204020204" pitchFamily="34" charset="-122"/>
                <a:cs typeface="+mn-ea"/>
              </a:rPr>
              <a:t>与</a:t>
            </a:r>
            <a:r>
              <a:rPr lang="en-US" altLang="zh-CN" sz="2400" b="1" dirty="0">
                <a:solidFill>
                  <a:schemeClr val="bg1"/>
                </a:solidFill>
                <a:latin typeface="微软雅黑" panose="020B0503020204020204" pitchFamily="34" charset="-122"/>
                <a:ea typeface="微软雅黑" panose="020B0503020204020204" pitchFamily="34" charset="-122"/>
                <a:cs typeface="+mn-ea"/>
              </a:rPr>
              <a:t>PC</a:t>
            </a:r>
            <a:r>
              <a:rPr lang="zh-CN" altLang="zh-CN" sz="2400" b="1" dirty="0">
                <a:solidFill>
                  <a:schemeClr val="bg1"/>
                </a:solidFill>
                <a:latin typeface="微软雅黑" panose="020B0503020204020204" pitchFamily="34" charset="-122"/>
                <a:ea typeface="微软雅黑" panose="020B0503020204020204" pitchFamily="34" charset="-122"/>
                <a:cs typeface="+mn-ea"/>
              </a:rPr>
              <a:t>端软件在测试方面的区别</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1857248" y="1613373"/>
            <a:ext cx="2710273"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1853746" y="1706011"/>
            <a:ext cx="2638597" cy="461665"/>
          </a:xfrm>
          <a:prstGeom prst="rect">
            <a:avLst/>
          </a:prstGeom>
          <a:noFill/>
        </p:spPr>
        <p:txBody>
          <a:bodyPr wrap="square" rtlCol="0">
            <a:spAutoFit/>
          </a:bodyPr>
          <a:lstStyle/>
          <a:p>
            <a:pPr algn="ctr"/>
            <a:r>
              <a:rPr lang="en-US" altLang="zh-CN">
                <a:solidFill>
                  <a:schemeClr val="bg1"/>
                </a:solidFill>
                <a:latin typeface="微软雅黑" panose="020B0503020204020204" pitchFamily="34" charset="-122"/>
                <a:ea typeface="微软雅黑" panose="020B0503020204020204" pitchFamily="34" charset="-122"/>
              </a:rPr>
              <a:t>App</a:t>
            </a:r>
            <a:r>
              <a:rPr lang="zh-CN" altLang="en-US">
                <a:solidFill>
                  <a:schemeClr val="bg1"/>
                </a:solidFill>
                <a:latin typeface="微软雅黑" panose="020B0503020204020204" pitchFamily="34" charset="-122"/>
                <a:ea typeface="微软雅黑" panose="020B0503020204020204" pitchFamily="34" charset="-122"/>
              </a:rPr>
              <a:t>测试的流程</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4799206"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86905"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文本框 3"/>
          <p:cNvSpPr txBox="1"/>
          <p:nvPr/>
        </p:nvSpPr>
        <p:spPr>
          <a:xfrm>
            <a:off x="1055206" y="2997794"/>
            <a:ext cx="10207516" cy="3024000"/>
          </a:xfrm>
          <a:prstGeom prst="rect">
            <a:avLst/>
          </a:prstGeom>
          <a:noFill/>
        </p:spPr>
        <p:txBody>
          <a:bodyPr wrap="square" rtlCol="0" anchor="t">
            <a:no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zh-CN" sz="2000" dirty="0">
                <a:solidFill>
                  <a:srgbClr val="595959"/>
                </a:solidFill>
                <a:latin typeface="微软雅黑" panose="020B0503020204020204" pitchFamily="34" charset="-122"/>
                <a:ea typeface="微软雅黑" panose="020B0503020204020204" pitchFamily="34" charset="-122"/>
              </a:rPr>
              <a:t>测试的流程与</a:t>
            </a:r>
            <a:r>
              <a:rPr lang="en-US" altLang="zh-CN" sz="2000" dirty="0">
                <a:solidFill>
                  <a:srgbClr val="595959"/>
                </a:solidFill>
                <a:latin typeface="微软雅黑" panose="020B0503020204020204" pitchFamily="34" charset="-122"/>
                <a:ea typeface="微软雅黑" panose="020B0503020204020204" pitchFamily="34" charset="-122"/>
              </a:rPr>
              <a:t>PC</a:t>
            </a:r>
            <a:r>
              <a:rPr lang="zh-CN" altLang="zh-CN" sz="2000" dirty="0">
                <a:solidFill>
                  <a:srgbClr val="595959"/>
                </a:solidFill>
                <a:latin typeface="微软雅黑" panose="020B0503020204020204" pitchFamily="34" charset="-122"/>
                <a:ea typeface="微软雅黑" panose="020B0503020204020204" pitchFamily="34" charset="-122"/>
              </a:rPr>
              <a:t>端软件测试的流程大体相同，在测试之前都需要</a:t>
            </a:r>
            <a:r>
              <a:rPr lang="zh-CN" altLang="zh-CN" sz="2000">
                <a:solidFill>
                  <a:srgbClr val="0070C0"/>
                </a:solidFill>
                <a:latin typeface="微软雅黑" panose="020B0503020204020204" pitchFamily="34" charset="-122"/>
                <a:ea typeface="微软雅黑" panose="020B0503020204020204" pitchFamily="34" charset="-122"/>
              </a:rPr>
              <a:t>分析需求</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然后</a:t>
            </a:r>
            <a:r>
              <a:rPr lang="zh-CN" altLang="zh-CN" sz="2000" dirty="0">
                <a:solidFill>
                  <a:srgbClr val="0070C0"/>
                </a:solidFill>
                <a:latin typeface="微软雅黑" panose="020B0503020204020204" pitchFamily="34" charset="-122"/>
                <a:ea typeface="微软雅黑" panose="020B0503020204020204" pitchFamily="34" charset="-122"/>
              </a:rPr>
              <a:t>制定测试计划</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0070C0"/>
                </a:solidFill>
                <a:latin typeface="微软雅黑" panose="020B0503020204020204" pitchFamily="34" charset="-122"/>
                <a:ea typeface="微软雅黑" panose="020B0503020204020204" pitchFamily="34" charset="-122"/>
              </a:rPr>
              <a:t>编写测试用例</a:t>
            </a:r>
            <a:r>
              <a:rPr lang="zh-CN" altLang="zh-CN" sz="2000" dirty="0">
                <a:solidFill>
                  <a:srgbClr val="595959"/>
                </a:solidFill>
                <a:latin typeface="微软雅黑" panose="020B0503020204020204" pitchFamily="34" charset="-122"/>
                <a:ea typeface="微软雅黑" panose="020B0503020204020204" pitchFamily="34" charset="-122"/>
              </a:rPr>
              <a:t>等。相对于</a:t>
            </a:r>
            <a:r>
              <a:rPr lang="en-US" altLang="zh-CN" sz="2000" dirty="0">
                <a:solidFill>
                  <a:srgbClr val="595959"/>
                </a:solidFill>
                <a:latin typeface="微软雅黑" panose="020B0503020204020204" pitchFamily="34" charset="-122"/>
                <a:ea typeface="微软雅黑" panose="020B0503020204020204" pitchFamily="34" charset="-122"/>
              </a:rPr>
              <a:t>PC</a:t>
            </a:r>
            <a:r>
              <a:rPr lang="zh-CN" altLang="zh-CN" sz="2000">
                <a:solidFill>
                  <a:srgbClr val="595959"/>
                </a:solidFill>
                <a:latin typeface="微软雅黑" panose="020B0503020204020204" pitchFamily="34" charset="-122"/>
                <a:ea typeface="微软雅黑" panose="020B0503020204020204" pitchFamily="34" charset="-122"/>
              </a:rPr>
              <a:t>端软件测试</a:t>
            </a: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zh-CN" sz="2000" dirty="0">
                <a:solidFill>
                  <a:srgbClr val="595959"/>
                </a:solidFill>
                <a:latin typeface="微软雅黑" panose="020B0503020204020204" pitchFamily="34" charset="-122"/>
                <a:ea typeface="微软雅黑" panose="020B0503020204020204" pitchFamily="34" charset="-122"/>
              </a:rPr>
              <a:t>测试的过程中，测试人员除了要考虑基本的</a:t>
            </a:r>
            <a:r>
              <a:rPr lang="zh-CN" altLang="zh-CN" sz="2000" dirty="0">
                <a:solidFill>
                  <a:srgbClr val="0070C0"/>
                </a:solidFill>
                <a:latin typeface="微软雅黑" panose="020B0503020204020204" pitchFamily="34" charset="-122"/>
                <a:ea typeface="微软雅黑" panose="020B0503020204020204" pitchFamily="34" charset="-122"/>
              </a:rPr>
              <a:t>功能测试</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a:solidFill>
                  <a:srgbClr val="0070C0"/>
                </a:solidFill>
                <a:latin typeface="微软雅黑" panose="020B0503020204020204" pitchFamily="34" charset="-122"/>
                <a:ea typeface="微软雅黑" panose="020B0503020204020204" pitchFamily="34" charset="-122"/>
              </a:rPr>
              <a:t>性能测试</a:t>
            </a:r>
            <a:r>
              <a:rPr lang="zh-CN" altLang="en-US" sz="2000">
                <a:solidFill>
                  <a:srgbClr val="595959"/>
                </a:solidFill>
                <a:latin typeface="微软雅黑" panose="020B0503020204020204" pitchFamily="34" charset="-122"/>
                <a:ea typeface="微软雅黑" panose="020B0503020204020204" pitchFamily="34" charset="-122"/>
              </a:rPr>
              <a:t>外</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还要</a:t>
            </a:r>
            <a:r>
              <a:rPr lang="zh-CN" altLang="zh-CN" sz="2000" dirty="0">
                <a:solidFill>
                  <a:srgbClr val="0070C0"/>
                </a:solidFill>
                <a:latin typeface="微软雅黑" panose="020B0503020204020204" pitchFamily="34" charset="-122"/>
                <a:ea typeface="微软雅黑" panose="020B0503020204020204" pitchFamily="34" charset="-122"/>
              </a:rPr>
              <a:t>考虑</a:t>
            </a: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本身固有的</a:t>
            </a:r>
            <a:r>
              <a:rPr lang="zh-CN" altLang="zh-CN" sz="2000">
                <a:solidFill>
                  <a:srgbClr val="0070C0"/>
                </a:solidFill>
                <a:latin typeface="微软雅黑" panose="020B0503020204020204" pitchFamily="34" charset="-122"/>
                <a:ea typeface="微软雅黑" panose="020B0503020204020204" pitchFamily="34" charset="-122"/>
              </a:rPr>
              <a:t>属性特征</a:t>
            </a:r>
            <a:r>
              <a:rPr lang="zh-CN" altLang="en-US" sz="2000">
                <a:solidFill>
                  <a:srgbClr val="0070C0"/>
                </a:solidFill>
                <a:latin typeface="微软雅黑" panose="020B0503020204020204" pitchFamily="34" charset="-122"/>
                <a:ea typeface="微软雅黑" panose="020B0503020204020204" pitchFamily="34" charset="-122"/>
              </a:rPr>
              <a:t>以</a:t>
            </a:r>
            <a:r>
              <a:rPr lang="zh-CN" altLang="zh-CN" sz="2000">
                <a:solidFill>
                  <a:srgbClr val="0070C0"/>
                </a:solidFill>
                <a:latin typeface="微软雅黑" panose="020B0503020204020204" pitchFamily="34" charset="-122"/>
                <a:ea typeface="微软雅黑" panose="020B0503020204020204" pitchFamily="34" charset="-122"/>
              </a:rPr>
              <a:t>展开</a:t>
            </a:r>
            <a:r>
              <a:rPr lang="zh-CN" altLang="zh-CN" sz="2000" dirty="0">
                <a:solidFill>
                  <a:srgbClr val="0070C0"/>
                </a:solidFill>
                <a:latin typeface="微软雅黑" panose="020B0503020204020204" pitchFamily="34" charset="-122"/>
                <a:ea typeface="微软雅黑" panose="020B0503020204020204" pitchFamily="34" charset="-122"/>
              </a:rPr>
              <a:t>专项测试</a:t>
            </a:r>
            <a:r>
              <a:rPr lang="zh-CN" altLang="zh-CN" sz="2000" dirty="0">
                <a:solidFill>
                  <a:srgbClr val="595959"/>
                </a:solidFill>
                <a:latin typeface="微软雅黑" panose="020B0503020204020204" pitchFamily="34" charset="-122"/>
                <a:ea typeface="微软雅黑" panose="020B0503020204020204" pitchFamily="34" charset="-122"/>
              </a:rPr>
              <a:t>，例如，用户在使用</a:t>
            </a: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zh-CN" sz="2000" dirty="0">
                <a:solidFill>
                  <a:srgbClr val="595959"/>
                </a:solidFill>
                <a:latin typeface="微软雅黑" panose="020B0503020204020204" pitchFamily="34" charset="-122"/>
                <a:ea typeface="微软雅黑" panose="020B0503020204020204" pitchFamily="34" charset="-122"/>
              </a:rPr>
              <a:t>时，会对</a:t>
            </a: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zh-CN" sz="2000" dirty="0">
                <a:solidFill>
                  <a:srgbClr val="595959"/>
                </a:solidFill>
                <a:latin typeface="微软雅黑" panose="020B0503020204020204" pitchFamily="34" charset="-122"/>
                <a:ea typeface="微软雅黑" panose="020B0503020204020204" pitchFamily="34" charset="-122"/>
              </a:rPr>
              <a:t>进行</a:t>
            </a:r>
            <a:r>
              <a:rPr lang="zh-CN" altLang="zh-CN" sz="2000" dirty="0">
                <a:solidFill>
                  <a:srgbClr val="0070C0"/>
                </a:solidFill>
                <a:latin typeface="微软雅黑" panose="020B0503020204020204" pitchFamily="34" charset="-122"/>
                <a:ea typeface="微软雅黑" panose="020B0503020204020204" pitchFamily="34" charset="-122"/>
              </a:rPr>
              <a:t>安装</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0070C0"/>
                </a:solidFill>
                <a:latin typeface="微软雅黑" panose="020B0503020204020204" pitchFamily="34" charset="-122"/>
                <a:ea typeface="微软雅黑" panose="020B0503020204020204" pitchFamily="34" charset="-122"/>
              </a:rPr>
              <a:t>卸载</a:t>
            </a:r>
            <a:r>
              <a:rPr lang="zh-CN" altLang="zh-CN" sz="2000" dirty="0">
                <a:solidFill>
                  <a:srgbClr val="595959"/>
                </a:solidFill>
                <a:latin typeface="微软雅黑" panose="020B0503020204020204" pitchFamily="34" charset="-122"/>
                <a:ea typeface="微软雅黑" panose="020B0503020204020204" pitchFamily="34" charset="-122"/>
              </a:rPr>
              <a:t>或</a:t>
            </a:r>
            <a:r>
              <a:rPr lang="zh-CN" altLang="zh-CN" sz="2000" dirty="0">
                <a:solidFill>
                  <a:srgbClr val="0070C0"/>
                </a:solidFill>
                <a:latin typeface="微软雅黑" panose="020B0503020204020204" pitchFamily="34" charset="-122"/>
                <a:ea typeface="微软雅黑" panose="020B0503020204020204" pitchFamily="34" charset="-122"/>
              </a:rPr>
              <a:t>升级</a:t>
            </a:r>
            <a:r>
              <a:rPr lang="zh-CN" altLang="zh-CN" sz="2000" dirty="0">
                <a:solidFill>
                  <a:srgbClr val="595959"/>
                </a:solidFill>
                <a:latin typeface="微软雅黑" panose="020B0503020204020204" pitchFamily="34" charset="-122"/>
                <a:ea typeface="微软雅黑" panose="020B0503020204020204" pitchFamily="34" charset="-122"/>
              </a:rPr>
              <a:t>操作等，</a:t>
            </a:r>
            <a:r>
              <a:rPr lang="zh-CN" altLang="zh-CN" sz="2000">
                <a:solidFill>
                  <a:srgbClr val="595959"/>
                </a:solidFill>
                <a:latin typeface="微软雅黑" panose="020B0503020204020204" pitchFamily="34" charset="-122"/>
                <a:ea typeface="微软雅黑" panose="020B0503020204020204" pitchFamily="34" charset="-122"/>
              </a:rPr>
              <a:t>因此在</a:t>
            </a:r>
            <a:r>
              <a:rPr lang="zh-CN" altLang="en-US" sz="2000">
                <a:solidFill>
                  <a:srgbClr val="595959"/>
                </a:solidFill>
                <a:latin typeface="微软雅黑" panose="020B0503020204020204" pitchFamily="34" charset="-122"/>
                <a:ea typeface="微软雅黑" panose="020B0503020204020204" pitchFamily="34" charset="-122"/>
              </a:rPr>
              <a:t>测试</a:t>
            </a:r>
            <a:r>
              <a:rPr lang="zh-CN" altLang="zh-CN" sz="2000">
                <a:solidFill>
                  <a:srgbClr val="595959"/>
                </a:solidFill>
                <a:latin typeface="微软雅黑" panose="020B0503020204020204" pitchFamily="34" charset="-122"/>
                <a:ea typeface="微软雅黑" panose="020B0503020204020204" pitchFamily="34" charset="-122"/>
              </a:rPr>
              <a:t>具体</a:t>
            </a:r>
            <a:r>
              <a:rPr lang="zh-CN" altLang="zh-CN" sz="2000" dirty="0">
                <a:solidFill>
                  <a:srgbClr val="595959"/>
                </a:solidFill>
                <a:latin typeface="微软雅黑" panose="020B0503020204020204" pitchFamily="34" charset="-122"/>
                <a:ea typeface="微软雅黑" panose="020B0503020204020204" pitchFamily="34" charset="-122"/>
              </a:rPr>
              <a:t>实施细节</a:t>
            </a:r>
            <a:r>
              <a:rPr lang="zh-CN" altLang="zh-CN" sz="2000">
                <a:solidFill>
                  <a:srgbClr val="595959"/>
                </a:solidFill>
                <a:latin typeface="微软雅黑" panose="020B0503020204020204" pitchFamily="34" charset="-122"/>
                <a:ea typeface="微软雅黑" panose="020B0503020204020204" pitchFamily="34" charset="-122"/>
              </a:rPr>
              <a:t>上也</a:t>
            </a:r>
            <a:r>
              <a:rPr lang="en-US" altLang="zh-CN" sz="2000">
                <a:solidFill>
                  <a:srgbClr val="595959"/>
                </a:solidFill>
                <a:latin typeface="微软雅黑" panose="020B0503020204020204" pitchFamily="34" charset="-122"/>
                <a:ea typeface="微软雅黑" panose="020B0503020204020204" pitchFamily="34" charset="-122"/>
              </a:rPr>
              <a:t>与 PC 端软件测试并不相同</a:t>
            </a:r>
            <a:r>
              <a:rPr lang="zh-CN" altLang="zh-CN" sz="200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7.1 App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7.1 App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05302" y="1676512"/>
            <a:ext cx="5460149" cy="400110"/>
          </a:xfrm>
          <a:prstGeom prst="rect">
            <a:avLst/>
          </a:prstGeom>
        </p:spPr>
        <p:txBody>
          <a:bodyPr wrap="none">
            <a:spAutoFit/>
          </a:bodyPr>
          <a:lstStyle/>
          <a:p>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测试的流程</a:t>
            </a:r>
            <a:r>
              <a:rPr lang="zh-CN" altLang="zh-CN" sz="2000" dirty="0">
                <a:solidFill>
                  <a:srgbClr val="595959"/>
                </a:solidFill>
                <a:latin typeface="微软雅黑" panose="020B0503020204020204" pitchFamily="34" charset="-122"/>
                <a:ea typeface="微软雅黑" panose="020B0503020204020204" pitchFamily="34" charset="-122"/>
              </a:rPr>
              <a:t>通常包括</a:t>
            </a:r>
            <a:r>
              <a:rPr lang="en-US" altLang="zh-CN" sz="2000" dirty="0">
                <a:solidFill>
                  <a:srgbClr val="0070C0"/>
                </a:solidFill>
                <a:latin typeface="微软雅黑" panose="020B0503020204020204" pitchFamily="34" charset="-122"/>
                <a:ea typeface="微软雅黑" panose="020B0503020204020204" pitchFamily="34" charset="-122"/>
              </a:rPr>
              <a:t>7</a:t>
            </a:r>
            <a:r>
              <a:rPr lang="zh-CN" altLang="zh-CN" sz="2000" dirty="0">
                <a:solidFill>
                  <a:srgbClr val="0070C0"/>
                </a:solidFill>
                <a:latin typeface="微软雅黑" panose="020B0503020204020204" pitchFamily="34" charset="-122"/>
                <a:ea typeface="微软雅黑" panose="020B0503020204020204" pitchFamily="34" charset="-122"/>
              </a:rPr>
              <a:t>个环节</a:t>
            </a:r>
            <a:r>
              <a:rPr lang="zh-CN" altLang="zh-CN" sz="2000" dirty="0">
                <a:solidFill>
                  <a:srgbClr val="595959"/>
                </a:solidFill>
                <a:latin typeface="微软雅黑" panose="020B0503020204020204" pitchFamily="34" charset="-122"/>
                <a:ea typeface="微软雅黑" panose="020B0503020204020204" pitchFamily="34" charset="-122"/>
              </a:rPr>
              <a:t>，具体如下。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7" name="Freeform 13"/>
          <p:cNvSpPr>
            <a:spLocks noEditPoints="1"/>
          </p:cNvSpPr>
          <p:nvPr/>
        </p:nvSpPr>
        <p:spPr bwMode="auto">
          <a:xfrm>
            <a:off x="965856" y="2851494"/>
            <a:ext cx="594092" cy="682686"/>
          </a:xfrm>
          <a:custGeom>
            <a:avLst/>
            <a:gdLst>
              <a:gd name="T0" fmla="*/ 27 w 94"/>
              <a:gd name="T1" fmla="*/ 39 h 108"/>
              <a:gd name="T2" fmla="*/ 52 w 94"/>
              <a:gd name="T3" fmla="*/ 37 h 108"/>
              <a:gd name="T4" fmla="*/ 93 w 94"/>
              <a:gd name="T5" fmla="*/ 58 h 108"/>
              <a:gd name="T6" fmla="*/ 90 w 94"/>
              <a:gd name="T7" fmla="*/ 50 h 108"/>
              <a:gd name="T8" fmla="*/ 88 w 94"/>
              <a:gd name="T9" fmla="*/ 43 h 108"/>
              <a:gd name="T10" fmla="*/ 89 w 94"/>
              <a:gd name="T11" fmla="*/ 39 h 108"/>
              <a:gd name="T12" fmla="*/ 87 w 94"/>
              <a:gd name="T13" fmla="*/ 32 h 108"/>
              <a:gd name="T14" fmla="*/ 84 w 94"/>
              <a:gd name="T15" fmla="*/ 25 h 108"/>
              <a:gd name="T16" fmla="*/ 84 w 94"/>
              <a:gd name="T17" fmla="*/ 19 h 108"/>
              <a:gd name="T18" fmla="*/ 80 w 94"/>
              <a:gd name="T19" fmla="*/ 14 h 108"/>
              <a:gd name="T20" fmla="*/ 76 w 94"/>
              <a:gd name="T21" fmla="*/ 10 h 108"/>
              <a:gd name="T22" fmla="*/ 75 w 94"/>
              <a:gd name="T23" fmla="*/ 7 h 108"/>
              <a:gd name="T24" fmla="*/ 70 w 94"/>
              <a:gd name="T25" fmla="*/ 4 h 108"/>
              <a:gd name="T26" fmla="*/ 65 w 94"/>
              <a:gd name="T27" fmla="*/ 2 h 108"/>
              <a:gd name="T28" fmla="*/ 58 w 94"/>
              <a:gd name="T29" fmla="*/ 1 h 108"/>
              <a:gd name="T30" fmla="*/ 51 w 94"/>
              <a:gd name="T31" fmla="*/ 0 h 108"/>
              <a:gd name="T32" fmla="*/ 45 w 94"/>
              <a:gd name="T33" fmla="*/ 0 h 108"/>
              <a:gd name="T34" fmla="*/ 38 w 94"/>
              <a:gd name="T35" fmla="*/ 1 h 108"/>
              <a:gd name="T36" fmla="*/ 31 w 94"/>
              <a:gd name="T37" fmla="*/ 2 h 108"/>
              <a:gd name="T38" fmla="*/ 24 w 94"/>
              <a:gd name="T39" fmla="*/ 4 h 108"/>
              <a:gd name="T40" fmla="*/ 18 w 94"/>
              <a:gd name="T41" fmla="*/ 8 h 108"/>
              <a:gd name="T42" fmla="*/ 13 w 94"/>
              <a:gd name="T43" fmla="*/ 12 h 108"/>
              <a:gd name="T44" fmla="*/ 8 w 94"/>
              <a:gd name="T45" fmla="*/ 17 h 108"/>
              <a:gd name="T46" fmla="*/ 5 w 94"/>
              <a:gd name="T47" fmla="*/ 22 h 108"/>
              <a:gd name="T48" fmla="*/ 2 w 94"/>
              <a:gd name="T49" fmla="*/ 28 h 108"/>
              <a:gd name="T50" fmla="*/ 0 w 94"/>
              <a:gd name="T51" fmla="*/ 36 h 108"/>
              <a:gd name="T52" fmla="*/ 1 w 94"/>
              <a:gd name="T53" fmla="*/ 49 h 108"/>
              <a:gd name="T54" fmla="*/ 24 w 94"/>
              <a:gd name="T55" fmla="*/ 97 h 108"/>
              <a:gd name="T56" fmla="*/ 71 w 94"/>
              <a:gd name="T57" fmla="*/ 107 h 108"/>
              <a:gd name="T58" fmla="*/ 72 w 94"/>
              <a:gd name="T59" fmla="*/ 93 h 108"/>
              <a:gd name="T60" fmla="*/ 73 w 94"/>
              <a:gd name="T61" fmla="*/ 90 h 108"/>
              <a:gd name="T62" fmla="*/ 76 w 94"/>
              <a:gd name="T63" fmla="*/ 89 h 108"/>
              <a:gd name="T64" fmla="*/ 79 w 94"/>
              <a:gd name="T65" fmla="*/ 89 h 108"/>
              <a:gd name="T66" fmla="*/ 82 w 94"/>
              <a:gd name="T67" fmla="*/ 90 h 108"/>
              <a:gd name="T68" fmla="*/ 83 w 94"/>
              <a:gd name="T69" fmla="*/ 90 h 108"/>
              <a:gd name="T70" fmla="*/ 86 w 94"/>
              <a:gd name="T71" fmla="*/ 90 h 108"/>
              <a:gd name="T72" fmla="*/ 89 w 94"/>
              <a:gd name="T73" fmla="*/ 88 h 108"/>
              <a:gd name="T74" fmla="*/ 89 w 94"/>
              <a:gd name="T75" fmla="*/ 84 h 108"/>
              <a:gd name="T76" fmla="*/ 90 w 94"/>
              <a:gd name="T77" fmla="*/ 81 h 108"/>
              <a:gd name="T78" fmla="*/ 91 w 94"/>
              <a:gd name="T79" fmla="*/ 79 h 108"/>
              <a:gd name="T80" fmla="*/ 90 w 94"/>
              <a:gd name="T81" fmla="*/ 77 h 108"/>
              <a:gd name="T82" fmla="*/ 89 w 94"/>
              <a:gd name="T83" fmla="*/ 75 h 108"/>
              <a:gd name="T84" fmla="*/ 90 w 94"/>
              <a:gd name="T85" fmla="*/ 73 h 108"/>
              <a:gd name="T86" fmla="*/ 91 w 94"/>
              <a:gd name="T87" fmla="*/ 71 h 108"/>
              <a:gd name="T88" fmla="*/ 90 w 94"/>
              <a:gd name="T89" fmla="*/ 66 h 108"/>
              <a:gd name="T90" fmla="*/ 92 w 94"/>
              <a:gd name="T91" fmla="*/ 63 h 108"/>
              <a:gd name="T92" fmla="*/ 94 w 94"/>
              <a:gd name="T93" fmla="*/ 61 h 108"/>
              <a:gd name="T94" fmla="*/ 28 w 94"/>
              <a:gd name="T95" fmla="*/ 46 h 108"/>
              <a:gd name="T96" fmla="*/ 22 w 94"/>
              <a:gd name="T97" fmla="*/ 47 h 108"/>
              <a:gd name="T98" fmla="*/ 18 w 94"/>
              <a:gd name="T99" fmla="*/ 44 h 108"/>
              <a:gd name="T100" fmla="*/ 17 w 94"/>
              <a:gd name="T101" fmla="*/ 38 h 108"/>
              <a:gd name="T102" fmla="*/ 20 w 94"/>
              <a:gd name="T103" fmla="*/ 33 h 108"/>
              <a:gd name="T104" fmla="*/ 26 w 94"/>
              <a:gd name="T105" fmla="*/ 33 h 108"/>
              <a:gd name="T106" fmla="*/ 30 w 94"/>
              <a:gd name="T107" fmla="*/ 36 h 108"/>
              <a:gd name="T108" fmla="*/ 31 w 94"/>
              <a:gd name="T109" fmla="*/ 42 h 108"/>
              <a:gd name="T110" fmla="*/ 67 w 94"/>
              <a:gd name="T111" fmla="*/ 35 h 108"/>
              <a:gd name="T112" fmla="*/ 59 w 94"/>
              <a:gd name="T113" fmla="*/ 44 h 108"/>
              <a:gd name="T114" fmla="*/ 47 w 94"/>
              <a:gd name="T115" fmla="*/ 45 h 108"/>
              <a:gd name="T116" fmla="*/ 38 w 94"/>
              <a:gd name="T117" fmla="*/ 37 h 108"/>
              <a:gd name="T118" fmla="*/ 37 w 94"/>
              <a:gd name="T119" fmla="*/ 25 h 108"/>
              <a:gd name="T120" fmla="*/ 45 w 94"/>
              <a:gd name="T121" fmla="*/ 16 h 108"/>
              <a:gd name="T122" fmla="*/ 57 w 94"/>
              <a:gd name="T123" fmla="*/ 15 h 108"/>
              <a:gd name="T124" fmla="*/ 66 w 94"/>
              <a:gd name="T125" fmla="*/ 2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4" h="108">
                <a:moveTo>
                  <a:pt x="25" y="43"/>
                </a:moveTo>
                <a:cubicBezTo>
                  <a:pt x="23" y="43"/>
                  <a:pt x="22" y="42"/>
                  <a:pt x="21" y="41"/>
                </a:cubicBezTo>
                <a:cubicBezTo>
                  <a:pt x="21" y="39"/>
                  <a:pt x="22" y="37"/>
                  <a:pt x="23" y="37"/>
                </a:cubicBezTo>
                <a:cubicBezTo>
                  <a:pt x="25" y="36"/>
                  <a:pt x="27" y="37"/>
                  <a:pt x="27" y="39"/>
                </a:cubicBezTo>
                <a:cubicBezTo>
                  <a:pt x="28" y="41"/>
                  <a:pt x="27" y="43"/>
                  <a:pt x="25" y="43"/>
                </a:cubicBezTo>
                <a:close/>
                <a:moveTo>
                  <a:pt x="52" y="24"/>
                </a:moveTo>
                <a:cubicBezTo>
                  <a:pt x="48" y="24"/>
                  <a:pt x="45" y="26"/>
                  <a:pt x="45" y="30"/>
                </a:cubicBezTo>
                <a:cubicBezTo>
                  <a:pt x="45" y="34"/>
                  <a:pt x="48" y="37"/>
                  <a:pt x="52" y="37"/>
                </a:cubicBezTo>
                <a:cubicBezTo>
                  <a:pt x="56" y="37"/>
                  <a:pt x="59" y="34"/>
                  <a:pt x="59" y="30"/>
                </a:cubicBezTo>
                <a:cubicBezTo>
                  <a:pt x="59" y="26"/>
                  <a:pt x="56" y="24"/>
                  <a:pt x="52" y="24"/>
                </a:cubicBezTo>
                <a:close/>
                <a:moveTo>
                  <a:pt x="94" y="61"/>
                </a:moveTo>
                <a:cubicBezTo>
                  <a:pt x="93" y="58"/>
                  <a:pt x="93" y="58"/>
                  <a:pt x="93" y="58"/>
                </a:cubicBezTo>
                <a:cubicBezTo>
                  <a:pt x="92" y="56"/>
                  <a:pt x="92" y="56"/>
                  <a:pt x="92" y="56"/>
                </a:cubicBezTo>
                <a:cubicBezTo>
                  <a:pt x="92" y="54"/>
                  <a:pt x="92" y="54"/>
                  <a:pt x="92" y="54"/>
                </a:cubicBezTo>
                <a:cubicBezTo>
                  <a:pt x="91" y="52"/>
                  <a:pt x="91" y="52"/>
                  <a:pt x="91" y="52"/>
                </a:cubicBezTo>
                <a:cubicBezTo>
                  <a:pt x="90" y="50"/>
                  <a:pt x="90" y="50"/>
                  <a:pt x="90" y="50"/>
                </a:cubicBezTo>
                <a:cubicBezTo>
                  <a:pt x="89" y="48"/>
                  <a:pt x="89" y="48"/>
                  <a:pt x="89" y="48"/>
                </a:cubicBezTo>
                <a:cubicBezTo>
                  <a:pt x="89" y="46"/>
                  <a:pt x="89" y="46"/>
                  <a:pt x="89" y="46"/>
                </a:cubicBezTo>
                <a:cubicBezTo>
                  <a:pt x="88" y="44"/>
                  <a:pt x="88" y="44"/>
                  <a:pt x="88" y="44"/>
                </a:cubicBezTo>
                <a:cubicBezTo>
                  <a:pt x="88" y="43"/>
                  <a:pt x="88" y="43"/>
                  <a:pt x="88" y="43"/>
                </a:cubicBezTo>
                <a:cubicBezTo>
                  <a:pt x="89" y="43"/>
                  <a:pt x="89" y="43"/>
                  <a:pt x="89" y="43"/>
                </a:cubicBezTo>
                <a:cubicBezTo>
                  <a:pt x="89" y="42"/>
                  <a:pt x="89" y="42"/>
                  <a:pt x="89" y="42"/>
                </a:cubicBezTo>
                <a:cubicBezTo>
                  <a:pt x="89" y="41"/>
                  <a:pt x="89" y="41"/>
                  <a:pt x="89" y="41"/>
                </a:cubicBezTo>
                <a:cubicBezTo>
                  <a:pt x="89" y="39"/>
                  <a:pt x="89" y="39"/>
                  <a:pt x="89" y="39"/>
                </a:cubicBezTo>
                <a:cubicBezTo>
                  <a:pt x="89" y="37"/>
                  <a:pt x="89" y="37"/>
                  <a:pt x="89" y="37"/>
                </a:cubicBezTo>
                <a:cubicBezTo>
                  <a:pt x="88" y="36"/>
                  <a:pt x="88" y="36"/>
                  <a:pt x="88" y="36"/>
                </a:cubicBezTo>
                <a:cubicBezTo>
                  <a:pt x="87" y="34"/>
                  <a:pt x="87" y="34"/>
                  <a:pt x="87" y="34"/>
                </a:cubicBezTo>
                <a:cubicBezTo>
                  <a:pt x="87" y="32"/>
                  <a:pt x="87" y="32"/>
                  <a:pt x="87" y="32"/>
                </a:cubicBezTo>
                <a:cubicBezTo>
                  <a:pt x="86" y="30"/>
                  <a:pt x="86" y="30"/>
                  <a:pt x="86" y="30"/>
                </a:cubicBezTo>
                <a:cubicBezTo>
                  <a:pt x="86" y="29"/>
                  <a:pt x="86" y="29"/>
                  <a:pt x="86" y="29"/>
                </a:cubicBezTo>
                <a:cubicBezTo>
                  <a:pt x="85" y="27"/>
                  <a:pt x="85" y="27"/>
                  <a:pt x="85" y="27"/>
                </a:cubicBezTo>
                <a:cubicBezTo>
                  <a:pt x="84" y="25"/>
                  <a:pt x="84" y="25"/>
                  <a:pt x="84" y="25"/>
                </a:cubicBezTo>
                <a:cubicBezTo>
                  <a:pt x="83" y="24"/>
                  <a:pt x="83" y="24"/>
                  <a:pt x="83" y="24"/>
                </a:cubicBezTo>
                <a:cubicBezTo>
                  <a:pt x="83" y="22"/>
                  <a:pt x="83" y="22"/>
                  <a:pt x="83" y="22"/>
                </a:cubicBezTo>
                <a:cubicBezTo>
                  <a:pt x="85" y="21"/>
                  <a:pt x="85" y="21"/>
                  <a:pt x="85" y="21"/>
                </a:cubicBezTo>
                <a:cubicBezTo>
                  <a:pt x="84" y="19"/>
                  <a:pt x="84" y="19"/>
                  <a:pt x="84" y="19"/>
                </a:cubicBezTo>
                <a:cubicBezTo>
                  <a:pt x="83" y="18"/>
                  <a:pt x="83" y="18"/>
                  <a:pt x="83" y="18"/>
                </a:cubicBezTo>
                <a:cubicBezTo>
                  <a:pt x="82" y="16"/>
                  <a:pt x="82" y="16"/>
                  <a:pt x="82" y="16"/>
                </a:cubicBezTo>
                <a:cubicBezTo>
                  <a:pt x="81" y="15"/>
                  <a:pt x="81" y="15"/>
                  <a:pt x="81" y="15"/>
                </a:cubicBezTo>
                <a:cubicBezTo>
                  <a:pt x="80" y="14"/>
                  <a:pt x="80" y="14"/>
                  <a:pt x="80" y="14"/>
                </a:cubicBezTo>
                <a:cubicBezTo>
                  <a:pt x="79" y="13"/>
                  <a:pt x="79" y="13"/>
                  <a:pt x="79" y="13"/>
                </a:cubicBezTo>
                <a:cubicBezTo>
                  <a:pt x="78" y="12"/>
                  <a:pt x="78" y="12"/>
                  <a:pt x="78" y="12"/>
                </a:cubicBezTo>
                <a:cubicBezTo>
                  <a:pt x="77" y="11"/>
                  <a:pt x="77" y="11"/>
                  <a:pt x="77" y="11"/>
                </a:cubicBezTo>
                <a:cubicBezTo>
                  <a:pt x="76" y="10"/>
                  <a:pt x="76" y="10"/>
                  <a:pt x="76" y="10"/>
                </a:cubicBezTo>
                <a:cubicBezTo>
                  <a:pt x="79" y="9"/>
                  <a:pt x="79" y="9"/>
                  <a:pt x="79" y="9"/>
                </a:cubicBezTo>
                <a:cubicBezTo>
                  <a:pt x="78" y="8"/>
                  <a:pt x="78" y="8"/>
                  <a:pt x="78" y="8"/>
                </a:cubicBezTo>
                <a:cubicBezTo>
                  <a:pt x="76" y="7"/>
                  <a:pt x="76" y="7"/>
                  <a:pt x="76" y="7"/>
                </a:cubicBezTo>
                <a:cubicBezTo>
                  <a:pt x="75" y="7"/>
                  <a:pt x="75" y="7"/>
                  <a:pt x="75" y="7"/>
                </a:cubicBezTo>
                <a:cubicBezTo>
                  <a:pt x="74" y="6"/>
                  <a:pt x="74" y="6"/>
                  <a:pt x="74" y="6"/>
                </a:cubicBezTo>
                <a:cubicBezTo>
                  <a:pt x="73" y="5"/>
                  <a:pt x="73" y="5"/>
                  <a:pt x="73" y="5"/>
                </a:cubicBezTo>
                <a:cubicBezTo>
                  <a:pt x="72" y="5"/>
                  <a:pt x="72" y="5"/>
                  <a:pt x="72" y="5"/>
                </a:cubicBezTo>
                <a:cubicBezTo>
                  <a:pt x="70" y="4"/>
                  <a:pt x="70" y="4"/>
                  <a:pt x="70" y="4"/>
                </a:cubicBezTo>
                <a:cubicBezTo>
                  <a:pt x="69" y="4"/>
                  <a:pt x="69" y="4"/>
                  <a:pt x="69" y="4"/>
                </a:cubicBezTo>
                <a:cubicBezTo>
                  <a:pt x="68" y="3"/>
                  <a:pt x="68" y="3"/>
                  <a:pt x="68" y="3"/>
                </a:cubicBezTo>
                <a:cubicBezTo>
                  <a:pt x="66" y="3"/>
                  <a:pt x="66" y="3"/>
                  <a:pt x="66" y="3"/>
                </a:cubicBezTo>
                <a:cubicBezTo>
                  <a:pt x="65" y="2"/>
                  <a:pt x="65" y="2"/>
                  <a:pt x="65" y="2"/>
                </a:cubicBezTo>
                <a:cubicBezTo>
                  <a:pt x="63" y="2"/>
                  <a:pt x="63" y="2"/>
                  <a:pt x="63" y="2"/>
                </a:cubicBezTo>
                <a:cubicBezTo>
                  <a:pt x="61" y="1"/>
                  <a:pt x="61" y="1"/>
                  <a:pt x="61" y="1"/>
                </a:cubicBezTo>
                <a:cubicBezTo>
                  <a:pt x="60" y="1"/>
                  <a:pt x="60" y="1"/>
                  <a:pt x="60" y="1"/>
                </a:cubicBezTo>
                <a:cubicBezTo>
                  <a:pt x="58" y="1"/>
                  <a:pt x="58" y="1"/>
                  <a:pt x="58" y="1"/>
                </a:cubicBezTo>
                <a:cubicBezTo>
                  <a:pt x="56" y="0"/>
                  <a:pt x="56" y="0"/>
                  <a:pt x="56" y="0"/>
                </a:cubicBezTo>
                <a:cubicBezTo>
                  <a:pt x="55" y="0"/>
                  <a:pt x="55" y="0"/>
                  <a:pt x="55" y="0"/>
                </a:cubicBezTo>
                <a:cubicBezTo>
                  <a:pt x="53" y="0"/>
                  <a:pt x="53" y="0"/>
                  <a:pt x="53" y="0"/>
                </a:cubicBezTo>
                <a:cubicBezTo>
                  <a:pt x="51" y="0"/>
                  <a:pt x="51" y="0"/>
                  <a:pt x="51" y="0"/>
                </a:cubicBezTo>
                <a:cubicBezTo>
                  <a:pt x="50" y="0"/>
                  <a:pt x="50" y="0"/>
                  <a:pt x="50" y="0"/>
                </a:cubicBezTo>
                <a:cubicBezTo>
                  <a:pt x="48" y="0"/>
                  <a:pt x="48" y="0"/>
                  <a:pt x="48" y="0"/>
                </a:cubicBezTo>
                <a:cubicBezTo>
                  <a:pt x="46" y="0"/>
                  <a:pt x="46" y="0"/>
                  <a:pt x="46" y="0"/>
                </a:cubicBezTo>
                <a:cubicBezTo>
                  <a:pt x="45" y="0"/>
                  <a:pt x="45" y="0"/>
                  <a:pt x="45" y="0"/>
                </a:cubicBezTo>
                <a:cubicBezTo>
                  <a:pt x="43" y="0"/>
                  <a:pt x="43" y="0"/>
                  <a:pt x="43" y="0"/>
                </a:cubicBezTo>
                <a:cubicBezTo>
                  <a:pt x="41" y="0"/>
                  <a:pt x="41" y="0"/>
                  <a:pt x="41" y="0"/>
                </a:cubicBezTo>
                <a:cubicBezTo>
                  <a:pt x="40" y="0"/>
                  <a:pt x="40" y="0"/>
                  <a:pt x="40" y="0"/>
                </a:cubicBezTo>
                <a:cubicBezTo>
                  <a:pt x="38" y="1"/>
                  <a:pt x="38" y="1"/>
                  <a:pt x="38" y="1"/>
                </a:cubicBezTo>
                <a:cubicBezTo>
                  <a:pt x="36" y="1"/>
                  <a:pt x="36" y="1"/>
                  <a:pt x="36" y="1"/>
                </a:cubicBezTo>
                <a:cubicBezTo>
                  <a:pt x="35" y="1"/>
                  <a:pt x="35" y="1"/>
                  <a:pt x="35" y="1"/>
                </a:cubicBezTo>
                <a:cubicBezTo>
                  <a:pt x="33" y="2"/>
                  <a:pt x="33" y="2"/>
                  <a:pt x="33" y="2"/>
                </a:cubicBezTo>
                <a:cubicBezTo>
                  <a:pt x="31" y="2"/>
                  <a:pt x="31" y="2"/>
                  <a:pt x="31" y="2"/>
                </a:cubicBezTo>
                <a:cubicBezTo>
                  <a:pt x="29" y="3"/>
                  <a:pt x="29" y="3"/>
                  <a:pt x="29" y="3"/>
                </a:cubicBezTo>
                <a:cubicBezTo>
                  <a:pt x="28" y="3"/>
                  <a:pt x="28" y="3"/>
                  <a:pt x="28" y="3"/>
                </a:cubicBezTo>
                <a:cubicBezTo>
                  <a:pt x="26" y="4"/>
                  <a:pt x="26" y="4"/>
                  <a:pt x="26" y="4"/>
                </a:cubicBezTo>
                <a:cubicBezTo>
                  <a:pt x="24" y="4"/>
                  <a:pt x="24" y="4"/>
                  <a:pt x="24" y="4"/>
                </a:cubicBezTo>
                <a:cubicBezTo>
                  <a:pt x="23" y="5"/>
                  <a:pt x="23" y="5"/>
                  <a:pt x="23" y="5"/>
                </a:cubicBezTo>
                <a:cubicBezTo>
                  <a:pt x="21" y="6"/>
                  <a:pt x="21" y="6"/>
                  <a:pt x="21" y="6"/>
                </a:cubicBezTo>
                <a:cubicBezTo>
                  <a:pt x="20" y="7"/>
                  <a:pt x="20" y="7"/>
                  <a:pt x="20" y="7"/>
                </a:cubicBezTo>
                <a:cubicBezTo>
                  <a:pt x="18" y="8"/>
                  <a:pt x="18" y="8"/>
                  <a:pt x="18" y="8"/>
                </a:cubicBezTo>
                <a:cubicBezTo>
                  <a:pt x="17" y="9"/>
                  <a:pt x="17" y="9"/>
                  <a:pt x="17" y="9"/>
                </a:cubicBezTo>
                <a:cubicBezTo>
                  <a:pt x="15" y="10"/>
                  <a:pt x="15" y="10"/>
                  <a:pt x="15" y="10"/>
                </a:cubicBezTo>
                <a:cubicBezTo>
                  <a:pt x="14" y="11"/>
                  <a:pt x="14" y="11"/>
                  <a:pt x="14" y="11"/>
                </a:cubicBezTo>
                <a:cubicBezTo>
                  <a:pt x="13" y="12"/>
                  <a:pt x="13" y="12"/>
                  <a:pt x="13" y="12"/>
                </a:cubicBezTo>
                <a:cubicBezTo>
                  <a:pt x="12" y="13"/>
                  <a:pt x="12" y="13"/>
                  <a:pt x="12" y="13"/>
                </a:cubicBezTo>
                <a:cubicBezTo>
                  <a:pt x="10" y="14"/>
                  <a:pt x="10" y="14"/>
                  <a:pt x="10" y="14"/>
                </a:cubicBezTo>
                <a:cubicBezTo>
                  <a:pt x="9" y="15"/>
                  <a:pt x="9" y="15"/>
                  <a:pt x="9" y="15"/>
                </a:cubicBezTo>
                <a:cubicBezTo>
                  <a:pt x="8" y="17"/>
                  <a:pt x="8" y="17"/>
                  <a:pt x="8" y="17"/>
                </a:cubicBezTo>
                <a:cubicBezTo>
                  <a:pt x="7" y="18"/>
                  <a:pt x="7" y="18"/>
                  <a:pt x="7" y="18"/>
                </a:cubicBezTo>
                <a:cubicBezTo>
                  <a:pt x="6" y="19"/>
                  <a:pt x="6" y="19"/>
                  <a:pt x="6" y="19"/>
                </a:cubicBezTo>
                <a:cubicBezTo>
                  <a:pt x="5" y="21"/>
                  <a:pt x="5" y="21"/>
                  <a:pt x="5" y="21"/>
                </a:cubicBezTo>
                <a:cubicBezTo>
                  <a:pt x="5" y="22"/>
                  <a:pt x="5" y="22"/>
                  <a:pt x="5" y="22"/>
                </a:cubicBezTo>
                <a:cubicBezTo>
                  <a:pt x="4" y="24"/>
                  <a:pt x="4" y="24"/>
                  <a:pt x="4" y="24"/>
                </a:cubicBezTo>
                <a:cubicBezTo>
                  <a:pt x="3" y="25"/>
                  <a:pt x="3" y="25"/>
                  <a:pt x="3" y="25"/>
                </a:cubicBezTo>
                <a:cubicBezTo>
                  <a:pt x="3" y="27"/>
                  <a:pt x="3" y="27"/>
                  <a:pt x="3" y="27"/>
                </a:cubicBezTo>
                <a:cubicBezTo>
                  <a:pt x="2" y="28"/>
                  <a:pt x="2" y="28"/>
                  <a:pt x="2" y="28"/>
                </a:cubicBezTo>
                <a:cubicBezTo>
                  <a:pt x="2" y="30"/>
                  <a:pt x="2" y="30"/>
                  <a:pt x="2" y="30"/>
                </a:cubicBezTo>
                <a:cubicBezTo>
                  <a:pt x="1" y="31"/>
                  <a:pt x="1" y="31"/>
                  <a:pt x="1" y="31"/>
                </a:cubicBezTo>
                <a:cubicBezTo>
                  <a:pt x="1" y="33"/>
                  <a:pt x="1" y="33"/>
                  <a:pt x="1" y="33"/>
                </a:cubicBezTo>
                <a:cubicBezTo>
                  <a:pt x="0" y="36"/>
                  <a:pt x="0" y="36"/>
                  <a:pt x="0" y="36"/>
                </a:cubicBezTo>
                <a:cubicBezTo>
                  <a:pt x="0" y="40"/>
                  <a:pt x="0" y="40"/>
                  <a:pt x="0" y="40"/>
                </a:cubicBezTo>
                <a:cubicBezTo>
                  <a:pt x="0" y="43"/>
                  <a:pt x="0" y="43"/>
                  <a:pt x="0" y="43"/>
                </a:cubicBezTo>
                <a:cubicBezTo>
                  <a:pt x="1" y="46"/>
                  <a:pt x="1" y="46"/>
                  <a:pt x="1" y="46"/>
                </a:cubicBezTo>
                <a:cubicBezTo>
                  <a:pt x="1" y="49"/>
                  <a:pt x="1" y="49"/>
                  <a:pt x="1" y="49"/>
                </a:cubicBezTo>
                <a:cubicBezTo>
                  <a:pt x="2" y="52"/>
                  <a:pt x="2" y="52"/>
                  <a:pt x="2" y="52"/>
                </a:cubicBezTo>
                <a:cubicBezTo>
                  <a:pt x="3" y="56"/>
                  <a:pt x="3" y="56"/>
                  <a:pt x="3" y="56"/>
                </a:cubicBezTo>
                <a:cubicBezTo>
                  <a:pt x="11" y="69"/>
                  <a:pt x="11" y="69"/>
                  <a:pt x="11" y="69"/>
                </a:cubicBezTo>
                <a:cubicBezTo>
                  <a:pt x="25" y="83"/>
                  <a:pt x="24" y="97"/>
                  <a:pt x="24" y="97"/>
                </a:cubicBezTo>
                <a:cubicBezTo>
                  <a:pt x="24" y="100"/>
                  <a:pt x="24" y="100"/>
                  <a:pt x="24" y="100"/>
                </a:cubicBezTo>
                <a:cubicBezTo>
                  <a:pt x="24" y="108"/>
                  <a:pt x="24" y="108"/>
                  <a:pt x="24" y="108"/>
                </a:cubicBezTo>
                <a:cubicBezTo>
                  <a:pt x="71" y="108"/>
                  <a:pt x="71" y="108"/>
                  <a:pt x="71" y="108"/>
                </a:cubicBezTo>
                <a:cubicBezTo>
                  <a:pt x="71" y="107"/>
                  <a:pt x="71" y="107"/>
                  <a:pt x="71" y="107"/>
                </a:cubicBezTo>
                <a:cubicBezTo>
                  <a:pt x="71" y="105"/>
                  <a:pt x="71" y="105"/>
                  <a:pt x="71" y="105"/>
                </a:cubicBezTo>
                <a:cubicBezTo>
                  <a:pt x="71" y="102"/>
                  <a:pt x="71" y="102"/>
                  <a:pt x="71" y="102"/>
                </a:cubicBezTo>
                <a:cubicBezTo>
                  <a:pt x="72" y="96"/>
                  <a:pt x="72" y="96"/>
                  <a:pt x="72" y="96"/>
                </a:cubicBezTo>
                <a:cubicBezTo>
                  <a:pt x="72" y="93"/>
                  <a:pt x="72" y="93"/>
                  <a:pt x="72" y="93"/>
                </a:cubicBezTo>
                <a:cubicBezTo>
                  <a:pt x="72" y="92"/>
                  <a:pt x="72" y="92"/>
                  <a:pt x="72" y="92"/>
                </a:cubicBezTo>
                <a:cubicBezTo>
                  <a:pt x="72" y="91"/>
                  <a:pt x="72" y="91"/>
                  <a:pt x="72" y="91"/>
                </a:cubicBezTo>
                <a:cubicBezTo>
                  <a:pt x="73" y="91"/>
                  <a:pt x="73" y="91"/>
                  <a:pt x="73" y="91"/>
                </a:cubicBezTo>
                <a:cubicBezTo>
                  <a:pt x="73" y="90"/>
                  <a:pt x="73" y="90"/>
                  <a:pt x="73" y="90"/>
                </a:cubicBezTo>
                <a:cubicBezTo>
                  <a:pt x="74" y="90"/>
                  <a:pt x="74" y="90"/>
                  <a:pt x="74" y="90"/>
                </a:cubicBezTo>
                <a:cubicBezTo>
                  <a:pt x="74" y="90"/>
                  <a:pt x="74" y="90"/>
                  <a:pt x="74" y="90"/>
                </a:cubicBezTo>
                <a:cubicBezTo>
                  <a:pt x="75" y="90"/>
                  <a:pt x="75" y="90"/>
                  <a:pt x="75" y="90"/>
                </a:cubicBezTo>
                <a:cubicBezTo>
                  <a:pt x="76" y="89"/>
                  <a:pt x="76" y="89"/>
                  <a:pt x="76" y="89"/>
                </a:cubicBezTo>
                <a:cubicBezTo>
                  <a:pt x="77" y="89"/>
                  <a:pt x="77" y="89"/>
                  <a:pt x="77" y="89"/>
                </a:cubicBezTo>
                <a:cubicBezTo>
                  <a:pt x="78" y="89"/>
                  <a:pt x="78" y="89"/>
                  <a:pt x="78" y="89"/>
                </a:cubicBezTo>
                <a:cubicBezTo>
                  <a:pt x="78" y="89"/>
                  <a:pt x="78" y="89"/>
                  <a:pt x="78" y="89"/>
                </a:cubicBezTo>
                <a:cubicBezTo>
                  <a:pt x="79" y="89"/>
                  <a:pt x="79" y="89"/>
                  <a:pt x="79" y="89"/>
                </a:cubicBezTo>
                <a:cubicBezTo>
                  <a:pt x="80" y="89"/>
                  <a:pt x="80" y="89"/>
                  <a:pt x="80" y="89"/>
                </a:cubicBezTo>
                <a:cubicBezTo>
                  <a:pt x="81" y="90"/>
                  <a:pt x="81" y="90"/>
                  <a:pt x="81" y="90"/>
                </a:cubicBezTo>
                <a:cubicBezTo>
                  <a:pt x="81" y="90"/>
                  <a:pt x="81" y="90"/>
                  <a:pt x="81" y="90"/>
                </a:cubicBezTo>
                <a:cubicBezTo>
                  <a:pt x="82" y="90"/>
                  <a:pt x="82" y="90"/>
                  <a:pt x="82" y="90"/>
                </a:cubicBezTo>
                <a:cubicBezTo>
                  <a:pt x="83" y="90"/>
                  <a:pt x="83" y="90"/>
                  <a:pt x="83" y="90"/>
                </a:cubicBezTo>
                <a:cubicBezTo>
                  <a:pt x="81" y="90"/>
                  <a:pt x="81" y="90"/>
                  <a:pt x="81" y="90"/>
                </a:cubicBezTo>
                <a:cubicBezTo>
                  <a:pt x="82" y="90"/>
                  <a:pt x="82" y="90"/>
                  <a:pt x="82" y="90"/>
                </a:cubicBezTo>
                <a:cubicBezTo>
                  <a:pt x="83" y="90"/>
                  <a:pt x="83" y="90"/>
                  <a:pt x="83" y="90"/>
                </a:cubicBezTo>
                <a:cubicBezTo>
                  <a:pt x="84" y="90"/>
                  <a:pt x="84" y="90"/>
                  <a:pt x="84" y="90"/>
                </a:cubicBezTo>
                <a:cubicBezTo>
                  <a:pt x="85" y="90"/>
                  <a:pt x="85" y="90"/>
                  <a:pt x="85" y="90"/>
                </a:cubicBezTo>
                <a:cubicBezTo>
                  <a:pt x="86" y="90"/>
                  <a:pt x="86" y="90"/>
                  <a:pt x="86" y="90"/>
                </a:cubicBezTo>
                <a:cubicBezTo>
                  <a:pt x="86" y="90"/>
                  <a:pt x="86" y="90"/>
                  <a:pt x="86" y="90"/>
                </a:cubicBezTo>
                <a:cubicBezTo>
                  <a:pt x="87" y="89"/>
                  <a:pt x="87" y="89"/>
                  <a:pt x="87" y="89"/>
                </a:cubicBezTo>
                <a:cubicBezTo>
                  <a:pt x="88" y="89"/>
                  <a:pt x="88" y="89"/>
                  <a:pt x="88" y="89"/>
                </a:cubicBezTo>
                <a:cubicBezTo>
                  <a:pt x="88" y="88"/>
                  <a:pt x="88" y="88"/>
                  <a:pt x="88" y="88"/>
                </a:cubicBezTo>
                <a:cubicBezTo>
                  <a:pt x="89" y="88"/>
                  <a:pt x="89" y="88"/>
                  <a:pt x="89" y="88"/>
                </a:cubicBezTo>
                <a:cubicBezTo>
                  <a:pt x="89" y="87"/>
                  <a:pt x="89" y="87"/>
                  <a:pt x="89" y="87"/>
                </a:cubicBezTo>
                <a:cubicBezTo>
                  <a:pt x="89" y="86"/>
                  <a:pt x="89" y="86"/>
                  <a:pt x="89" y="86"/>
                </a:cubicBezTo>
                <a:cubicBezTo>
                  <a:pt x="89" y="85"/>
                  <a:pt x="89" y="85"/>
                  <a:pt x="89" y="85"/>
                </a:cubicBezTo>
                <a:cubicBezTo>
                  <a:pt x="89" y="84"/>
                  <a:pt x="89" y="84"/>
                  <a:pt x="89" y="84"/>
                </a:cubicBezTo>
                <a:cubicBezTo>
                  <a:pt x="89" y="82"/>
                  <a:pt x="89" y="82"/>
                  <a:pt x="89" y="82"/>
                </a:cubicBezTo>
                <a:cubicBezTo>
                  <a:pt x="89" y="82"/>
                  <a:pt x="89" y="82"/>
                  <a:pt x="89" y="82"/>
                </a:cubicBezTo>
                <a:cubicBezTo>
                  <a:pt x="89" y="81"/>
                  <a:pt x="89" y="81"/>
                  <a:pt x="89" y="81"/>
                </a:cubicBezTo>
                <a:cubicBezTo>
                  <a:pt x="90" y="81"/>
                  <a:pt x="90" y="81"/>
                  <a:pt x="90" y="81"/>
                </a:cubicBezTo>
                <a:cubicBezTo>
                  <a:pt x="90" y="80"/>
                  <a:pt x="90" y="80"/>
                  <a:pt x="90" y="80"/>
                </a:cubicBezTo>
                <a:cubicBezTo>
                  <a:pt x="90" y="80"/>
                  <a:pt x="90" y="80"/>
                  <a:pt x="90" y="80"/>
                </a:cubicBezTo>
                <a:cubicBezTo>
                  <a:pt x="90" y="79"/>
                  <a:pt x="90" y="79"/>
                  <a:pt x="90" y="79"/>
                </a:cubicBezTo>
                <a:cubicBezTo>
                  <a:pt x="91" y="79"/>
                  <a:pt x="91" y="79"/>
                  <a:pt x="91" y="79"/>
                </a:cubicBezTo>
                <a:cubicBezTo>
                  <a:pt x="91" y="78"/>
                  <a:pt x="91" y="78"/>
                  <a:pt x="91" y="78"/>
                </a:cubicBezTo>
                <a:cubicBezTo>
                  <a:pt x="91" y="78"/>
                  <a:pt x="91" y="78"/>
                  <a:pt x="91" y="78"/>
                </a:cubicBezTo>
                <a:cubicBezTo>
                  <a:pt x="91" y="77"/>
                  <a:pt x="91" y="77"/>
                  <a:pt x="91" y="77"/>
                </a:cubicBezTo>
                <a:cubicBezTo>
                  <a:pt x="90" y="77"/>
                  <a:pt x="90" y="77"/>
                  <a:pt x="90" y="77"/>
                </a:cubicBezTo>
                <a:cubicBezTo>
                  <a:pt x="90" y="76"/>
                  <a:pt x="90" y="76"/>
                  <a:pt x="90" y="76"/>
                </a:cubicBezTo>
                <a:cubicBezTo>
                  <a:pt x="90" y="76"/>
                  <a:pt x="90" y="76"/>
                  <a:pt x="90" y="76"/>
                </a:cubicBezTo>
                <a:cubicBezTo>
                  <a:pt x="89" y="75"/>
                  <a:pt x="89" y="75"/>
                  <a:pt x="89" y="75"/>
                </a:cubicBezTo>
                <a:cubicBezTo>
                  <a:pt x="89" y="75"/>
                  <a:pt x="89" y="75"/>
                  <a:pt x="89" y="75"/>
                </a:cubicBezTo>
                <a:cubicBezTo>
                  <a:pt x="88" y="75"/>
                  <a:pt x="88" y="75"/>
                  <a:pt x="88" y="75"/>
                </a:cubicBezTo>
                <a:cubicBezTo>
                  <a:pt x="89" y="74"/>
                  <a:pt x="89" y="74"/>
                  <a:pt x="89" y="74"/>
                </a:cubicBezTo>
                <a:cubicBezTo>
                  <a:pt x="89" y="74"/>
                  <a:pt x="89" y="74"/>
                  <a:pt x="89" y="74"/>
                </a:cubicBezTo>
                <a:cubicBezTo>
                  <a:pt x="90" y="73"/>
                  <a:pt x="90" y="73"/>
                  <a:pt x="90" y="73"/>
                </a:cubicBezTo>
                <a:cubicBezTo>
                  <a:pt x="90" y="73"/>
                  <a:pt x="90" y="73"/>
                  <a:pt x="90" y="73"/>
                </a:cubicBezTo>
                <a:cubicBezTo>
                  <a:pt x="91" y="72"/>
                  <a:pt x="91" y="72"/>
                  <a:pt x="91" y="72"/>
                </a:cubicBezTo>
                <a:cubicBezTo>
                  <a:pt x="91" y="72"/>
                  <a:pt x="91" y="72"/>
                  <a:pt x="91" y="72"/>
                </a:cubicBezTo>
                <a:cubicBezTo>
                  <a:pt x="91" y="71"/>
                  <a:pt x="91" y="71"/>
                  <a:pt x="91" y="71"/>
                </a:cubicBezTo>
                <a:cubicBezTo>
                  <a:pt x="91" y="71"/>
                  <a:pt x="91" y="71"/>
                  <a:pt x="91" y="71"/>
                </a:cubicBezTo>
                <a:cubicBezTo>
                  <a:pt x="90" y="69"/>
                  <a:pt x="90" y="69"/>
                  <a:pt x="90" y="69"/>
                </a:cubicBezTo>
                <a:cubicBezTo>
                  <a:pt x="90" y="67"/>
                  <a:pt x="90" y="67"/>
                  <a:pt x="90" y="67"/>
                </a:cubicBezTo>
                <a:cubicBezTo>
                  <a:pt x="90" y="66"/>
                  <a:pt x="90" y="66"/>
                  <a:pt x="90" y="66"/>
                </a:cubicBezTo>
                <a:cubicBezTo>
                  <a:pt x="90" y="64"/>
                  <a:pt x="90" y="64"/>
                  <a:pt x="90" y="64"/>
                </a:cubicBezTo>
                <a:cubicBezTo>
                  <a:pt x="91" y="64"/>
                  <a:pt x="91" y="64"/>
                  <a:pt x="91" y="64"/>
                </a:cubicBezTo>
                <a:cubicBezTo>
                  <a:pt x="92" y="63"/>
                  <a:pt x="92" y="63"/>
                  <a:pt x="92" y="63"/>
                </a:cubicBezTo>
                <a:cubicBezTo>
                  <a:pt x="92" y="63"/>
                  <a:pt x="92" y="63"/>
                  <a:pt x="92" y="63"/>
                </a:cubicBezTo>
                <a:cubicBezTo>
                  <a:pt x="93" y="63"/>
                  <a:pt x="93" y="63"/>
                  <a:pt x="93" y="63"/>
                </a:cubicBezTo>
                <a:cubicBezTo>
                  <a:pt x="93" y="62"/>
                  <a:pt x="93" y="62"/>
                  <a:pt x="93" y="62"/>
                </a:cubicBezTo>
                <a:cubicBezTo>
                  <a:pt x="94" y="62"/>
                  <a:pt x="94" y="62"/>
                  <a:pt x="94" y="62"/>
                </a:cubicBezTo>
                <a:cubicBezTo>
                  <a:pt x="94" y="61"/>
                  <a:pt x="94" y="61"/>
                  <a:pt x="94" y="61"/>
                </a:cubicBezTo>
                <a:close/>
                <a:moveTo>
                  <a:pt x="33" y="44"/>
                </a:moveTo>
                <a:cubicBezTo>
                  <a:pt x="32" y="46"/>
                  <a:pt x="32" y="46"/>
                  <a:pt x="32" y="46"/>
                </a:cubicBezTo>
                <a:cubicBezTo>
                  <a:pt x="32" y="46"/>
                  <a:pt x="29" y="46"/>
                  <a:pt x="29" y="46"/>
                </a:cubicBezTo>
                <a:cubicBezTo>
                  <a:pt x="28" y="46"/>
                  <a:pt x="28" y="46"/>
                  <a:pt x="28" y="46"/>
                </a:cubicBezTo>
                <a:cubicBezTo>
                  <a:pt x="28" y="46"/>
                  <a:pt x="28" y="49"/>
                  <a:pt x="28" y="49"/>
                </a:cubicBezTo>
                <a:cubicBezTo>
                  <a:pt x="25" y="50"/>
                  <a:pt x="25" y="50"/>
                  <a:pt x="25" y="50"/>
                </a:cubicBezTo>
                <a:cubicBezTo>
                  <a:pt x="25" y="50"/>
                  <a:pt x="24" y="47"/>
                  <a:pt x="24" y="47"/>
                </a:cubicBezTo>
                <a:cubicBezTo>
                  <a:pt x="22" y="47"/>
                  <a:pt x="22" y="47"/>
                  <a:pt x="22" y="47"/>
                </a:cubicBezTo>
                <a:cubicBezTo>
                  <a:pt x="22" y="47"/>
                  <a:pt x="20" y="49"/>
                  <a:pt x="20" y="49"/>
                </a:cubicBezTo>
                <a:cubicBezTo>
                  <a:pt x="18" y="48"/>
                  <a:pt x="18" y="48"/>
                  <a:pt x="18" y="48"/>
                </a:cubicBezTo>
                <a:cubicBezTo>
                  <a:pt x="18" y="48"/>
                  <a:pt x="19" y="45"/>
                  <a:pt x="19" y="45"/>
                </a:cubicBezTo>
                <a:cubicBezTo>
                  <a:pt x="18" y="44"/>
                  <a:pt x="18" y="44"/>
                  <a:pt x="18" y="44"/>
                </a:cubicBezTo>
                <a:cubicBezTo>
                  <a:pt x="18" y="44"/>
                  <a:pt x="15" y="43"/>
                  <a:pt x="15" y="43"/>
                </a:cubicBezTo>
                <a:cubicBezTo>
                  <a:pt x="14" y="41"/>
                  <a:pt x="14" y="41"/>
                  <a:pt x="14" y="41"/>
                </a:cubicBezTo>
                <a:cubicBezTo>
                  <a:pt x="14" y="41"/>
                  <a:pt x="17" y="39"/>
                  <a:pt x="17" y="39"/>
                </a:cubicBezTo>
                <a:cubicBezTo>
                  <a:pt x="17" y="38"/>
                  <a:pt x="17" y="38"/>
                  <a:pt x="17" y="38"/>
                </a:cubicBezTo>
                <a:cubicBezTo>
                  <a:pt x="17" y="38"/>
                  <a:pt x="15" y="36"/>
                  <a:pt x="15" y="36"/>
                </a:cubicBezTo>
                <a:cubicBezTo>
                  <a:pt x="16" y="34"/>
                  <a:pt x="16" y="34"/>
                  <a:pt x="16" y="34"/>
                </a:cubicBezTo>
                <a:cubicBezTo>
                  <a:pt x="16" y="34"/>
                  <a:pt x="19" y="34"/>
                  <a:pt x="19" y="34"/>
                </a:cubicBezTo>
                <a:cubicBezTo>
                  <a:pt x="20" y="33"/>
                  <a:pt x="20" y="33"/>
                  <a:pt x="20" y="33"/>
                </a:cubicBezTo>
                <a:cubicBezTo>
                  <a:pt x="20" y="33"/>
                  <a:pt x="21" y="31"/>
                  <a:pt x="21" y="31"/>
                </a:cubicBezTo>
                <a:cubicBezTo>
                  <a:pt x="23" y="30"/>
                  <a:pt x="23" y="30"/>
                  <a:pt x="23" y="30"/>
                </a:cubicBezTo>
                <a:cubicBezTo>
                  <a:pt x="23" y="30"/>
                  <a:pt x="25" y="32"/>
                  <a:pt x="25" y="32"/>
                </a:cubicBezTo>
                <a:cubicBezTo>
                  <a:pt x="26" y="33"/>
                  <a:pt x="26" y="33"/>
                  <a:pt x="26" y="33"/>
                </a:cubicBezTo>
                <a:cubicBezTo>
                  <a:pt x="26" y="33"/>
                  <a:pt x="28" y="31"/>
                  <a:pt x="28" y="31"/>
                </a:cubicBezTo>
                <a:cubicBezTo>
                  <a:pt x="30" y="32"/>
                  <a:pt x="30" y="32"/>
                  <a:pt x="30" y="32"/>
                </a:cubicBezTo>
                <a:cubicBezTo>
                  <a:pt x="30" y="32"/>
                  <a:pt x="30" y="35"/>
                  <a:pt x="30" y="35"/>
                </a:cubicBezTo>
                <a:cubicBezTo>
                  <a:pt x="30" y="36"/>
                  <a:pt x="30" y="36"/>
                  <a:pt x="30" y="36"/>
                </a:cubicBezTo>
                <a:cubicBezTo>
                  <a:pt x="30" y="36"/>
                  <a:pt x="33" y="36"/>
                  <a:pt x="33" y="37"/>
                </a:cubicBezTo>
                <a:cubicBezTo>
                  <a:pt x="34" y="39"/>
                  <a:pt x="34" y="39"/>
                  <a:pt x="34" y="39"/>
                </a:cubicBezTo>
                <a:cubicBezTo>
                  <a:pt x="34" y="39"/>
                  <a:pt x="32" y="40"/>
                  <a:pt x="32" y="40"/>
                </a:cubicBezTo>
                <a:cubicBezTo>
                  <a:pt x="31" y="42"/>
                  <a:pt x="31" y="42"/>
                  <a:pt x="31" y="42"/>
                </a:cubicBezTo>
                <a:cubicBezTo>
                  <a:pt x="31" y="42"/>
                  <a:pt x="33" y="44"/>
                  <a:pt x="33" y="44"/>
                </a:cubicBezTo>
                <a:close/>
                <a:moveTo>
                  <a:pt x="73" y="32"/>
                </a:moveTo>
                <a:cubicBezTo>
                  <a:pt x="73" y="32"/>
                  <a:pt x="73" y="32"/>
                  <a:pt x="73" y="32"/>
                </a:cubicBezTo>
                <a:cubicBezTo>
                  <a:pt x="73" y="33"/>
                  <a:pt x="67" y="35"/>
                  <a:pt x="67" y="35"/>
                </a:cubicBezTo>
                <a:cubicBezTo>
                  <a:pt x="66" y="37"/>
                  <a:pt x="66" y="37"/>
                  <a:pt x="66" y="37"/>
                </a:cubicBezTo>
                <a:cubicBezTo>
                  <a:pt x="66" y="37"/>
                  <a:pt x="69" y="43"/>
                  <a:pt x="68" y="43"/>
                </a:cubicBezTo>
                <a:cubicBezTo>
                  <a:pt x="65" y="46"/>
                  <a:pt x="65" y="46"/>
                  <a:pt x="65" y="46"/>
                </a:cubicBezTo>
                <a:cubicBezTo>
                  <a:pt x="65" y="46"/>
                  <a:pt x="59" y="44"/>
                  <a:pt x="59" y="44"/>
                </a:cubicBezTo>
                <a:cubicBezTo>
                  <a:pt x="57" y="45"/>
                  <a:pt x="57" y="45"/>
                  <a:pt x="57" y="45"/>
                </a:cubicBezTo>
                <a:cubicBezTo>
                  <a:pt x="57" y="45"/>
                  <a:pt x="55" y="50"/>
                  <a:pt x="54" y="50"/>
                </a:cubicBezTo>
                <a:cubicBezTo>
                  <a:pt x="50" y="50"/>
                  <a:pt x="50" y="50"/>
                  <a:pt x="50" y="50"/>
                </a:cubicBezTo>
                <a:cubicBezTo>
                  <a:pt x="49" y="50"/>
                  <a:pt x="47" y="45"/>
                  <a:pt x="47" y="45"/>
                </a:cubicBezTo>
                <a:cubicBezTo>
                  <a:pt x="45" y="44"/>
                  <a:pt x="45" y="44"/>
                  <a:pt x="45" y="44"/>
                </a:cubicBezTo>
                <a:cubicBezTo>
                  <a:pt x="45" y="44"/>
                  <a:pt x="39" y="46"/>
                  <a:pt x="39" y="46"/>
                </a:cubicBezTo>
                <a:cubicBezTo>
                  <a:pt x="36" y="43"/>
                  <a:pt x="36" y="43"/>
                  <a:pt x="36" y="43"/>
                </a:cubicBezTo>
                <a:cubicBezTo>
                  <a:pt x="36" y="43"/>
                  <a:pt x="38" y="37"/>
                  <a:pt x="38" y="37"/>
                </a:cubicBezTo>
                <a:cubicBezTo>
                  <a:pt x="37" y="35"/>
                  <a:pt x="37" y="35"/>
                  <a:pt x="37" y="35"/>
                </a:cubicBezTo>
                <a:cubicBezTo>
                  <a:pt x="37" y="35"/>
                  <a:pt x="31" y="32"/>
                  <a:pt x="31" y="32"/>
                </a:cubicBezTo>
                <a:cubicBezTo>
                  <a:pt x="31" y="28"/>
                  <a:pt x="31" y="28"/>
                  <a:pt x="31" y="28"/>
                </a:cubicBezTo>
                <a:cubicBezTo>
                  <a:pt x="31" y="27"/>
                  <a:pt x="37" y="25"/>
                  <a:pt x="37" y="25"/>
                </a:cubicBezTo>
                <a:cubicBezTo>
                  <a:pt x="38" y="23"/>
                  <a:pt x="38" y="23"/>
                  <a:pt x="38" y="23"/>
                </a:cubicBezTo>
                <a:cubicBezTo>
                  <a:pt x="38" y="23"/>
                  <a:pt x="36" y="17"/>
                  <a:pt x="36" y="17"/>
                </a:cubicBezTo>
                <a:cubicBezTo>
                  <a:pt x="39" y="14"/>
                  <a:pt x="39" y="14"/>
                  <a:pt x="39" y="14"/>
                </a:cubicBezTo>
                <a:cubicBezTo>
                  <a:pt x="39" y="14"/>
                  <a:pt x="45" y="16"/>
                  <a:pt x="45" y="16"/>
                </a:cubicBezTo>
                <a:cubicBezTo>
                  <a:pt x="47" y="15"/>
                  <a:pt x="47" y="15"/>
                  <a:pt x="47" y="15"/>
                </a:cubicBezTo>
                <a:cubicBezTo>
                  <a:pt x="47" y="15"/>
                  <a:pt x="50" y="10"/>
                  <a:pt x="50" y="10"/>
                </a:cubicBezTo>
                <a:cubicBezTo>
                  <a:pt x="55" y="10"/>
                  <a:pt x="55" y="10"/>
                  <a:pt x="55" y="10"/>
                </a:cubicBezTo>
                <a:cubicBezTo>
                  <a:pt x="55" y="10"/>
                  <a:pt x="57" y="15"/>
                  <a:pt x="57" y="15"/>
                </a:cubicBezTo>
                <a:cubicBezTo>
                  <a:pt x="59" y="16"/>
                  <a:pt x="59" y="16"/>
                  <a:pt x="59" y="16"/>
                </a:cubicBezTo>
                <a:cubicBezTo>
                  <a:pt x="59" y="16"/>
                  <a:pt x="65" y="14"/>
                  <a:pt x="65" y="14"/>
                </a:cubicBezTo>
                <a:cubicBezTo>
                  <a:pt x="69" y="17"/>
                  <a:pt x="69" y="17"/>
                  <a:pt x="69" y="17"/>
                </a:cubicBezTo>
                <a:cubicBezTo>
                  <a:pt x="69" y="18"/>
                  <a:pt x="66" y="23"/>
                  <a:pt x="66" y="23"/>
                </a:cubicBezTo>
                <a:cubicBezTo>
                  <a:pt x="67" y="25"/>
                  <a:pt x="67" y="25"/>
                  <a:pt x="67" y="25"/>
                </a:cubicBezTo>
                <a:cubicBezTo>
                  <a:pt x="67" y="25"/>
                  <a:pt x="73" y="28"/>
                  <a:pt x="73" y="28"/>
                </a:cubicBezTo>
                <a:cubicBezTo>
                  <a:pt x="73" y="32"/>
                  <a:pt x="73" y="32"/>
                  <a:pt x="73" y="3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85000"/>
                  <a:lumOff val="15000"/>
                </a:prstClr>
              </a:solidFill>
              <a:effectLst/>
              <a:uLnTx/>
              <a:uFillTx/>
              <a:ea typeface="微软雅黑" panose="020B0503020204020204" pitchFamily="34" charset="-122"/>
              <a:cs typeface="+mn-lt"/>
            </a:endParaRPr>
          </a:p>
        </p:txBody>
      </p:sp>
      <p:sp>
        <p:nvSpPr>
          <p:cNvPr id="19" name="Freeform 5"/>
          <p:cNvSpPr>
            <a:spLocks noEditPoints="1"/>
          </p:cNvSpPr>
          <p:nvPr/>
        </p:nvSpPr>
        <p:spPr bwMode="auto">
          <a:xfrm>
            <a:off x="3951571" y="5404512"/>
            <a:ext cx="616697" cy="558348"/>
          </a:xfrm>
          <a:custGeom>
            <a:avLst/>
            <a:gdLst>
              <a:gd name="T0" fmla="*/ 70 w 288"/>
              <a:gd name="T1" fmla="*/ 96 h 260"/>
              <a:gd name="T2" fmla="*/ 70 w 288"/>
              <a:gd name="T3" fmla="*/ 76 h 260"/>
              <a:gd name="T4" fmla="*/ 70 w 288"/>
              <a:gd name="T5" fmla="*/ 72 h 260"/>
              <a:gd name="T6" fmla="*/ 139 w 288"/>
              <a:gd name="T7" fmla="*/ 53 h 260"/>
              <a:gd name="T8" fmla="*/ 40 w 288"/>
              <a:gd name="T9" fmla="*/ 52 h 260"/>
              <a:gd name="T10" fmla="*/ 47 w 288"/>
              <a:gd name="T11" fmla="*/ 58 h 260"/>
              <a:gd name="T12" fmla="*/ 59 w 288"/>
              <a:gd name="T13" fmla="*/ 54 h 260"/>
              <a:gd name="T14" fmla="*/ 70 w 288"/>
              <a:gd name="T15" fmla="*/ 101 h 260"/>
              <a:gd name="T16" fmla="*/ 70 w 288"/>
              <a:gd name="T17" fmla="*/ 122 h 260"/>
              <a:gd name="T18" fmla="*/ 70 w 288"/>
              <a:gd name="T19" fmla="*/ 101 h 260"/>
              <a:gd name="T20" fmla="*/ 0 w 288"/>
              <a:gd name="T21" fmla="*/ 128 h 260"/>
              <a:gd name="T22" fmla="*/ 139 w 288"/>
              <a:gd name="T23" fmla="*/ 108 h 260"/>
              <a:gd name="T24" fmla="*/ 0 w 288"/>
              <a:gd name="T25" fmla="*/ 133 h 260"/>
              <a:gd name="T26" fmla="*/ 139 w 288"/>
              <a:gd name="T27" fmla="*/ 154 h 260"/>
              <a:gd name="T28" fmla="*/ 70 w 288"/>
              <a:gd name="T29" fmla="*/ 177 h 260"/>
              <a:gd name="T30" fmla="*/ 70 w 288"/>
              <a:gd name="T31" fmla="*/ 197 h 260"/>
              <a:gd name="T32" fmla="*/ 70 w 288"/>
              <a:gd name="T33" fmla="*/ 177 h 260"/>
              <a:gd name="T34" fmla="*/ 0 w 288"/>
              <a:gd name="T35" fmla="*/ 203 h 260"/>
              <a:gd name="T36" fmla="*/ 139 w 288"/>
              <a:gd name="T37" fmla="*/ 183 h 260"/>
              <a:gd name="T38" fmla="*/ 150 w 288"/>
              <a:gd name="T39" fmla="*/ 58 h 260"/>
              <a:gd name="T40" fmla="*/ 258 w 288"/>
              <a:gd name="T41" fmla="*/ 43 h 260"/>
              <a:gd name="T42" fmla="*/ 118 w 288"/>
              <a:gd name="T43" fmla="*/ 23 h 260"/>
              <a:gd name="T44" fmla="*/ 149 w 288"/>
              <a:gd name="T45" fmla="*/ 58 h 260"/>
              <a:gd name="T46" fmla="*/ 258 w 288"/>
              <a:gd name="T47" fmla="*/ 19 h 260"/>
              <a:gd name="T48" fmla="*/ 155 w 288"/>
              <a:gd name="T49" fmla="*/ 20 h 260"/>
              <a:gd name="T50" fmla="*/ 216 w 288"/>
              <a:gd name="T51" fmla="*/ 20 h 260"/>
              <a:gd name="T52" fmla="*/ 200 w 288"/>
              <a:gd name="T53" fmla="*/ 13 h 260"/>
              <a:gd name="T54" fmla="*/ 157 w 288"/>
              <a:gd name="T55" fmla="*/ 15 h 260"/>
              <a:gd name="T56" fmla="*/ 258 w 288"/>
              <a:gd name="T57" fmla="*/ 68 h 260"/>
              <a:gd name="T58" fmla="*/ 150 w 288"/>
              <a:gd name="T59" fmla="*/ 64 h 260"/>
              <a:gd name="T60" fmla="*/ 150 w 288"/>
              <a:gd name="T61" fmla="*/ 84 h 260"/>
              <a:gd name="T62" fmla="*/ 150 w 288"/>
              <a:gd name="T63" fmla="*/ 109 h 260"/>
              <a:gd name="T64" fmla="*/ 258 w 288"/>
              <a:gd name="T65" fmla="*/ 94 h 260"/>
              <a:gd name="T66" fmla="*/ 150 w 288"/>
              <a:gd name="T67" fmla="*/ 90 h 260"/>
              <a:gd name="T68" fmla="*/ 150 w 288"/>
              <a:gd name="T69" fmla="*/ 109 h 260"/>
              <a:gd name="T70" fmla="*/ 229 w 288"/>
              <a:gd name="T71" fmla="*/ 114 h 260"/>
              <a:gd name="T72" fmla="*/ 177 w 288"/>
              <a:gd name="T73" fmla="*/ 118 h 260"/>
              <a:gd name="T74" fmla="*/ 218 w 288"/>
              <a:gd name="T75" fmla="*/ 164 h 260"/>
              <a:gd name="T76" fmla="*/ 218 w 288"/>
              <a:gd name="T77" fmla="*/ 184 h 260"/>
              <a:gd name="T78" fmla="*/ 218 w 288"/>
              <a:gd name="T79" fmla="*/ 164 h 260"/>
              <a:gd name="T80" fmla="*/ 218 w 288"/>
              <a:gd name="T81" fmla="*/ 160 h 260"/>
              <a:gd name="T82" fmla="*/ 229 w 288"/>
              <a:gd name="T83" fmla="*/ 140 h 260"/>
              <a:gd name="T84" fmla="*/ 246 w 288"/>
              <a:gd name="T85" fmla="*/ 146 h 260"/>
              <a:gd name="T86" fmla="*/ 241 w 288"/>
              <a:gd name="T87" fmla="*/ 137 h 260"/>
              <a:gd name="T88" fmla="*/ 229 w 288"/>
              <a:gd name="T89" fmla="*/ 137 h 260"/>
              <a:gd name="T90" fmla="*/ 149 w 288"/>
              <a:gd name="T91" fmla="*/ 170 h 260"/>
              <a:gd name="T92" fmla="*/ 288 w 288"/>
              <a:gd name="T93" fmla="*/ 190 h 260"/>
              <a:gd name="T94" fmla="*/ 218 w 288"/>
              <a:gd name="T95" fmla="*/ 215 h 260"/>
              <a:gd name="T96" fmla="*/ 218 w 288"/>
              <a:gd name="T97" fmla="*/ 235 h 260"/>
              <a:gd name="T98" fmla="*/ 218 w 288"/>
              <a:gd name="T99" fmla="*/ 215 h 260"/>
              <a:gd name="T100" fmla="*/ 149 w 288"/>
              <a:gd name="T101" fmla="*/ 241 h 260"/>
              <a:gd name="T102" fmla="*/ 288 w 288"/>
              <a:gd name="T103" fmla="*/ 221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8" h="260">
                <a:moveTo>
                  <a:pt x="139" y="57"/>
                </a:moveTo>
                <a:cubicBezTo>
                  <a:pt x="139" y="77"/>
                  <a:pt x="139" y="77"/>
                  <a:pt x="139" y="77"/>
                </a:cubicBezTo>
                <a:cubicBezTo>
                  <a:pt x="139" y="88"/>
                  <a:pt x="108" y="96"/>
                  <a:pt x="70" y="96"/>
                </a:cubicBezTo>
                <a:cubicBezTo>
                  <a:pt x="31" y="96"/>
                  <a:pt x="0" y="88"/>
                  <a:pt x="0" y="77"/>
                </a:cubicBezTo>
                <a:cubicBezTo>
                  <a:pt x="0" y="57"/>
                  <a:pt x="0" y="57"/>
                  <a:pt x="0" y="57"/>
                </a:cubicBezTo>
                <a:cubicBezTo>
                  <a:pt x="0" y="67"/>
                  <a:pt x="31" y="76"/>
                  <a:pt x="70" y="76"/>
                </a:cubicBezTo>
                <a:cubicBezTo>
                  <a:pt x="108" y="76"/>
                  <a:pt x="139" y="67"/>
                  <a:pt x="139" y="57"/>
                </a:cubicBezTo>
                <a:close/>
                <a:moveTo>
                  <a:pt x="139" y="53"/>
                </a:moveTo>
                <a:cubicBezTo>
                  <a:pt x="139" y="64"/>
                  <a:pt x="108" y="72"/>
                  <a:pt x="70" y="72"/>
                </a:cubicBezTo>
                <a:cubicBezTo>
                  <a:pt x="31" y="72"/>
                  <a:pt x="0" y="64"/>
                  <a:pt x="0" y="53"/>
                </a:cubicBezTo>
                <a:cubicBezTo>
                  <a:pt x="0" y="43"/>
                  <a:pt x="31" y="34"/>
                  <a:pt x="70" y="34"/>
                </a:cubicBezTo>
                <a:cubicBezTo>
                  <a:pt x="108" y="34"/>
                  <a:pt x="139" y="43"/>
                  <a:pt x="139" y="53"/>
                </a:cubicBezTo>
                <a:close/>
                <a:moveTo>
                  <a:pt x="103" y="52"/>
                </a:moveTo>
                <a:cubicBezTo>
                  <a:pt x="42" y="48"/>
                  <a:pt x="42" y="48"/>
                  <a:pt x="42" y="48"/>
                </a:cubicBezTo>
                <a:cubicBezTo>
                  <a:pt x="40" y="52"/>
                  <a:pt x="40" y="52"/>
                  <a:pt x="40" y="52"/>
                </a:cubicBezTo>
                <a:cubicBezTo>
                  <a:pt x="42" y="52"/>
                  <a:pt x="42" y="52"/>
                  <a:pt x="42" y="52"/>
                </a:cubicBezTo>
                <a:cubicBezTo>
                  <a:pt x="45" y="52"/>
                  <a:pt x="49" y="53"/>
                  <a:pt x="47" y="57"/>
                </a:cubicBezTo>
                <a:cubicBezTo>
                  <a:pt x="47" y="58"/>
                  <a:pt x="47" y="58"/>
                  <a:pt x="47" y="58"/>
                </a:cubicBezTo>
                <a:cubicBezTo>
                  <a:pt x="58" y="58"/>
                  <a:pt x="58" y="58"/>
                  <a:pt x="58" y="58"/>
                </a:cubicBezTo>
                <a:cubicBezTo>
                  <a:pt x="59" y="57"/>
                  <a:pt x="59" y="57"/>
                  <a:pt x="59" y="57"/>
                </a:cubicBezTo>
                <a:cubicBezTo>
                  <a:pt x="60" y="56"/>
                  <a:pt x="60" y="55"/>
                  <a:pt x="59" y="54"/>
                </a:cubicBezTo>
                <a:cubicBezTo>
                  <a:pt x="101" y="56"/>
                  <a:pt x="101" y="56"/>
                  <a:pt x="101" y="56"/>
                </a:cubicBezTo>
                <a:lnTo>
                  <a:pt x="103" y="52"/>
                </a:lnTo>
                <a:close/>
                <a:moveTo>
                  <a:pt x="70" y="101"/>
                </a:moveTo>
                <a:cubicBezTo>
                  <a:pt x="31" y="101"/>
                  <a:pt x="0" y="93"/>
                  <a:pt x="0" y="82"/>
                </a:cubicBezTo>
                <a:cubicBezTo>
                  <a:pt x="0" y="103"/>
                  <a:pt x="0" y="103"/>
                  <a:pt x="0" y="103"/>
                </a:cubicBezTo>
                <a:cubicBezTo>
                  <a:pt x="0" y="113"/>
                  <a:pt x="31" y="122"/>
                  <a:pt x="70" y="122"/>
                </a:cubicBezTo>
                <a:cubicBezTo>
                  <a:pt x="108" y="122"/>
                  <a:pt x="139" y="113"/>
                  <a:pt x="139" y="103"/>
                </a:cubicBezTo>
                <a:cubicBezTo>
                  <a:pt x="139" y="82"/>
                  <a:pt x="139" y="82"/>
                  <a:pt x="139" y="82"/>
                </a:cubicBezTo>
                <a:cubicBezTo>
                  <a:pt x="139" y="93"/>
                  <a:pt x="108" y="101"/>
                  <a:pt x="70" y="101"/>
                </a:cubicBezTo>
                <a:close/>
                <a:moveTo>
                  <a:pt x="70" y="127"/>
                </a:moveTo>
                <a:cubicBezTo>
                  <a:pt x="31" y="127"/>
                  <a:pt x="0" y="119"/>
                  <a:pt x="0" y="108"/>
                </a:cubicBezTo>
                <a:cubicBezTo>
                  <a:pt x="0" y="128"/>
                  <a:pt x="0" y="128"/>
                  <a:pt x="0" y="128"/>
                </a:cubicBezTo>
                <a:cubicBezTo>
                  <a:pt x="0" y="139"/>
                  <a:pt x="31" y="147"/>
                  <a:pt x="70" y="147"/>
                </a:cubicBezTo>
                <a:cubicBezTo>
                  <a:pt x="108" y="147"/>
                  <a:pt x="139" y="139"/>
                  <a:pt x="139" y="128"/>
                </a:cubicBezTo>
                <a:cubicBezTo>
                  <a:pt x="139" y="108"/>
                  <a:pt x="139" y="108"/>
                  <a:pt x="139" y="108"/>
                </a:cubicBezTo>
                <a:cubicBezTo>
                  <a:pt x="139" y="119"/>
                  <a:pt x="108" y="127"/>
                  <a:pt x="70" y="127"/>
                </a:cubicBezTo>
                <a:close/>
                <a:moveTo>
                  <a:pt x="70" y="152"/>
                </a:moveTo>
                <a:cubicBezTo>
                  <a:pt x="31" y="152"/>
                  <a:pt x="0" y="144"/>
                  <a:pt x="0" y="133"/>
                </a:cubicBezTo>
                <a:cubicBezTo>
                  <a:pt x="0" y="154"/>
                  <a:pt x="0" y="154"/>
                  <a:pt x="0" y="154"/>
                </a:cubicBezTo>
                <a:cubicBezTo>
                  <a:pt x="0" y="164"/>
                  <a:pt x="31" y="173"/>
                  <a:pt x="70" y="173"/>
                </a:cubicBezTo>
                <a:cubicBezTo>
                  <a:pt x="108" y="173"/>
                  <a:pt x="139" y="164"/>
                  <a:pt x="139" y="154"/>
                </a:cubicBezTo>
                <a:cubicBezTo>
                  <a:pt x="139" y="133"/>
                  <a:pt x="139" y="133"/>
                  <a:pt x="139" y="133"/>
                </a:cubicBezTo>
                <a:cubicBezTo>
                  <a:pt x="139" y="144"/>
                  <a:pt x="108" y="152"/>
                  <a:pt x="70" y="152"/>
                </a:cubicBezTo>
                <a:close/>
                <a:moveTo>
                  <a:pt x="70" y="177"/>
                </a:moveTo>
                <a:cubicBezTo>
                  <a:pt x="31" y="177"/>
                  <a:pt x="0" y="169"/>
                  <a:pt x="0" y="158"/>
                </a:cubicBezTo>
                <a:cubicBezTo>
                  <a:pt x="0" y="178"/>
                  <a:pt x="0" y="178"/>
                  <a:pt x="0" y="178"/>
                </a:cubicBezTo>
                <a:cubicBezTo>
                  <a:pt x="0" y="189"/>
                  <a:pt x="31" y="197"/>
                  <a:pt x="70" y="197"/>
                </a:cubicBezTo>
                <a:cubicBezTo>
                  <a:pt x="108" y="197"/>
                  <a:pt x="139" y="189"/>
                  <a:pt x="139" y="178"/>
                </a:cubicBezTo>
                <a:cubicBezTo>
                  <a:pt x="139" y="158"/>
                  <a:pt x="139" y="158"/>
                  <a:pt x="139" y="158"/>
                </a:cubicBezTo>
                <a:cubicBezTo>
                  <a:pt x="139" y="169"/>
                  <a:pt x="108" y="177"/>
                  <a:pt x="70" y="177"/>
                </a:cubicBezTo>
                <a:close/>
                <a:moveTo>
                  <a:pt x="70" y="202"/>
                </a:moveTo>
                <a:cubicBezTo>
                  <a:pt x="31" y="202"/>
                  <a:pt x="0" y="193"/>
                  <a:pt x="0" y="183"/>
                </a:cubicBezTo>
                <a:cubicBezTo>
                  <a:pt x="0" y="203"/>
                  <a:pt x="0" y="203"/>
                  <a:pt x="0" y="203"/>
                </a:cubicBezTo>
                <a:cubicBezTo>
                  <a:pt x="0" y="214"/>
                  <a:pt x="31" y="222"/>
                  <a:pt x="70" y="222"/>
                </a:cubicBezTo>
                <a:cubicBezTo>
                  <a:pt x="108" y="222"/>
                  <a:pt x="139" y="214"/>
                  <a:pt x="139" y="203"/>
                </a:cubicBezTo>
                <a:cubicBezTo>
                  <a:pt x="139" y="183"/>
                  <a:pt x="139" y="183"/>
                  <a:pt x="139" y="183"/>
                </a:cubicBezTo>
                <a:cubicBezTo>
                  <a:pt x="139" y="193"/>
                  <a:pt x="108" y="202"/>
                  <a:pt x="70" y="202"/>
                </a:cubicBezTo>
                <a:close/>
                <a:moveTo>
                  <a:pt x="149" y="58"/>
                </a:moveTo>
                <a:cubicBezTo>
                  <a:pt x="150" y="58"/>
                  <a:pt x="150" y="58"/>
                  <a:pt x="150" y="58"/>
                </a:cubicBezTo>
                <a:cubicBezTo>
                  <a:pt x="150" y="59"/>
                  <a:pt x="150" y="59"/>
                  <a:pt x="150" y="59"/>
                </a:cubicBezTo>
                <a:cubicBezTo>
                  <a:pt x="161" y="61"/>
                  <a:pt x="174" y="62"/>
                  <a:pt x="188" y="62"/>
                </a:cubicBezTo>
                <a:cubicBezTo>
                  <a:pt x="227" y="62"/>
                  <a:pt x="258" y="53"/>
                  <a:pt x="258" y="43"/>
                </a:cubicBezTo>
                <a:cubicBezTo>
                  <a:pt x="258" y="23"/>
                  <a:pt x="258" y="23"/>
                  <a:pt x="258" y="23"/>
                </a:cubicBezTo>
                <a:cubicBezTo>
                  <a:pt x="258" y="33"/>
                  <a:pt x="227" y="42"/>
                  <a:pt x="188" y="42"/>
                </a:cubicBezTo>
                <a:cubicBezTo>
                  <a:pt x="150" y="42"/>
                  <a:pt x="118" y="33"/>
                  <a:pt x="118" y="23"/>
                </a:cubicBezTo>
                <a:cubicBezTo>
                  <a:pt x="118" y="30"/>
                  <a:pt x="118" y="30"/>
                  <a:pt x="118" y="30"/>
                </a:cubicBezTo>
                <a:cubicBezTo>
                  <a:pt x="135" y="34"/>
                  <a:pt x="150" y="41"/>
                  <a:pt x="150" y="54"/>
                </a:cubicBezTo>
                <a:cubicBezTo>
                  <a:pt x="150" y="56"/>
                  <a:pt x="149" y="57"/>
                  <a:pt x="149" y="58"/>
                </a:cubicBezTo>
                <a:close/>
                <a:moveTo>
                  <a:pt x="118" y="19"/>
                </a:moveTo>
                <a:cubicBezTo>
                  <a:pt x="118" y="8"/>
                  <a:pt x="150" y="0"/>
                  <a:pt x="188" y="0"/>
                </a:cubicBezTo>
                <a:cubicBezTo>
                  <a:pt x="227" y="0"/>
                  <a:pt x="258" y="8"/>
                  <a:pt x="258" y="19"/>
                </a:cubicBezTo>
                <a:cubicBezTo>
                  <a:pt x="258" y="29"/>
                  <a:pt x="227" y="38"/>
                  <a:pt x="188" y="38"/>
                </a:cubicBezTo>
                <a:cubicBezTo>
                  <a:pt x="150" y="38"/>
                  <a:pt x="118" y="29"/>
                  <a:pt x="118" y="19"/>
                </a:cubicBezTo>
                <a:close/>
                <a:moveTo>
                  <a:pt x="155" y="20"/>
                </a:moveTo>
                <a:cubicBezTo>
                  <a:pt x="216" y="24"/>
                  <a:pt x="216" y="24"/>
                  <a:pt x="216" y="24"/>
                </a:cubicBezTo>
                <a:cubicBezTo>
                  <a:pt x="218" y="20"/>
                  <a:pt x="218" y="20"/>
                  <a:pt x="218" y="20"/>
                </a:cubicBezTo>
                <a:cubicBezTo>
                  <a:pt x="216" y="20"/>
                  <a:pt x="216" y="20"/>
                  <a:pt x="216" y="20"/>
                </a:cubicBezTo>
                <a:cubicBezTo>
                  <a:pt x="213" y="20"/>
                  <a:pt x="209" y="19"/>
                  <a:pt x="210" y="15"/>
                </a:cubicBezTo>
                <a:cubicBezTo>
                  <a:pt x="211" y="14"/>
                  <a:pt x="211" y="14"/>
                  <a:pt x="211" y="14"/>
                </a:cubicBezTo>
                <a:cubicBezTo>
                  <a:pt x="200" y="13"/>
                  <a:pt x="200" y="13"/>
                  <a:pt x="200" y="13"/>
                </a:cubicBezTo>
                <a:cubicBezTo>
                  <a:pt x="199" y="15"/>
                  <a:pt x="199" y="15"/>
                  <a:pt x="199" y="15"/>
                </a:cubicBezTo>
                <a:cubicBezTo>
                  <a:pt x="198" y="16"/>
                  <a:pt x="198" y="17"/>
                  <a:pt x="198" y="18"/>
                </a:cubicBezTo>
                <a:cubicBezTo>
                  <a:pt x="157" y="15"/>
                  <a:pt x="157" y="15"/>
                  <a:pt x="157" y="15"/>
                </a:cubicBezTo>
                <a:lnTo>
                  <a:pt x="155" y="20"/>
                </a:lnTo>
                <a:close/>
                <a:moveTo>
                  <a:pt x="188" y="87"/>
                </a:moveTo>
                <a:cubicBezTo>
                  <a:pt x="227" y="87"/>
                  <a:pt x="258" y="79"/>
                  <a:pt x="258" y="68"/>
                </a:cubicBezTo>
                <a:cubicBezTo>
                  <a:pt x="258" y="48"/>
                  <a:pt x="258" y="48"/>
                  <a:pt x="258" y="48"/>
                </a:cubicBezTo>
                <a:cubicBezTo>
                  <a:pt x="258" y="59"/>
                  <a:pt x="227" y="67"/>
                  <a:pt x="188" y="67"/>
                </a:cubicBezTo>
                <a:cubicBezTo>
                  <a:pt x="174" y="67"/>
                  <a:pt x="161" y="66"/>
                  <a:pt x="150" y="64"/>
                </a:cubicBezTo>
                <a:cubicBezTo>
                  <a:pt x="150" y="79"/>
                  <a:pt x="150" y="79"/>
                  <a:pt x="150" y="79"/>
                </a:cubicBezTo>
                <a:cubicBezTo>
                  <a:pt x="150" y="80"/>
                  <a:pt x="149" y="82"/>
                  <a:pt x="149" y="84"/>
                </a:cubicBezTo>
                <a:cubicBezTo>
                  <a:pt x="150" y="84"/>
                  <a:pt x="150" y="84"/>
                  <a:pt x="150" y="84"/>
                </a:cubicBezTo>
                <a:cubicBezTo>
                  <a:pt x="150" y="84"/>
                  <a:pt x="150" y="84"/>
                  <a:pt x="150" y="84"/>
                </a:cubicBezTo>
                <a:cubicBezTo>
                  <a:pt x="161" y="86"/>
                  <a:pt x="174" y="87"/>
                  <a:pt x="188" y="87"/>
                </a:cubicBezTo>
                <a:close/>
                <a:moveTo>
                  <a:pt x="150" y="109"/>
                </a:moveTo>
                <a:cubicBezTo>
                  <a:pt x="150" y="110"/>
                  <a:pt x="150" y="110"/>
                  <a:pt x="150" y="110"/>
                </a:cubicBezTo>
                <a:cubicBezTo>
                  <a:pt x="161" y="112"/>
                  <a:pt x="174" y="113"/>
                  <a:pt x="188" y="113"/>
                </a:cubicBezTo>
                <a:cubicBezTo>
                  <a:pt x="227" y="113"/>
                  <a:pt x="258" y="105"/>
                  <a:pt x="258" y="94"/>
                </a:cubicBezTo>
                <a:cubicBezTo>
                  <a:pt x="258" y="74"/>
                  <a:pt x="258" y="74"/>
                  <a:pt x="258" y="74"/>
                </a:cubicBezTo>
                <a:cubicBezTo>
                  <a:pt x="258" y="84"/>
                  <a:pt x="227" y="93"/>
                  <a:pt x="188" y="93"/>
                </a:cubicBezTo>
                <a:cubicBezTo>
                  <a:pt x="174" y="93"/>
                  <a:pt x="161" y="92"/>
                  <a:pt x="150" y="90"/>
                </a:cubicBezTo>
                <a:cubicBezTo>
                  <a:pt x="150" y="104"/>
                  <a:pt x="150" y="104"/>
                  <a:pt x="150" y="104"/>
                </a:cubicBezTo>
                <a:cubicBezTo>
                  <a:pt x="150" y="106"/>
                  <a:pt x="149" y="108"/>
                  <a:pt x="149" y="109"/>
                </a:cubicBezTo>
                <a:lnTo>
                  <a:pt x="150" y="109"/>
                </a:lnTo>
                <a:close/>
                <a:moveTo>
                  <a:pt x="258" y="117"/>
                </a:moveTo>
                <a:cubicBezTo>
                  <a:pt x="258" y="99"/>
                  <a:pt x="258" y="99"/>
                  <a:pt x="258" y="99"/>
                </a:cubicBezTo>
                <a:cubicBezTo>
                  <a:pt x="258" y="105"/>
                  <a:pt x="247" y="111"/>
                  <a:pt x="229" y="114"/>
                </a:cubicBezTo>
                <a:cubicBezTo>
                  <a:pt x="237" y="115"/>
                  <a:pt x="247" y="115"/>
                  <a:pt x="258" y="117"/>
                </a:cubicBezTo>
                <a:close/>
                <a:moveTo>
                  <a:pt x="150" y="127"/>
                </a:moveTo>
                <a:cubicBezTo>
                  <a:pt x="156" y="123"/>
                  <a:pt x="166" y="120"/>
                  <a:pt x="177" y="118"/>
                </a:cubicBezTo>
                <a:cubicBezTo>
                  <a:pt x="167" y="117"/>
                  <a:pt x="158" y="116"/>
                  <a:pt x="150" y="115"/>
                </a:cubicBezTo>
                <a:lnTo>
                  <a:pt x="150" y="127"/>
                </a:lnTo>
                <a:close/>
                <a:moveTo>
                  <a:pt x="218" y="164"/>
                </a:moveTo>
                <a:cubicBezTo>
                  <a:pt x="180" y="164"/>
                  <a:pt x="149" y="155"/>
                  <a:pt x="149" y="145"/>
                </a:cubicBezTo>
                <a:cubicBezTo>
                  <a:pt x="149" y="165"/>
                  <a:pt x="149" y="165"/>
                  <a:pt x="149" y="165"/>
                </a:cubicBezTo>
                <a:cubicBezTo>
                  <a:pt x="149" y="175"/>
                  <a:pt x="180" y="184"/>
                  <a:pt x="218" y="184"/>
                </a:cubicBezTo>
                <a:cubicBezTo>
                  <a:pt x="257" y="184"/>
                  <a:pt x="288" y="175"/>
                  <a:pt x="288" y="165"/>
                </a:cubicBezTo>
                <a:cubicBezTo>
                  <a:pt x="288" y="145"/>
                  <a:pt x="288" y="145"/>
                  <a:pt x="288" y="145"/>
                </a:cubicBezTo>
                <a:cubicBezTo>
                  <a:pt x="288" y="155"/>
                  <a:pt x="257" y="164"/>
                  <a:pt x="218" y="164"/>
                </a:cubicBezTo>
                <a:close/>
                <a:moveTo>
                  <a:pt x="218" y="122"/>
                </a:moveTo>
                <a:cubicBezTo>
                  <a:pt x="257" y="122"/>
                  <a:pt x="288" y="130"/>
                  <a:pt x="288" y="141"/>
                </a:cubicBezTo>
                <a:cubicBezTo>
                  <a:pt x="288" y="151"/>
                  <a:pt x="257" y="160"/>
                  <a:pt x="218" y="160"/>
                </a:cubicBezTo>
                <a:cubicBezTo>
                  <a:pt x="180" y="160"/>
                  <a:pt x="149" y="151"/>
                  <a:pt x="149" y="141"/>
                </a:cubicBezTo>
                <a:cubicBezTo>
                  <a:pt x="149" y="130"/>
                  <a:pt x="180" y="122"/>
                  <a:pt x="218" y="122"/>
                </a:cubicBezTo>
                <a:close/>
                <a:moveTo>
                  <a:pt x="229" y="140"/>
                </a:moveTo>
                <a:cubicBezTo>
                  <a:pt x="187" y="137"/>
                  <a:pt x="187" y="137"/>
                  <a:pt x="187" y="137"/>
                </a:cubicBezTo>
                <a:cubicBezTo>
                  <a:pt x="185" y="142"/>
                  <a:pt x="185" y="142"/>
                  <a:pt x="185" y="142"/>
                </a:cubicBezTo>
                <a:cubicBezTo>
                  <a:pt x="246" y="146"/>
                  <a:pt x="246" y="146"/>
                  <a:pt x="246" y="146"/>
                </a:cubicBezTo>
                <a:cubicBezTo>
                  <a:pt x="248" y="142"/>
                  <a:pt x="248" y="142"/>
                  <a:pt x="248" y="142"/>
                </a:cubicBezTo>
                <a:cubicBezTo>
                  <a:pt x="246" y="142"/>
                  <a:pt x="246" y="142"/>
                  <a:pt x="246" y="142"/>
                </a:cubicBezTo>
                <a:cubicBezTo>
                  <a:pt x="243" y="142"/>
                  <a:pt x="239" y="141"/>
                  <a:pt x="241" y="137"/>
                </a:cubicBezTo>
                <a:cubicBezTo>
                  <a:pt x="241" y="136"/>
                  <a:pt x="241" y="136"/>
                  <a:pt x="241" y="136"/>
                </a:cubicBezTo>
                <a:cubicBezTo>
                  <a:pt x="230" y="135"/>
                  <a:pt x="230" y="135"/>
                  <a:pt x="230" y="135"/>
                </a:cubicBezTo>
                <a:cubicBezTo>
                  <a:pt x="229" y="137"/>
                  <a:pt x="229" y="137"/>
                  <a:pt x="229" y="137"/>
                </a:cubicBezTo>
                <a:cubicBezTo>
                  <a:pt x="229" y="138"/>
                  <a:pt x="228" y="139"/>
                  <a:pt x="229" y="140"/>
                </a:cubicBezTo>
                <a:close/>
                <a:moveTo>
                  <a:pt x="218" y="189"/>
                </a:moveTo>
                <a:cubicBezTo>
                  <a:pt x="180" y="189"/>
                  <a:pt x="149" y="181"/>
                  <a:pt x="149" y="170"/>
                </a:cubicBezTo>
                <a:cubicBezTo>
                  <a:pt x="149" y="190"/>
                  <a:pt x="149" y="190"/>
                  <a:pt x="149" y="190"/>
                </a:cubicBezTo>
                <a:cubicBezTo>
                  <a:pt x="149" y="201"/>
                  <a:pt x="180" y="209"/>
                  <a:pt x="218" y="209"/>
                </a:cubicBezTo>
                <a:cubicBezTo>
                  <a:pt x="257" y="209"/>
                  <a:pt x="288" y="201"/>
                  <a:pt x="288" y="190"/>
                </a:cubicBezTo>
                <a:cubicBezTo>
                  <a:pt x="288" y="170"/>
                  <a:pt x="288" y="170"/>
                  <a:pt x="288" y="170"/>
                </a:cubicBezTo>
                <a:cubicBezTo>
                  <a:pt x="288" y="181"/>
                  <a:pt x="257" y="189"/>
                  <a:pt x="218" y="189"/>
                </a:cubicBezTo>
                <a:close/>
                <a:moveTo>
                  <a:pt x="218" y="215"/>
                </a:moveTo>
                <a:cubicBezTo>
                  <a:pt x="180" y="215"/>
                  <a:pt x="149" y="206"/>
                  <a:pt x="149" y="196"/>
                </a:cubicBezTo>
                <a:cubicBezTo>
                  <a:pt x="149" y="216"/>
                  <a:pt x="149" y="216"/>
                  <a:pt x="149" y="216"/>
                </a:cubicBezTo>
                <a:cubicBezTo>
                  <a:pt x="149" y="227"/>
                  <a:pt x="180" y="235"/>
                  <a:pt x="218" y="235"/>
                </a:cubicBezTo>
                <a:cubicBezTo>
                  <a:pt x="257" y="235"/>
                  <a:pt x="288" y="227"/>
                  <a:pt x="288" y="216"/>
                </a:cubicBezTo>
                <a:cubicBezTo>
                  <a:pt x="288" y="196"/>
                  <a:pt x="288" y="196"/>
                  <a:pt x="288" y="196"/>
                </a:cubicBezTo>
                <a:cubicBezTo>
                  <a:pt x="288" y="206"/>
                  <a:pt x="257" y="215"/>
                  <a:pt x="218" y="215"/>
                </a:cubicBezTo>
                <a:close/>
                <a:moveTo>
                  <a:pt x="218" y="240"/>
                </a:moveTo>
                <a:cubicBezTo>
                  <a:pt x="180" y="240"/>
                  <a:pt x="149" y="231"/>
                  <a:pt x="149" y="221"/>
                </a:cubicBezTo>
                <a:cubicBezTo>
                  <a:pt x="149" y="241"/>
                  <a:pt x="149" y="241"/>
                  <a:pt x="149" y="241"/>
                </a:cubicBezTo>
                <a:cubicBezTo>
                  <a:pt x="149" y="252"/>
                  <a:pt x="180" y="260"/>
                  <a:pt x="218" y="260"/>
                </a:cubicBezTo>
                <a:cubicBezTo>
                  <a:pt x="257" y="260"/>
                  <a:pt x="288" y="252"/>
                  <a:pt x="288" y="241"/>
                </a:cubicBezTo>
                <a:cubicBezTo>
                  <a:pt x="288" y="221"/>
                  <a:pt x="288" y="221"/>
                  <a:pt x="288" y="221"/>
                </a:cubicBezTo>
                <a:cubicBezTo>
                  <a:pt x="288" y="231"/>
                  <a:pt x="257" y="240"/>
                  <a:pt x="218" y="24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85000"/>
                  <a:lumOff val="15000"/>
                </a:prstClr>
              </a:solidFill>
              <a:effectLst/>
              <a:uLnTx/>
              <a:uFillTx/>
              <a:ea typeface="微软雅黑" panose="020B0503020204020204" pitchFamily="34" charset="-122"/>
              <a:cs typeface="+mn-lt"/>
            </a:endParaRPr>
          </a:p>
        </p:txBody>
      </p:sp>
      <p:grpSp>
        <p:nvGrpSpPr>
          <p:cNvPr id="35" name="组合 34"/>
          <p:cNvGrpSpPr/>
          <p:nvPr/>
        </p:nvGrpSpPr>
        <p:grpSpPr>
          <a:xfrm>
            <a:off x="9661356" y="2931196"/>
            <a:ext cx="452412" cy="451411"/>
            <a:chOff x="9166770" y="4602851"/>
            <a:chExt cx="482923" cy="481855"/>
          </a:xfrm>
          <a:solidFill>
            <a:schemeClr val="bg1"/>
          </a:solidFill>
        </p:grpSpPr>
        <p:sp>
          <p:nvSpPr>
            <p:cNvPr id="36" name="Freeform 9"/>
            <p:cNvSpPr/>
            <p:nvPr/>
          </p:nvSpPr>
          <p:spPr bwMode="auto">
            <a:xfrm>
              <a:off x="9457379" y="4895596"/>
              <a:ext cx="192314" cy="189110"/>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85000"/>
                    <a:lumOff val="15000"/>
                  </a:prstClr>
                </a:solidFill>
                <a:effectLst/>
                <a:uLnTx/>
                <a:uFillTx/>
                <a:ea typeface="微软雅黑" panose="020B0503020204020204" pitchFamily="34" charset="-122"/>
                <a:cs typeface="+mn-lt"/>
              </a:endParaRPr>
            </a:p>
          </p:txBody>
        </p:sp>
        <p:sp>
          <p:nvSpPr>
            <p:cNvPr id="37" name="Freeform 10"/>
            <p:cNvSpPr>
              <a:spLocks noEditPoints="1"/>
            </p:cNvSpPr>
            <p:nvPr/>
          </p:nvSpPr>
          <p:spPr bwMode="auto">
            <a:xfrm>
              <a:off x="9166770" y="4602851"/>
              <a:ext cx="356850" cy="358987"/>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close/>
                  <a:moveTo>
                    <a:pt x="70" y="122"/>
                  </a:moveTo>
                  <a:cubicBezTo>
                    <a:pt x="41" y="122"/>
                    <a:pt x="17" y="99"/>
                    <a:pt x="17" y="70"/>
                  </a:cubicBezTo>
                  <a:cubicBezTo>
                    <a:pt x="17" y="41"/>
                    <a:pt x="41" y="17"/>
                    <a:pt x="70" y="17"/>
                  </a:cubicBezTo>
                  <a:cubicBezTo>
                    <a:pt x="98" y="17"/>
                    <a:pt x="122" y="41"/>
                    <a:pt x="122" y="70"/>
                  </a:cubicBezTo>
                  <a:cubicBezTo>
                    <a:pt x="122" y="99"/>
                    <a:pt x="98" y="122"/>
                    <a:pt x="70"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85000"/>
                    <a:lumOff val="15000"/>
                  </a:prstClr>
                </a:solidFill>
                <a:effectLst/>
                <a:uLnTx/>
                <a:uFillTx/>
                <a:ea typeface="微软雅黑" panose="020B0503020204020204" pitchFamily="34" charset="-122"/>
                <a:cs typeface="+mn-lt"/>
              </a:endParaRPr>
            </a:p>
          </p:txBody>
        </p:sp>
        <p:sp>
          <p:nvSpPr>
            <p:cNvPr id="38" name="Freeform 11"/>
            <p:cNvSpPr/>
            <p:nvPr/>
          </p:nvSpPr>
          <p:spPr bwMode="auto">
            <a:xfrm>
              <a:off x="9241559" y="4677640"/>
              <a:ext cx="105773" cy="10470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85000"/>
                    <a:lumOff val="15000"/>
                  </a:prstClr>
                </a:solidFill>
                <a:effectLst/>
                <a:uLnTx/>
                <a:uFillTx/>
                <a:ea typeface="微软雅黑" panose="020B0503020204020204" pitchFamily="34" charset="-122"/>
                <a:cs typeface="+mn-lt"/>
              </a:endParaRPr>
            </a:p>
          </p:txBody>
        </p:sp>
      </p:grpSp>
      <p:sp>
        <p:nvSpPr>
          <p:cNvPr id="46" name="矩形 4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54" name="任意多边形 53">
            <a:hlinkClick r:id="rId3" action="ppaction://hlinksldjump"/>
          </p:cNvPr>
          <p:cNvSpPr/>
          <p:nvPr/>
        </p:nvSpPr>
        <p:spPr>
          <a:xfrm>
            <a:off x="1209373" y="3173384"/>
            <a:ext cx="1645920" cy="70265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a:solidFill>
                  <a:schemeClr val="bg1"/>
                </a:solidFill>
              </a:rPr>
              <a:t>接受测试版本</a:t>
            </a:r>
            <a:endParaRPr lang="zh-CN" altLang="en-US" sz="2000" b="1" kern="1200" dirty="0">
              <a:solidFill>
                <a:schemeClr val="bg1"/>
              </a:solidFill>
            </a:endParaRPr>
          </a:p>
        </p:txBody>
      </p:sp>
      <p:sp>
        <p:nvSpPr>
          <p:cNvPr id="55" name="任意多边形 54">
            <a:hlinkClick r:id="" action="ppaction://noaction"/>
          </p:cNvPr>
          <p:cNvSpPr/>
          <p:nvPr/>
        </p:nvSpPr>
        <p:spPr>
          <a:xfrm>
            <a:off x="3347207" y="3173384"/>
            <a:ext cx="1607818" cy="70265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en-US" altLang="zh-CN" sz="2000" b="1">
                <a:solidFill>
                  <a:schemeClr val="bg1"/>
                </a:solidFill>
              </a:rPr>
              <a:t>App</a:t>
            </a:r>
            <a:r>
              <a:rPr lang="zh-CN" altLang="en-US" sz="2000" b="1">
                <a:solidFill>
                  <a:schemeClr val="bg1"/>
                </a:solidFill>
              </a:rPr>
              <a:t>版本测试</a:t>
            </a:r>
            <a:endParaRPr lang="zh-CN" altLang="en-US" sz="2000" b="1" kern="1200" dirty="0">
              <a:solidFill>
                <a:schemeClr val="bg1"/>
              </a:solidFill>
            </a:endParaRPr>
          </a:p>
        </p:txBody>
      </p:sp>
      <p:sp>
        <p:nvSpPr>
          <p:cNvPr id="56" name="任意多边形 55">
            <a:hlinkClick r:id="" action="ppaction://noaction"/>
          </p:cNvPr>
          <p:cNvSpPr/>
          <p:nvPr/>
        </p:nvSpPr>
        <p:spPr>
          <a:xfrm>
            <a:off x="5446939" y="3214024"/>
            <a:ext cx="1518916" cy="70265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en-US" altLang="zh-CN" sz="2000" b="1">
                <a:solidFill>
                  <a:schemeClr val="bg1"/>
                </a:solidFill>
              </a:rPr>
              <a:t>UI</a:t>
            </a:r>
            <a:r>
              <a:rPr lang="zh-CN" altLang="en-US" sz="2000" b="1">
                <a:solidFill>
                  <a:schemeClr val="bg1"/>
                </a:solidFill>
              </a:rPr>
              <a:t>测试</a:t>
            </a:r>
            <a:endParaRPr lang="zh-CN" altLang="en-US" sz="2000" b="1" kern="1200" dirty="0">
              <a:solidFill>
                <a:schemeClr val="bg1"/>
              </a:solidFill>
            </a:endParaRPr>
          </a:p>
        </p:txBody>
      </p:sp>
      <p:sp>
        <p:nvSpPr>
          <p:cNvPr id="57" name="任意多边形 56">
            <a:hlinkClick r:id="" action="ppaction://noaction"/>
          </p:cNvPr>
          <p:cNvSpPr/>
          <p:nvPr/>
        </p:nvSpPr>
        <p:spPr>
          <a:xfrm>
            <a:off x="7457772" y="3214024"/>
            <a:ext cx="1440175" cy="70971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a:solidFill>
                  <a:schemeClr val="bg1"/>
                </a:solidFill>
              </a:rPr>
              <a:t>功能</a:t>
            </a:r>
            <a:r>
              <a:rPr lang="zh-CN" altLang="en-US" sz="2000" b="1" kern="1200">
                <a:solidFill>
                  <a:schemeClr val="bg1"/>
                </a:solidFill>
              </a:rPr>
              <a:t>测试</a:t>
            </a:r>
            <a:endParaRPr lang="zh-CN" altLang="en-US" sz="2000" b="1" kern="1200" dirty="0">
              <a:solidFill>
                <a:schemeClr val="bg1"/>
              </a:solidFill>
            </a:endParaRPr>
          </a:p>
        </p:txBody>
      </p:sp>
      <p:sp>
        <p:nvSpPr>
          <p:cNvPr id="58" name="任意多边形 57"/>
          <p:cNvSpPr/>
          <p:nvPr/>
        </p:nvSpPr>
        <p:spPr>
          <a:xfrm>
            <a:off x="2966115" y="3356645"/>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59" name="任意多边形 58"/>
          <p:cNvSpPr/>
          <p:nvPr/>
        </p:nvSpPr>
        <p:spPr>
          <a:xfrm>
            <a:off x="5065847" y="3394599"/>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60" name="任意多边形 59"/>
          <p:cNvSpPr/>
          <p:nvPr/>
        </p:nvSpPr>
        <p:spPr>
          <a:xfrm>
            <a:off x="7076677" y="3426635"/>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61" name="任意多边形 60">
            <a:hlinkClick r:id="rId4" action="ppaction://hlinksldjump"/>
          </p:cNvPr>
          <p:cNvSpPr/>
          <p:nvPr/>
        </p:nvSpPr>
        <p:spPr>
          <a:xfrm>
            <a:off x="9407006" y="3213389"/>
            <a:ext cx="1440175" cy="70971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a:solidFill>
                  <a:schemeClr val="bg1"/>
                </a:solidFill>
              </a:rPr>
              <a:t>专项测试</a:t>
            </a:r>
            <a:endParaRPr lang="zh-CN" altLang="en-US" sz="2000" b="1" kern="1200" dirty="0">
              <a:solidFill>
                <a:schemeClr val="bg1"/>
              </a:solidFill>
            </a:endParaRPr>
          </a:p>
        </p:txBody>
      </p:sp>
      <p:sp>
        <p:nvSpPr>
          <p:cNvPr id="62" name="任意多边形 61"/>
          <p:cNvSpPr/>
          <p:nvPr/>
        </p:nvSpPr>
        <p:spPr>
          <a:xfrm>
            <a:off x="9008766" y="3385995"/>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64" name="任意多边形 63"/>
          <p:cNvSpPr/>
          <p:nvPr/>
        </p:nvSpPr>
        <p:spPr>
          <a:xfrm rot="5400000">
            <a:off x="9970187" y="4103269"/>
            <a:ext cx="354625" cy="30368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65" name="任意多边形 64">
            <a:hlinkClick r:id="rId4" action="ppaction://hlinksldjump"/>
          </p:cNvPr>
          <p:cNvSpPr/>
          <p:nvPr/>
        </p:nvSpPr>
        <p:spPr>
          <a:xfrm>
            <a:off x="9407006" y="4541471"/>
            <a:ext cx="1440175" cy="70971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a:solidFill>
                  <a:schemeClr val="bg1"/>
                </a:solidFill>
              </a:rPr>
              <a:t>正式环境测试</a:t>
            </a:r>
            <a:endParaRPr lang="zh-CN" altLang="en-US" sz="2000" b="1" kern="1200" dirty="0">
              <a:solidFill>
                <a:schemeClr val="bg1"/>
              </a:solidFill>
            </a:endParaRPr>
          </a:p>
        </p:txBody>
      </p:sp>
      <p:sp>
        <p:nvSpPr>
          <p:cNvPr id="66" name="任意多边形 65"/>
          <p:cNvSpPr/>
          <p:nvPr/>
        </p:nvSpPr>
        <p:spPr>
          <a:xfrm rot="5400000">
            <a:off x="9957799" y="5385709"/>
            <a:ext cx="354625" cy="30368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67" name="任意多边形 66">
            <a:hlinkClick r:id="rId4" action="ppaction://hlinksldjump"/>
          </p:cNvPr>
          <p:cNvSpPr/>
          <p:nvPr/>
        </p:nvSpPr>
        <p:spPr>
          <a:xfrm>
            <a:off x="9407006" y="5759636"/>
            <a:ext cx="1440175" cy="70971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a:solidFill>
                  <a:schemeClr val="bg1"/>
                </a:solidFill>
              </a:rPr>
              <a:t>上线准备</a:t>
            </a:r>
            <a:endParaRPr lang="zh-CN" altLang="en-US" sz="2000" b="1" kern="12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en-US" altLang="zh-CN"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App</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测试要点</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7.2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7.2.1 UI</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5135599" y="1985374"/>
            <a:ext cx="6337138" cy="2862322"/>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en-US" altLang="zh-CN" sz="2000" dirty="0">
                <a:solidFill>
                  <a:srgbClr val="595959"/>
                </a:solidFill>
                <a:latin typeface="微软雅黑" panose="020B0503020204020204" pitchFamily="34" charset="-122"/>
                <a:ea typeface="微软雅黑" panose="020B0503020204020204" pitchFamily="34" charset="-122"/>
                <a:cs typeface="+mn-ea"/>
              </a:rPr>
              <a:t>UI</a:t>
            </a:r>
            <a:r>
              <a:rPr lang="zh-CN" altLang="zh-CN" sz="2000" dirty="0">
                <a:solidFill>
                  <a:srgbClr val="595959"/>
                </a:solidFill>
                <a:latin typeface="微软雅黑" panose="020B0503020204020204" pitchFamily="34" charset="-122"/>
                <a:ea typeface="微软雅黑" panose="020B0503020204020204" pitchFamily="34" charset="-122"/>
                <a:cs typeface="+mn-ea"/>
              </a:rPr>
              <a:t>测试主要是测试</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的</a:t>
            </a:r>
            <a:r>
              <a:rPr lang="zh-CN" altLang="zh-CN" sz="2000">
                <a:solidFill>
                  <a:srgbClr val="1369B2"/>
                </a:solidFill>
                <a:latin typeface="微软雅黑" panose="020B0503020204020204" pitchFamily="34" charset="-122"/>
                <a:ea typeface="微软雅黑" panose="020B0503020204020204" pitchFamily="34" charset="-122"/>
                <a:cs typeface="+mn-ea"/>
              </a:rPr>
              <a:t>用户界面</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如窗口、菜单、对话框等</a:t>
            </a:r>
            <a:r>
              <a:rPr lang="zh-CN" altLang="en-US" sz="2000">
                <a:solidFill>
                  <a:srgbClr val="595959"/>
                </a:solidFill>
                <a:latin typeface="微软雅黑" panose="020B0503020204020204" pitchFamily="34" charset="-122"/>
                <a:ea typeface="微软雅黑" panose="020B0503020204020204" pitchFamily="34" charset="-122"/>
                <a:cs typeface="+mn-ea"/>
              </a:rPr>
              <a:t>）的</a:t>
            </a:r>
            <a:r>
              <a:rPr lang="zh-CN" altLang="zh-CN" sz="2000">
                <a:solidFill>
                  <a:srgbClr val="1369B2"/>
                </a:solidFill>
                <a:latin typeface="微软雅黑" panose="020B0503020204020204" pitchFamily="34" charset="-122"/>
                <a:ea typeface="微软雅黑" panose="020B0503020204020204" pitchFamily="34" charset="-122"/>
                <a:cs typeface="+mn-ea"/>
              </a:rPr>
              <a:t>布局</a:t>
            </a:r>
            <a:r>
              <a:rPr lang="zh-CN" altLang="zh-CN" sz="2000" dirty="0">
                <a:solidFill>
                  <a:srgbClr val="1369B2"/>
                </a:solidFill>
                <a:latin typeface="微软雅黑" panose="020B0503020204020204" pitchFamily="34" charset="-122"/>
                <a:ea typeface="微软雅黑" panose="020B0503020204020204" pitchFamily="34" charset="-122"/>
                <a:cs typeface="+mn-ea"/>
              </a:rPr>
              <a:t>风格</a:t>
            </a:r>
            <a:r>
              <a:rPr lang="zh-CN" altLang="zh-CN" sz="2000">
                <a:solidFill>
                  <a:srgbClr val="1369B2"/>
                </a:solidFill>
                <a:latin typeface="微软雅黑" panose="020B0503020204020204" pitchFamily="34" charset="-122"/>
                <a:ea typeface="微软雅黑" panose="020B0503020204020204" pitchFamily="34" charset="-122"/>
                <a:cs typeface="+mn-ea"/>
              </a:rPr>
              <a:t>是否满足</a:t>
            </a:r>
            <a:r>
              <a:rPr lang="zh-CN" altLang="en-US" sz="2000">
                <a:solidFill>
                  <a:srgbClr val="1369B2"/>
                </a:solidFill>
                <a:latin typeface="微软雅黑" panose="020B0503020204020204" pitchFamily="34" charset="-122"/>
                <a:ea typeface="微软雅黑" panose="020B0503020204020204" pitchFamily="34" charset="-122"/>
                <a:cs typeface="+mn-ea"/>
              </a:rPr>
              <a:t>用户</a:t>
            </a:r>
            <a:r>
              <a:rPr lang="zh-CN" altLang="zh-CN" sz="2000">
                <a:solidFill>
                  <a:srgbClr val="1369B2"/>
                </a:solidFill>
                <a:latin typeface="微软雅黑" panose="020B0503020204020204" pitchFamily="34" charset="-122"/>
                <a:ea typeface="微软雅黑" panose="020B0503020204020204" pitchFamily="34" charset="-122"/>
                <a:cs typeface="+mn-ea"/>
              </a:rPr>
              <a:t>要求</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文字表达是否简洁准确</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界面是否美观</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操作是否简便</a:t>
            </a:r>
            <a:r>
              <a:rPr lang="zh-CN" altLang="zh-CN" sz="2000" dirty="0">
                <a:solidFill>
                  <a:srgbClr val="595959"/>
                </a:solidFill>
                <a:latin typeface="微软雅黑" panose="020B0503020204020204" pitchFamily="34" charset="-122"/>
                <a:ea typeface="微软雅黑" panose="020B0503020204020204" pitchFamily="34" charset="-122"/>
                <a:cs typeface="+mn-ea"/>
              </a:rPr>
              <a:t>等。</a:t>
            </a:r>
            <a:r>
              <a:rPr lang="en-US" altLang="zh-CN" sz="2000" dirty="0">
                <a:solidFill>
                  <a:srgbClr val="595959"/>
                </a:solidFill>
                <a:latin typeface="微软雅黑" panose="020B0503020204020204" pitchFamily="34" charset="-122"/>
                <a:ea typeface="微软雅黑" panose="020B0503020204020204" pitchFamily="34" charset="-122"/>
                <a:cs typeface="+mn-ea"/>
              </a:rPr>
              <a:t>UI</a:t>
            </a:r>
            <a:r>
              <a:rPr lang="zh-CN" altLang="zh-CN" sz="2000" dirty="0">
                <a:solidFill>
                  <a:srgbClr val="595959"/>
                </a:solidFill>
                <a:latin typeface="微软雅黑" panose="020B0503020204020204" pitchFamily="34" charset="-122"/>
                <a:ea typeface="微软雅黑" panose="020B0503020204020204" pitchFamily="34" charset="-122"/>
                <a:cs typeface="+mn-ea"/>
              </a:rPr>
              <a:t>测试的目的是为用户提供相应的访问或浏览功能，确保用户界面符合公司或行业的</a:t>
            </a:r>
            <a:r>
              <a:rPr lang="zh-CN" altLang="zh-CN" sz="2000">
                <a:solidFill>
                  <a:srgbClr val="595959"/>
                </a:solidFill>
                <a:latin typeface="微软雅黑" panose="020B0503020204020204" pitchFamily="34" charset="-122"/>
                <a:ea typeface="微软雅黑" panose="020B0503020204020204" pitchFamily="34" charset="-122"/>
                <a:cs typeface="+mn-ea"/>
              </a:rPr>
              <a:t>标准，</a:t>
            </a:r>
            <a:r>
              <a:rPr lang="zh-CN" altLang="en-US" sz="2000">
                <a:solidFill>
                  <a:srgbClr val="595959"/>
                </a:solidFill>
                <a:latin typeface="微软雅黑" panose="020B0503020204020204" pitchFamily="34" charset="-122"/>
                <a:ea typeface="微软雅黑" panose="020B0503020204020204" pitchFamily="34" charset="-122"/>
                <a:cs typeface="+mn-ea"/>
              </a:rPr>
              <a:t>保证</a:t>
            </a:r>
            <a:r>
              <a:rPr lang="zh-CN" altLang="zh-CN" sz="2000">
                <a:solidFill>
                  <a:srgbClr val="1369B2"/>
                </a:solidFill>
                <a:latin typeface="微软雅黑" panose="020B0503020204020204" pitchFamily="34" charset="-122"/>
                <a:ea typeface="微软雅黑" panose="020B0503020204020204" pitchFamily="34" charset="-122"/>
                <a:cs typeface="+mn-ea"/>
              </a:rPr>
              <a:t>用户</a:t>
            </a:r>
            <a:r>
              <a:rPr lang="zh-CN" altLang="zh-CN" sz="2000" dirty="0">
                <a:solidFill>
                  <a:srgbClr val="1369B2"/>
                </a:solidFill>
                <a:latin typeface="微软雅黑" panose="020B0503020204020204" pitchFamily="34" charset="-122"/>
                <a:ea typeface="微软雅黑" panose="020B0503020204020204" pitchFamily="34" charset="-122"/>
                <a:cs typeface="+mn-ea"/>
              </a:rPr>
              <a:t>界面的友好性</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易操作性</a:t>
            </a:r>
            <a:r>
              <a:rPr lang="zh-CN" altLang="zh-CN" sz="2000" dirty="0">
                <a:solidFill>
                  <a:srgbClr val="595959"/>
                </a:solidFill>
                <a:latin typeface="微软雅黑" panose="020B0503020204020204" pitchFamily="34" charset="-122"/>
                <a:ea typeface="微软雅黑" panose="020B0503020204020204" pitchFamily="34" charset="-122"/>
                <a:cs typeface="+mn-ea"/>
              </a:rPr>
              <a:t>等。</a:t>
            </a: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7.2.1 UI</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5" name="直接连接符 42"/>
          <p:cNvCxnSpPr/>
          <p:nvPr/>
        </p:nvCxnSpPr>
        <p:spPr>
          <a:xfrm flipH="1">
            <a:off x="4092989" y="3768370"/>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6" name="椭圆 5"/>
          <p:cNvSpPr/>
          <p:nvPr/>
        </p:nvSpPr>
        <p:spPr>
          <a:xfrm>
            <a:off x="5369133" y="3294999"/>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7" name="椭圆 6"/>
          <p:cNvSpPr/>
          <p:nvPr/>
        </p:nvSpPr>
        <p:spPr>
          <a:xfrm>
            <a:off x="5286522" y="3214497"/>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8" name="椭圆 7"/>
          <p:cNvSpPr/>
          <p:nvPr/>
        </p:nvSpPr>
        <p:spPr>
          <a:xfrm>
            <a:off x="5369132" y="3307900"/>
            <a:ext cx="923799" cy="923799"/>
          </a:xfrm>
          <a:prstGeom prst="ellipse">
            <a:avLst/>
          </a:prstGeom>
          <a:solidFill>
            <a:srgbClr val="ED7D3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9" name="直接连接符 41"/>
          <p:cNvCxnSpPr/>
          <p:nvPr/>
        </p:nvCxnSpPr>
        <p:spPr>
          <a:xfrm flipH="1">
            <a:off x="4092989" y="180397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43"/>
          <p:cNvCxnSpPr/>
          <p:nvPr/>
        </p:nvCxnSpPr>
        <p:spPr>
          <a:xfrm flipH="1">
            <a:off x="4092989" y="5481446"/>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44"/>
          <p:cNvCxnSpPr/>
          <p:nvPr/>
        </p:nvCxnSpPr>
        <p:spPr>
          <a:xfrm>
            <a:off x="4092989" y="1826165"/>
            <a:ext cx="0" cy="3635619"/>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3" name="椭圆 12"/>
          <p:cNvSpPr/>
          <p:nvPr/>
        </p:nvSpPr>
        <p:spPr>
          <a:xfrm>
            <a:off x="5286522" y="127229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nvSpPr>
        <p:spPr>
          <a:xfrm>
            <a:off x="5286522" y="490791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5" name="Freeform 176"/>
          <p:cNvSpPr>
            <a:spLocks noEditPoints="1"/>
          </p:cNvSpPr>
          <p:nvPr/>
        </p:nvSpPr>
        <p:spPr bwMode="auto">
          <a:xfrm>
            <a:off x="5537711" y="3501794"/>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nvSpPr>
        <p:spPr>
          <a:xfrm>
            <a:off x="5378496" y="136426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7" name="椭圆 16"/>
          <p:cNvSpPr/>
          <p:nvPr/>
        </p:nvSpPr>
        <p:spPr>
          <a:xfrm>
            <a:off x="5369134" y="5019547"/>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8" name="Freeform 175"/>
          <p:cNvSpPr>
            <a:spLocks noEditPoints="1"/>
          </p:cNvSpPr>
          <p:nvPr/>
        </p:nvSpPr>
        <p:spPr bwMode="auto">
          <a:xfrm>
            <a:off x="5593804" y="5146402"/>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9" name="Freeform 168"/>
          <p:cNvSpPr>
            <a:spLocks noEditPoints="1"/>
          </p:cNvSpPr>
          <p:nvPr/>
        </p:nvSpPr>
        <p:spPr bwMode="auto">
          <a:xfrm>
            <a:off x="5564170" y="1518361"/>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0" name="文本框 9"/>
          <p:cNvSpPr txBox="1"/>
          <p:nvPr/>
        </p:nvSpPr>
        <p:spPr>
          <a:xfrm>
            <a:off x="6493016" y="1274894"/>
            <a:ext cx="4281735" cy="4618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en-US" sz="2000" b="1" dirty="0">
                <a:solidFill>
                  <a:srgbClr val="1369B2"/>
                </a:solidFill>
              </a:rPr>
              <a:t>导航测试</a:t>
            </a:r>
          </a:p>
        </p:txBody>
      </p:sp>
      <p:sp>
        <p:nvSpPr>
          <p:cNvPr id="21" name="文本框 9"/>
          <p:cNvSpPr txBox="1"/>
          <p:nvPr/>
        </p:nvSpPr>
        <p:spPr>
          <a:xfrm>
            <a:off x="6523572" y="3287494"/>
            <a:ext cx="5238026" cy="58610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en-US" sz="2000" b="1" dirty="0">
                <a:solidFill>
                  <a:srgbClr val="1369B2"/>
                </a:solidFill>
              </a:rPr>
              <a:t>图形测试</a:t>
            </a:r>
            <a:endParaRPr lang="en-US" altLang="zh-CN" sz="2000" b="1" dirty="0">
              <a:solidFill>
                <a:srgbClr val="1369B2"/>
              </a:solidFill>
            </a:endParaRPr>
          </a:p>
        </p:txBody>
      </p:sp>
      <p:sp>
        <p:nvSpPr>
          <p:cNvPr id="22" name="文本框 9"/>
          <p:cNvSpPr txBox="1"/>
          <p:nvPr/>
        </p:nvSpPr>
        <p:spPr>
          <a:xfrm>
            <a:off x="6523572" y="5146402"/>
            <a:ext cx="5150377" cy="55964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en-US" sz="2000" b="1" dirty="0">
                <a:solidFill>
                  <a:srgbClr val="1369B2"/>
                </a:solidFill>
              </a:rPr>
              <a:t>内容</a:t>
            </a:r>
            <a:r>
              <a:rPr lang="zh-CN" altLang="zh-CN" sz="2000" b="1" dirty="0">
                <a:solidFill>
                  <a:srgbClr val="1369B2"/>
                </a:solidFill>
              </a:rPr>
              <a:t>测试</a:t>
            </a:r>
            <a:endParaRPr lang="en-US" altLang="zh-CN" sz="2000" b="1" dirty="0">
              <a:solidFill>
                <a:srgbClr val="1369B2"/>
              </a:solidFill>
            </a:endParaRPr>
          </a:p>
        </p:txBody>
      </p:sp>
      <p:sp>
        <p:nvSpPr>
          <p:cNvPr id="23" name="文本框 9"/>
          <p:cNvSpPr txBox="1"/>
          <p:nvPr/>
        </p:nvSpPr>
        <p:spPr>
          <a:xfrm>
            <a:off x="1271206" y="3501794"/>
            <a:ext cx="2771114" cy="602585"/>
          </a:xfrm>
          <a:prstGeom prst="rect">
            <a:avLst/>
          </a:prstGeom>
          <a:ln w="9525">
            <a:noFill/>
            <a:miter lim="800000"/>
          </a:ln>
          <a:extLst>
            <a:ext uri="{909E8E84-426E-40DD-AFC4-6F175D3DCCD1}">
              <a14:hiddenFill xmlns:a14="http://schemas.microsoft.com/office/drawing/2010/main">
                <a:solidFill>
                  <a:srgbClr val="FFFFFF"/>
                </a:solidFill>
              </a14:hiddenFill>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en-US" altLang="zh-CN" sz="2000" b="1">
                <a:solidFill>
                  <a:srgbClr val="595959"/>
                </a:solidFill>
                <a:cs typeface="+mn-ea"/>
              </a:rPr>
              <a:t>App</a:t>
            </a:r>
            <a:r>
              <a:rPr lang="zh-CN" altLang="zh-CN" sz="2000" b="1">
                <a:solidFill>
                  <a:srgbClr val="595959"/>
                </a:solidFill>
                <a:cs typeface="+mn-ea"/>
              </a:rPr>
              <a:t>的</a:t>
            </a:r>
            <a:r>
              <a:rPr lang="en-US" altLang="zh-CN" sz="2000" b="1">
                <a:solidFill>
                  <a:srgbClr val="595959"/>
                </a:solidFill>
                <a:cs typeface="+mn-ea"/>
              </a:rPr>
              <a:t>UI</a:t>
            </a:r>
            <a:r>
              <a:rPr lang="zh-CN" altLang="zh-CN" sz="2000" b="1">
                <a:solidFill>
                  <a:srgbClr val="595959"/>
                </a:solidFill>
                <a:cs typeface="+mn-ea"/>
              </a:rPr>
              <a:t>测试</a:t>
            </a:r>
            <a:r>
              <a:rPr lang="zh-CN" altLang="en-US" sz="2000" b="1">
                <a:solidFill>
                  <a:srgbClr val="595959"/>
                </a:solidFill>
                <a:cs typeface="+mn-ea"/>
              </a:rPr>
              <a:t>的</a:t>
            </a:r>
            <a:r>
              <a:rPr lang="en-US" altLang="zh-CN" sz="2000" b="1">
                <a:solidFill>
                  <a:srgbClr val="595959"/>
                </a:solidFill>
                <a:cs typeface="+mn-ea"/>
              </a:rPr>
              <a:t>3</a:t>
            </a:r>
            <a:r>
              <a:rPr lang="zh-CN" altLang="zh-CN" sz="2000" b="1">
                <a:solidFill>
                  <a:srgbClr val="595959"/>
                </a:solidFill>
                <a:cs typeface="+mn-ea"/>
              </a:rPr>
              <a:t>个要点</a:t>
            </a:r>
            <a:endParaRPr lang="zh-CN" altLang="en-US" sz="2000" b="1" dirty="0">
              <a:solidFill>
                <a:srgbClr val="595959"/>
              </a:solidFill>
              <a:cs typeface="+mn-ea"/>
            </a:endParaRPr>
          </a:p>
        </p:txBody>
      </p:sp>
      <p:sp>
        <p:nvSpPr>
          <p:cNvPr id="24" name="TextBox 33"/>
          <p:cNvSpPr txBox="1"/>
          <p:nvPr/>
        </p:nvSpPr>
        <p:spPr>
          <a:xfrm>
            <a:off x="6501914" y="1807456"/>
            <a:ext cx="3821508" cy="664797"/>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charset="-122"/>
                <a:ea typeface="微软雅黑 Light" panose="020B0502040204020203"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nSpc>
                <a:spcPct val="120000"/>
              </a:lnSpc>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由于</a:t>
            </a:r>
            <a:r>
              <a:rPr lang="zh-CN" altLang="zh-CN" sz="1800" dirty="0">
                <a:solidFill>
                  <a:srgbClr val="0070C0"/>
                </a:solidFill>
                <a:latin typeface="微软雅黑" panose="020B0503020204020204" pitchFamily="34" charset="-122"/>
                <a:ea typeface="微软雅黑" panose="020B0503020204020204" pitchFamily="34" charset="-122"/>
              </a:rPr>
              <a:t>移动设备屏幕窄小</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800" dirty="0">
                <a:solidFill>
                  <a:srgbClr val="0070C0"/>
                </a:solidFill>
                <a:latin typeface="微软雅黑" panose="020B0503020204020204" pitchFamily="34" charset="-122"/>
                <a:ea typeface="微软雅黑" panose="020B0503020204020204" pitchFamily="34" charset="-122"/>
              </a:rPr>
              <a:t>显示信息有限</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，所以</a:t>
            </a: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rPr>
              <a:t>App</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界面的导航尤其重要</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6394269" y="3801580"/>
            <a:ext cx="4812867" cy="923330"/>
          </a:xfrm>
          <a:prstGeom prst="rect">
            <a:avLst/>
          </a:prstGeom>
        </p:spPr>
        <p:txBody>
          <a:bodyPr wrap="square">
            <a:spAutoFit/>
          </a:bodyPr>
          <a:lstStyle/>
          <a:p>
            <a:pPr>
              <a:lnSpc>
                <a:spcPct val="150000"/>
              </a:lnSpc>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图形测试包括</a:t>
            </a:r>
            <a:r>
              <a:rPr lang="zh-CN" altLang="zh-CN" sz="1800" dirty="0">
                <a:solidFill>
                  <a:srgbClr val="0070C0"/>
                </a:solidFill>
                <a:latin typeface="微软雅黑" panose="020B0503020204020204" pitchFamily="34" charset="-122"/>
                <a:ea typeface="微软雅黑" panose="020B0503020204020204" pitchFamily="34" charset="-122"/>
              </a:rPr>
              <a:t>图片</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800" dirty="0">
                <a:solidFill>
                  <a:srgbClr val="0070C0"/>
                </a:solidFill>
                <a:latin typeface="微软雅黑" panose="020B0503020204020204" pitchFamily="34" charset="-122"/>
                <a:ea typeface="微软雅黑" panose="020B0503020204020204" pitchFamily="34" charset="-122"/>
              </a:rPr>
              <a:t>边框</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800">
                <a:solidFill>
                  <a:srgbClr val="0070C0"/>
                </a:solidFill>
                <a:latin typeface="微软雅黑" panose="020B0503020204020204" pitchFamily="34" charset="-122"/>
                <a:ea typeface="微软雅黑" panose="020B0503020204020204" pitchFamily="34" charset="-122"/>
              </a:rPr>
              <a:t>颜色</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800">
                <a:solidFill>
                  <a:srgbClr val="0070C0"/>
                </a:solidFill>
                <a:latin typeface="微软雅黑" panose="020B0503020204020204" pitchFamily="34" charset="-122"/>
                <a:ea typeface="微软雅黑" panose="020B0503020204020204" pitchFamily="34" charset="-122"/>
              </a:rPr>
              <a:t>按钮</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等，要确保每一个图形都有明确用途。</a:t>
            </a:r>
          </a:p>
        </p:txBody>
      </p:sp>
      <p:sp>
        <p:nvSpPr>
          <p:cNvPr id="4" name="矩形 3"/>
          <p:cNvSpPr/>
          <p:nvPr/>
        </p:nvSpPr>
        <p:spPr>
          <a:xfrm>
            <a:off x="6357674" y="5619708"/>
            <a:ext cx="4323978" cy="507831"/>
          </a:xfrm>
          <a:prstGeom prst="rect">
            <a:avLst/>
          </a:prstGeom>
        </p:spPr>
        <p:txBody>
          <a:bodyPr wrap="square">
            <a:spAutoFit/>
          </a:bodyPr>
          <a:lstStyle/>
          <a:p>
            <a:pPr>
              <a:lnSpc>
                <a:spcPct val="150000"/>
              </a:lnSpc>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内容测试主要是</a:t>
            </a:r>
            <a:r>
              <a:rPr lang="zh-CN" altLang="zh-CN" sz="1800" dirty="0">
                <a:solidFill>
                  <a:srgbClr val="0070C0"/>
                </a:solidFill>
                <a:latin typeface="微软雅黑" panose="020B0503020204020204" pitchFamily="34" charset="-122"/>
                <a:ea typeface="微软雅黑" panose="020B0503020204020204" pitchFamily="34" charset="-122"/>
              </a:rPr>
              <a:t>测试文字的使用情况</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7.2.1 UI</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1309471" y="1197794"/>
            <a:ext cx="7128000" cy="553998"/>
          </a:xfrm>
          <a:prstGeom prst="rect">
            <a:avLst/>
          </a:prstGeom>
          <a:noFill/>
        </p:spPr>
        <p:txBody>
          <a:bodyPr wrap="square" rtlCol="0">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zh-CN" altLang="en-US" sz="2000">
                <a:solidFill>
                  <a:srgbClr val="595959"/>
                </a:solidFill>
                <a:latin typeface="微软雅黑" panose="020B0503020204020204" pitchFamily="34" charset="-122"/>
                <a:ea typeface="微软雅黑" panose="020B0503020204020204" pitchFamily="34" charset="-122"/>
                <a:cs typeface="+mn-ea"/>
              </a:rPr>
              <a:t>进行</a:t>
            </a:r>
            <a:r>
              <a:rPr lang="zh-CN" altLang="zh-CN" sz="2000">
                <a:solidFill>
                  <a:srgbClr val="1369B2"/>
                </a:solidFill>
                <a:latin typeface="微软雅黑" panose="020B0503020204020204" pitchFamily="34" charset="-122"/>
                <a:ea typeface="微软雅黑" panose="020B0503020204020204" pitchFamily="34" charset="-122"/>
                <a:cs typeface="+mn-ea"/>
              </a:rPr>
              <a:t>导航</a:t>
            </a:r>
            <a:r>
              <a:rPr lang="zh-CN" altLang="zh-CN" sz="2000" dirty="0">
                <a:solidFill>
                  <a:srgbClr val="1369B2"/>
                </a:solidFill>
                <a:latin typeface="微软雅黑" panose="020B0503020204020204" pitchFamily="34" charset="-122"/>
                <a:ea typeface="微软雅黑" panose="020B0503020204020204" pitchFamily="34" charset="-122"/>
                <a:cs typeface="+mn-ea"/>
              </a:rPr>
              <a:t>测试</a:t>
            </a:r>
            <a:r>
              <a:rPr lang="zh-CN" altLang="zh-CN" sz="2000" dirty="0">
                <a:solidFill>
                  <a:srgbClr val="595959"/>
                </a:solidFill>
                <a:latin typeface="微软雅黑" panose="020B0503020204020204" pitchFamily="34" charset="-122"/>
                <a:ea typeface="微软雅黑" panose="020B0503020204020204" pitchFamily="34" charset="-122"/>
                <a:cs typeface="+mn-ea"/>
              </a:rPr>
              <a:t>时，通常需要考虑</a:t>
            </a:r>
            <a:r>
              <a:rPr lang="zh-CN" altLang="zh-CN" sz="2000">
                <a:solidFill>
                  <a:srgbClr val="595959"/>
                </a:solidFill>
                <a:latin typeface="微软雅黑" panose="020B0503020204020204" pitchFamily="34" charset="-122"/>
                <a:ea typeface="微软雅黑" panose="020B0503020204020204" pitchFamily="34" charset="-122"/>
                <a:cs typeface="+mn-ea"/>
              </a:rPr>
              <a:t>以下</a:t>
            </a:r>
            <a:r>
              <a:rPr lang="en-US" altLang="zh-CN" sz="2000">
                <a:solidFill>
                  <a:srgbClr val="595959"/>
                </a:solidFill>
                <a:latin typeface="微软雅黑" panose="020B0503020204020204" pitchFamily="34" charset="-122"/>
                <a:ea typeface="微软雅黑" panose="020B0503020204020204" pitchFamily="34" charset="-122"/>
                <a:cs typeface="+mn-ea"/>
              </a:rPr>
              <a:t>4</a:t>
            </a:r>
            <a:r>
              <a:rPr lang="zh-CN" altLang="zh-CN" sz="2000">
                <a:solidFill>
                  <a:srgbClr val="595959"/>
                </a:solidFill>
                <a:latin typeface="微软雅黑" panose="020B0503020204020204" pitchFamily="34" charset="-122"/>
                <a:ea typeface="微软雅黑" panose="020B0503020204020204" pitchFamily="34" charset="-122"/>
                <a:cs typeface="+mn-ea"/>
              </a:rPr>
              <a:t>点</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9" name="MH_Text_1"/>
          <p:cNvSpPr txBox="1">
            <a:spLocks noChangeArrowheads="1"/>
          </p:cNvSpPr>
          <p:nvPr>
            <p:custDataLst>
              <p:tags r:id="rId1"/>
            </p:custDataLst>
          </p:nvPr>
        </p:nvSpPr>
        <p:spPr bwMode="auto">
          <a:xfrm>
            <a:off x="1232054" y="3212943"/>
            <a:ext cx="3283177"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lvl="0" defTabSz="508000" eaLnBrk="0">
              <a:lnSpc>
                <a:spcPct val="150000"/>
              </a:lnSpc>
              <a:defRPr/>
            </a:pPr>
            <a:r>
              <a:rPr lang="zh-CN" altLang="zh-CN" sz="1800" dirty="0">
                <a:solidFill>
                  <a:srgbClr val="595959"/>
                </a:solidFill>
                <a:latin typeface="微软雅黑" panose="020B0503020204020204" pitchFamily="34" charset="-122"/>
                <a:cs typeface="+mn-ea"/>
              </a:rPr>
              <a:t>在</a:t>
            </a:r>
            <a:r>
              <a:rPr lang="en-US" altLang="zh-CN" sz="1800" dirty="0">
                <a:solidFill>
                  <a:srgbClr val="595959"/>
                </a:solidFill>
                <a:latin typeface="微软雅黑" panose="020B0503020204020204" pitchFamily="34" charset="-122"/>
                <a:cs typeface="+mn-ea"/>
              </a:rPr>
              <a:t>App</a:t>
            </a:r>
            <a:r>
              <a:rPr lang="zh-CN" altLang="zh-CN" sz="1800" dirty="0">
                <a:solidFill>
                  <a:srgbClr val="595959"/>
                </a:solidFill>
                <a:latin typeface="微软雅黑" panose="020B0503020204020204" pitchFamily="34" charset="-122"/>
                <a:cs typeface="+mn-ea"/>
              </a:rPr>
              <a:t>功能界面之间</a:t>
            </a:r>
            <a:r>
              <a:rPr lang="zh-CN" altLang="zh-CN" sz="1800" dirty="0">
                <a:solidFill>
                  <a:srgbClr val="1369B2"/>
                </a:solidFill>
                <a:latin typeface="微软雅黑" panose="020B0503020204020204" pitchFamily="34" charset="-122"/>
                <a:cs typeface="+mn-ea"/>
              </a:rPr>
              <a:t>是否有按钮</a:t>
            </a:r>
            <a:r>
              <a:rPr lang="zh-CN" altLang="zh-CN" sz="1800" dirty="0">
                <a:solidFill>
                  <a:srgbClr val="595959"/>
                </a:solidFill>
                <a:latin typeface="微软雅黑" panose="020B0503020204020204" pitchFamily="34" charset="-122"/>
                <a:cs typeface="+mn-ea"/>
              </a:rPr>
              <a:t>和</a:t>
            </a:r>
            <a:r>
              <a:rPr lang="zh-CN" altLang="zh-CN" sz="1800" dirty="0">
                <a:solidFill>
                  <a:srgbClr val="1369B2"/>
                </a:solidFill>
                <a:latin typeface="微软雅黑" panose="020B0503020204020204" pitchFamily="34" charset="-122"/>
                <a:cs typeface="+mn-ea"/>
              </a:rPr>
              <a:t>窗口导航</a:t>
            </a:r>
            <a:r>
              <a:rPr lang="zh-CN" altLang="zh-CN" sz="1800" dirty="0">
                <a:solidFill>
                  <a:srgbClr val="595959"/>
                </a:solidFill>
                <a:latin typeface="微软雅黑" panose="020B0503020204020204" pitchFamily="34" charset="-122"/>
                <a:cs typeface="+mn-ea"/>
              </a:rPr>
              <a:t>。</a:t>
            </a:r>
            <a:endParaRPr lang="zh-CN" altLang="en-US" sz="1800" dirty="0">
              <a:solidFill>
                <a:srgbClr val="595959"/>
              </a:solidFill>
              <a:latin typeface="微软雅黑" panose="020B0503020204020204" pitchFamily="34" charset="-122"/>
              <a:cs typeface="+mn-ea"/>
              <a:sym typeface="+mn-ea"/>
            </a:endParaRPr>
          </a:p>
        </p:txBody>
      </p:sp>
      <p:cxnSp>
        <p:nvCxnSpPr>
          <p:cNvPr id="11" name="MH_Other_1"/>
          <p:cNvCxnSpPr>
            <a:cxnSpLocks noChangeShapeType="1"/>
          </p:cNvCxnSpPr>
          <p:nvPr>
            <p:custDataLst>
              <p:tags r:id="rId2"/>
            </p:custDataLst>
          </p:nvPr>
        </p:nvCxnSpPr>
        <p:spPr bwMode="auto">
          <a:xfrm rot="10800000">
            <a:off x="2784159" y="4610736"/>
            <a:ext cx="2503487" cy="296863"/>
          </a:xfrm>
          <a:prstGeom prst="bentConnector3">
            <a:avLst>
              <a:gd name="adj1" fmla="val 33894"/>
            </a:avLst>
          </a:prstGeom>
          <a:noFill/>
          <a:ln w="3175" algn="ctr">
            <a:solidFill>
              <a:srgbClr val="014076"/>
            </a:solidFill>
            <a:prstDash val="sysDash"/>
            <a:miter lim="800000"/>
          </a:ln>
          <a:extLst>
            <a:ext uri="{909E8E84-426E-40DD-AFC4-6F175D3DCCD1}">
              <a14:hiddenFill xmlns:a14="http://schemas.microsoft.com/office/drawing/2010/main">
                <a:noFill/>
              </a14:hiddenFill>
            </a:ext>
          </a:extLst>
        </p:spPr>
      </p:cxnSp>
      <p:sp>
        <p:nvSpPr>
          <p:cNvPr id="12" name="MH_Other_2"/>
          <p:cNvSpPr>
            <a:spLocks noEditPoints="1" noChangeArrowheads="1"/>
          </p:cNvSpPr>
          <p:nvPr>
            <p:custDataLst>
              <p:tags r:id="rId3"/>
            </p:custDataLst>
          </p:nvPr>
        </p:nvSpPr>
        <p:spPr bwMode="auto">
          <a:xfrm>
            <a:off x="5979796" y="1992949"/>
            <a:ext cx="1338263" cy="1641475"/>
          </a:xfrm>
          <a:custGeom>
            <a:avLst/>
            <a:gdLst>
              <a:gd name="T0" fmla="*/ 10391 w 21600"/>
              <a:gd name="T1" fmla="*/ 15806 h 21600"/>
              <a:gd name="T2" fmla="*/ 20551 w 21600"/>
              <a:gd name="T3" fmla="*/ 21088 h 21600"/>
              <a:gd name="T4" fmla="*/ 13180 w 21600"/>
              <a:gd name="T5" fmla="*/ 13801 h 21600"/>
              <a:gd name="T6" fmla="*/ 20551 w 21600"/>
              <a:gd name="T7" fmla="*/ 7025 h 21600"/>
              <a:gd name="T8" fmla="*/ 10500 w 21600"/>
              <a:gd name="T9" fmla="*/ 52 h 21600"/>
              <a:gd name="T10" fmla="*/ 692 w 21600"/>
              <a:gd name="T11" fmla="*/ 6802 h 21600"/>
              <a:gd name="T12" fmla="*/ 8064 w 21600"/>
              <a:gd name="T13" fmla="*/ 13526 h 21600"/>
              <a:gd name="T14" fmla="*/ 692 w 21600"/>
              <a:gd name="T15" fmla="*/ 21088 h 21600"/>
              <a:gd name="T16" fmla="*/ 2273 w 21600"/>
              <a:gd name="T17" fmla="*/ 7719 h 21600"/>
              <a:gd name="T18" fmla="*/ 19149 w 21600"/>
              <a:gd name="T19" fmla="*/ 202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sp>
        <p:nvSpPr>
          <p:cNvPr id="13" name="MH_Other_3"/>
          <p:cNvSpPr>
            <a:spLocks noEditPoints="1" noChangeArrowheads="1"/>
          </p:cNvSpPr>
          <p:nvPr>
            <p:custDataLst>
              <p:tags r:id="rId4"/>
            </p:custDataLst>
          </p:nvPr>
        </p:nvSpPr>
        <p:spPr bwMode="auto">
          <a:xfrm>
            <a:off x="5590859" y="3188336"/>
            <a:ext cx="2135187" cy="1495425"/>
          </a:xfrm>
          <a:custGeom>
            <a:avLst/>
            <a:gdLst>
              <a:gd name="T0" fmla="*/ 11 w 21600"/>
              <a:gd name="T1" fmla="*/ 13386 h 21600"/>
              <a:gd name="T2" fmla="*/ 4202 w 21600"/>
              <a:gd name="T3" fmla="*/ 21161 h 21600"/>
              <a:gd name="T4" fmla="*/ 10400 w 21600"/>
              <a:gd name="T5" fmla="*/ 13909 h 21600"/>
              <a:gd name="T6" fmla="*/ 16821 w 21600"/>
              <a:gd name="T7" fmla="*/ 21190 h 21600"/>
              <a:gd name="T8" fmla="*/ 21600 w 21600"/>
              <a:gd name="T9" fmla="*/ 15083 h 21600"/>
              <a:gd name="T10" fmla="*/ 16889 w 21600"/>
              <a:gd name="T11" fmla="*/ 5739 h 21600"/>
              <a:gd name="T12" fmla="*/ 10800 w 21600"/>
              <a:gd name="T13" fmla="*/ 28 h 21600"/>
              <a:gd name="T14" fmla="*/ 4202 w 21600"/>
              <a:gd name="T15" fmla="*/ 5894 h 21600"/>
              <a:gd name="T16" fmla="*/ 5388 w 21600"/>
              <a:gd name="T17" fmla="*/ 6742 h 21600"/>
              <a:gd name="T18" fmla="*/ 16177 w 21600"/>
              <a:gd name="T19" fmla="*/ 20441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sp>
        <p:nvSpPr>
          <p:cNvPr id="14" name="MH_Other_4"/>
          <p:cNvSpPr>
            <a:spLocks noEditPoints="1" noChangeArrowheads="1"/>
          </p:cNvSpPr>
          <p:nvPr>
            <p:custDataLst>
              <p:tags r:id="rId5"/>
            </p:custDataLst>
          </p:nvPr>
        </p:nvSpPr>
        <p:spPr bwMode="auto">
          <a:xfrm>
            <a:off x="4763771" y="3170873"/>
            <a:ext cx="1287463" cy="1909762"/>
          </a:xfrm>
          <a:custGeom>
            <a:avLst/>
            <a:gdLst>
              <a:gd name="T0" fmla="*/ 8307 w 21600"/>
              <a:gd name="T1" fmla="*/ 11593 h 21600"/>
              <a:gd name="T2" fmla="*/ 453 w 21600"/>
              <a:gd name="T3" fmla="*/ 16938 h 21600"/>
              <a:gd name="T4" fmla="*/ 11500 w 21600"/>
              <a:gd name="T5" fmla="*/ 21600 h 21600"/>
              <a:gd name="T6" fmla="*/ 20920 w 21600"/>
              <a:gd name="T7" fmla="*/ 16751 h 21600"/>
              <a:gd name="T8" fmla="*/ 13972 w 21600"/>
              <a:gd name="T9" fmla="*/ 10888 h 21600"/>
              <a:gd name="T10" fmla="*/ 21033 w 21600"/>
              <a:gd name="T11" fmla="*/ 4716 h 21600"/>
              <a:gd name="T12" fmla="*/ 11102 w 21600"/>
              <a:gd name="T13" fmla="*/ 11 h 21600"/>
              <a:gd name="T14" fmla="*/ 453 w 21600"/>
              <a:gd name="T15" fmla="*/ 4716 h 21600"/>
              <a:gd name="T16" fmla="*/ 2076 w 21600"/>
              <a:gd name="T17" fmla="*/ 5664 h 21600"/>
              <a:gd name="T18" fmla="*/ 20203 w 21600"/>
              <a:gd name="T19" fmla="*/ 1598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sp>
        <p:nvSpPr>
          <p:cNvPr id="15" name="MH_Other_5"/>
          <p:cNvSpPr>
            <a:spLocks noEditPoints="1" noChangeArrowheads="1"/>
          </p:cNvSpPr>
          <p:nvPr>
            <p:custDataLst>
              <p:tags r:id="rId6"/>
            </p:custDataLst>
          </p:nvPr>
        </p:nvSpPr>
        <p:spPr bwMode="auto">
          <a:xfrm>
            <a:off x="4322445" y="2489835"/>
            <a:ext cx="2160588" cy="1138238"/>
          </a:xfrm>
          <a:custGeom>
            <a:avLst/>
            <a:gdLst>
              <a:gd name="T0" fmla="*/ 16740 w 21600"/>
              <a:gd name="T1" fmla="*/ 21078 h 21600"/>
              <a:gd name="T2" fmla="*/ 16976 w 21600"/>
              <a:gd name="T3" fmla="*/ 521 h 21600"/>
              <a:gd name="T4" fmla="*/ 4725 w 21600"/>
              <a:gd name="T5" fmla="*/ 856 h 21600"/>
              <a:gd name="T6" fmla="*/ 5040 w 21600"/>
              <a:gd name="T7" fmla="*/ 21004 h 21600"/>
              <a:gd name="T8" fmla="*/ 10811 w 21600"/>
              <a:gd name="T9" fmla="*/ 12885 h 21600"/>
              <a:gd name="T10" fmla="*/ 10845 w 21600"/>
              <a:gd name="T11" fmla="*/ 8714 h 21600"/>
              <a:gd name="T12" fmla="*/ 21600 w 21600"/>
              <a:gd name="T13" fmla="*/ 10000 h 21600"/>
              <a:gd name="T14" fmla="*/ 56 w 21600"/>
              <a:gd name="T15" fmla="*/ 10000 h 21600"/>
              <a:gd name="T16" fmla="*/ 6086 w 21600"/>
              <a:gd name="T17" fmla="*/ 2569 h 21600"/>
              <a:gd name="T18" fmla="*/ 16132 w 21600"/>
              <a:gd name="T19" fmla="*/ 1955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0070C0"/>
          </a:solidFill>
          <a:ln w="28575">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lt"/>
            </a:endParaRPr>
          </a:p>
        </p:txBody>
      </p:sp>
      <p:cxnSp>
        <p:nvCxnSpPr>
          <p:cNvPr id="16" name="MH_Other_6"/>
          <p:cNvCxnSpPr>
            <a:cxnSpLocks noChangeShapeType="1"/>
          </p:cNvCxnSpPr>
          <p:nvPr>
            <p:custDataLst>
              <p:tags r:id="rId7"/>
            </p:custDataLst>
          </p:nvPr>
        </p:nvCxnSpPr>
        <p:spPr bwMode="auto">
          <a:xfrm>
            <a:off x="6792596" y="2205673"/>
            <a:ext cx="2570163" cy="284162"/>
          </a:xfrm>
          <a:prstGeom prst="bentConnector3">
            <a:avLst>
              <a:gd name="adj1" fmla="val 34458"/>
            </a:avLst>
          </a:prstGeom>
          <a:noFill/>
          <a:ln w="3175" algn="ctr">
            <a:solidFill>
              <a:srgbClr val="014076"/>
            </a:solidFill>
            <a:prstDash val="sysDash"/>
            <a:miter lim="800000"/>
          </a:ln>
          <a:extLst>
            <a:ext uri="{909E8E84-426E-40DD-AFC4-6F175D3DCCD1}">
              <a14:hiddenFill xmlns:a14="http://schemas.microsoft.com/office/drawing/2010/main">
                <a:noFill/>
              </a14:hiddenFill>
            </a:ext>
          </a:extLst>
        </p:spPr>
      </p:cxnSp>
      <p:sp>
        <p:nvSpPr>
          <p:cNvPr id="18" name="MH_Text_2"/>
          <p:cNvSpPr txBox="1">
            <a:spLocks noChangeArrowheads="1"/>
          </p:cNvSpPr>
          <p:nvPr>
            <p:custDataLst>
              <p:tags r:id="rId8"/>
            </p:custDataLst>
          </p:nvPr>
        </p:nvSpPr>
        <p:spPr bwMode="auto">
          <a:xfrm>
            <a:off x="7785941" y="2815021"/>
            <a:ext cx="3153635" cy="842963"/>
          </a:xfrm>
          <a:prstGeom prst="rect">
            <a:avLst/>
          </a:prstGeom>
          <a:noFill/>
          <a:ln>
            <a:noFill/>
          </a:ln>
          <a:extLst>
            <a:ext uri="{909E8E84-426E-40DD-AFC4-6F175D3DCCD1}">
              <a14:hiddenFill xmlns:a14="http://schemas.microsoft.com/office/drawing/2010/main">
                <a:solidFill>
                  <a:srgbClr val="FFFFFF"/>
                </a:solidFill>
              </a14:hiddenFill>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defTabSz="508000" eaLnBrk="0">
              <a:lnSpc>
                <a:spcPct val="150000"/>
              </a:lnSpc>
              <a:defRPr/>
            </a:pPr>
            <a:r>
              <a:rPr lang="zh-CN" altLang="zh-CN" sz="1800" dirty="0">
                <a:solidFill>
                  <a:srgbClr val="1369B2"/>
                </a:solidFill>
                <a:latin typeface="微软雅黑" panose="020B0503020204020204" pitchFamily="34" charset="-122"/>
                <a:cs typeface="+mn-ea"/>
              </a:rPr>
              <a:t>导航布局合理且直观</a:t>
            </a:r>
            <a:r>
              <a:rPr lang="zh-CN" altLang="zh-CN" sz="1800" dirty="0">
                <a:solidFill>
                  <a:srgbClr val="595959"/>
                </a:solidFill>
                <a:latin typeface="微软雅黑" panose="020B0503020204020204" pitchFamily="34" charset="-122"/>
                <a:cs typeface="+mn-ea"/>
              </a:rPr>
              <a:t>，</a:t>
            </a:r>
            <a:r>
              <a:rPr lang="zh-CN" altLang="zh-CN" sz="1800" dirty="0">
                <a:solidFill>
                  <a:srgbClr val="1369B2"/>
                </a:solidFill>
                <a:latin typeface="微软雅黑" panose="020B0503020204020204" pitchFamily="34" charset="-122"/>
                <a:cs typeface="+mn-ea"/>
              </a:rPr>
              <a:t>符合用户习惯。</a:t>
            </a:r>
            <a:endParaRPr lang="zh-CN" altLang="en-US" sz="1800" dirty="0">
              <a:solidFill>
                <a:srgbClr val="1369B2"/>
              </a:solidFill>
              <a:latin typeface="微软雅黑" panose="020B0503020204020204" pitchFamily="34" charset="-122"/>
              <a:cs typeface="+mn-ea"/>
              <a:sym typeface="+mn-ea"/>
            </a:endParaRPr>
          </a:p>
        </p:txBody>
      </p:sp>
      <p:sp>
        <p:nvSpPr>
          <p:cNvPr id="20" name="MH_Text_4"/>
          <p:cNvSpPr txBox="1">
            <a:spLocks noChangeArrowheads="1"/>
          </p:cNvSpPr>
          <p:nvPr>
            <p:custDataLst>
              <p:tags r:id="rId9"/>
            </p:custDataLst>
          </p:nvPr>
        </p:nvSpPr>
        <p:spPr bwMode="auto">
          <a:xfrm>
            <a:off x="1088496" y="4759168"/>
            <a:ext cx="3391323" cy="842962"/>
          </a:xfrm>
          <a:prstGeom prst="rect">
            <a:avLst/>
          </a:prstGeom>
          <a:noFill/>
          <a:ln>
            <a:noFill/>
          </a:ln>
          <a:extLst>
            <a:ext uri="{909E8E84-426E-40DD-AFC4-6F175D3DCCD1}">
              <a14:hiddenFill xmlns:a14="http://schemas.microsoft.com/office/drawing/2010/main">
                <a:solidFill>
                  <a:srgbClr val="FFFFFF"/>
                </a:solidFill>
              </a14:hiddenFill>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defTabSz="508000" eaLnBrk="0">
              <a:lnSpc>
                <a:spcPct val="150000"/>
              </a:lnSpc>
              <a:defRPr/>
            </a:pPr>
            <a:r>
              <a:rPr lang="zh-CN" altLang="zh-CN" sz="1800" dirty="0">
                <a:solidFill>
                  <a:srgbClr val="1369B2"/>
                </a:solidFill>
                <a:latin typeface="微软雅黑" panose="020B0503020204020204" pitchFamily="34" charset="-122"/>
                <a:cs typeface="+mn-ea"/>
              </a:rPr>
              <a:t>导航与</a:t>
            </a:r>
            <a:r>
              <a:rPr lang="en-US" altLang="zh-CN" sz="1800" dirty="0">
                <a:solidFill>
                  <a:srgbClr val="1369B2"/>
                </a:solidFill>
                <a:latin typeface="微软雅黑" panose="020B0503020204020204" pitchFamily="34" charset="-122"/>
                <a:cs typeface="+mn-ea"/>
              </a:rPr>
              <a:t>App</a:t>
            </a:r>
            <a:r>
              <a:rPr lang="zh-CN" altLang="zh-CN" sz="1800" dirty="0">
                <a:solidFill>
                  <a:srgbClr val="1369B2"/>
                </a:solidFill>
                <a:latin typeface="微软雅黑" panose="020B0503020204020204" pitchFamily="34" charset="-122"/>
                <a:cs typeface="+mn-ea"/>
              </a:rPr>
              <a:t>界面结构、</a:t>
            </a:r>
            <a:r>
              <a:rPr lang="zh-CN" altLang="zh-CN" sz="1800">
                <a:solidFill>
                  <a:srgbClr val="1369B2"/>
                </a:solidFill>
                <a:latin typeface="微软雅黑" panose="020B0503020204020204" pitchFamily="34" charset="-122"/>
                <a:cs typeface="+mn-ea"/>
              </a:rPr>
              <a:t>菜单、风格</a:t>
            </a:r>
            <a:r>
              <a:rPr lang="zh-CN" altLang="zh-CN" sz="1800" dirty="0">
                <a:solidFill>
                  <a:srgbClr val="1369B2"/>
                </a:solidFill>
                <a:latin typeface="微软雅黑" panose="020B0503020204020204" pitchFamily="34" charset="-122"/>
                <a:cs typeface="+mn-ea"/>
              </a:rPr>
              <a:t>是否一致。</a:t>
            </a:r>
          </a:p>
        </p:txBody>
      </p:sp>
      <p:sp>
        <p:nvSpPr>
          <p:cNvPr id="22" name="MH_Text_3"/>
          <p:cNvSpPr txBox="1">
            <a:spLocks noChangeArrowheads="1"/>
          </p:cNvSpPr>
          <p:nvPr>
            <p:custDataLst>
              <p:tags r:id="rId10"/>
            </p:custDataLst>
          </p:nvPr>
        </p:nvSpPr>
        <p:spPr bwMode="auto">
          <a:xfrm>
            <a:off x="7744848" y="4591159"/>
            <a:ext cx="3318358" cy="842962"/>
          </a:xfrm>
          <a:prstGeom prst="rect">
            <a:avLst/>
          </a:prstGeom>
          <a:noFill/>
          <a:ln>
            <a:noFill/>
          </a:ln>
          <a:extLst>
            <a:ext uri="{909E8E84-426E-40DD-AFC4-6F175D3DCCD1}">
              <a14:hiddenFill xmlns:a14="http://schemas.microsoft.com/office/drawing/2010/main">
                <a:solidFill>
                  <a:srgbClr val="FFFFFF"/>
                </a:solidFill>
              </a14:hiddenFill>
            </a:ext>
          </a:extLst>
        </p:spPr>
        <p:txBody>
          <a:bodyPr>
            <a:no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lvl="0" defTabSz="508000" eaLnBrk="0">
              <a:lnSpc>
                <a:spcPct val="150000"/>
              </a:lnSpc>
              <a:spcBef>
                <a:spcPts val="0"/>
              </a:spcBef>
              <a:spcAft>
                <a:spcPts val="0"/>
              </a:spcAft>
              <a:buClrTx/>
              <a:buSzTx/>
              <a:buFontTx/>
              <a:defRPr/>
            </a:pPr>
            <a:r>
              <a:rPr lang="zh-CN" altLang="zh-CN" sz="1800" dirty="0">
                <a:solidFill>
                  <a:srgbClr val="1369B2"/>
                </a:solidFill>
                <a:latin typeface="微软雅黑" panose="020B0503020204020204" pitchFamily="34" charset="-122"/>
                <a:cs typeface="+mn-ea"/>
              </a:rPr>
              <a:t>导航帮助是否准确，是否需要搜索引擎。</a:t>
            </a:r>
            <a:endParaRPr lang="zh-CN" altLang="en-US" sz="1800" dirty="0">
              <a:solidFill>
                <a:srgbClr val="1369B2"/>
              </a:solidFill>
              <a:latin typeface="微软雅黑" panose="020B0503020204020204" pitchFamily="34" charset="-122"/>
              <a:cs typeface="+mn-ea"/>
              <a:sym typeface="+mn-ea"/>
            </a:endParaRPr>
          </a:p>
        </p:txBody>
      </p:sp>
      <p:cxnSp>
        <p:nvCxnSpPr>
          <p:cNvPr id="23" name="MH_Other_7"/>
          <p:cNvCxnSpPr>
            <a:cxnSpLocks noChangeShapeType="1"/>
          </p:cNvCxnSpPr>
          <p:nvPr>
            <p:custDataLst>
              <p:tags r:id="rId11"/>
            </p:custDataLst>
          </p:nvPr>
        </p:nvCxnSpPr>
        <p:spPr bwMode="auto">
          <a:xfrm>
            <a:off x="7726046" y="4241165"/>
            <a:ext cx="1420813" cy="0"/>
          </a:xfrm>
          <a:prstGeom prst="line">
            <a:avLst/>
          </a:prstGeom>
          <a:noFill/>
          <a:ln w="3175" algn="ctr">
            <a:solidFill>
              <a:srgbClr val="014076"/>
            </a:solidFill>
            <a:prstDash val="sysDash"/>
            <a:round/>
          </a:ln>
          <a:extLst>
            <a:ext uri="{909E8E84-426E-40DD-AFC4-6F175D3DCCD1}">
              <a14:hiddenFill xmlns:a14="http://schemas.microsoft.com/office/drawing/2010/main">
                <a:noFill/>
              </a14:hiddenFill>
            </a:ext>
          </a:extLst>
        </p:spPr>
      </p:cxnSp>
      <p:cxnSp>
        <p:nvCxnSpPr>
          <p:cNvPr id="24" name="MH_Other_8"/>
          <p:cNvCxnSpPr>
            <a:cxnSpLocks noChangeShapeType="1"/>
          </p:cNvCxnSpPr>
          <p:nvPr>
            <p:custDataLst>
              <p:tags r:id="rId12"/>
            </p:custDataLst>
          </p:nvPr>
        </p:nvCxnSpPr>
        <p:spPr bwMode="auto">
          <a:xfrm>
            <a:off x="2665096" y="3059748"/>
            <a:ext cx="1673225" cy="0"/>
          </a:xfrm>
          <a:prstGeom prst="line">
            <a:avLst/>
          </a:prstGeom>
          <a:noFill/>
          <a:ln w="3175" algn="ctr">
            <a:solidFill>
              <a:srgbClr val="014076"/>
            </a:solidFill>
            <a:prstDash val="sysDash"/>
            <a:roun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7.2.1 UI</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Freeform 7"/>
          <p:cNvSpPr>
            <a:spLocks noChangeArrowheads="1"/>
          </p:cNvSpPr>
          <p:nvPr/>
        </p:nvSpPr>
        <p:spPr bwMode="auto">
          <a:xfrm>
            <a:off x="5303206" y="1413794"/>
            <a:ext cx="1384300" cy="1221316"/>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9" name="Freeform 8"/>
          <p:cNvSpPr>
            <a:spLocks noChangeArrowheads="1"/>
          </p:cNvSpPr>
          <p:nvPr/>
        </p:nvSpPr>
        <p:spPr bwMode="auto">
          <a:xfrm>
            <a:off x="3931605" y="2635109"/>
            <a:ext cx="1371600" cy="13208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1" name="Freeform 9"/>
          <p:cNvSpPr>
            <a:spLocks noChangeArrowheads="1"/>
          </p:cNvSpPr>
          <p:nvPr/>
        </p:nvSpPr>
        <p:spPr bwMode="auto">
          <a:xfrm>
            <a:off x="4719006" y="3955910"/>
            <a:ext cx="1274233" cy="1392767"/>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2" name="Freeform 10"/>
          <p:cNvSpPr>
            <a:spLocks noChangeArrowheads="1"/>
          </p:cNvSpPr>
          <p:nvPr/>
        </p:nvSpPr>
        <p:spPr bwMode="auto">
          <a:xfrm>
            <a:off x="5993239" y="3955910"/>
            <a:ext cx="1278467" cy="1392767"/>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3" name="Freeform 11"/>
          <p:cNvSpPr>
            <a:spLocks noChangeArrowheads="1"/>
          </p:cNvSpPr>
          <p:nvPr/>
        </p:nvSpPr>
        <p:spPr bwMode="auto">
          <a:xfrm>
            <a:off x="6687505" y="2635109"/>
            <a:ext cx="1371600" cy="13208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rgbClr val="0070C0"/>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4" name="矩形 7"/>
          <p:cNvSpPr>
            <a:spLocks noChangeArrowheads="1"/>
          </p:cNvSpPr>
          <p:nvPr/>
        </p:nvSpPr>
        <p:spPr bwMode="auto">
          <a:xfrm>
            <a:off x="5631719" y="1972594"/>
            <a:ext cx="72389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5" name="矩形 8"/>
          <p:cNvSpPr>
            <a:spLocks noChangeArrowheads="1"/>
          </p:cNvSpPr>
          <p:nvPr/>
        </p:nvSpPr>
        <p:spPr bwMode="auto">
          <a:xfrm>
            <a:off x="6833555" y="2843102"/>
            <a:ext cx="8763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6" name="矩形 9"/>
          <p:cNvSpPr>
            <a:spLocks noChangeArrowheads="1"/>
          </p:cNvSpPr>
          <p:nvPr/>
        </p:nvSpPr>
        <p:spPr bwMode="auto">
          <a:xfrm>
            <a:off x="6477955" y="4399806"/>
            <a:ext cx="7112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7" name="矩形 10"/>
          <p:cNvSpPr>
            <a:spLocks noChangeArrowheads="1"/>
          </p:cNvSpPr>
          <p:nvPr/>
        </p:nvSpPr>
        <p:spPr bwMode="auto">
          <a:xfrm>
            <a:off x="4877756" y="4423693"/>
            <a:ext cx="657952"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8" name="矩形 11"/>
          <p:cNvSpPr>
            <a:spLocks noChangeArrowheads="1"/>
          </p:cNvSpPr>
          <p:nvPr/>
        </p:nvSpPr>
        <p:spPr bwMode="auto">
          <a:xfrm>
            <a:off x="4479823" y="2897576"/>
            <a:ext cx="62256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9" name="TextBox 22"/>
          <p:cNvSpPr>
            <a:spLocks noChangeArrowheads="1"/>
          </p:cNvSpPr>
          <p:nvPr/>
        </p:nvSpPr>
        <p:spPr bwMode="auto">
          <a:xfrm>
            <a:off x="5133077" y="3207450"/>
            <a:ext cx="1724557" cy="7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ts val="2880"/>
              </a:lnSpc>
            </a:pPr>
            <a:r>
              <a:rPr lang="zh-CN" altLang="en-US" sz="2000" b="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图形测试通常需要考虑</a:t>
            </a:r>
            <a:r>
              <a:rPr lang="en-US" altLang="zh-CN" sz="2000" b="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b="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点</a:t>
            </a:r>
            <a:endParaRPr lang="zh-CN" altLang="en-US" sz="2000" b="1"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 name="矩形 1"/>
          <p:cNvSpPr/>
          <p:nvPr/>
        </p:nvSpPr>
        <p:spPr>
          <a:xfrm>
            <a:off x="6653461" y="1387735"/>
            <a:ext cx="3287991" cy="1015663"/>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图片质量高</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尺寸符合设计要求</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，能够</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显示清晰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7550979" y="3850107"/>
            <a:ext cx="3224228" cy="400110"/>
          </a:xfrm>
          <a:prstGeom prst="rect">
            <a:avLst/>
          </a:prstGeom>
        </p:spPr>
        <p:txBody>
          <a:bodyPr wrap="square">
            <a:spAutoFit/>
          </a:bodyPr>
          <a:lstStyle/>
          <a:p>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界面字体与标签风格一致。</a:t>
            </a:r>
            <a:endPar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p:nvPr/>
        </p:nvSpPr>
        <p:spPr>
          <a:xfrm>
            <a:off x="4078767" y="5348677"/>
            <a:ext cx="5217475" cy="1015663"/>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背景</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字体</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图片颜色搭配得当</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，整体使用</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颜色不宜过多</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，让</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用户视觉体验良好</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1639214" y="3683947"/>
            <a:ext cx="2895527" cy="961289"/>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界面中横向与竖向的控件操作方式统一。</a:t>
            </a:r>
            <a:endPar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2058807" y="1413794"/>
            <a:ext cx="3476901" cy="1477328"/>
          </a:xfrm>
          <a:prstGeom prst="rect">
            <a:avLst/>
          </a:prstGeom>
        </p:spPr>
        <p:txBody>
          <a:bodyPr wrap="square">
            <a:spAutoFit/>
          </a:bodyPr>
          <a:lstStyle/>
          <a:p>
            <a:pPr>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使用</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自</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适应界面设计</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，界面展示的内容根据窗口大小自适应。</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7.2.1 UI</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23"/>
          <p:cNvSpPr txBox="1"/>
          <p:nvPr/>
        </p:nvSpPr>
        <p:spPr>
          <a:xfrm>
            <a:off x="894966" y="981710"/>
            <a:ext cx="4751836" cy="552450"/>
          </a:xfrm>
          <a:prstGeom prst="rect">
            <a:avLst/>
          </a:prstGeom>
          <a:noFill/>
        </p:spPr>
        <p:txBody>
          <a:bodyPr wrap="square" rtlCol="0" anchor="t">
            <a:noAutofit/>
          </a:bodyPr>
          <a:lstStyle/>
          <a:p>
            <a:pPr algn="just">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内容测试</a:t>
            </a:r>
            <a:r>
              <a:rPr lang="zh-CN" altLang="zh-CN" sz="2000" dirty="0">
                <a:solidFill>
                  <a:srgbClr val="595959"/>
                </a:solidFill>
                <a:latin typeface="微软雅黑" panose="020B0503020204020204" pitchFamily="34" charset="-122"/>
                <a:ea typeface="微软雅黑" panose="020B0503020204020204" pitchFamily="34" charset="-122"/>
              </a:rPr>
              <a:t>通常需要考虑</a:t>
            </a:r>
            <a:r>
              <a:rPr lang="zh-CN" altLang="zh-CN" sz="2000">
                <a:solidFill>
                  <a:srgbClr val="595959"/>
                </a:solidFill>
                <a:latin typeface="微软雅黑" panose="020B0503020204020204" pitchFamily="34" charset="-122"/>
                <a:ea typeface="微软雅黑" panose="020B0503020204020204" pitchFamily="34" charset="-122"/>
              </a:rPr>
              <a:t>以下</a:t>
            </a:r>
            <a:r>
              <a:rPr lang="en-US" altLang="zh-CN" sz="2000">
                <a:solidFill>
                  <a:srgbClr val="595959"/>
                </a:solidFill>
                <a:latin typeface="微软雅黑" panose="020B0503020204020204" pitchFamily="34" charset="-122"/>
                <a:ea typeface="微软雅黑" panose="020B0503020204020204" pitchFamily="34" charset="-122"/>
              </a:rPr>
              <a:t>5</a:t>
            </a:r>
            <a:r>
              <a:rPr lang="zh-CN" altLang="zh-CN" sz="2000">
                <a:solidFill>
                  <a:srgbClr val="595959"/>
                </a:solidFill>
                <a:latin typeface="微软雅黑" panose="020B0503020204020204" pitchFamily="34" charset="-122"/>
                <a:ea typeface="微软雅黑" panose="020B0503020204020204" pitchFamily="34" charset="-122"/>
              </a:rPr>
              <a:t>点</a:t>
            </a:r>
            <a:r>
              <a:rPr lang="zh-CN" altLang="zh-CN" sz="2000" dirty="0">
                <a:solidFill>
                  <a:srgbClr val="595959"/>
                </a:solidFill>
                <a:latin typeface="微软雅黑" panose="020B0503020204020204" pitchFamily="34" charset="-122"/>
                <a:ea typeface="微软雅黑" panose="020B0503020204020204" pitchFamily="34" charset="-122"/>
              </a:rPr>
              <a:t>。</a:t>
            </a:r>
          </a:p>
        </p:txBody>
      </p:sp>
      <p:grpSp>
        <p:nvGrpSpPr>
          <p:cNvPr id="7" name="Group 14"/>
          <p:cNvGrpSpPr/>
          <p:nvPr/>
        </p:nvGrpSpPr>
        <p:grpSpPr>
          <a:xfrm>
            <a:off x="5379143" y="3421074"/>
            <a:ext cx="1414667" cy="1619124"/>
            <a:chOff x="5379142" y="2991066"/>
            <a:chExt cx="1414667" cy="1619124"/>
          </a:xfrm>
        </p:grpSpPr>
        <p:sp>
          <p:nvSpPr>
            <p:cNvPr id="8" name="Shape 1723"/>
            <p:cNvSpPr/>
            <p:nvPr/>
          </p:nvSpPr>
          <p:spPr>
            <a:xfrm rot="18900000">
              <a:off x="5379143"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9" name="Shape 1726"/>
            <p:cNvSpPr/>
            <p:nvPr/>
          </p:nvSpPr>
          <p:spPr>
            <a:xfrm rot="18900000">
              <a:off x="5379142"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2" name="Group 12"/>
          <p:cNvGrpSpPr/>
          <p:nvPr/>
        </p:nvGrpSpPr>
        <p:grpSpPr>
          <a:xfrm>
            <a:off x="3563871" y="3629417"/>
            <a:ext cx="1414667" cy="1619124"/>
            <a:chOff x="3563871" y="3199409"/>
            <a:chExt cx="1414666" cy="1619124"/>
          </a:xfrm>
        </p:grpSpPr>
        <p:sp>
          <p:nvSpPr>
            <p:cNvPr id="13" name="Shape 1722"/>
            <p:cNvSpPr/>
            <p:nvPr/>
          </p:nvSpPr>
          <p:spPr>
            <a:xfrm rot="8100000">
              <a:off x="3563871" y="3403867"/>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4" name="Shape 1729"/>
            <p:cNvSpPr/>
            <p:nvPr/>
          </p:nvSpPr>
          <p:spPr>
            <a:xfrm rot="8100000">
              <a:off x="3563871"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5" name="Group 11"/>
          <p:cNvGrpSpPr/>
          <p:nvPr/>
        </p:nvGrpSpPr>
        <p:grpSpPr>
          <a:xfrm>
            <a:off x="1743076" y="3421074"/>
            <a:ext cx="1414667" cy="1619124"/>
            <a:chOff x="1743076" y="2991066"/>
            <a:chExt cx="1414666" cy="1619124"/>
          </a:xfrm>
        </p:grpSpPr>
        <p:sp>
          <p:nvSpPr>
            <p:cNvPr id="17" name="Shape 1721"/>
            <p:cNvSpPr/>
            <p:nvPr/>
          </p:nvSpPr>
          <p:spPr>
            <a:xfrm rot="18900000">
              <a:off x="1743076"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8" name="Shape 1732"/>
            <p:cNvSpPr/>
            <p:nvPr/>
          </p:nvSpPr>
          <p:spPr>
            <a:xfrm rot="18900000">
              <a:off x="1743076"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9" name="Group 15"/>
          <p:cNvGrpSpPr/>
          <p:nvPr/>
        </p:nvGrpSpPr>
        <p:grpSpPr>
          <a:xfrm>
            <a:off x="7199937" y="3629417"/>
            <a:ext cx="1414667" cy="1619125"/>
            <a:chOff x="7199937" y="3199409"/>
            <a:chExt cx="1414666" cy="1619125"/>
          </a:xfrm>
        </p:grpSpPr>
        <p:sp>
          <p:nvSpPr>
            <p:cNvPr id="20" name="Shape 1724"/>
            <p:cNvSpPr/>
            <p:nvPr/>
          </p:nvSpPr>
          <p:spPr>
            <a:xfrm rot="8100000">
              <a:off x="7199937" y="3403868"/>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21" name="Shape 1735"/>
            <p:cNvSpPr/>
            <p:nvPr/>
          </p:nvSpPr>
          <p:spPr>
            <a:xfrm rot="8100000">
              <a:off x="7199937"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22" name="Group 16"/>
          <p:cNvGrpSpPr/>
          <p:nvPr/>
        </p:nvGrpSpPr>
        <p:grpSpPr>
          <a:xfrm>
            <a:off x="9015209" y="3421074"/>
            <a:ext cx="1414667" cy="1619124"/>
            <a:chOff x="9015209" y="2991066"/>
            <a:chExt cx="1414666" cy="1619124"/>
          </a:xfrm>
        </p:grpSpPr>
        <p:sp>
          <p:nvSpPr>
            <p:cNvPr id="23" name="Shape 1725"/>
            <p:cNvSpPr/>
            <p:nvPr/>
          </p:nvSpPr>
          <p:spPr>
            <a:xfrm rot="18900000">
              <a:off x="9015209"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24" name="Shape 1738"/>
            <p:cNvSpPr/>
            <p:nvPr/>
          </p:nvSpPr>
          <p:spPr>
            <a:xfrm rot="18900000">
              <a:off x="9015209"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dirty="0">
                <a:latin typeface="微软雅黑" panose="020B0503020204020204" pitchFamily="34" charset="-122"/>
                <a:ea typeface="微软雅黑" panose="020B0503020204020204" pitchFamily="34" charset="-122"/>
                <a:cs typeface="+mn-ea"/>
                <a:sym typeface="+mn-lt"/>
              </a:endParaRPr>
            </a:p>
          </p:txBody>
        </p:sp>
      </p:grpSp>
      <p:sp>
        <p:nvSpPr>
          <p:cNvPr id="30" name="TextBox 21"/>
          <p:cNvSpPr txBox="1"/>
          <p:nvPr/>
        </p:nvSpPr>
        <p:spPr>
          <a:xfrm>
            <a:off x="942620" y="1952370"/>
            <a:ext cx="3015578" cy="1246495"/>
          </a:xfrm>
          <a:prstGeom prst="rect">
            <a:avLst/>
          </a:prstGeom>
          <a:noFill/>
        </p:spPr>
        <p:txBody>
          <a:bodyPr wrap="square" lIns="0" tIns="0" rIns="0" bIns="0" rtlCol="0">
            <a:spAutoFit/>
          </a:bodyPr>
          <a:lstStyle/>
          <a:p>
            <a:pPr>
              <a:lnSpc>
                <a:spcPct val="15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文字是否表达准确</a:t>
            </a:r>
            <a:r>
              <a:rPr lang="zh-CN"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，例如，输入框或提示框中</a:t>
            </a:r>
            <a:r>
              <a:rPr lang="zh-CN" altLang="zh-CN" sz="1800">
                <a:solidFill>
                  <a:schemeClr val="tx1">
                    <a:lumMod val="85000"/>
                    <a:lumOff val="15000"/>
                  </a:schemeClr>
                </a:solidFill>
                <a:latin typeface="微软雅黑" panose="020B0503020204020204" pitchFamily="34" charset="-122"/>
                <a:ea typeface="微软雅黑" panose="020B0503020204020204" pitchFamily="34" charset="-122"/>
                <a:cs typeface="+mn-ea"/>
              </a:rPr>
              <a:t>的说明文</a:t>
            </a:r>
            <a:r>
              <a:rPr lang="zh-CN" altLang="en-US" sz="1800">
                <a:solidFill>
                  <a:schemeClr val="tx1">
                    <a:lumMod val="85000"/>
                    <a:lumOff val="15000"/>
                  </a:schemeClr>
                </a:solidFill>
                <a:latin typeface="微软雅黑" panose="020B0503020204020204" pitchFamily="34" charset="-122"/>
                <a:ea typeface="微软雅黑" panose="020B0503020204020204" pitchFamily="34" charset="-122"/>
                <a:cs typeface="+mn-ea"/>
              </a:rPr>
              <a:t>是否对应</a:t>
            </a:r>
            <a:r>
              <a:rPr lang="zh-CN" altLang="zh-CN" sz="1800">
                <a:solidFill>
                  <a:schemeClr val="tx1">
                    <a:lumMod val="85000"/>
                    <a:lumOff val="15000"/>
                  </a:schemeClr>
                </a:solidFill>
                <a:latin typeface="微软雅黑" panose="020B0503020204020204" pitchFamily="34" charset="-122"/>
                <a:ea typeface="微软雅黑" panose="020B0503020204020204" pitchFamily="34" charset="-122"/>
                <a:cs typeface="+mn-ea"/>
              </a:rPr>
              <a:t>当前</a:t>
            </a:r>
            <a:r>
              <a:rPr lang="zh-CN"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的功能。</a:t>
            </a:r>
          </a:p>
        </p:txBody>
      </p:sp>
      <p:sp>
        <p:nvSpPr>
          <p:cNvPr id="32" name="TextBox 22"/>
          <p:cNvSpPr txBox="1"/>
          <p:nvPr/>
        </p:nvSpPr>
        <p:spPr>
          <a:xfrm>
            <a:off x="3283751" y="5567521"/>
            <a:ext cx="2328369" cy="304250"/>
          </a:xfrm>
          <a:prstGeom prst="rect">
            <a:avLst/>
          </a:prstGeom>
          <a:noFill/>
        </p:spPr>
        <p:txBody>
          <a:bodyPr wrap="square" lIns="0" tIns="0" rIns="0" bIns="0" rtlCol="0">
            <a:spAutoFit/>
          </a:bodyPr>
          <a:lstStyle/>
          <a:p>
            <a:pPr algn="just">
              <a:lnSpc>
                <a:spcPct val="12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文字是否有错别字。</a:t>
            </a:r>
            <a:endParaRPr lang="en-US" altLang="zh-CN" sz="18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33" name="TextBox 23"/>
          <p:cNvSpPr txBox="1"/>
          <p:nvPr/>
        </p:nvSpPr>
        <p:spPr>
          <a:xfrm>
            <a:off x="5061823" y="2407095"/>
            <a:ext cx="2351979" cy="662641"/>
          </a:xfrm>
          <a:prstGeom prst="rect">
            <a:avLst/>
          </a:prstGeom>
          <a:noFill/>
        </p:spPr>
        <p:txBody>
          <a:bodyPr wrap="square" lIns="0" tIns="0" rIns="0" bIns="0" rtlCol="0">
            <a:spAutoFit/>
          </a:bodyPr>
          <a:lstStyle/>
          <a:p>
            <a:pPr algn="just">
              <a:lnSpc>
                <a:spcPct val="12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文字用语</a:t>
            </a:r>
            <a:r>
              <a:rPr lang="zh-CN" altLang="zh-CN" sz="1800">
                <a:solidFill>
                  <a:srgbClr val="0070C0"/>
                </a:solidFill>
                <a:latin typeface="微软雅黑" panose="020B0503020204020204" pitchFamily="34" charset="-122"/>
                <a:ea typeface="微软雅黑" panose="020B0503020204020204" pitchFamily="34" charset="-122"/>
                <a:cs typeface="+mn-ea"/>
              </a:rPr>
              <a:t>是否简洁</a:t>
            </a:r>
            <a:r>
              <a:rPr lang="zh-CN" altLang="en-US" sz="1800">
                <a:solidFill>
                  <a:srgbClr val="0070C0"/>
                </a:solidFill>
                <a:latin typeface="微软雅黑" panose="020B0503020204020204" pitchFamily="34" charset="-122"/>
                <a:ea typeface="微软雅黑" panose="020B0503020204020204" pitchFamily="34" charset="-122"/>
                <a:cs typeface="+mn-ea"/>
              </a:rPr>
              <a:t>、</a:t>
            </a:r>
            <a:r>
              <a:rPr lang="zh-CN" altLang="zh-CN" sz="1800">
                <a:solidFill>
                  <a:srgbClr val="0070C0"/>
                </a:solidFill>
                <a:latin typeface="微软雅黑" panose="020B0503020204020204" pitchFamily="34" charset="-122"/>
                <a:ea typeface="微软雅黑" panose="020B0503020204020204" pitchFamily="34" charset="-122"/>
                <a:cs typeface="+mn-ea"/>
              </a:rPr>
              <a:t>友好</a:t>
            </a:r>
            <a:r>
              <a:rPr lang="zh-CN" altLang="zh-CN" sz="1800" dirty="0">
                <a:solidFill>
                  <a:srgbClr val="0070C0"/>
                </a:solidFill>
                <a:latin typeface="微软雅黑" panose="020B0503020204020204" pitchFamily="34" charset="-122"/>
                <a:ea typeface="微软雅黑" panose="020B0503020204020204" pitchFamily="34" charset="-122"/>
                <a:cs typeface="+mn-ea"/>
              </a:rPr>
              <a:t>，是否存在表意不明。</a:t>
            </a:r>
            <a:endParaRPr lang="en-US" altLang="zh-CN" sz="18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34" name="TextBox 24"/>
          <p:cNvSpPr txBox="1"/>
          <p:nvPr/>
        </p:nvSpPr>
        <p:spPr>
          <a:xfrm>
            <a:off x="6753874" y="5587199"/>
            <a:ext cx="2328369" cy="304250"/>
          </a:xfrm>
          <a:prstGeom prst="rect">
            <a:avLst/>
          </a:prstGeom>
          <a:noFill/>
        </p:spPr>
        <p:txBody>
          <a:bodyPr wrap="square" lIns="0" tIns="0" rIns="0" bIns="0" rtlCol="0">
            <a:spAutoFit/>
          </a:bodyPr>
          <a:lstStyle/>
          <a:p>
            <a:pPr algn="just">
              <a:lnSpc>
                <a:spcPct val="12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文字是否有敏感性词汇。</a:t>
            </a:r>
            <a:endParaRPr lang="en-US" altLang="zh-CN" sz="18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35" name="TextBox 25"/>
          <p:cNvSpPr txBox="1"/>
          <p:nvPr/>
        </p:nvSpPr>
        <p:spPr>
          <a:xfrm>
            <a:off x="8722221" y="2633694"/>
            <a:ext cx="2328369" cy="304250"/>
          </a:xfrm>
          <a:prstGeom prst="rect">
            <a:avLst/>
          </a:prstGeom>
          <a:noFill/>
        </p:spPr>
        <p:txBody>
          <a:bodyPr wrap="square" lIns="0" tIns="0" rIns="0" bIns="0" rtlCol="0">
            <a:spAutoFit/>
          </a:bodyPr>
          <a:lstStyle/>
          <a:p>
            <a:pPr algn="just">
              <a:lnSpc>
                <a:spcPct val="12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文字长度是否有限制。</a:t>
            </a:r>
            <a:endParaRPr sz="1800" dirty="0">
              <a:solidFill>
                <a:srgbClr val="0070C0"/>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了解</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功能测试，能够</a:t>
            </a:r>
            <a:r>
              <a:rPr lang="zh-CN" altLang="zh-CN" sz="2000" dirty="0">
                <a:solidFill>
                  <a:srgbClr val="0070C0"/>
                </a:solidFill>
                <a:latin typeface="微软雅黑" panose="020B0503020204020204" pitchFamily="34" charset="-122"/>
                <a:ea typeface="微软雅黑" panose="020B0503020204020204" pitchFamily="34" charset="-122"/>
                <a:cs typeface="+mn-ea"/>
              </a:rPr>
              <a:t>描述</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功能测试的</a:t>
            </a:r>
            <a:r>
              <a:rPr lang="en-US" altLang="zh-CN" sz="2000" dirty="0">
                <a:solidFill>
                  <a:srgbClr val="0070C0"/>
                </a:solidFill>
                <a:latin typeface="微软雅黑" panose="020B0503020204020204" pitchFamily="34" charset="-122"/>
                <a:ea typeface="微软雅黑" panose="020B0503020204020204" pitchFamily="34" charset="-122"/>
                <a:cs typeface="+mn-ea"/>
              </a:rPr>
              <a:t>6</a:t>
            </a:r>
            <a:r>
              <a:rPr lang="zh-CN" altLang="zh-CN" sz="2000" dirty="0">
                <a:solidFill>
                  <a:srgbClr val="0070C0"/>
                </a:solidFill>
                <a:latin typeface="微软雅黑" panose="020B0503020204020204" pitchFamily="34" charset="-122"/>
                <a:ea typeface="微软雅黑" panose="020B0503020204020204" pitchFamily="34" charset="-122"/>
                <a:cs typeface="+mn-ea"/>
              </a:rPr>
              <a:t>个要点</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13174" y="993205"/>
            <a:ext cx="9936000" cy="1015663"/>
          </a:xfrm>
          <a:prstGeom prst="rect">
            <a:avLst/>
          </a:prstGeom>
        </p:spPr>
        <p:txBody>
          <a:bodyPr wrap="square">
            <a:spAutoFit/>
          </a:bodyPr>
          <a:lstStyle/>
          <a:p>
            <a:pPr>
              <a:lnSpc>
                <a:spcPct val="150000"/>
              </a:lnSpc>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功能测试主要根据软件需求说明</a:t>
            </a:r>
            <a:r>
              <a:rPr lang="zh-CN" altLang="zh-CN" sz="2000" dirty="0">
                <a:solidFill>
                  <a:srgbClr val="0070C0"/>
                </a:solidFill>
                <a:latin typeface="微软雅黑" panose="020B0503020204020204" pitchFamily="34" charset="-122"/>
                <a:ea typeface="微软雅黑" panose="020B0503020204020204" pitchFamily="34" charset="-122"/>
                <a:cs typeface="+mn-ea"/>
              </a:rPr>
              <a:t>验证</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的功能是否得到了正确的实现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功能测试要点</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如下图所示。</a:t>
            </a:r>
          </a:p>
        </p:txBody>
      </p:sp>
      <p:pic>
        <p:nvPicPr>
          <p:cNvPr id="5" name="图片 4"/>
          <p:cNvPicPr>
            <a:picLocks noChangeAspect="1"/>
          </p:cNvPicPr>
          <p:nvPr/>
        </p:nvPicPr>
        <p:blipFill>
          <a:blip r:embed="rId3"/>
          <a:stretch>
            <a:fillRect/>
          </a:stretch>
        </p:blipFill>
        <p:spPr>
          <a:xfrm>
            <a:off x="3071206" y="2178020"/>
            <a:ext cx="5222522" cy="410952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4651" y="2349794"/>
            <a:ext cx="9936000" cy="1477328"/>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在测试</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的注册功能时，测试人员需要根据软件需求说明，</a:t>
            </a:r>
            <a:r>
              <a:rPr lang="zh-CN" altLang="zh-CN" sz="2000">
                <a:solidFill>
                  <a:srgbClr val="0070C0"/>
                </a:solidFill>
                <a:latin typeface="微软雅黑" panose="020B0503020204020204" pitchFamily="34" charset="-122"/>
                <a:ea typeface="微软雅黑" panose="020B0503020204020204" pitchFamily="34" charset="-122"/>
                <a:cs typeface="+mn-ea"/>
              </a:rPr>
              <a:t>测试用户</a:t>
            </a:r>
            <a:r>
              <a:rPr lang="zh-CN" altLang="en-US" sz="2000">
                <a:solidFill>
                  <a:srgbClr val="0070C0"/>
                </a:solidFill>
                <a:latin typeface="微软雅黑" panose="020B0503020204020204" pitchFamily="34" charset="-122"/>
                <a:ea typeface="微软雅黑" panose="020B0503020204020204" pitchFamily="34" charset="-122"/>
                <a:cs typeface="+mn-ea"/>
              </a:rPr>
              <a:t>的</a:t>
            </a:r>
            <a:r>
              <a:rPr lang="zh-CN" altLang="zh-CN" sz="2000">
                <a:solidFill>
                  <a:srgbClr val="0070C0"/>
                </a:solidFill>
                <a:latin typeface="微软雅黑" panose="020B0503020204020204" pitchFamily="34" charset="-122"/>
                <a:ea typeface="微软雅黑" panose="020B0503020204020204" pitchFamily="34" charset="-122"/>
                <a:cs typeface="+mn-ea"/>
              </a:rPr>
              <a:t>注册</a:t>
            </a:r>
            <a:r>
              <a:rPr lang="zh-CN" altLang="zh-CN" sz="2000" dirty="0">
                <a:solidFill>
                  <a:srgbClr val="0070C0"/>
                </a:solidFill>
                <a:latin typeface="微软雅黑" panose="020B0503020204020204" pitchFamily="34" charset="-122"/>
                <a:ea typeface="微软雅黑" panose="020B0503020204020204" pitchFamily="34" charset="-122"/>
                <a:cs typeface="+mn-ea"/>
              </a:rPr>
              <a:t>信息是否符合</a:t>
            </a:r>
            <a:r>
              <a:rPr lang="zh-CN" altLang="zh-CN" sz="2000">
                <a:solidFill>
                  <a:srgbClr val="0070C0"/>
                </a:solidFill>
                <a:latin typeface="微软雅黑" panose="020B0503020204020204" pitchFamily="34" charset="-122"/>
                <a:ea typeface="微软雅黑" panose="020B0503020204020204" pitchFamily="34" charset="-122"/>
                <a:cs typeface="+mn-ea"/>
              </a:rPr>
              <a:t>规范</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例</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用户名、密码、手机</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号等</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是否符合规范。</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此外</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，还需要</a:t>
            </a:r>
            <a:r>
              <a:rPr lang="zh-CN" altLang="zh-CN" sz="2000" dirty="0">
                <a:solidFill>
                  <a:srgbClr val="0070C0"/>
                </a:solidFill>
                <a:latin typeface="微软雅黑" panose="020B0503020204020204" pitchFamily="34" charset="-122"/>
                <a:ea typeface="微软雅黑" panose="020B0503020204020204" pitchFamily="34" charset="-122"/>
                <a:cs typeface="+mn-ea"/>
              </a:rPr>
              <a:t>测试用户注册成功或失败时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是否给出相关提示</a:t>
            </a:r>
            <a:r>
              <a:rPr lang="zh-CN" altLang="zh-CN" sz="2000">
                <a:solidFill>
                  <a:srgbClr val="0070C0"/>
                </a:solidFill>
                <a:latin typeface="微软雅黑" panose="020B0503020204020204" pitchFamily="34" charset="-122"/>
                <a:ea typeface="微软雅黑" panose="020B0503020204020204" pitchFamily="34" charset="-122"/>
                <a:cs typeface="+mn-ea"/>
              </a:rPr>
              <a:t>信息</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5" name="圆角矩形 4"/>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注册</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3186600" y="1096246"/>
            <a:ext cx="5383515" cy="553998"/>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altLang="zh-CN" sz="2000" dirty="0">
                <a:solidFill>
                  <a:srgbClr val="0070C0"/>
                </a:solidFill>
                <a:latin typeface="微软雅黑" panose="020B0503020204020204" pitchFamily="34" charset="-122"/>
                <a:ea typeface="微软雅黑" panose="020B0503020204020204" pitchFamily="34" charset="-122"/>
                <a:cs typeface="+mn-ea"/>
              </a:rPr>
              <a:t>测试</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的登录功能</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时</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，通常</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以下</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4</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点。</a:t>
            </a:r>
          </a:p>
        </p:txBody>
      </p:sp>
      <p:grpSp>
        <p:nvGrpSpPr>
          <p:cNvPr id="9" name="组合 8"/>
          <p:cNvGrpSpPr/>
          <p:nvPr/>
        </p:nvGrpSpPr>
        <p:grpSpPr>
          <a:xfrm>
            <a:off x="2495206" y="2163538"/>
            <a:ext cx="7255470" cy="2756400"/>
            <a:chOff x="2381087" y="2772565"/>
            <a:chExt cx="7284851" cy="2093628"/>
          </a:xfrm>
        </p:grpSpPr>
        <p:sp>
          <p:nvSpPr>
            <p:cNvPr id="10" name="MH_Other_1"/>
            <p:cNvSpPr/>
            <p:nvPr>
              <p:custDataLst>
                <p:tags r:id="rId1"/>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Other_2"/>
            <p:cNvSpPr/>
            <p:nvPr>
              <p:custDataLst>
                <p:tags r:id="rId2"/>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3" name="MH_SubTitle_1"/>
            <p:cNvSpPr txBox="1">
              <a:spLocks noChangeArrowheads="1"/>
            </p:cNvSpPr>
            <p:nvPr>
              <p:custDataLst>
                <p:tags r:id="rId3"/>
              </p:custDataLst>
            </p:nvPr>
          </p:nvSpPr>
          <p:spPr bwMode="auto">
            <a:xfrm flipH="1">
              <a:off x="2601063" y="2772565"/>
              <a:ext cx="1125240" cy="305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登录方式</a:t>
              </a:r>
            </a:p>
          </p:txBody>
        </p:sp>
        <p:sp>
          <p:nvSpPr>
            <p:cNvPr id="14" name="MH_Other_3"/>
            <p:cNvSpPr/>
            <p:nvPr>
              <p:custDataLst>
                <p:tags r:id="rId4"/>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4"/>
            <p:cNvSpPr/>
            <p:nvPr>
              <p:custDataLst>
                <p:tags r:id="rId5"/>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6" name="MH_Other_5"/>
            <p:cNvSpPr/>
            <p:nvPr>
              <p:custDataLst>
                <p:tags r:id="rId6"/>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7" name="MH_Other_6"/>
            <p:cNvSpPr/>
            <p:nvPr>
              <p:custDataLst>
                <p:tags r:id="rId7"/>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8" name="MH_Other_7"/>
            <p:cNvSpPr/>
            <p:nvPr>
              <p:custDataLst>
                <p:tags r:id="rId8"/>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9" name="MH_Other_8"/>
            <p:cNvSpPr/>
            <p:nvPr>
              <p:custDataLst>
                <p:tags r:id="rId9"/>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0" name="MH_SubTitle_3"/>
            <p:cNvSpPr txBox="1">
              <a:spLocks noChangeArrowheads="1"/>
            </p:cNvSpPr>
            <p:nvPr>
              <p:custDataLst>
                <p:tags r:id="rId10"/>
              </p:custDataLst>
            </p:nvPr>
          </p:nvSpPr>
          <p:spPr bwMode="auto">
            <a:xfrm>
              <a:off x="8500631" y="4477890"/>
              <a:ext cx="1165307" cy="321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defTabSz="1087755">
                <a:lnSpc>
                  <a:spcPct val="12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超时登录</a:t>
              </a:r>
            </a:p>
          </p:txBody>
        </p:sp>
        <p:sp>
          <p:nvSpPr>
            <p:cNvPr id="21" name="MH_SubTitle_2"/>
            <p:cNvSpPr txBox="1">
              <a:spLocks noChangeArrowheads="1"/>
            </p:cNvSpPr>
            <p:nvPr>
              <p:custDataLst>
                <p:tags r:id="rId11"/>
              </p:custDataLst>
            </p:nvPr>
          </p:nvSpPr>
          <p:spPr bwMode="auto">
            <a:xfrm flipH="1">
              <a:off x="2381087" y="4498341"/>
              <a:ext cx="1345217" cy="30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多平台登录</a:t>
              </a:r>
            </a:p>
          </p:txBody>
        </p:sp>
      </p:grpSp>
      <p:sp>
        <p:nvSpPr>
          <p:cNvPr id="4" name="矩形 3"/>
          <p:cNvSpPr/>
          <p:nvPr/>
        </p:nvSpPr>
        <p:spPr>
          <a:xfrm>
            <a:off x="8552495" y="2163538"/>
            <a:ext cx="1723549" cy="400110"/>
          </a:xfrm>
          <a:prstGeom prst="rect">
            <a:avLst/>
          </a:prstGeom>
        </p:spPr>
        <p:txBody>
          <a:bodyPr wrap="none">
            <a:spAutoFit/>
          </a:bodyPr>
          <a:lstStyle/>
          <a:p>
            <a:r>
              <a:rPr lang="zh-CN"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mn-ea"/>
              </a:rPr>
              <a:t>切换账号登录</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22" name="矩形 21"/>
          <p:cNvSpPr/>
          <p:nvPr/>
        </p:nvSpPr>
        <p:spPr>
          <a:xfrm>
            <a:off x="1078953" y="2515034"/>
            <a:ext cx="3867924" cy="2308324"/>
          </a:xfrm>
          <a:prstGeom prst="rect">
            <a:avLst/>
          </a:prstGeom>
        </p:spPr>
        <p:txBody>
          <a:bodyPr wrap="square">
            <a:spAutoFit/>
          </a:bodyPr>
          <a:lstStyle/>
          <a:p>
            <a:pPr>
              <a:lnSpc>
                <a:spcPct val="150000"/>
              </a:lnSpc>
            </a:pP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登录方式</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有很多</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种，</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rPr>
              <a:t>例</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zh-CN" altLang="zh-CN" sz="1600" dirty="0">
                <a:solidFill>
                  <a:srgbClr val="0070C0"/>
                </a:solidFill>
                <a:latin typeface="微软雅黑" panose="020B0503020204020204" pitchFamily="34" charset="-122"/>
                <a:ea typeface="微软雅黑" panose="020B0503020204020204" pitchFamily="34" charset="-122"/>
                <a:cs typeface="+mn-ea"/>
              </a:rPr>
              <a:t>用户名与密码登录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短信验证登录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手势登录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人脸识别登录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指纹登录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第三方登录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QQ</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、微信）等，具体的测试实施过程，需要测试人员根据软件需求说明设计测试用例后</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再展开。</a:t>
            </a:r>
            <a:endPar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23" name="矩形 22"/>
          <p:cNvSpPr/>
          <p:nvPr/>
        </p:nvSpPr>
        <p:spPr>
          <a:xfrm>
            <a:off x="7977268" y="2727927"/>
            <a:ext cx="2585028" cy="830997"/>
          </a:xfrm>
          <a:prstGeom prst="rect">
            <a:avLst/>
          </a:prstGeom>
        </p:spPr>
        <p:txBody>
          <a:bodyPr wrap="square">
            <a:spAutoFit/>
          </a:bodyPr>
          <a:lstStyle/>
          <a:p>
            <a:pPr>
              <a:lnSpc>
                <a:spcPct val="150000"/>
              </a:lnSpc>
            </a:pP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当切换账号登录时，</a:t>
            </a:r>
            <a:r>
              <a:rPr lang="zh-CN" altLang="zh-CN" sz="1600" dirty="0">
                <a:solidFill>
                  <a:srgbClr val="0070C0"/>
                </a:solidFill>
                <a:latin typeface="微软雅黑" panose="020B0503020204020204" pitchFamily="34" charset="-122"/>
                <a:ea typeface="微软雅黑" panose="020B0503020204020204" pitchFamily="34" charset="-122"/>
                <a:cs typeface="+mn-ea"/>
              </a:rPr>
              <a:t>测试登录的信息是否及时更新</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24" name="矩形 23"/>
          <p:cNvSpPr/>
          <p:nvPr/>
        </p:nvSpPr>
        <p:spPr>
          <a:xfrm>
            <a:off x="1011041" y="4920847"/>
            <a:ext cx="3919866" cy="1569660"/>
          </a:xfrm>
          <a:prstGeom prst="rect">
            <a:avLst/>
          </a:prstGeom>
        </p:spPr>
        <p:txBody>
          <a:bodyPr wrap="square">
            <a:spAutoFit/>
          </a:bodyPr>
          <a:lstStyle/>
          <a:p>
            <a:pPr>
              <a:lnSpc>
                <a:spcPct val="150000"/>
              </a:lnSpc>
            </a:pP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有一些</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可以同时在移动端和</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PC</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端登录，在测试多平台同时登录时，需要关注</a:t>
            </a:r>
            <a:r>
              <a:rPr lang="en-US" altLang="zh-CN" sz="1600" dirty="0">
                <a:solidFill>
                  <a:srgbClr val="0070C0"/>
                </a:solidFill>
                <a:latin typeface="微软雅黑" panose="020B0503020204020204" pitchFamily="34" charset="-122"/>
                <a:ea typeface="微软雅黑" panose="020B0503020204020204" pitchFamily="34" charset="-122"/>
                <a:cs typeface="+mn-ea"/>
              </a:rPr>
              <a:t>App</a:t>
            </a:r>
            <a:r>
              <a:rPr lang="zh-CN" altLang="zh-CN" sz="1600" dirty="0">
                <a:solidFill>
                  <a:srgbClr val="0070C0"/>
                </a:solidFill>
                <a:latin typeface="微软雅黑" panose="020B0503020204020204" pitchFamily="34" charset="-122"/>
                <a:ea typeface="微软雅黑" panose="020B0503020204020204" pitchFamily="34" charset="-122"/>
                <a:cs typeface="+mn-ea"/>
              </a:rPr>
              <a:t>是否允许登录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是否给出提示信息</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是否及时看到数据的更新</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等。</a:t>
            </a:r>
          </a:p>
        </p:txBody>
      </p:sp>
      <p:sp>
        <p:nvSpPr>
          <p:cNvPr id="25" name="矩形 24"/>
          <p:cNvSpPr/>
          <p:nvPr/>
        </p:nvSpPr>
        <p:spPr>
          <a:xfrm>
            <a:off x="7815278" y="4940536"/>
            <a:ext cx="3197981" cy="1569660"/>
          </a:xfrm>
          <a:prstGeom prst="rect">
            <a:avLst/>
          </a:prstGeom>
        </p:spPr>
        <p:txBody>
          <a:bodyPr wrap="square">
            <a:spAutoFit/>
          </a:bodyPr>
          <a:lstStyle/>
          <a:p>
            <a:pPr>
              <a:lnSpc>
                <a:spcPct val="150000"/>
              </a:lnSpc>
            </a:pP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当用户登录的</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持续时间太</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rPr>
              <a:t>长时</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账号信息会在一定时间</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内过期</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altLang="zh-CN" sz="1600" dirty="0">
                <a:solidFill>
                  <a:srgbClr val="0070C0"/>
                </a:solidFill>
                <a:latin typeface="微软雅黑" panose="020B0503020204020204" pitchFamily="34" charset="-122"/>
                <a:ea typeface="微软雅黑" panose="020B0503020204020204" pitchFamily="34" charset="-122"/>
                <a:cs typeface="+mn-ea"/>
              </a:rPr>
              <a:t>超时登录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的情况下，</a:t>
            </a:r>
            <a:r>
              <a:rPr lang="zh-CN" altLang="zh-CN" sz="1600" dirty="0">
                <a:solidFill>
                  <a:srgbClr val="0070C0"/>
                </a:solidFill>
                <a:latin typeface="微软雅黑" panose="020B0503020204020204" pitchFamily="34" charset="-122"/>
                <a:ea typeface="微软雅黑" panose="020B0503020204020204" pitchFamily="34" charset="-122"/>
                <a:cs typeface="+mn-ea"/>
              </a:rPr>
              <a:t>测试</a:t>
            </a:r>
            <a:r>
              <a:rPr lang="en-US" altLang="zh-CN" sz="1600" dirty="0">
                <a:solidFill>
                  <a:srgbClr val="0070C0"/>
                </a:solidFill>
                <a:latin typeface="微软雅黑" panose="020B0503020204020204" pitchFamily="34" charset="-122"/>
                <a:ea typeface="微软雅黑" panose="020B0503020204020204" pitchFamily="34" charset="-122"/>
                <a:cs typeface="+mn-ea"/>
              </a:rPr>
              <a:t>App</a:t>
            </a:r>
            <a:r>
              <a:rPr lang="zh-CN" altLang="zh-CN" sz="1600" dirty="0">
                <a:solidFill>
                  <a:srgbClr val="0070C0"/>
                </a:solidFill>
                <a:latin typeface="微软雅黑" panose="020B0503020204020204" pitchFamily="34" charset="-122"/>
                <a:ea typeface="微软雅黑" panose="020B0503020204020204" pitchFamily="34" charset="-122"/>
                <a:cs typeface="+mn-ea"/>
              </a:rPr>
              <a:t>是否给出提示信息</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27" name="圆角矩形 26"/>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登录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07672" y="2349794"/>
            <a:ext cx="10135515" cy="1477328"/>
          </a:xfrm>
          <a:prstGeom prst="rect">
            <a:avLst/>
          </a:prstGeom>
        </p:spPr>
        <p:txBody>
          <a:bodyPr wrap="square">
            <a:spAutoFit/>
          </a:bodyPr>
          <a:lstStyle/>
          <a:p>
            <a:pPr>
              <a:lnSpc>
                <a:spcPct val="150000"/>
              </a:lnSpc>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运行测试包括</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altLang="zh-CN" sz="2000" dirty="0">
                <a:solidFill>
                  <a:srgbClr val="0070C0"/>
                </a:solidFill>
                <a:latin typeface="微软雅黑" panose="020B0503020204020204" pitchFamily="34" charset="-122"/>
                <a:ea typeface="微软雅黑" panose="020B0503020204020204" pitchFamily="34" charset="-122"/>
                <a:cs typeface="+mn-ea"/>
              </a:rPr>
              <a:t>不同网络环境下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，运行</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是否正常；在</a:t>
            </a:r>
            <a:r>
              <a:rPr lang="zh-CN" altLang="zh-CN" sz="2000" dirty="0">
                <a:solidFill>
                  <a:srgbClr val="0070C0"/>
                </a:solidFill>
                <a:latin typeface="微软雅黑" panose="020B0503020204020204" pitchFamily="34" charset="-122"/>
                <a:ea typeface="微软雅黑" panose="020B0503020204020204" pitchFamily="34" charset="-122"/>
                <a:cs typeface="+mn-ea"/>
              </a:rPr>
              <a:t>不同系统环境下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，运行</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是否正常；</a:t>
            </a:r>
            <a:r>
              <a:rPr lang="zh-CN" altLang="zh-CN" sz="2000" dirty="0">
                <a:solidFill>
                  <a:srgbClr val="0070C0"/>
                </a:solidFill>
                <a:latin typeface="微软雅黑" panose="020B0503020204020204" pitchFamily="34" charset="-122"/>
                <a:ea typeface="微软雅黑" panose="020B0503020204020204" pitchFamily="34" charset="-122"/>
                <a:cs typeface="+mn-ea"/>
              </a:rPr>
              <a:t>强行关闭</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后</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，再次运行</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是否</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正常；在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运行过程中，如果有来电、短信</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等</a:t>
            </a:r>
            <a:r>
              <a:rPr lang="zh-CN" altLang="zh-CN" sz="2000">
                <a:solidFill>
                  <a:srgbClr val="0070C0"/>
                </a:solidFill>
                <a:latin typeface="微软雅黑" panose="020B0503020204020204" pitchFamily="34" charset="-122"/>
                <a:ea typeface="微软雅黑" panose="020B0503020204020204" pitchFamily="34" charset="-122"/>
                <a:cs typeface="+mn-ea"/>
              </a:rPr>
              <a:t>通</a:t>
            </a:r>
            <a:r>
              <a:rPr lang="zh-CN" altLang="en-US" sz="2000">
                <a:solidFill>
                  <a:srgbClr val="0070C0"/>
                </a:solidFill>
                <a:latin typeface="微软雅黑" panose="020B0503020204020204" pitchFamily="34" charset="-122"/>
                <a:ea typeface="微软雅黑" panose="020B0503020204020204" pitchFamily="34" charset="-122"/>
                <a:cs typeface="+mn-ea"/>
              </a:rPr>
              <a:t>信</a:t>
            </a:r>
            <a:r>
              <a:rPr lang="zh-CN" altLang="zh-CN" sz="2000">
                <a:solidFill>
                  <a:srgbClr val="0070C0"/>
                </a:solidFill>
                <a:latin typeface="微软雅黑" panose="020B0503020204020204" pitchFamily="34" charset="-122"/>
                <a:ea typeface="微软雅黑" panose="020B0503020204020204" pitchFamily="34" charset="-122"/>
                <a:cs typeface="+mn-ea"/>
              </a:rPr>
              <a:t>中断</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是否</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能暂停</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运行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rgbClr val="0070C0"/>
                </a:solidFill>
                <a:latin typeface="微软雅黑" panose="020B0503020204020204" pitchFamily="34" charset="-122"/>
                <a:ea typeface="微软雅黑" panose="020B0503020204020204" pitchFamily="34" charset="-122"/>
                <a:cs typeface="+mn-ea"/>
              </a:rPr>
              <a:t>优先处理</a:t>
            </a:r>
            <a:r>
              <a:rPr lang="zh-CN" altLang="en-US" sz="2000">
                <a:solidFill>
                  <a:srgbClr val="0070C0"/>
                </a:solidFill>
                <a:latin typeface="微软雅黑" panose="020B0503020204020204" pitchFamily="34" charset="-122"/>
                <a:ea typeface="微软雅黑" panose="020B0503020204020204" pitchFamily="34" charset="-122"/>
                <a:cs typeface="+mn-ea"/>
              </a:rPr>
              <a:t>通信</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并</a:t>
            </a:r>
            <a:r>
              <a:rPr lang="zh-CN" altLang="zh-CN" sz="2000" dirty="0">
                <a:solidFill>
                  <a:srgbClr val="0070C0"/>
                </a:solidFill>
                <a:latin typeface="微软雅黑" panose="020B0503020204020204" pitchFamily="34" charset="-122"/>
                <a:ea typeface="微软雅黑" panose="020B0503020204020204" pitchFamily="34" charset="-122"/>
                <a:cs typeface="+mn-ea"/>
              </a:rPr>
              <a:t>在处理完后正常</a:t>
            </a:r>
            <a:r>
              <a:rPr lang="zh-CN" altLang="zh-CN" sz="2000">
                <a:solidFill>
                  <a:srgbClr val="0070C0"/>
                </a:solidFill>
                <a:latin typeface="微软雅黑" panose="020B0503020204020204" pitchFamily="34" charset="-122"/>
                <a:ea typeface="微软雅黑" panose="020B0503020204020204" pitchFamily="34" charset="-122"/>
                <a:cs typeface="+mn-ea"/>
              </a:rPr>
              <a:t>恢复运行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5" name="圆角矩形 4"/>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运行</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MH_SubTitle_1"/>
          <p:cNvSpPr/>
          <p:nvPr>
            <p:custDataLst>
              <p:tags r:id="rId1"/>
            </p:custDataLst>
          </p:nvPr>
        </p:nvSpPr>
        <p:spPr>
          <a:xfrm>
            <a:off x="2446399" y="2553101"/>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后台切换</a:t>
            </a:r>
          </a:p>
        </p:txBody>
      </p:sp>
      <p:sp>
        <p:nvSpPr>
          <p:cNvPr id="10" name="MH_Other_1"/>
          <p:cNvSpPr/>
          <p:nvPr>
            <p:custDataLst>
              <p:tags r:id="rId2"/>
            </p:custDataLst>
          </p:nvPr>
        </p:nvSpPr>
        <p:spPr>
          <a:xfrm>
            <a:off x="4565710" y="2593423"/>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11" name="MH_Text_1"/>
          <p:cNvSpPr>
            <a:spLocks noChangeArrowheads="1"/>
          </p:cNvSpPr>
          <p:nvPr>
            <p:custDataLst>
              <p:tags r:id="rId3"/>
            </p:custDataLst>
          </p:nvPr>
        </p:nvSpPr>
        <p:spPr bwMode="auto">
          <a:xfrm>
            <a:off x="5138235" y="1989920"/>
            <a:ext cx="2976027"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当移动设备同时运行多个</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时，</a:t>
            </a:r>
            <a:r>
              <a:rPr lang="zh-CN" altLang="zh-CN" sz="1600" dirty="0">
                <a:solidFill>
                  <a:srgbClr val="0070C0"/>
                </a:solidFill>
                <a:latin typeface="微软雅黑" panose="020B0503020204020204" pitchFamily="34" charset="-122"/>
                <a:ea typeface="微软雅黑" panose="020B0503020204020204" pitchFamily="34" charset="-122"/>
              </a:rPr>
              <a:t>在多个</a:t>
            </a:r>
            <a:r>
              <a:rPr lang="en-US" altLang="zh-CN" sz="1600" dirty="0">
                <a:solidFill>
                  <a:srgbClr val="0070C0"/>
                </a:solidFill>
                <a:latin typeface="微软雅黑" panose="020B0503020204020204" pitchFamily="34" charset="-122"/>
                <a:ea typeface="微软雅黑" panose="020B0503020204020204" pitchFamily="34" charset="-122"/>
              </a:rPr>
              <a:t>App</a:t>
            </a:r>
            <a:r>
              <a:rPr lang="zh-CN" altLang="zh-CN" sz="1600" dirty="0">
                <a:solidFill>
                  <a:srgbClr val="0070C0"/>
                </a:solidFill>
                <a:latin typeface="微软雅黑" panose="020B0503020204020204" pitchFamily="34" charset="-122"/>
                <a:ea typeface="微软雅黑" panose="020B0503020204020204" pitchFamily="34" charset="-122"/>
              </a:rPr>
              <a:t>之间进行切换，要确保再次切换回来时</a:t>
            </a:r>
            <a:r>
              <a:rPr lang="en-US" altLang="zh-CN" sz="1600" dirty="0">
                <a:solidFill>
                  <a:srgbClr val="0070C0"/>
                </a:solidFill>
                <a:latin typeface="微软雅黑" panose="020B0503020204020204" pitchFamily="34" charset="-122"/>
                <a:ea typeface="微软雅黑" panose="020B0503020204020204" pitchFamily="34" charset="-122"/>
              </a:rPr>
              <a:t>App</a:t>
            </a:r>
            <a:r>
              <a:rPr lang="zh-CN" altLang="zh-CN" sz="1600" dirty="0">
                <a:solidFill>
                  <a:srgbClr val="0070C0"/>
                </a:solidFill>
                <a:latin typeface="微软雅黑" panose="020B0503020204020204" pitchFamily="34" charset="-122"/>
                <a:ea typeface="微软雅黑" panose="020B0503020204020204" pitchFamily="34" charset="-122"/>
              </a:rPr>
              <a:t>还保持在原来的界面上</a:t>
            </a: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a:t>
            </a:r>
          </a:p>
        </p:txBody>
      </p:sp>
      <p:sp>
        <p:nvSpPr>
          <p:cNvPr id="12" name="MH_SubTitle_2"/>
          <p:cNvSpPr/>
          <p:nvPr>
            <p:custDataLst>
              <p:tags r:id="rId4"/>
            </p:custDataLst>
          </p:nvPr>
        </p:nvSpPr>
        <p:spPr>
          <a:xfrm>
            <a:off x="2446399" y="3758647"/>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删除进程</a:t>
            </a:r>
          </a:p>
        </p:txBody>
      </p:sp>
      <p:sp>
        <p:nvSpPr>
          <p:cNvPr id="13" name="MH_Other_2"/>
          <p:cNvSpPr/>
          <p:nvPr>
            <p:custDataLst>
              <p:tags r:id="rId5"/>
            </p:custDataLst>
          </p:nvPr>
        </p:nvSpPr>
        <p:spPr>
          <a:xfrm>
            <a:off x="4565710" y="3798333"/>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14" name="MH_Text_2"/>
          <p:cNvSpPr>
            <a:spLocks noChangeArrowheads="1"/>
          </p:cNvSpPr>
          <p:nvPr>
            <p:custDataLst>
              <p:tags r:id="rId6"/>
            </p:custDataLst>
          </p:nvPr>
        </p:nvSpPr>
        <p:spPr bwMode="auto">
          <a:xfrm>
            <a:off x="5138235" y="3285920"/>
            <a:ext cx="2904978" cy="1621473"/>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测试从后台直接删除进程后，</a:t>
            </a:r>
            <a:r>
              <a:rPr lang="zh-CN" altLang="zh-CN" sz="1600" dirty="0">
                <a:solidFill>
                  <a:srgbClr val="0070C0"/>
                </a:solidFill>
                <a:latin typeface="微软雅黑" panose="020B0503020204020204" pitchFamily="34" charset="-122"/>
                <a:ea typeface="微软雅黑" panose="020B0503020204020204" pitchFamily="34" charset="-122"/>
              </a:rPr>
              <a:t>当再次打开</a:t>
            </a:r>
            <a:r>
              <a:rPr lang="en-US" altLang="zh-CN" sz="1600" dirty="0">
                <a:solidFill>
                  <a:srgbClr val="0070C0"/>
                </a:solidFill>
                <a:latin typeface="微软雅黑" panose="020B0503020204020204" pitchFamily="34" charset="-122"/>
                <a:ea typeface="微软雅黑" panose="020B0503020204020204" pitchFamily="34" charset="-122"/>
              </a:rPr>
              <a:t>App</a:t>
            </a:r>
            <a:r>
              <a:rPr lang="zh-CN" altLang="zh-CN" sz="1600" dirty="0">
                <a:solidFill>
                  <a:srgbClr val="0070C0"/>
                </a:solidFill>
                <a:latin typeface="微软雅黑" panose="020B0503020204020204" pitchFamily="34" charset="-122"/>
                <a:ea typeface="微软雅黑" panose="020B0503020204020204" pitchFamily="34" charset="-122"/>
              </a:rPr>
              <a:t>时是否符合概要设计描述</a:t>
            </a: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同时测试</a:t>
            </a:r>
            <a:r>
              <a:rPr lang="zh-CN" altLang="zh-CN" sz="1600" dirty="0">
                <a:solidFill>
                  <a:srgbClr val="0070C0"/>
                </a:solidFill>
                <a:latin typeface="微软雅黑" panose="020B0503020204020204" pitchFamily="34" charset="-122"/>
                <a:ea typeface="微软雅黑" panose="020B0503020204020204" pitchFamily="34" charset="-122"/>
              </a:rPr>
              <a:t>删除进程时是否将</a:t>
            </a:r>
            <a:r>
              <a:rPr lang="en-US" altLang="zh-CN" sz="1600" dirty="0">
                <a:solidFill>
                  <a:srgbClr val="0070C0"/>
                </a:solidFill>
                <a:latin typeface="微软雅黑" panose="020B0503020204020204" pitchFamily="34" charset="-122"/>
                <a:ea typeface="微软雅黑" panose="020B0503020204020204" pitchFamily="34" charset="-122"/>
              </a:rPr>
              <a:t>App</a:t>
            </a:r>
            <a:r>
              <a:rPr lang="zh-CN" altLang="zh-CN" sz="1600" dirty="0">
                <a:solidFill>
                  <a:srgbClr val="0070C0"/>
                </a:solidFill>
                <a:latin typeface="微软雅黑" panose="020B0503020204020204" pitchFamily="34" charset="-122"/>
                <a:ea typeface="微软雅黑" panose="020B0503020204020204" pitchFamily="34" charset="-122"/>
              </a:rPr>
              <a:t>建立的会话一起删除</a:t>
            </a: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a:t>
            </a:r>
          </a:p>
        </p:txBody>
      </p:sp>
      <p:sp>
        <p:nvSpPr>
          <p:cNvPr id="15" name="MH_SubTitle_3"/>
          <p:cNvSpPr/>
          <p:nvPr>
            <p:custDataLst>
              <p:tags r:id="rId7"/>
            </p:custDataLst>
          </p:nvPr>
        </p:nvSpPr>
        <p:spPr>
          <a:xfrm>
            <a:off x="2446399" y="4978903"/>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en-US" altLang="zh-CN"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 </a:t>
            </a:r>
            <a:r>
              <a:rPr lang="zh-CN" altLang="en-US" sz="2000" dirty="0">
                <a:solidFill>
                  <a:srgbClr val="FFFFFF"/>
                </a:solidFill>
                <a:latin typeface="微软雅黑" panose="020B0503020204020204" pitchFamily="34" charset="-122"/>
                <a:ea typeface="微软雅黑" panose="020B0503020204020204" pitchFamily="34" charset="-122"/>
                <a:sym typeface="+mn-ea"/>
              </a:rPr>
              <a:t>锁屏</a:t>
            </a:r>
            <a:endPar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16" name="MH_Other_3"/>
          <p:cNvSpPr/>
          <p:nvPr>
            <p:custDataLst>
              <p:tags r:id="rId8"/>
            </p:custDataLst>
          </p:nvPr>
        </p:nvSpPr>
        <p:spPr>
          <a:xfrm>
            <a:off x="4565710" y="5018589"/>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17" name="MH_Text_3"/>
          <p:cNvSpPr>
            <a:spLocks noChangeArrowheads="1"/>
          </p:cNvSpPr>
          <p:nvPr>
            <p:custDataLst>
              <p:tags r:id="rId9"/>
            </p:custDataLst>
          </p:nvPr>
        </p:nvSpPr>
        <p:spPr bwMode="auto">
          <a:xfrm>
            <a:off x="5138235" y="4907394"/>
            <a:ext cx="2904975" cy="70961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8" name="MH_Title_1"/>
          <p:cNvSpPr/>
          <p:nvPr>
            <p:custDataLst>
              <p:tags r:id="rId10"/>
            </p:custDataLst>
          </p:nvPr>
        </p:nvSpPr>
        <p:spPr>
          <a:xfrm>
            <a:off x="1679375" y="2896966"/>
            <a:ext cx="498260" cy="24177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App</a:t>
            </a:r>
            <a:r>
              <a:rPr kumimoji="0" lang="zh-CN" altLang="en-US" sz="20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的切换测试</a:t>
            </a:r>
          </a:p>
        </p:txBody>
      </p:sp>
      <p:cxnSp>
        <p:nvCxnSpPr>
          <p:cNvPr id="19" name="PA_直接连接符 2"/>
          <p:cNvCxnSpPr/>
          <p:nvPr>
            <p:custDataLst>
              <p:tags r:id="rId11"/>
            </p:custDataLst>
          </p:nvPr>
        </p:nvCxnSpPr>
        <p:spPr>
          <a:xfrm>
            <a:off x="1658629" y="2583164"/>
            <a:ext cx="0" cy="3045363"/>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20" name="PA_直接连接符 2"/>
          <p:cNvCxnSpPr/>
          <p:nvPr>
            <p:custDataLst>
              <p:tags r:id="rId12"/>
            </p:custDataLst>
          </p:nvPr>
        </p:nvCxnSpPr>
        <p:spPr>
          <a:xfrm>
            <a:off x="2177635" y="2583162"/>
            <a:ext cx="0" cy="3045363"/>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21" name="PA_StraightArrowConnector 4"/>
          <p:cNvCxnSpPr/>
          <p:nvPr>
            <p:custDataLst>
              <p:tags r:id="rId13"/>
            </p:custDataLst>
          </p:nvPr>
        </p:nvCxnSpPr>
        <p:spPr>
          <a:xfrm>
            <a:off x="8043214" y="2808688"/>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PA_StraightArrowConnector 4"/>
          <p:cNvCxnSpPr/>
          <p:nvPr>
            <p:custDataLst>
              <p:tags r:id="rId14"/>
            </p:custDataLst>
          </p:nvPr>
        </p:nvCxnSpPr>
        <p:spPr>
          <a:xfrm>
            <a:off x="8043213" y="4058484"/>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PA_StraightArrowConnector 4"/>
          <p:cNvCxnSpPr/>
          <p:nvPr>
            <p:custDataLst>
              <p:tags r:id="rId15"/>
            </p:custDataLst>
          </p:nvPr>
        </p:nvCxnSpPr>
        <p:spPr>
          <a:xfrm>
            <a:off x="8043210" y="5314723"/>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arrow-on-target_68291"/>
          <p:cNvSpPr>
            <a:spLocks noChangeAspect="1"/>
          </p:cNvSpPr>
          <p:nvPr/>
        </p:nvSpPr>
        <p:spPr bwMode="auto">
          <a:xfrm>
            <a:off x="9366817" y="5018840"/>
            <a:ext cx="609685" cy="60968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25" name="computer-service_78951"/>
          <p:cNvSpPr>
            <a:spLocks noChangeAspect="1"/>
          </p:cNvSpPr>
          <p:nvPr/>
        </p:nvSpPr>
        <p:spPr bwMode="auto">
          <a:xfrm>
            <a:off x="9366817" y="2459365"/>
            <a:ext cx="609685" cy="565858"/>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sp>
      <p:sp>
        <p:nvSpPr>
          <p:cNvPr id="26" name="graph_134483"/>
          <p:cNvSpPr>
            <a:spLocks noChangeAspect="1"/>
          </p:cNvSpPr>
          <p:nvPr/>
        </p:nvSpPr>
        <p:spPr bwMode="auto">
          <a:xfrm>
            <a:off x="9366817" y="3667032"/>
            <a:ext cx="609685" cy="555432"/>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27" name="矩形 26"/>
          <p:cNvSpPr/>
          <p:nvPr/>
        </p:nvSpPr>
        <p:spPr>
          <a:xfrm>
            <a:off x="5190523" y="4978903"/>
            <a:ext cx="2923739" cy="1815882"/>
          </a:xfrm>
          <a:prstGeom prst="rect">
            <a:avLst/>
          </a:prstGeom>
        </p:spPr>
        <p:txBody>
          <a:bodyPr wrap="square">
            <a:spAutoFit/>
          </a:bodyPr>
          <a:lstStyle/>
          <a:p>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锁屏包括</a:t>
            </a:r>
            <a:r>
              <a:rPr lang="zh-CN" altLang="zh-CN" sz="1600" dirty="0">
                <a:solidFill>
                  <a:srgbClr val="0070C0"/>
                </a:solidFill>
                <a:latin typeface="微软雅黑" panose="020B0503020204020204" pitchFamily="34" charset="-122"/>
                <a:ea typeface="微软雅黑" panose="020B0503020204020204" pitchFamily="34" charset="-122"/>
              </a:rPr>
              <a:t>手动锁屏</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1600" dirty="0">
                <a:solidFill>
                  <a:srgbClr val="0070C0"/>
                </a:solidFill>
                <a:latin typeface="微软雅黑" panose="020B0503020204020204" pitchFamily="34" charset="-122"/>
                <a:ea typeface="微软雅黑" panose="020B0503020204020204" pitchFamily="34" charset="-122"/>
              </a:rPr>
              <a:t>自动</a:t>
            </a:r>
            <a:r>
              <a:rPr lang="zh-CN" altLang="zh-CN" sz="1600">
                <a:solidFill>
                  <a:srgbClr val="0070C0"/>
                </a:solidFill>
                <a:latin typeface="微软雅黑" panose="020B0503020204020204" pitchFamily="34" charset="-122"/>
                <a:ea typeface="微软雅黑" panose="020B0503020204020204" pitchFamily="34" charset="-122"/>
              </a:rPr>
              <a:t>锁屏</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锁屏之后</a:t>
            </a:r>
            <a:r>
              <a:rPr lang="en-US" altLang="zh-CN" sz="1600" dirty="0">
                <a:solidFill>
                  <a:srgbClr val="0070C0"/>
                </a:solidFill>
                <a:latin typeface="微软雅黑" panose="020B0503020204020204" pitchFamily="34" charset="-122"/>
                <a:ea typeface="微软雅黑" panose="020B0503020204020204" pitchFamily="34" charset="-122"/>
              </a:rPr>
              <a:t>App</a:t>
            </a:r>
            <a:r>
              <a:rPr lang="zh-CN" altLang="zh-CN" sz="1600" dirty="0">
                <a:solidFill>
                  <a:srgbClr val="0070C0"/>
                </a:solidFill>
                <a:latin typeface="微软雅黑" panose="020B0503020204020204" pitchFamily="34" charset="-122"/>
                <a:ea typeface="微软雅黑" panose="020B0503020204020204" pitchFamily="34" charset="-122"/>
              </a:rPr>
              <a:t>响应是否</a:t>
            </a:r>
            <a:r>
              <a:rPr lang="zh-CN" altLang="zh-CN" sz="1600">
                <a:solidFill>
                  <a:srgbClr val="0070C0"/>
                </a:solidFill>
                <a:latin typeface="微软雅黑" panose="020B0503020204020204" pitchFamily="34" charset="-122"/>
                <a:ea typeface="微软雅黑" panose="020B0503020204020204" pitchFamily="34" charset="-122"/>
              </a:rPr>
              <a:t>符合概要设计</a:t>
            </a:r>
            <a:r>
              <a:rPr lang="zh-CN" altLang="en-US" sz="1600">
                <a:solidFill>
                  <a:srgbClr val="0070C0"/>
                </a:solidFill>
                <a:latin typeface="微软雅黑" panose="020B0503020204020204" pitchFamily="34" charset="-122"/>
                <a:ea typeface="微软雅黑" panose="020B0503020204020204" pitchFamily="34" charset="-122"/>
              </a:rPr>
              <a:t>描述</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例如再次打开</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时，它还保持显示锁屏前的界面，并且可以</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继续使用</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当</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rPr>
              <a:t>锁屏达到一定时间</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后，</a:t>
            </a:r>
            <a:r>
              <a:rPr lang="zh-CN" altLang="en-US" sz="1600">
                <a:solidFill>
                  <a:schemeClr val="tx1">
                    <a:lumMod val="65000"/>
                    <a:lumOff val="35000"/>
                  </a:schemeClr>
                </a:solidFill>
                <a:latin typeface="微软雅黑" panose="020B0503020204020204" pitchFamily="34" charset="-122"/>
                <a:ea typeface="微软雅黑" panose="020B0503020204020204" pitchFamily="34" charset="-122"/>
                <a:cs typeface="+mn-ea"/>
              </a:rPr>
              <a:t>就</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自动退出</a:t>
            </a:r>
            <a:r>
              <a:rPr lang="en-US"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6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29" name="圆角矩形 28"/>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切换</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1" y="2349794"/>
            <a:ext cx="9556907" cy="1938992"/>
          </a:xfrm>
          <a:prstGeom prst="rect">
            <a:avLst/>
          </a:prstGeom>
        </p:spPr>
        <p:txBody>
          <a:bodyPr wrap="square">
            <a:spAutoFit/>
          </a:bodyPr>
          <a:lstStyle/>
          <a:p>
            <a:pPr>
              <a:lnSpc>
                <a:spcPct val="150000"/>
              </a:lnSpc>
            </a:pP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使用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计算机时，经常会收到推送信息，这些推送信息</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通常是</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由</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系统</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或软件推送的。在移动设备中，很多</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也会发送推送消息，例如支付宝推送一个红包、今日头条推送实时热点新闻等。在对</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进行测试时也需要</a:t>
            </a:r>
            <a:r>
              <a:rPr lang="zh-CN" altLang="zh-CN" sz="2000" dirty="0">
                <a:solidFill>
                  <a:srgbClr val="0070C0"/>
                </a:solidFill>
                <a:latin typeface="微软雅黑" panose="020B0503020204020204" pitchFamily="34" charset="-122"/>
                <a:ea typeface="微软雅黑" panose="020B0503020204020204" pitchFamily="34" charset="-122"/>
                <a:cs typeface="+mn-ea"/>
              </a:rPr>
              <a:t>测试推送功能</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确保用户可以及时收到推送消息</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6" name="圆角矩形 5"/>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5.</a:t>
            </a:r>
            <a:r>
              <a:rPr lang="zh-CN" altLang="en-US">
                <a:latin typeface="微软雅黑" panose="020B0503020204020204" pitchFamily="34" charset="-122"/>
                <a:ea typeface="微软雅黑" panose="020B0503020204020204" pitchFamily="34" charset="-122"/>
              </a:rPr>
              <a:t>推送</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功能测试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15112" y="2277794"/>
            <a:ext cx="9556907" cy="2400657"/>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通常</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的更新测试主要从</a:t>
            </a:r>
            <a:r>
              <a:rPr lang="zh-CN" altLang="zh-CN" sz="2000" dirty="0">
                <a:solidFill>
                  <a:srgbClr val="0070C0"/>
                </a:solidFill>
                <a:latin typeface="微软雅黑" panose="020B0503020204020204" pitchFamily="34" charset="-122"/>
                <a:ea typeface="微软雅黑" panose="020B0503020204020204" pitchFamily="34" charset="-122"/>
                <a:cs typeface="+mn-ea"/>
              </a:rPr>
              <a:t>旧功能</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2000" dirty="0">
                <a:solidFill>
                  <a:srgbClr val="0070C0"/>
                </a:solidFill>
                <a:latin typeface="微软雅黑" panose="020B0503020204020204" pitchFamily="34" charset="-122"/>
                <a:ea typeface="微软雅黑" panose="020B0503020204020204" pitchFamily="34" charset="-122"/>
                <a:cs typeface="+mn-ea"/>
              </a:rPr>
              <a:t>新需求</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这两</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个</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方面</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展开，即</a:t>
            </a:r>
            <a:r>
              <a:rPr lang="zh-CN" altLang="zh-CN" sz="2000" dirty="0">
                <a:solidFill>
                  <a:srgbClr val="0070C0"/>
                </a:solidFill>
                <a:latin typeface="微软雅黑" panose="020B0503020204020204" pitchFamily="34" charset="-122"/>
                <a:ea typeface="微软雅黑" panose="020B0503020204020204" pitchFamily="34" charset="-122"/>
                <a:cs typeface="+mn-ea"/>
              </a:rPr>
              <a:t>确保旧功能可以正常使用的同时</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，还需要</a:t>
            </a:r>
            <a:r>
              <a:rPr lang="zh-CN" altLang="zh-CN" sz="2000" dirty="0">
                <a:solidFill>
                  <a:srgbClr val="0070C0"/>
                </a:solidFill>
                <a:latin typeface="微软雅黑" panose="020B0503020204020204" pitchFamily="34" charset="-122"/>
                <a:ea typeface="微软雅黑" panose="020B0503020204020204" pitchFamily="34" charset="-122"/>
                <a:cs typeface="+mn-ea"/>
              </a:rPr>
              <a:t>实现</a:t>
            </a:r>
            <a:r>
              <a:rPr lang="zh-CN" altLang="zh-CN" sz="2000">
                <a:solidFill>
                  <a:srgbClr val="0070C0"/>
                </a:solidFill>
                <a:latin typeface="微软雅黑" panose="020B0503020204020204" pitchFamily="34" charset="-122"/>
                <a:ea typeface="微软雅黑" panose="020B0503020204020204" pitchFamily="34" charset="-122"/>
                <a:cs typeface="+mn-ea"/>
              </a:rPr>
              <a:t>新需求</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当</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有新版本时，</a:t>
            </a:r>
            <a:r>
              <a:rPr lang="zh-CN" altLang="zh-CN" sz="2000" dirty="0">
                <a:solidFill>
                  <a:srgbClr val="0070C0"/>
                </a:solidFill>
                <a:latin typeface="微软雅黑" panose="020B0503020204020204" pitchFamily="34" charset="-122"/>
                <a:ea typeface="微软雅黑" panose="020B0503020204020204" pitchFamily="34" charset="-122"/>
                <a:cs typeface="+mn-ea"/>
              </a:rPr>
              <a:t>测试</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是否有更新提示</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，如果进行更新操作，则需要对</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更新后的功能展开测试，确保</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更新后的功能可以正常使用。如果取消更新，则需要</a:t>
            </a:r>
            <a:r>
              <a:rPr lang="zh-CN" altLang="zh-CN" sz="2000" dirty="0">
                <a:solidFill>
                  <a:srgbClr val="0070C0"/>
                </a:solidFill>
                <a:latin typeface="微软雅黑" panose="020B0503020204020204" pitchFamily="34" charset="-122"/>
                <a:ea typeface="微软雅黑" panose="020B0503020204020204" pitchFamily="34" charset="-122"/>
                <a:cs typeface="+mn-ea"/>
              </a:rPr>
              <a:t>确保旧版本的</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也能正常使用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，并且在下次运行</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时，仍然出现更新提示。</a:t>
            </a:r>
          </a:p>
        </p:txBody>
      </p:sp>
      <p:sp>
        <p:nvSpPr>
          <p:cNvPr id="6" name="圆角矩形 5"/>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6.</a:t>
            </a:r>
            <a:r>
              <a:rPr lang="zh-CN" altLang="en-US">
                <a:latin typeface="微软雅黑" panose="020B0503020204020204" pitchFamily="34" charset="-122"/>
                <a:ea typeface="微软雅黑" panose="020B0503020204020204" pitchFamily="34" charset="-122"/>
              </a:rPr>
              <a:t>更新</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1383788" y="2088729"/>
            <a:ext cx="6768000" cy="1015663"/>
          </a:xfrm>
          <a:prstGeom prst="rect">
            <a:avLst/>
          </a:prstGeom>
          <a:noFill/>
        </p:spPr>
        <p:txBody>
          <a:bodyPr wrap="square" rtlCol="0">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专项测试</a:t>
            </a:r>
            <a:r>
              <a:rPr lang="zh-CN" altLang="zh-CN" sz="2000" dirty="0">
                <a:solidFill>
                  <a:srgbClr val="595959"/>
                </a:solidFill>
                <a:latin typeface="微软雅黑" panose="020B0503020204020204" pitchFamily="34" charset="-122"/>
                <a:ea typeface="微软雅黑" panose="020B0503020204020204" pitchFamily="34" charset="-122"/>
                <a:cs typeface="+mn-ea"/>
              </a:rPr>
              <a:t>包括</a:t>
            </a:r>
            <a:r>
              <a:rPr lang="zh-CN" altLang="zh-CN" sz="2000" dirty="0">
                <a:solidFill>
                  <a:srgbClr val="1369B2"/>
                </a:solidFill>
                <a:latin typeface="微软雅黑" panose="020B0503020204020204" pitchFamily="34" charset="-122"/>
                <a:ea typeface="微软雅黑" panose="020B0503020204020204" pitchFamily="34" charset="-122"/>
                <a:cs typeface="+mn-ea"/>
              </a:rPr>
              <a:t>安装测试</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卸载测试</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升级测试</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交互性测试</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弱网测试</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耗电量测试</a:t>
            </a:r>
            <a:r>
              <a:rPr lang="zh-CN" altLang="zh-CN" sz="2000" dirty="0">
                <a:solidFill>
                  <a:srgbClr val="595959"/>
                </a:solidFill>
                <a:latin typeface="微软雅黑" panose="020B0503020204020204" pitchFamily="34" charset="-122"/>
                <a:ea typeface="微软雅黑" panose="020B0503020204020204" pitchFamily="34" charset="-122"/>
                <a:cs typeface="+mn-ea"/>
              </a:rPr>
              <a:t>等</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1049862" y="2133794"/>
            <a:ext cx="9696838" cy="1015663"/>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的安装方式与</a:t>
            </a:r>
            <a:r>
              <a:rPr lang="en-US" altLang="zh-CN" sz="2000" dirty="0">
                <a:solidFill>
                  <a:srgbClr val="595959"/>
                </a:solidFill>
                <a:latin typeface="微软雅黑" panose="020B0503020204020204" pitchFamily="34" charset="-122"/>
                <a:ea typeface="微软雅黑" panose="020B0503020204020204" pitchFamily="34" charset="-122"/>
                <a:cs typeface="+mn-ea"/>
              </a:rPr>
              <a:t>PC</a:t>
            </a:r>
            <a:r>
              <a:rPr lang="zh-CN" altLang="zh-CN" sz="2000" dirty="0">
                <a:solidFill>
                  <a:srgbClr val="595959"/>
                </a:solidFill>
                <a:latin typeface="微软雅黑" panose="020B0503020204020204" pitchFamily="34" charset="-122"/>
                <a:ea typeface="微软雅黑" panose="020B0503020204020204" pitchFamily="34" charset="-122"/>
                <a:cs typeface="+mn-ea"/>
              </a:rPr>
              <a:t>端软件的安装方式稍有不同，</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安装测试要</a:t>
            </a:r>
            <a:r>
              <a:rPr lang="zh-CN" altLang="zh-CN" sz="2000" dirty="0">
                <a:solidFill>
                  <a:srgbClr val="1369B2"/>
                </a:solidFill>
                <a:latin typeface="微软雅黑" panose="020B0503020204020204" pitchFamily="34" charset="-122"/>
                <a:ea typeface="微软雅黑" panose="020B0503020204020204" pitchFamily="34" charset="-122"/>
                <a:cs typeface="+mn-ea"/>
              </a:rPr>
              <a:t>考虑</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来源</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对移动设备的兼容性</a:t>
            </a:r>
            <a:r>
              <a:rPr lang="zh-CN" altLang="zh-CN" sz="2000" dirty="0">
                <a:solidFill>
                  <a:srgbClr val="595959"/>
                </a:solidFill>
                <a:latin typeface="微软雅黑" panose="020B0503020204020204" pitchFamily="34" charset="-122"/>
                <a:ea typeface="微软雅黑" panose="020B0503020204020204" pitchFamily="34" charset="-122"/>
                <a:cs typeface="+mn-ea"/>
              </a:rPr>
              <a:t>等</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911206" y="3442878"/>
            <a:ext cx="9835494"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的安装渠道比较</a:t>
            </a:r>
            <a:r>
              <a:rPr lang="zh-CN" altLang="zh-CN" sz="2000">
                <a:solidFill>
                  <a:srgbClr val="595959"/>
                </a:solidFill>
                <a:latin typeface="微软雅黑" panose="020B0503020204020204" pitchFamily="34" charset="-122"/>
                <a:ea typeface="微软雅黑" panose="020B0503020204020204" pitchFamily="34" charset="-122"/>
                <a:cs typeface="+mn-ea"/>
              </a:rPr>
              <a:t>多，</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595959"/>
                </a:solidFill>
                <a:latin typeface="微软雅黑" panose="020B0503020204020204" pitchFamily="34" charset="-122"/>
                <a:ea typeface="微软雅黑" panose="020B0503020204020204" pitchFamily="34" charset="-122"/>
                <a:cs typeface="+mn-ea"/>
              </a:rPr>
              <a:t>谷歌</a:t>
            </a:r>
            <a:r>
              <a:rPr lang="zh-CN" altLang="zh-CN" sz="2000">
                <a:solidFill>
                  <a:srgbClr val="595959"/>
                </a:solidFill>
                <a:latin typeface="微软雅黑" panose="020B0503020204020204" pitchFamily="34" charset="-122"/>
                <a:ea typeface="微软雅黑" panose="020B0503020204020204" pitchFamily="34" charset="-122"/>
                <a:cs typeface="+mn-ea"/>
              </a:rPr>
              <a:t>应用商店</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Google Play</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应用宝等，甚至可以通过扫码安装。</a:t>
            </a:r>
            <a:r>
              <a:rPr lang="zh-CN" altLang="zh-CN" sz="2000" dirty="0">
                <a:solidFill>
                  <a:srgbClr val="1369B2"/>
                </a:solidFill>
                <a:latin typeface="微软雅黑" panose="020B0503020204020204" pitchFamily="34" charset="-122"/>
                <a:ea typeface="微软雅黑" panose="020B0503020204020204" pitchFamily="34" charset="-122"/>
                <a:cs typeface="+mn-ea"/>
              </a:rPr>
              <a:t>对于多渠道的安装方式</a:t>
            </a: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zh-CN" altLang="zh-CN" sz="2000">
                <a:solidFill>
                  <a:srgbClr val="595959"/>
                </a:solidFill>
                <a:latin typeface="微软雅黑" panose="020B0503020204020204" pitchFamily="34" charset="-122"/>
                <a:ea typeface="微软雅黑" panose="020B0503020204020204" pitchFamily="34" charset="-122"/>
                <a:cs typeface="+mn-ea"/>
              </a:rPr>
              <a:t>测试时</a:t>
            </a:r>
            <a:r>
              <a:rPr lang="zh-CN" altLang="en-US" sz="2000">
                <a:solidFill>
                  <a:srgbClr val="595959"/>
                </a:solidFill>
                <a:latin typeface="微软雅黑" panose="020B0503020204020204" pitchFamily="34" charset="-122"/>
                <a:ea typeface="微软雅黑" panose="020B0503020204020204" pitchFamily="34" charset="-122"/>
                <a:cs typeface="+mn-ea"/>
              </a:rPr>
              <a:t>应对</a:t>
            </a:r>
            <a:r>
              <a:rPr lang="zh-CN" altLang="zh-CN" sz="2000">
                <a:solidFill>
                  <a:srgbClr val="1369B2"/>
                </a:solidFill>
                <a:latin typeface="微软雅黑" panose="020B0503020204020204" pitchFamily="34" charset="-122"/>
                <a:ea typeface="微软雅黑" panose="020B0503020204020204" pitchFamily="34" charset="-122"/>
                <a:cs typeface="+mn-ea"/>
              </a:rPr>
              <a:t>每个渠道都进行</a:t>
            </a:r>
            <a:r>
              <a:rPr lang="zh-CN" altLang="zh-CN" sz="2000" dirty="0">
                <a:solidFill>
                  <a:srgbClr val="1369B2"/>
                </a:solidFill>
                <a:latin typeface="微软雅黑" panose="020B0503020204020204" pitchFamily="34" charset="-122"/>
                <a:ea typeface="微软雅黑" panose="020B0503020204020204" pitchFamily="34" charset="-122"/>
                <a:cs typeface="+mn-ea"/>
              </a:rPr>
              <a:t>测试</a:t>
            </a:r>
            <a:r>
              <a:rPr lang="zh-CN" altLang="zh-CN" sz="2000" dirty="0">
                <a:solidFill>
                  <a:srgbClr val="595959"/>
                </a:solidFill>
                <a:latin typeface="微软雅黑" panose="020B0503020204020204" pitchFamily="34" charset="-122"/>
                <a:ea typeface="微软雅黑" panose="020B0503020204020204" pitchFamily="34" charset="-122"/>
                <a:cs typeface="+mn-ea"/>
              </a:rPr>
              <a:t>，以确保通过每个渠道都能</a:t>
            </a:r>
            <a:r>
              <a:rPr lang="zh-CN" altLang="zh-CN" sz="2000">
                <a:solidFill>
                  <a:srgbClr val="595959"/>
                </a:solidFill>
                <a:latin typeface="微软雅黑" panose="020B0503020204020204" pitchFamily="34" charset="-122"/>
                <a:ea typeface="微软雅黑" panose="020B0503020204020204" pitchFamily="34" charset="-122"/>
                <a:cs typeface="+mn-ea"/>
              </a:rPr>
              <a:t>正常安装</a:t>
            </a:r>
            <a:r>
              <a:rPr lang="en-US" altLang="zh-CN" sz="2000">
                <a:solidFill>
                  <a:srgbClr val="595959"/>
                </a:solidFill>
                <a:latin typeface="微软雅黑" panose="020B0503020204020204" pitchFamily="34" charset="-122"/>
                <a:ea typeface="微软雅黑" panose="020B0503020204020204" pitchFamily="34" charset="-122"/>
                <a:cs typeface="+mn-ea"/>
              </a:rPr>
              <a:t>App</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对于已经</a:t>
            </a:r>
            <a:r>
              <a:rPr lang="zh-CN" altLang="zh-CN" sz="2000">
                <a:solidFill>
                  <a:srgbClr val="1369B2"/>
                </a:solidFill>
                <a:latin typeface="微软雅黑" panose="020B0503020204020204" pitchFamily="34" charset="-122"/>
                <a:ea typeface="微软雅黑" panose="020B0503020204020204" pitchFamily="34" charset="-122"/>
                <a:cs typeface="+mn-ea"/>
              </a:rPr>
              <a:t>安装的</a:t>
            </a:r>
            <a:r>
              <a:rPr lang="en-US" altLang="zh-CN" sz="2000">
                <a:solidFill>
                  <a:srgbClr val="1369B2"/>
                </a:solidFill>
                <a:latin typeface="微软雅黑" panose="020B0503020204020204" pitchFamily="34" charset="-122"/>
                <a:ea typeface="微软雅黑" panose="020B0503020204020204" pitchFamily="34" charset="-122"/>
                <a:cs typeface="+mn-ea"/>
              </a:rPr>
              <a:t>App</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cs typeface="+mn-ea"/>
              </a:rPr>
              <a:t>再次安装</a:t>
            </a:r>
            <a:r>
              <a:rPr lang="zh-CN" altLang="zh-CN" sz="2000" dirty="0">
                <a:solidFill>
                  <a:srgbClr val="595959"/>
                </a:solidFill>
                <a:latin typeface="微软雅黑" panose="020B0503020204020204" pitchFamily="34" charset="-122"/>
                <a:ea typeface="微软雅黑" panose="020B0503020204020204" pitchFamily="34" charset="-122"/>
                <a:cs typeface="+mn-ea"/>
              </a:rPr>
              <a:t>，需要</a:t>
            </a:r>
            <a:r>
              <a:rPr lang="zh-CN" altLang="zh-CN" sz="2000" dirty="0">
                <a:solidFill>
                  <a:srgbClr val="1369B2"/>
                </a:solidFill>
                <a:latin typeface="微软雅黑" panose="020B0503020204020204" pitchFamily="34" charset="-122"/>
                <a:ea typeface="微软雅黑" panose="020B0503020204020204" pitchFamily="34" charset="-122"/>
                <a:cs typeface="+mn-ea"/>
              </a:rPr>
              <a:t>弹出已安装或更新的提示</a:t>
            </a:r>
            <a:r>
              <a:rPr lang="zh-CN" altLang="zh-CN" sz="2000" dirty="0">
                <a:solidFill>
                  <a:srgbClr val="595959"/>
                </a:solidFill>
                <a:latin typeface="微软雅黑" panose="020B0503020204020204" pitchFamily="34" charset="-122"/>
                <a:ea typeface="微软雅黑" panose="020B0503020204020204" pitchFamily="34" charset="-122"/>
                <a:cs typeface="+mn-ea"/>
              </a:rPr>
              <a:t>，而不是产生冲突。</a:t>
            </a:r>
          </a:p>
        </p:txBody>
      </p:sp>
      <p:sp>
        <p:nvSpPr>
          <p:cNvPr id="6" name="圆角矩形 5"/>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安装测试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1" y="749283"/>
            <a:ext cx="9991515" cy="6093976"/>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移动设备的种类比较多</a:t>
            </a:r>
            <a:r>
              <a:rPr lang="zh-CN" altLang="zh-CN" sz="2000" dirty="0">
                <a:solidFill>
                  <a:srgbClr val="595959"/>
                </a:solidFill>
                <a:latin typeface="微软雅黑" panose="020B0503020204020204" pitchFamily="34" charset="-122"/>
                <a:ea typeface="微软雅黑" panose="020B0503020204020204" pitchFamily="34" charset="-122"/>
                <a:cs typeface="+mn-ea"/>
              </a:rPr>
              <a:t>，例如一个品牌的手机会有不同的系列，每个系列也会有多个型号。此外，</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所依赖的平台</a:t>
            </a:r>
            <a:r>
              <a:rPr lang="zh-CN" altLang="zh-CN" sz="2000" dirty="0">
                <a:solidFill>
                  <a:srgbClr val="595959"/>
                </a:solidFill>
                <a:latin typeface="微软雅黑" panose="020B0503020204020204" pitchFamily="34" charset="-122"/>
                <a:ea typeface="微软雅黑" panose="020B0503020204020204" pitchFamily="34" charset="-122"/>
                <a:cs typeface="+mn-ea"/>
              </a:rPr>
              <a:t>也比较多，在测试时要</a:t>
            </a:r>
            <a:r>
              <a:rPr lang="zh-CN" altLang="zh-CN" sz="2000" dirty="0">
                <a:solidFill>
                  <a:srgbClr val="1369B2"/>
                </a:solidFill>
                <a:latin typeface="微软雅黑" panose="020B0503020204020204" pitchFamily="34" charset="-122"/>
                <a:ea typeface="微软雅黑" panose="020B0503020204020204" pitchFamily="34" charset="-122"/>
                <a:cs typeface="+mn-ea"/>
              </a:rPr>
              <a:t>考虑</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对不同手机</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不同</a:t>
            </a:r>
            <a:r>
              <a:rPr lang="zh-CN" altLang="en-US" sz="2000">
                <a:solidFill>
                  <a:srgbClr val="1369B2"/>
                </a:solidFill>
                <a:latin typeface="微软雅黑" panose="020B0503020204020204" pitchFamily="34" charset="-122"/>
                <a:ea typeface="微软雅黑" panose="020B0503020204020204" pitchFamily="34" charset="-122"/>
                <a:cs typeface="+mn-ea"/>
              </a:rPr>
              <a:t>平台</a:t>
            </a:r>
            <a:r>
              <a:rPr lang="zh-CN" altLang="zh-CN" sz="200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兼容性</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在安装过程中是否可以取消安装</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如果可以取消</a:t>
            </a:r>
            <a:r>
              <a:rPr lang="zh-CN" altLang="zh-CN" sz="2000">
                <a:solidFill>
                  <a:srgbClr val="1369B2"/>
                </a:solidFill>
                <a:latin typeface="微软雅黑" panose="020B0503020204020204" pitchFamily="34" charset="-122"/>
                <a:ea typeface="微软雅黑" panose="020B0503020204020204" pitchFamily="34" charset="-122"/>
                <a:cs typeface="+mn-ea"/>
              </a:rPr>
              <a:t>安装</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1369B2"/>
                </a:solidFill>
                <a:latin typeface="微软雅黑" panose="020B0503020204020204" pitchFamily="34" charset="-122"/>
                <a:ea typeface="微软雅黑" panose="020B0503020204020204" pitchFamily="34" charset="-122"/>
                <a:cs typeface="+mn-ea"/>
              </a:rPr>
              <a:t>应</a:t>
            </a:r>
            <a:r>
              <a:rPr lang="zh-CN" altLang="zh-CN" sz="2000">
                <a:solidFill>
                  <a:srgbClr val="1369B2"/>
                </a:solidFill>
                <a:latin typeface="微软雅黑" panose="020B0503020204020204" pitchFamily="34" charset="-122"/>
                <a:ea typeface="微软雅黑" panose="020B0503020204020204" pitchFamily="34" charset="-122"/>
                <a:cs typeface="+mn-ea"/>
              </a:rPr>
              <a:t>确保</a:t>
            </a:r>
            <a:r>
              <a:rPr lang="zh-CN" altLang="zh-CN" sz="2000" dirty="0">
                <a:solidFill>
                  <a:srgbClr val="1369B2"/>
                </a:solidFill>
                <a:latin typeface="微软雅黑" panose="020B0503020204020204" pitchFamily="34" charset="-122"/>
                <a:ea typeface="微软雅黑" panose="020B0503020204020204" pitchFamily="34" charset="-122"/>
                <a:cs typeface="+mn-ea"/>
              </a:rPr>
              <a:t>取消安装的处理要与</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概要设计描述一致</a:t>
            </a:r>
            <a:r>
              <a:rPr lang="zh-CN" altLang="zh-CN" sz="2000" dirty="0">
                <a:solidFill>
                  <a:srgbClr val="595959"/>
                </a:solidFill>
                <a:latin typeface="微软雅黑" panose="020B0503020204020204" pitchFamily="34" charset="-122"/>
                <a:ea typeface="微软雅黑" panose="020B0503020204020204" pitchFamily="34" charset="-122"/>
                <a:cs typeface="+mn-ea"/>
              </a:rPr>
              <a:t>。 例如，如果</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概要设计描述取消安装的处理</a:t>
            </a:r>
            <a:r>
              <a:rPr lang="zh-CN" altLang="zh-CN" sz="2000">
                <a:solidFill>
                  <a:srgbClr val="595959"/>
                </a:solidFill>
                <a:latin typeface="微软雅黑" panose="020B0503020204020204" pitchFamily="34" charset="-122"/>
                <a:ea typeface="微软雅黑" panose="020B0503020204020204" pitchFamily="34" charset="-122"/>
                <a:cs typeface="+mn-ea"/>
              </a:rPr>
              <a:t>过程为</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取消安装</a:t>
            </a:r>
            <a:r>
              <a:rPr lang="zh-CN" altLang="en-US" sz="2000">
                <a:solidFill>
                  <a:srgbClr val="595959"/>
                </a:solidFill>
                <a:latin typeface="微软雅黑" panose="020B0503020204020204" pitchFamily="34" charset="-122"/>
                <a:ea typeface="微软雅黑" panose="020B0503020204020204" pitchFamily="34" charset="-122"/>
                <a:cs typeface="+mn-ea"/>
              </a:rPr>
              <a:t>并</a:t>
            </a:r>
            <a:r>
              <a:rPr lang="zh-CN" altLang="zh-CN" sz="2000">
                <a:solidFill>
                  <a:srgbClr val="595959"/>
                </a:solidFill>
                <a:latin typeface="微软雅黑" panose="020B0503020204020204" pitchFamily="34" charset="-122"/>
                <a:ea typeface="微软雅黑" panose="020B0503020204020204" pitchFamily="34" charset="-122"/>
                <a:cs typeface="+mn-ea"/>
              </a:rPr>
              <a:t>进行</a:t>
            </a:r>
            <a:r>
              <a:rPr lang="zh-CN" altLang="zh-CN" sz="2000" dirty="0">
                <a:solidFill>
                  <a:srgbClr val="595959"/>
                </a:solidFill>
                <a:latin typeface="微软雅黑" panose="020B0503020204020204" pitchFamily="34" charset="-122"/>
                <a:ea typeface="微软雅黑" panose="020B0503020204020204" pitchFamily="34" charset="-122"/>
                <a:cs typeface="+mn-ea"/>
              </a:rPr>
              <a:t>回滚处理，将已经安装的文件</a:t>
            </a:r>
            <a:r>
              <a:rPr lang="zh-CN" altLang="zh-CN" sz="2000">
                <a:solidFill>
                  <a:srgbClr val="595959"/>
                </a:solidFill>
                <a:latin typeface="微软雅黑" panose="020B0503020204020204" pitchFamily="34" charset="-122"/>
                <a:ea typeface="微软雅黑" panose="020B0503020204020204" pitchFamily="34" charset="-122"/>
                <a:cs typeface="+mn-ea"/>
              </a:rPr>
              <a:t>全部删除</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那么在实际取消安装时也必须如此</a:t>
            </a:r>
            <a:r>
              <a:rPr lang="zh-CN" altLang="zh-CN" sz="2000">
                <a:solidFill>
                  <a:srgbClr val="595959"/>
                </a:solidFill>
                <a:latin typeface="微软雅黑" panose="020B0503020204020204" pitchFamily="34" charset="-122"/>
                <a:ea typeface="微软雅黑" panose="020B0503020204020204" pitchFamily="34" charset="-122"/>
                <a:cs typeface="+mn-ea"/>
              </a:rPr>
              <a:t>处理。</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4</a:t>
            </a:r>
            <a:r>
              <a:rPr lang="zh-CN" altLang="zh-CN" sz="2000">
                <a:solidFill>
                  <a:srgbClr val="595959"/>
                </a:solidFill>
                <a:latin typeface="微软雅黑" panose="020B0503020204020204" pitchFamily="34" charset="-122"/>
                <a:ea typeface="微软雅黑" panose="020B0503020204020204" pitchFamily="34" charset="-122"/>
                <a:cs typeface="+mn-ea"/>
              </a:rPr>
              <a:t>）如果安装过程</a:t>
            </a:r>
            <a:r>
              <a:rPr lang="zh-CN" altLang="en-US" sz="2000">
                <a:solidFill>
                  <a:srgbClr val="595959"/>
                </a:solidFill>
                <a:latin typeface="微软雅黑" panose="020B0503020204020204" pitchFamily="34" charset="-122"/>
                <a:ea typeface="微软雅黑" panose="020B0503020204020204" pitchFamily="34" charset="-122"/>
                <a:cs typeface="+mn-ea"/>
              </a:rPr>
              <a:t>中</a:t>
            </a:r>
            <a:r>
              <a:rPr lang="zh-CN" altLang="zh-CN" sz="2000">
                <a:solidFill>
                  <a:srgbClr val="595959"/>
                </a:solidFill>
                <a:latin typeface="微软雅黑" panose="020B0503020204020204" pitchFamily="34" charset="-122"/>
                <a:ea typeface="微软雅黑" panose="020B0503020204020204" pitchFamily="34" charset="-122"/>
                <a:cs typeface="+mn-ea"/>
              </a:rPr>
              <a:t>出现意外情况，</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a:solidFill>
                  <a:srgbClr val="1369B2"/>
                </a:solidFill>
                <a:latin typeface="微软雅黑" panose="020B0503020204020204" pitchFamily="34" charset="-122"/>
                <a:ea typeface="微软雅黑" panose="020B0503020204020204" pitchFamily="34" charset="-122"/>
                <a:cs typeface="+mn-ea"/>
              </a:rPr>
              <a:t>死机</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重启</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电量耗尽关机</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en-US" altLang="zh-CN" sz="2000">
                <a:solidFill>
                  <a:srgbClr val="1369B2"/>
                </a:solidFill>
                <a:latin typeface="微软雅黑" panose="020B0503020204020204" pitchFamily="34" charset="-122"/>
                <a:ea typeface="微软雅黑" panose="020B0503020204020204" pitchFamily="34" charset="-122"/>
                <a:cs typeface="+mn-ea"/>
              </a:rPr>
              <a:t>App</a:t>
            </a:r>
            <a:r>
              <a:rPr lang="zh-CN" altLang="zh-CN" sz="2000">
                <a:solidFill>
                  <a:srgbClr val="1369B2"/>
                </a:solidFill>
                <a:latin typeface="微软雅黑" panose="020B0503020204020204" pitchFamily="34" charset="-122"/>
                <a:ea typeface="微软雅黑" panose="020B0503020204020204" pitchFamily="34" charset="-122"/>
                <a:cs typeface="+mn-ea"/>
              </a:rPr>
              <a:t>安装的处理是否与</a:t>
            </a:r>
            <a:r>
              <a:rPr lang="en-US" altLang="zh-CN" sz="2000">
                <a:solidFill>
                  <a:srgbClr val="1369B2"/>
                </a:solidFill>
                <a:latin typeface="微软雅黑" panose="020B0503020204020204" pitchFamily="34" charset="-122"/>
                <a:ea typeface="微软雅黑" panose="020B0503020204020204" pitchFamily="34" charset="-122"/>
                <a:cs typeface="+mn-ea"/>
              </a:rPr>
              <a:t>App</a:t>
            </a:r>
            <a:r>
              <a:rPr lang="zh-CN" altLang="zh-CN" sz="2000">
                <a:solidFill>
                  <a:srgbClr val="1369B2"/>
                </a:solidFill>
                <a:latin typeface="微软雅黑" panose="020B0503020204020204" pitchFamily="34" charset="-122"/>
                <a:ea typeface="微软雅黑" panose="020B0503020204020204" pitchFamily="34" charset="-122"/>
                <a:cs typeface="+mn-ea"/>
              </a:rPr>
              <a:t>概要设计</a:t>
            </a:r>
            <a:r>
              <a:rPr lang="zh-CN" altLang="en-US" sz="2000">
                <a:solidFill>
                  <a:srgbClr val="1369B2"/>
                </a:solidFill>
                <a:latin typeface="微软雅黑" panose="020B0503020204020204" pitchFamily="34" charset="-122"/>
                <a:ea typeface="微软雅黑" panose="020B0503020204020204" pitchFamily="34" charset="-122"/>
                <a:cs typeface="+mn-ea"/>
              </a:rPr>
              <a:t>描述</a:t>
            </a:r>
            <a:r>
              <a:rPr lang="zh-CN" altLang="zh-CN" sz="2000">
                <a:solidFill>
                  <a:srgbClr val="1369B2"/>
                </a:solidFill>
                <a:latin typeface="微软雅黑" panose="020B0503020204020204" pitchFamily="34" charset="-122"/>
                <a:ea typeface="微软雅黑" panose="020B0503020204020204" pitchFamily="34" charset="-122"/>
                <a:cs typeface="+mn-ea"/>
              </a:rPr>
              <a:t>一致</a:t>
            </a:r>
            <a:r>
              <a:rPr lang="zh-CN" altLang="zh-CN" sz="2000">
                <a:solidFill>
                  <a:srgbClr val="595959"/>
                </a:solidFill>
                <a:latin typeface="微软雅黑" panose="020B0503020204020204" pitchFamily="34" charset="-122"/>
                <a:ea typeface="微软雅黑" panose="020B0503020204020204" pitchFamily="34" charset="-122"/>
                <a:cs typeface="+mn-ea"/>
              </a:rPr>
              <a:t>。例如，</a:t>
            </a:r>
            <a:r>
              <a:rPr lang="zh-CN" altLang="en-US" sz="2000">
                <a:solidFill>
                  <a:srgbClr val="595959"/>
                </a:solidFill>
                <a:latin typeface="微软雅黑" panose="020B0503020204020204" pitchFamily="34" charset="-122"/>
                <a:ea typeface="微软雅黑" panose="020B0503020204020204" pitchFamily="34" charset="-122"/>
                <a:cs typeface="+mn-ea"/>
              </a:rPr>
              <a:t>如果</a:t>
            </a:r>
            <a:r>
              <a:rPr lang="en-US" altLang="zh-CN" sz="2000">
                <a:solidFill>
                  <a:srgbClr val="595959"/>
                </a:solidFill>
                <a:latin typeface="微软雅黑" panose="020B0503020204020204" pitchFamily="34" charset="-122"/>
                <a:ea typeface="微软雅黑" panose="020B0503020204020204" pitchFamily="34" charset="-122"/>
                <a:cs typeface="+mn-ea"/>
              </a:rPr>
              <a:t>App</a:t>
            </a:r>
            <a:r>
              <a:rPr lang="zh-CN" altLang="en-US" sz="2000">
                <a:solidFill>
                  <a:srgbClr val="595959"/>
                </a:solidFill>
                <a:latin typeface="微软雅黑" panose="020B0503020204020204" pitchFamily="34" charset="-122"/>
                <a:ea typeface="微软雅黑" panose="020B0503020204020204" pitchFamily="34" charset="-122"/>
                <a:cs typeface="+mn-ea"/>
              </a:rPr>
              <a:t>概要设计描述</a:t>
            </a:r>
            <a:r>
              <a:rPr lang="zh-CN" altLang="zh-CN" sz="2000">
                <a:solidFill>
                  <a:srgbClr val="595959"/>
                </a:solidFill>
                <a:latin typeface="微软雅黑" panose="020B0503020204020204" pitchFamily="34" charset="-122"/>
                <a:ea typeface="微软雅黑" panose="020B0503020204020204" pitchFamily="34" charset="-122"/>
                <a:cs typeface="+mn-ea"/>
              </a:rPr>
              <a:t>安装过程</a:t>
            </a:r>
            <a:r>
              <a:rPr lang="zh-CN" altLang="en-US" sz="2000">
                <a:solidFill>
                  <a:srgbClr val="595959"/>
                </a:solidFill>
                <a:latin typeface="微软雅黑" panose="020B0503020204020204" pitchFamily="34" charset="-122"/>
                <a:ea typeface="微软雅黑" panose="020B0503020204020204" pitchFamily="34" charset="-122"/>
                <a:cs typeface="+mn-ea"/>
              </a:rPr>
              <a:t>出现意外情况的处理过程为“</a:t>
            </a:r>
            <a:r>
              <a:rPr lang="en-US" altLang="zh-CN" sz="2000">
                <a:solidFill>
                  <a:srgbClr val="595959"/>
                </a:solidFill>
                <a:latin typeface="微软雅黑" panose="020B0503020204020204" pitchFamily="34" charset="-122"/>
                <a:ea typeface="微软雅黑" panose="020B0503020204020204" pitchFamily="34" charset="-122"/>
                <a:cs typeface="+mn-ea"/>
              </a:rPr>
              <a:t>安装过程中电量耗尽关机，安装中断，当再次开机时继续安装</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那么在实际安装过程中也必须如此处理。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1" y="1125794"/>
            <a:ext cx="9711677" cy="4247317"/>
          </a:xfrm>
          <a:prstGeom prst="rect">
            <a:avLst/>
          </a:prstGeom>
        </p:spPr>
        <p:txBody>
          <a:bodyPr wrap="square">
            <a:spAutoFit/>
          </a:bodyPr>
          <a:lstStyle/>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5</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如果移动设备空间不足</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要确保有相应提示</a:t>
            </a:r>
            <a:r>
              <a:rPr lang="zh-CN" altLang="zh-CN" sz="2000" dirty="0">
                <a:solidFill>
                  <a:srgbClr val="595959"/>
                </a:solidFill>
                <a:latin typeface="微软雅黑" panose="020B0503020204020204" pitchFamily="34" charset="-122"/>
                <a:ea typeface="微软雅黑" panose="020B0503020204020204" pitchFamily="34" charset="-122"/>
                <a:cs typeface="+mn-ea"/>
              </a:rPr>
              <a:t>。例如，当剩下</a:t>
            </a:r>
            <a:r>
              <a:rPr lang="en-US" altLang="zh-CN" sz="2000" dirty="0">
                <a:solidFill>
                  <a:srgbClr val="595959"/>
                </a:solidFill>
                <a:latin typeface="微软雅黑" panose="020B0503020204020204" pitchFamily="34" charset="-122"/>
                <a:ea typeface="微软雅黑" panose="020B0503020204020204" pitchFamily="34" charset="-122"/>
                <a:cs typeface="+mn-ea"/>
              </a:rPr>
              <a:t>100MB</a:t>
            </a:r>
            <a:r>
              <a:rPr lang="zh-CN" altLang="zh-CN" sz="2000" dirty="0">
                <a:solidFill>
                  <a:srgbClr val="595959"/>
                </a:solidFill>
                <a:latin typeface="微软雅黑" panose="020B0503020204020204" pitchFamily="34" charset="-122"/>
                <a:ea typeface="微软雅黑" panose="020B0503020204020204" pitchFamily="34" charset="-122"/>
                <a:cs typeface="+mn-ea"/>
              </a:rPr>
              <a:t>空间时，要安装一个</a:t>
            </a:r>
            <a:r>
              <a:rPr lang="en-US" altLang="zh-CN" sz="2000" dirty="0">
                <a:solidFill>
                  <a:srgbClr val="595959"/>
                </a:solidFill>
                <a:latin typeface="微软雅黑" panose="020B0503020204020204" pitchFamily="34" charset="-122"/>
                <a:ea typeface="微软雅黑" panose="020B0503020204020204" pitchFamily="34" charset="-122"/>
                <a:cs typeface="+mn-ea"/>
              </a:rPr>
              <a:t>200MB</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，有的</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直接提示空间不足，无法安装；有的</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会先安装，待空间用尽时再提示。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6</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a:solidFill>
                  <a:srgbClr val="1369B2"/>
                </a:solidFill>
                <a:latin typeface="微软雅黑" panose="020B0503020204020204" pitchFamily="34" charset="-122"/>
                <a:ea typeface="微软雅黑" panose="020B0503020204020204" pitchFamily="34" charset="-122"/>
                <a:cs typeface="+mn-ea"/>
              </a:rPr>
              <a:t>安装过程</a:t>
            </a:r>
            <a:r>
              <a:rPr lang="zh-CN" altLang="en-US" sz="2000">
                <a:solidFill>
                  <a:srgbClr val="1369B2"/>
                </a:solidFill>
                <a:latin typeface="微软雅黑" panose="020B0503020204020204" pitchFamily="34" charset="-122"/>
                <a:ea typeface="微软雅黑" panose="020B0503020204020204" pitchFamily="34" charset="-122"/>
                <a:cs typeface="+mn-ea"/>
              </a:rPr>
              <a:t>中</a:t>
            </a:r>
            <a:r>
              <a:rPr lang="zh-CN" altLang="zh-CN" sz="2000">
                <a:solidFill>
                  <a:srgbClr val="1369B2"/>
                </a:solidFill>
                <a:latin typeface="微软雅黑" panose="020B0503020204020204" pitchFamily="34" charset="-122"/>
                <a:ea typeface="微软雅黑" panose="020B0503020204020204" pitchFamily="34" charset="-122"/>
                <a:cs typeface="+mn-ea"/>
              </a:rPr>
              <a:t>要</a:t>
            </a:r>
            <a:r>
              <a:rPr lang="zh-CN" altLang="zh-CN" sz="2000" dirty="0">
                <a:solidFill>
                  <a:srgbClr val="1369B2"/>
                </a:solidFill>
                <a:latin typeface="微软雅黑" panose="020B0503020204020204" pitchFamily="34" charset="-122"/>
                <a:ea typeface="微软雅黑" panose="020B0503020204020204" pitchFamily="34" charset="-122"/>
                <a:cs typeface="+mn-ea"/>
              </a:rPr>
              <a:t>进行</a:t>
            </a:r>
            <a:r>
              <a:rPr lang="en-US" altLang="zh-CN" sz="2000" dirty="0">
                <a:solidFill>
                  <a:srgbClr val="1369B2"/>
                </a:solidFill>
                <a:latin typeface="微软雅黑" panose="020B0503020204020204" pitchFamily="34" charset="-122"/>
                <a:ea typeface="微软雅黑" panose="020B0503020204020204" pitchFamily="34" charset="-122"/>
                <a:cs typeface="+mn-ea"/>
              </a:rPr>
              <a:t>UI</a:t>
            </a:r>
            <a:r>
              <a:rPr lang="zh-CN" altLang="zh-CN" sz="2000" dirty="0">
                <a:solidFill>
                  <a:srgbClr val="1369B2"/>
                </a:solidFill>
                <a:latin typeface="微软雅黑" panose="020B0503020204020204" pitchFamily="34" charset="-122"/>
                <a:ea typeface="微软雅黑" panose="020B0503020204020204" pitchFamily="34" charset="-122"/>
                <a:cs typeface="+mn-ea"/>
              </a:rPr>
              <a:t>测试</a:t>
            </a:r>
            <a:r>
              <a:rPr lang="zh-CN" altLang="zh-CN" sz="2000">
                <a:solidFill>
                  <a:srgbClr val="595959"/>
                </a:solidFill>
                <a:latin typeface="微软雅黑" panose="020B0503020204020204" pitchFamily="34" charset="-122"/>
                <a:ea typeface="微软雅黑" panose="020B0503020204020204" pitchFamily="34" charset="-122"/>
                <a:cs typeface="+mn-ea"/>
              </a:rPr>
              <a:t>，例如在</a:t>
            </a:r>
            <a:r>
              <a:rPr lang="zh-CN" altLang="zh-CN" sz="2000" dirty="0">
                <a:solidFill>
                  <a:srgbClr val="595959"/>
                </a:solidFill>
                <a:latin typeface="微软雅黑" panose="020B0503020204020204" pitchFamily="34" charset="-122"/>
                <a:ea typeface="微软雅黑" panose="020B0503020204020204" pitchFamily="34" charset="-122"/>
                <a:cs typeface="+mn-ea"/>
              </a:rPr>
              <a:t>安装过程中给用户提供进度条提示。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7</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安装完成之后</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测试其是否能正常</a:t>
            </a:r>
            <a:r>
              <a:rPr lang="zh-CN" altLang="zh-CN" sz="2000">
                <a:solidFill>
                  <a:srgbClr val="1369B2"/>
                </a:solidFill>
                <a:latin typeface="微软雅黑" panose="020B0503020204020204" pitchFamily="34" charset="-122"/>
                <a:ea typeface="微软雅黑" panose="020B0503020204020204" pitchFamily="34" charset="-122"/>
                <a:cs typeface="+mn-ea"/>
              </a:rPr>
              <a:t>运行</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检查</a:t>
            </a:r>
            <a:r>
              <a:rPr lang="zh-CN" altLang="zh-CN" sz="2000">
                <a:solidFill>
                  <a:srgbClr val="595959"/>
                </a:solidFill>
                <a:latin typeface="微软雅黑" panose="020B0503020204020204" pitchFamily="34" charset="-122"/>
                <a:ea typeface="微软雅黑" panose="020B0503020204020204" pitchFamily="34" charset="-122"/>
                <a:cs typeface="+mn-ea"/>
              </a:rPr>
              <a:t>安装</a:t>
            </a:r>
            <a:r>
              <a:rPr lang="zh-CN" altLang="zh-CN" sz="2000" dirty="0">
                <a:solidFill>
                  <a:srgbClr val="595959"/>
                </a:solidFill>
                <a:latin typeface="微软雅黑" panose="020B0503020204020204" pitchFamily="34" charset="-122"/>
                <a:ea typeface="微软雅黑" panose="020B0503020204020204" pitchFamily="34" charset="-122"/>
                <a:cs typeface="+mn-ea"/>
              </a:rPr>
              <a:t>后的文件夹及文件</a:t>
            </a:r>
            <a:r>
              <a:rPr lang="zh-CN" altLang="zh-CN" sz="2000">
                <a:solidFill>
                  <a:srgbClr val="595959"/>
                </a:solidFill>
                <a:latin typeface="微软雅黑" panose="020B0503020204020204" pitchFamily="34" charset="-122"/>
                <a:ea typeface="微软雅黑" panose="020B0503020204020204" pitchFamily="34" charset="-122"/>
                <a:cs typeface="+mn-ea"/>
              </a:rPr>
              <a:t>是否写入指定目录。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Shape 333"/>
          <p:cNvSpPr/>
          <p:nvPr/>
        </p:nvSpPr>
        <p:spPr>
          <a:xfrm>
            <a:off x="1126648" y="2305543"/>
            <a:ext cx="2196431" cy="143612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9" name="Shape 338"/>
          <p:cNvSpPr/>
          <p:nvPr/>
        </p:nvSpPr>
        <p:spPr>
          <a:xfrm>
            <a:off x="3039627" y="2305543"/>
            <a:ext cx="2196431" cy="143612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bg2"/>
          </a:solidFill>
          <a:ln w="12700" cap="flat">
            <a:noFill/>
            <a:miter lim="400000"/>
          </a:ln>
          <a:effectLst/>
        </p:spPr>
        <p:txBody>
          <a:bodyPr wrap="square" lIns="0" tIns="0" rIns="0" bIns="0" numCol="1" anchor="ctr">
            <a:noAutofit/>
          </a:bodyPr>
          <a:lstStyle/>
          <a:p>
            <a:pPr lvl="0">
              <a:defRPr sz="11200"/>
            </a:pPr>
            <a:endParaRPr sz="1600">
              <a:cs typeface="+mn-ea"/>
              <a:sym typeface="+mn-lt"/>
            </a:endParaRPr>
          </a:p>
        </p:txBody>
      </p:sp>
      <p:sp>
        <p:nvSpPr>
          <p:cNvPr id="12" name="Shape 343"/>
          <p:cNvSpPr/>
          <p:nvPr/>
        </p:nvSpPr>
        <p:spPr>
          <a:xfrm>
            <a:off x="4999868" y="2305543"/>
            <a:ext cx="2196431" cy="143612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15" name="Shape 348"/>
          <p:cNvSpPr/>
          <p:nvPr/>
        </p:nvSpPr>
        <p:spPr>
          <a:xfrm>
            <a:off x="6943961" y="2305543"/>
            <a:ext cx="2196429" cy="143612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bg2"/>
          </a:solidFill>
          <a:ln w="12700" cap="flat">
            <a:noFill/>
            <a:miter lim="400000"/>
          </a:ln>
          <a:effectLst/>
        </p:spPr>
        <p:txBody>
          <a:bodyPr wrap="square" lIns="0" tIns="0" rIns="0" bIns="0" numCol="1" anchor="ctr">
            <a:noAutofit/>
          </a:bodyPr>
          <a:lstStyle/>
          <a:p>
            <a:pPr lvl="0">
              <a:defRPr sz="11200"/>
            </a:pPr>
            <a:endParaRPr sz="1600">
              <a:cs typeface="+mn-ea"/>
              <a:sym typeface="+mn-lt"/>
            </a:endParaRPr>
          </a:p>
        </p:txBody>
      </p:sp>
      <p:sp>
        <p:nvSpPr>
          <p:cNvPr id="18" name="Shape 353"/>
          <p:cNvSpPr/>
          <p:nvPr/>
        </p:nvSpPr>
        <p:spPr>
          <a:xfrm>
            <a:off x="8915328" y="2305543"/>
            <a:ext cx="2196429" cy="143612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grpSp>
        <p:nvGrpSpPr>
          <p:cNvPr id="20" name="Group 360"/>
          <p:cNvGrpSpPr/>
          <p:nvPr/>
        </p:nvGrpSpPr>
        <p:grpSpPr>
          <a:xfrm>
            <a:off x="2012215" y="3536418"/>
            <a:ext cx="425297" cy="425297"/>
            <a:chOff x="0" y="0"/>
            <a:chExt cx="850594" cy="850594"/>
          </a:xfrm>
        </p:grpSpPr>
        <p:sp>
          <p:nvSpPr>
            <p:cNvPr id="21"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22" name="Shape 359"/>
            <p:cNvSpPr/>
            <p:nvPr/>
          </p:nvSpPr>
          <p:spPr>
            <a:xfrm>
              <a:off x="300082" y="114147"/>
              <a:ext cx="250430"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1</a:t>
              </a:r>
            </a:p>
          </p:txBody>
        </p:sp>
      </p:grpSp>
      <p:grpSp>
        <p:nvGrpSpPr>
          <p:cNvPr id="23" name="Group 363"/>
          <p:cNvGrpSpPr/>
          <p:nvPr/>
        </p:nvGrpSpPr>
        <p:grpSpPr>
          <a:xfrm>
            <a:off x="3929231" y="3536418"/>
            <a:ext cx="425297" cy="425297"/>
            <a:chOff x="0" y="0"/>
            <a:chExt cx="850594" cy="850594"/>
          </a:xfrm>
        </p:grpSpPr>
        <p:sp>
          <p:nvSpPr>
            <p:cNvPr id="24"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cs typeface="+mn-ea"/>
                <a:sym typeface="+mn-lt"/>
              </a:endParaRPr>
            </a:p>
          </p:txBody>
        </p:sp>
        <p:sp>
          <p:nvSpPr>
            <p:cNvPr id="25" name="Shape 362"/>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latin typeface="+mn-lt"/>
                  <a:ea typeface="+mn-ea"/>
                  <a:cs typeface="+mn-ea"/>
                  <a:sym typeface="+mn-lt"/>
                </a:rPr>
                <a:t>2</a:t>
              </a:r>
            </a:p>
          </p:txBody>
        </p:sp>
      </p:grpSp>
      <p:grpSp>
        <p:nvGrpSpPr>
          <p:cNvPr id="26" name="Group 366"/>
          <p:cNvGrpSpPr/>
          <p:nvPr/>
        </p:nvGrpSpPr>
        <p:grpSpPr>
          <a:xfrm>
            <a:off x="5885435" y="3536418"/>
            <a:ext cx="425297" cy="425297"/>
            <a:chOff x="0" y="0"/>
            <a:chExt cx="850594" cy="850594"/>
          </a:xfrm>
        </p:grpSpPr>
        <p:sp>
          <p:nvSpPr>
            <p:cNvPr id="27"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28" name="Shape 365"/>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a:solidFill>
                    <a:schemeClr val="bg1"/>
                  </a:solidFill>
                  <a:latin typeface="+mn-lt"/>
                  <a:ea typeface="+mn-ea"/>
                  <a:cs typeface="+mn-ea"/>
                  <a:sym typeface="+mn-lt"/>
                </a:rPr>
                <a:t>3</a:t>
              </a:r>
            </a:p>
          </p:txBody>
        </p:sp>
      </p:grpSp>
      <p:grpSp>
        <p:nvGrpSpPr>
          <p:cNvPr id="29" name="Group 369"/>
          <p:cNvGrpSpPr/>
          <p:nvPr/>
        </p:nvGrpSpPr>
        <p:grpSpPr>
          <a:xfrm>
            <a:off x="7829527" y="3536418"/>
            <a:ext cx="425297" cy="425297"/>
            <a:chOff x="0" y="0"/>
            <a:chExt cx="850594" cy="850594"/>
          </a:xfrm>
        </p:grpSpPr>
        <p:sp>
          <p:nvSpPr>
            <p:cNvPr id="30"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cs typeface="+mn-ea"/>
                <a:sym typeface="+mn-lt"/>
              </a:endParaRPr>
            </a:p>
          </p:txBody>
        </p:sp>
        <p:sp>
          <p:nvSpPr>
            <p:cNvPr id="32" name="Shape 368"/>
            <p:cNvSpPr/>
            <p:nvPr/>
          </p:nvSpPr>
          <p:spPr>
            <a:xfrm>
              <a:off x="243825" y="114147"/>
              <a:ext cx="362944"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latin typeface="+mn-lt"/>
                  <a:ea typeface="+mn-ea"/>
                  <a:cs typeface="+mn-ea"/>
                  <a:sym typeface="+mn-lt"/>
                </a:rPr>
                <a:t>4</a:t>
              </a:r>
            </a:p>
          </p:txBody>
        </p:sp>
      </p:grpSp>
      <p:grpSp>
        <p:nvGrpSpPr>
          <p:cNvPr id="33" name="Group 372"/>
          <p:cNvGrpSpPr/>
          <p:nvPr/>
        </p:nvGrpSpPr>
        <p:grpSpPr>
          <a:xfrm>
            <a:off x="9800895" y="3536418"/>
            <a:ext cx="425297" cy="425297"/>
            <a:chOff x="0" y="0"/>
            <a:chExt cx="850594" cy="850594"/>
          </a:xfrm>
        </p:grpSpPr>
        <p:sp>
          <p:nvSpPr>
            <p:cNvPr id="34" name="Shape 370"/>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35" name="Shape 371"/>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5</a:t>
              </a:r>
            </a:p>
          </p:txBody>
        </p:sp>
      </p:grpSp>
      <p:sp>
        <p:nvSpPr>
          <p:cNvPr id="36" name="Shape 373"/>
          <p:cNvSpPr/>
          <p:nvPr/>
        </p:nvSpPr>
        <p:spPr>
          <a:xfrm>
            <a:off x="1035255" y="4259574"/>
            <a:ext cx="1441073" cy="565924"/>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zh-CN" sz="1600" dirty="0">
                <a:solidFill>
                  <a:srgbClr val="0070C0"/>
                </a:solidFill>
                <a:latin typeface="微软雅黑" panose="020B0503020204020204" pitchFamily="34" charset="-122"/>
                <a:ea typeface="微软雅黑" panose="020B0503020204020204" pitchFamily="34" charset="-122"/>
                <a:cs typeface="+mn-ea"/>
              </a:rPr>
              <a:t>卸载时，有卸载提示信息。</a:t>
            </a:r>
            <a:endParaRPr lang="zh-CN" altLang="en-US" sz="16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37" name="Shape 376"/>
          <p:cNvSpPr/>
          <p:nvPr/>
        </p:nvSpPr>
        <p:spPr>
          <a:xfrm>
            <a:off x="2783206" y="4259575"/>
            <a:ext cx="2016000" cy="1772793"/>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en-US" altLang="zh-CN" sz="1600" dirty="0">
                <a:solidFill>
                  <a:srgbClr val="0070C0"/>
                </a:solidFill>
                <a:latin typeface="微软雅黑" panose="020B0503020204020204" pitchFamily="34" charset="-122"/>
                <a:ea typeface="微软雅黑" panose="020B0503020204020204" pitchFamily="34" charset="-122"/>
                <a:cs typeface="+mn-ea"/>
              </a:rPr>
              <a:t>App</a:t>
            </a:r>
            <a:r>
              <a:rPr lang="zh-CN" altLang="zh-CN" sz="1600" dirty="0">
                <a:solidFill>
                  <a:srgbClr val="0070C0"/>
                </a:solidFill>
                <a:latin typeface="微软雅黑" panose="020B0503020204020204" pitchFamily="34" charset="-122"/>
                <a:ea typeface="微软雅黑" panose="020B0503020204020204" pitchFamily="34" charset="-122"/>
                <a:cs typeface="+mn-ea"/>
              </a:rPr>
              <a:t>在卸载过程中是否支持取消卸载</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，如果支持取消卸载，要确保取消卸载的处理与</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概要设计描述一致。</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8" name="Shape 379"/>
          <p:cNvSpPr/>
          <p:nvPr/>
        </p:nvSpPr>
        <p:spPr>
          <a:xfrm>
            <a:off x="5088439" y="4259575"/>
            <a:ext cx="2244533" cy="2462213"/>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卸载的过程中如果出现意外</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情况，</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例</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如</a:t>
            </a:r>
            <a:r>
              <a:rPr lang="zh-CN" altLang="zh-CN" sz="1600" dirty="0">
                <a:solidFill>
                  <a:srgbClr val="0070C0"/>
                </a:solidFill>
                <a:latin typeface="微软雅黑" panose="020B0503020204020204" pitchFamily="34" charset="-122"/>
                <a:ea typeface="微软雅黑" panose="020B0503020204020204" pitchFamily="34" charset="-122"/>
                <a:cs typeface="+mn-ea"/>
              </a:rPr>
              <a:t>死机</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重启</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0070C0"/>
                </a:solidFill>
                <a:latin typeface="微软雅黑" panose="020B0503020204020204" pitchFamily="34" charset="-122"/>
                <a:ea typeface="微软雅黑" panose="020B0503020204020204" pitchFamily="34" charset="-122"/>
                <a:cs typeface="+mn-ea"/>
              </a:rPr>
              <a:t>电量耗尽关机</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等，要有相应的</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处理措施</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如</a:t>
            </a:r>
            <a:r>
              <a:rPr lang="zh-CN" altLang="zh-CN" sz="1600" dirty="0">
                <a:solidFill>
                  <a:srgbClr val="0070C0"/>
                </a:solidFill>
                <a:latin typeface="微软雅黑" panose="020B0503020204020204" pitchFamily="34" charset="-122"/>
                <a:ea typeface="微软雅黑" panose="020B0503020204020204" pitchFamily="34" charset="-122"/>
                <a:cs typeface="+mn-ea"/>
              </a:rPr>
              <a:t>进行回滚</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，当再次开机时需要重新卸载；中断卸载，当再次开机时继续卸载；启动后台进程守护卸载，当再次开机时提示卸载完成。</a:t>
            </a:r>
          </a:p>
        </p:txBody>
      </p:sp>
      <p:sp>
        <p:nvSpPr>
          <p:cNvPr id="39" name="Shape 382"/>
          <p:cNvSpPr/>
          <p:nvPr/>
        </p:nvSpPr>
        <p:spPr>
          <a:xfrm>
            <a:off x="7499468" y="4357484"/>
            <a:ext cx="1889125" cy="984885"/>
          </a:xfrm>
          <a:prstGeom prst="rect">
            <a:avLst/>
          </a:prstGeom>
          <a:noFill/>
          <a:ln w="12700" cap="flat">
            <a:noFill/>
            <a:miter lim="400000"/>
          </a:ln>
          <a:effec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r>
              <a:rPr lang="en-US" altLang="zh-CN" sz="1600" dirty="0">
                <a:solidFill>
                  <a:srgbClr val="0070C0"/>
                </a:solidFill>
                <a:latin typeface="微软雅黑" panose="020B0503020204020204" pitchFamily="34" charset="-122"/>
                <a:ea typeface="微软雅黑" panose="020B0503020204020204" pitchFamily="34" charset="-122"/>
                <a:cs typeface="+mn-ea"/>
              </a:rPr>
              <a:t>App</a:t>
            </a:r>
            <a:r>
              <a:rPr lang="zh-CN" altLang="zh-CN" sz="1600" dirty="0">
                <a:solidFill>
                  <a:srgbClr val="0070C0"/>
                </a:solidFill>
                <a:latin typeface="微软雅黑" panose="020B0503020204020204" pitchFamily="34" charset="-122"/>
                <a:ea typeface="微软雅黑" panose="020B0503020204020204" pitchFamily="34" charset="-122"/>
                <a:cs typeface="+mn-ea"/>
              </a:rPr>
              <a:t>卸载过程要进行</a:t>
            </a:r>
            <a:r>
              <a:rPr lang="en-US" altLang="zh-CN" sz="1600" dirty="0">
                <a:solidFill>
                  <a:srgbClr val="0070C0"/>
                </a:solidFill>
                <a:latin typeface="微软雅黑" panose="020B0503020204020204" pitchFamily="34" charset="-122"/>
                <a:ea typeface="微软雅黑" panose="020B0503020204020204" pitchFamily="34" charset="-122"/>
                <a:cs typeface="+mn-ea"/>
              </a:rPr>
              <a:t>UI</a:t>
            </a:r>
            <a:r>
              <a:rPr lang="zh-CN" altLang="zh-CN" sz="1600" dirty="0">
                <a:solidFill>
                  <a:srgbClr val="0070C0"/>
                </a:solidFill>
                <a:latin typeface="微软雅黑" panose="020B0503020204020204" pitchFamily="34" charset="-122"/>
                <a:ea typeface="微软雅黑" panose="020B0503020204020204" pitchFamily="34" charset="-122"/>
                <a:cs typeface="+mn-ea"/>
              </a:rPr>
              <a:t>测试</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，例如在</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卸载过程中，给用户提供进度条提示。</a:t>
            </a:r>
          </a:p>
        </p:txBody>
      </p:sp>
      <p:sp>
        <p:nvSpPr>
          <p:cNvPr id="40" name="Shape 385"/>
          <p:cNvSpPr/>
          <p:nvPr/>
        </p:nvSpPr>
        <p:spPr>
          <a:xfrm>
            <a:off x="9551206" y="4371241"/>
            <a:ext cx="2160000" cy="1477328"/>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卸载完成</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后，</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关于</a:t>
            </a:r>
            <a:r>
              <a:rPr lang="en-US" altLang="zh-CN" sz="1600">
                <a:solidFill>
                  <a:srgbClr val="0070C0"/>
                </a:solidFill>
                <a:latin typeface="微软雅黑" panose="020B0503020204020204" pitchFamily="34" charset="-122"/>
                <a:ea typeface="微软雅黑" panose="020B0503020204020204" pitchFamily="34" charset="-122"/>
                <a:cs typeface="+mn-ea"/>
              </a:rPr>
              <a:t>App</a:t>
            </a:r>
            <a:r>
              <a:rPr lang="zh-CN" altLang="zh-CN" sz="1600" dirty="0">
                <a:solidFill>
                  <a:srgbClr val="0070C0"/>
                </a:solidFill>
                <a:latin typeface="微软雅黑" panose="020B0503020204020204" pitchFamily="34" charset="-122"/>
                <a:ea typeface="微软雅黑" panose="020B0503020204020204" pitchFamily="34" charset="-122"/>
                <a:cs typeface="+mn-ea"/>
              </a:rPr>
              <a:t>相应的安装文件是否要全部删除</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，应当</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给用户</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rPr>
              <a:t>提供</a:t>
            </a: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mn-ea"/>
              </a:rPr>
              <a:t>提示</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信息，</a:t>
            </a:r>
            <a:r>
              <a:rPr lang="zh-CN" altLang="zh-CN" sz="1600" dirty="0">
                <a:solidFill>
                  <a:srgbClr val="0070C0"/>
                </a:solidFill>
                <a:latin typeface="微软雅黑" panose="020B0503020204020204" pitchFamily="34" charset="-122"/>
                <a:ea typeface="微软雅黑" panose="020B0503020204020204" pitchFamily="34" charset="-122"/>
                <a:cs typeface="+mn-ea"/>
              </a:rPr>
              <a:t>提示相应文件全部删除或者让用户自己选择是否删除</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41" name="文本框 23"/>
          <p:cNvSpPr txBox="1"/>
          <p:nvPr/>
        </p:nvSpPr>
        <p:spPr>
          <a:xfrm>
            <a:off x="3136498" y="1214378"/>
            <a:ext cx="4931745" cy="621665"/>
          </a:xfrm>
          <a:prstGeom prst="rect">
            <a:avLst/>
          </a:prstGeom>
          <a:noFill/>
        </p:spPr>
        <p:txBody>
          <a:bodyPr wrap="square" rtlCol="0" anchor="t">
            <a:noAutofit/>
          </a:bodyPr>
          <a:lstStyle/>
          <a:p>
            <a:pPr algn="just">
              <a:lnSpc>
                <a:spcPct val="150000"/>
              </a:lnSpc>
            </a:pPr>
            <a:r>
              <a:rPr lang="en-US" altLang="zh-CN" sz="2000">
                <a:solidFill>
                  <a:srgbClr val="1369B2"/>
                </a:solidFill>
                <a:latin typeface="微软雅黑" panose="020B0503020204020204" pitchFamily="34" charset="-122"/>
                <a:ea typeface="微软雅黑" panose="020B0503020204020204" pitchFamily="34" charset="-122"/>
                <a:cs typeface="+mn-ea"/>
              </a:rPr>
              <a:t>App</a:t>
            </a:r>
            <a:r>
              <a:rPr lang="zh-CN" altLang="zh-CN" sz="2000">
                <a:solidFill>
                  <a:srgbClr val="1369B2"/>
                </a:solidFill>
                <a:latin typeface="微软雅黑" panose="020B0503020204020204" pitchFamily="34" charset="-122"/>
                <a:ea typeface="微软雅黑" panose="020B0503020204020204" pitchFamily="34" charset="-122"/>
                <a:cs typeface="+mn-ea"/>
              </a:rPr>
              <a:t>卸载测试</a:t>
            </a:r>
            <a:r>
              <a:rPr lang="zh-CN" altLang="zh-CN" sz="2000">
                <a:solidFill>
                  <a:srgbClr val="595959"/>
                </a:solidFill>
                <a:latin typeface="微软雅黑" panose="020B0503020204020204" pitchFamily="34" charset="-122"/>
                <a:ea typeface="微软雅黑" panose="020B0503020204020204" pitchFamily="34" charset="-122"/>
              </a:rPr>
              <a:t>主要</a:t>
            </a:r>
            <a:r>
              <a:rPr lang="zh-CN" altLang="zh-CN" sz="2000" dirty="0">
                <a:solidFill>
                  <a:srgbClr val="595959"/>
                </a:solidFill>
                <a:latin typeface="微软雅黑" panose="020B0503020204020204" pitchFamily="34" charset="-122"/>
                <a:ea typeface="微软雅黑" panose="020B0503020204020204" pitchFamily="34" charset="-122"/>
              </a:rPr>
              <a:t>有以下</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zh-CN" sz="2000" dirty="0">
                <a:solidFill>
                  <a:srgbClr val="595959"/>
                </a:solidFill>
                <a:latin typeface="微软雅黑" panose="020B0503020204020204" pitchFamily="34" charset="-122"/>
                <a:ea typeface="微软雅黑" panose="020B0503020204020204" pitchFamily="34" charset="-122"/>
              </a:rPr>
              <a:t>点。</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42" name="圆角矩形 41"/>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卸载测试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3087465" y="1197711"/>
            <a:ext cx="7200000" cy="499624"/>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升级测试</a:t>
            </a:r>
            <a:r>
              <a:rPr lang="zh-CN" altLang="zh-CN" sz="2000" dirty="0">
                <a:solidFill>
                  <a:srgbClr val="595959"/>
                </a:solidFill>
                <a:latin typeface="微软雅黑" panose="020B0503020204020204" pitchFamily="34" charset="-122"/>
                <a:ea typeface="微软雅黑" panose="020B0503020204020204" pitchFamily="34" charset="-122"/>
                <a:cs typeface="+mn-ea"/>
              </a:rPr>
              <a:t>是在已安装</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的基础上进行的，测试要点有以下</a:t>
            </a:r>
            <a:r>
              <a:rPr lang="en-US" altLang="zh-CN" sz="2000" dirty="0">
                <a:solidFill>
                  <a:srgbClr val="595959"/>
                </a:solidFill>
                <a:latin typeface="微软雅黑" panose="020B0503020204020204" pitchFamily="34" charset="-122"/>
                <a:ea typeface="微软雅黑" panose="020B0503020204020204" pitchFamily="34" charset="-122"/>
                <a:cs typeface="+mn-ea"/>
              </a:rPr>
              <a:t>4</a:t>
            </a:r>
            <a:r>
              <a:rPr lang="zh-CN" altLang="zh-CN" sz="2000" dirty="0">
                <a:solidFill>
                  <a:srgbClr val="595959"/>
                </a:solidFill>
                <a:latin typeface="微软雅黑" panose="020B0503020204020204" pitchFamily="34" charset="-122"/>
                <a:ea typeface="微软雅黑" panose="020B0503020204020204" pitchFamily="34" charset="-122"/>
                <a:cs typeface="+mn-ea"/>
              </a:rPr>
              <a:t>点。</a:t>
            </a:r>
          </a:p>
        </p:txBody>
      </p:sp>
      <p:sp>
        <p:nvSpPr>
          <p:cNvPr id="6" name="Shape 1452"/>
          <p:cNvSpPr/>
          <p:nvPr/>
        </p:nvSpPr>
        <p:spPr>
          <a:xfrm>
            <a:off x="1138822" y="3641090"/>
            <a:ext cx="2292817"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Shape 1454"/>
          <p:cNvSpPr/>
          <p:nvPr/>
        </p:nvSpPr>
        <p:spPr>
          <a:xfrm>
            <a:off x="3686151" y="3641090"/>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Shape 1456"/>
          <p:cNvSpPr/>
          <p:nvPr/>
        </p:nvSpPr>
        <p:spPr>
          <a:xfrm>
            <a:off x="6213032" y="3641090"/>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1" name="Shape 1458"/>
          <p:cNvSpPr/>
          <p:nvPr/>
        </p:nvSpPr>
        <p:spPr>
          <a:xfrm>
            <a:off x="8760361" y="3641090"/>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2" name="Shape 1460"/>
          <p:cNvSpPr/>
          <p:nvPr/>
        </p:nvSpPr>
        <p:spPr>
          <a:xfrm>
            <a:off x="1441325" y="2548070"/>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3" name="Group 20"/>
          <p:cNvGrpSpPr/>
          <p:nvPr/>
        </p:nvGrpSpPr>
        <p:grpSpPr>
          <a:xfrm>
            <a:off x="1369089" y="2588302"/>
            <a:ext cx="474017" cy="474017"/>
            <a:chOff x="1369087" y="2088729"/>
            <a:chExt cx="474017" cy="474016"/>
          </a:xfrm>
        </p:grpSpPr>
        <p:sp>
          <p:nvSpPr>
            <p:cNvPr id="14" name="Shape 1463"/>
            <p:cNvSpPr/>
            <p:nvPr/>
          </p:nvSpPr>
          <p:spPr>
            <a:xfrm>
              <a:off x="1369087" y="2088729"/>
              <a:ext cx="474017" cy="474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5" name="Shape 1464"/>
            <p:cNvSpPr/>
            <p:nvPr/>
          </p:nvSpPr>
          <p:spPr>
            <a:xfrm>
              <a:off x="1477567" y="2232573"/>
              <a:ext cx="231656" cy="18633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16" name="Shape 1465"/>
          <p:cNvSpPr/>
          <p:nvPr/>
        </p:nvSpPr>
        <p:spPr>
          <a:xfrm>
            <a:off x="3988655" y="2548070"/>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7" name="Shape 1468"/>
          <p:cNvSpPr/>
          <p:nvPr/>
        </p:nvSpPr>
        <p:spPr>
          <a:xfrm>
            <a:off x="6533405" y="2548207"/>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8" name="Shape 1471"/>
          <p:cNvSpPr/>
          <p:nvPr/>
        </p:nvSpPr>
        <p:spPr>
          <a:xfrm>
            <a:off x="9085044" y="2549797"/>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9" name="Group 32"/>
          <p:cNvGrpSpPr/>
          <p:nvPr/>
        </p:nvGrpSpPr>
        <p:grpSpPr>
          <a:xfrm>
            <a:off x="3906592" y="2588301"/>
            <a:ext cx="474017" cy="474017"/>
            <a:chOff x="3906591" y="2088732"/>
            <a:chExt cx="474017" cy="474017"/>
          </a:xfrm>
        </p:grpSpPr>
        <p:sp>
          <p:nvSpPr>
            <p:cNvPr id="20" name="Shape 1474"/>
            <p:cNvSpPr/>
            <p:nvPr/>
          </p:nvSpPr>
          <p:spPr>
            <a:xfrm>
              <a:off x="3906591"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21" name="Group 1479"/>
            <p:cNvGrpSpPr/>
            <p:nvPr/>
          </p:nvGrpSpPr>
          <p:grpSpPr>
            <a:xfrm>
              <a:off x="4031314" y="2211790"/>
              <a:ext cx="199171" cy="186335"/>
              <a:chOff x="0" y="0"/>
              <a:chExt cx="398340" cy="372667"/>
            </a:xfrm>
          </p:grpSpPr>
          <p:sp>
            <p:nvSpPr>
              <p:cNvPr id="22" name="Shape 1477"/>
              <p:cNvSpPr/>
              <p:nvPr/>
            </p:nvSpPr>
            <p:spPr>
              <a:xfrm>
                <a:off x="0" y="0"/>
                <a:ext cx="346395" cy="241984"/>
              </a:xfrm>
              <a:custGeom>
                <a:avLst/>
                <a:gdLst/>
                <a:ahLst/>
                <a:cxnLst>
                  <a:cxn ang="0">
                    <a:pos x="wd2" y="hd2"/>
                  </a:cxn>
                  <a:cxn ang="5400000">
                    <a:pos x="wd2" y="hd2"/>
                  </a:cxn>
                  <a:cxn ang="10800000">
                    <a:pos x="wd2" y="hd2"/>
                  </a:cxn>
                  <a:cxn ang="16200000">
                    <a:pos x="wd2" y="hd2"/>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3" name="Shape 1478"/>
              <p:cNvSpPr/>
              <p:nvPr/>
            </p:nvSpPr>
            <p:spPr>
              <a:xfrm>
                <a:off x="74826" y="149651"/>
                <a:ext cx="323515" cy="223017"/>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grpSp>
      <p:grpSp>
        <p:nvGrpSpPr>
          <p:cNvPr id="24" name="Group 40"/>
          <p:cNvGrpSpPr/>
          <p:nvPr/>
        </p:nvGrpSpPr>
        <p:grpSpPr>
          <a:xfrm>
            <a:off x="8994966" y="2588301"/>
            <a:ext cx="474017" cy="474017"/>
            <a:chOff x="8994965" y="2088732"/>
            <a:chExt cx="474017" cy="474017"/>
          </a:xfrm>
        </p:grpSpPr>
        <p:sp>
          <p:nvSpPr>
            <p:cNvPr id="25" name="Shape 1476"/>
            <p:cNvSpPr/>
            <p:nvPr/>
          </p:nvSpPr>
          <p:spPr>
            <a:xfrm>
              <a:off x="8994965"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6" name="Shape 1481"/>
            <p:cNvSpPr/>
            <p:nvPr/>
          </p:nvSpPr>
          <p:spPr>
            <a:xfrm>
              <a:off x="9132223" y="2211790"/>
              <a:ext cx="194606" cy="186335"/>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7" name="Text Placeholder 5"/>
          <p:cNvSpPr txBox="1"/>
          <p:nvPr/>
        </p:nvSpPr>
        <p:spPr>
          <a:xfrm>
            <a:off x="1403729" y="3103034"/>
            <a:ext cx="1698820" cy="577887"/>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8" name="Text Placeholder 6"/>
          <p:cNvSpPr txBox="1"/>
          <p:nvPr/>
        </p:nvSpPr>
        <p:spPr>
          <a:xfrm>
            <a:off x="1258214" y="4386279"/>
            <a:ext cx="2054032" cy="134751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如果有</a:t>
            </a:r>
            <a:r>
              <a:rPr lang="zh-CN" altLang="zh-CN" sz="1800" dirty="0">
                <a:solidFill>
                  <a:srgbClr val="0070C0"/>
                </a:solidFill>
                <a:latin typeface="微软雅黑" panose="020B0503020204020204" pitchFamily="34" charset="-122"/>
                <a:ea typeface="微软雅黑" panose="020B0503020204020204" pitchFamily="34" charset="-122"/>
                <a:cs typeface="+mn-ea"/>
              </a:rPr>
              <a:t>新版本升级</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cs typeface="+mn-ea"/>
              </a:rPr>
              <a:t>，打开</a:t>
            </a: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cs typeface="+mn-ea"/>
              </a:rPr>
              <a:t>时</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要</a:t>
            </a:r>
            <a:r>
              <a:rPr lang="zh-CN" altLang="zh-CN" sz="1800" dirty="0">
                <a:solidFill>
                  <a:srgbClr val="0070C0"/>
                </a:solidFill>
                <a:latin typeface="微软雅黑" panose="020B0503020204020204" pitchFamily="34" charset="-122"/>
                <a:ea typeface="微软雅黑" panose="020B0503020204020204" pitchFamily="34" charset="-122"/>
                <a:cs typeface="+mn-ea"/>
              </a:rPr>
              <a:t>有相应提示</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9" name="Text Placeholder 5"/>
          <p:cNvSpPr txBox="1"/>
          <p:nvPr/>
        </p:nvSpPr>
        <p:spPr>
          <a:xfrm>
            <a:off x="4076442" y="3103034"/>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ct val="20000"/>
              </a:spcBef>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0" name="Text Placeholder 5"/>
          <p:cNvSpPr txBox="1"/>
          <p:nvPr/>
        </p:nvSpPr>
        <p:spPr>
          <a:xfrm>
            <a:off x="9171102" y="3103034"/>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ct val="20000"/>
              </a:spcBef>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2" name="Text Placeholder 6"/>
          <p:cNvSpPr txBox="1"/>
          <p:nvPr/>
        </p:nvSpPr>
        <p:spPr>
          <a:xfrm>
            <a:off x="3950335" y="4274006"/>
            <a:ext cx="1815465" cy="1963787"/>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升级包下载中断</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时要有相应处理措施，</a:t>
            </a:r>
            <a:r>
              <a:rPr lang="zh-CN" altLang="zh-CN" sz="1800" dirty="0">
                <a:solidFill>
                  <a:srgbClr val="0070C0"/>
                </a:solidFill>
                <a:latin typeface="微软雅黑" panose="020B0503020204020204" pitchFamily="34" charset="-122"/>
                <a:ea typeface="微软雅黑" panose="020B0503020204020204" pitchFamily="34" charset="-122"/>
                <a:cs typeface="+mn-ea"/>
              </a:rPr>
              <a:t>支持继续下载</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或者</a:t>
            </a:r>
            <a:r>
              <a:rPr lang="zh-CN" altLang="zh-CN" sz="1800" dirty="0">
                <a:solidFill>
                  <a:srgbClr val="0070C0"/>
                </a:solidFill>
                <a:latin typeface="微软雅黑" panose="020B0503020204020204" pitchFamily="34" charset="-122"/>
                <a:ea typeface="微软雅黑" panose="020B0503020204020204" pitchFamily="34" charset="-122"/>
                <a:cs typeface="+mn-ea"/>
              </a:rPr>
              <a:t>重新下载</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3" name="Text Placeholder 6"/>
          <p:cNvSpPr txBox="1"/>
          <p:nvPr/>
        </p:nvSpPr>
        <p:spPr>
          <a:xfrm>
            <a:off x="6229172" y="4282438"/>
            <a:ext cx="2292819" cy="2001910"/>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App</a:t>
            </a:r>
            <a:r>
              <a:rPr lang="zh-CN" altLang="zh-CN" sz="1800" dirty="0">
                <a:solidFill>
                  <a:srgbClr val="0070C0"/>
                </a:solidFill>
                <a:latin typeface="微软雅黑" panose="020B0503020204020204" pitchFamily="34" charset="-122"/>
                <a:ea typeface="微软雅黑" panose="020B0503020204020204" pitchFamily="34" charset="-122"/>
                <a:cs typeface="+mn-ea"/>
              </a:rPr>
              <a:t>安装渠道</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有多种，相应的</a:t>
            </a:r>
            <a:r>
              <a:rPr lang="zh-CN" altLang="zh-CN" sz="1800" dirty="0">
                <a:solidFill>
                  <a:srgbClr val="0070C0"/>
                </a:solidFill>
                <a:latin typeface="微软雅黑" panose="020B0503020204020204" pitchFamily="34" charset="-122"/>
                <a:ea typeface="微软雅黑" panose="020B0503020204020204" pitchFamily="34" charset="-122"/>
                <a:cs typeface="+mn-ea"/>
              </a:rPr>
              <a:t>升级渠道</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也有多种，</a:t>
            </a:r>
            <a:r>
              <a:rPr lang="zh-CN" altLang="zh-CN" sz="1800" dirty="0">
                <a:solidFill>
                  <a:srgbClr val="0070C0"/>
                </a:solidFill>
                <a:latin typeface="微软雅黑" panose="020B0503020204020204" pitchFamily="34" charset="-122"/>
                <a:ea typeface="微软雅黑" panose="020B0503020204020204" pitchFamily="34" charset="-122"/>
                <a:cs typeface="+mn-ea"/>
              </a:rPr>
              <a:t>要对多渠道升级进行测试</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确保每个渠道的升级都能顺利完成</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4" name="Text Placeholder 6"/>
          <p:cNvSpPr txBox="1"/>
          <p:nvPr/>
        </p:nvSpPr>
        <p:spPr>
          <a:xfrm>
            <a:off x="9019598" y="4282438"/>
            <a:ext cx="1815245" cy="1955355"/>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测试不同操作系统版本</a:t>
            </a:r>
            <a:r>
              <a:rPr lang="zh-CN" altLang="zh-CN" sz="1800">
                <a:solidFill>
                  <a:srgbClr val="0070C0"/>
                </a:solidFill>
                <a:latin typeface="微软雅黑" panose="020B0503020204020204" pitchFamily="34" charset="-122"/>
                <a:ea typeface="微软雅黑" panose="020B0503020204020204" pitchFamily="34" charset="-122"/>
                <a:cs typeface="+mn-ea"/>
              </a:rPr>
              <a:t>中的</a:t>
            </a:r>
            <a:r>
              <a:rPr lang="en-US" altLang="zh-CN" sz="1800">
                <a:solidFill>
                  <a:srgbClr val="0070C0"/>
                </a:solidFill>
                <a:latin typeface="微软雅黑" panose="020B0503020204020204" pitchFamily="34" charset="-122"/>
                <a:ea typeface="微软雅黑" panose="020B0503020204020204" pitchFamily="34" charset="-122"/>
                <a:cs typeface="+mn-ea"/>
              </a:rPr>
              <a:t>App</a:t>
            </a:r>
            <a:r>
              <a:rPr lang="zh-CN" altLang="zh-CN" sz="1800">
                <a:solidFill>
                  <a:srgbClr val="0070C0"/>
                </a:solidFill>
                <a:latin typeface="微软雅黑" panose="020B0503020204020204" pitchFamily="34" charset="-122"/>
                <a:ea typeface="微软雅黑" panose="020B0503020204020204" pitchFamily="34" charset="-122"/>
                <a:cs typeface="+mn-ea"/>
              </a:rPr>
              <a:t>升级</a:t>
            </a:r>
            <a:r>
              <a:rPr lang="zh-CN" altLang="zh-CN" sz="1800" dirty="0">
                <a:solidFill>
                  <a:srgbClr val="0070C0"/>
                </a:solidFill>
                <a:latin typeface="微软雅黑" panose="020B0503020204020204" pitchFamily="34" charset="-122"/>
                <a:ea typeface="微软雅黑" panose="020B0503020204020204" pitchFamily="34" charset="-122"/>
                <a:cs typeface="+mn-ea"/>
              </a:rPr>
              <a:t>是否都能通过</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p:txBody>
      </p:sp>
      <p:sp>
        <p:nvSpPr>
          <p:cNvPr id="35" name="Text Placeholder 5"/>
          <p:cNvSpPr txBox="1"/>
          <p:nvPr/>
        </p:nvSpPr>
        <p:spPr>
          <a:xfrm>
            <a:off x="6614486" y="3103034"/>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ct val="20000"/>
              </a:spcBef>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6" name="Shape 1475"/>
          <p:cNvSpPr/>
          <p:nvPr/>
        </p:nvSpPr>
        <p:spPr>
          <a:xfrm>
            <a:off x="6450780" y="2588301"/>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7" name="Shape 1480"/>
          <p:cNvSpPr/>
          <p:nvPr/>
        </p:nvSpPr>
        <p:spPr>
          <a:xfrm>
            <a:off x="6594292" y="2711359"/>
            <a:ext cx="186347" cy="186335"/>
          </a:xfrm>
          <a:custGeom>
            <a:avLst/>
            <a:gdLst/>
            <a:ahLst/>
            <a:cxnLst>
              <a:cxn ang="0">
                <a:pos x="wd2" y="hd2"/>
              </a:cxn>
              <a:cxn ang="5400000">
                <a:pos x="wd2" y="hd2"/>
              </a:cxn>
              <a:cxn ang="10800000">
                <a:pos x="wd2" y="hd2"/>
              </a:cxn>
              <a:cxn ang="16200000">
                <a:pos x="wd2" y="hd2"/>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8" name="圆角矩形 37"/>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升级测试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1" y="2493794"/>
            <a:ext cx="9556907" cy="1477328"/>
          </a:xfrm>
          <a:prstGeom prst="rect">
            <a:avLst/>
          </a:prstGeom>
        </p:spPr>
        <p:txBody>
          <a:bodyPr wrap="square">
            <a:spAutoFit/>
          </a:bodyPr>
          <a:lstStyle/>
          <a:p>
            <a:pPr>
              <a:lnSpc>
                <a:spcPct val="150000"/>
              </a:lnSpc>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移动设备通常都有</a:t>
            </a:r>
            <a:r>
              <a:rPr lang="en-US" altLang="zh-CN" sz="2000">
                <a:solidFill>
                  <a:srgbClr val="0070C0"/>
                </a:solidFill>
                <a:latin typeface="微软雅黑" panose="020B0503020204020204" pitchFamily="34" charset="-122"/>
                <a:ea typeface="微软雅黑" panose="020B0503020204020204" pitchFamily="34" charset="-122"/>
                <a:cs typeface="+mn-ea"/>
              </a:rPr>
              <a:t>电话</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短信</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蓝牙</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等软件，App 在使用时难免会受到干扰。例如，在使用 App 的过程中，如果需要</a:t>
            </a:r>
            <a:r>
              <a:rPr lang="en-US" altLang="zh-CN" sz="2000">
                <a:solidFill>
                  <a:srgbClr val="0070C0"/>
                </a:solidFill>
                <a:latin typeface="微软雅黑" panose="020B0503020204020204" pitchFamily="34" charset="-122"/>
                <a:ea typeface="微软雅黑" panose="020B0503020204020204" pitchFamily="34" charset="-122"/>
                <a:cs typeface="+mn-ea"/>
              </a:rPr>
              <a:t>拨打电话</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接听电话</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启动蓝牙</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相机</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手电筒</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等，App 要做好相应的处理措施，</a:t>
            </a:r>
            <a:r>
              <a:rPr lang="en-US" altLang="zh-CN" sz="2000">
                <a:solidFill>
                  <a:srgbClr val="0070C0"/>
                </a:solidFill>
                <a:latin typeface="微软雅黑" panose="020B0503020204020204" pitchFamily="34" charset="-122"/>
                <a:ea typeface="微软雅黑" panose="020B0503020204020204" pitchFamily="34" charset="-122"/>
                <a:cs typeface="+mn-ea"/>
              </a:rPr>
              <a:t>确保自身不会产生功能性错误</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6" name="圆角矩形 5"/>
          <p:cNvSpPr/>
          <p:nvPr/>
        </p:nvSpPr>
        <p:spPr>
          <a:xfrm>
            <a:off x="1115112" y="1048804"/>
            <a:ext cx="2100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交互性测试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15112" y="2277794"/>
            <a:ext cx="9556907" cy="2400657"/>
          </a:xfrm>
          <a:prstGeom prst="rect">
            <a:avLst/>
          </a:prstGeom>
        </p:spPr>
        <p:txBody>
          <a:bodyPr wrap="square">
            <a:spAutoFit/>
          </a:bodyPr>
          <a:lstStyle/>
          <a:p>
            <a:pPr>
              <a:lnSpc>
                <a:spcPct val="150000"/>
              </a:lnSpc>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App 在移动设备上使用时，通常需要连接移动网络，由于</a:t>
            </a:r>
            <a:r>
              <a:rPr lang="en-US" altLang="zh-CN" sz="2000">
                <a:solidFill>
                  <a:srgbClr val="0070C0"/>
                </a:solidFill>
                <a:latin typeface="微软雅黑" panose="020B0503020204020204" pitchFamily="34" charset="-122"/>
                <a:ea typeface="微软雅黑" panose="020B0503020204020204" pitchFamily="34" charset="-122"/>
                <a:cs typeface="+mn-ea"/>
              </a:rPr>
              <a:t>移动网络的情况复杂多变</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rgbClr val="0070C0"/>
                </a:solidFill>
                <a:latin typeface="微软雅黑" panose="020B0503020204020204" pitchFamily="34" charset="-122"/>
                <a:ea typeface="微软雅黑" panose="020B0503020204020204" pitchFamily="34" charset="-122"/>
                <a:cs typeface="+mn-ea"/>
              </a:rPr>
              <a:t>网络信号会受到环境的影响</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，所以容易出现</a:t>
            </a:r>
            <a:r>
              <a:rPr lang="en-US" altLang="zh-CN" sz="2000">
                <a:solidFill>
                  <a:srgbClr val="0070C0"/>
                </a:solidFill>
                <a:latin typeface="微软雅黑" panose="020B0503020204020204" pitchFamily="34" charset="-122"/>
                <a:ea typeface="微软雅黑" panose="020B0503020204020204" pitchFamily="34" charset="-122"/>
                <a:cs typeface="+mn-ea"/>
              </a:rPr>
              <a:t>网络不稳定</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的情况。然而很多App 的一些</a:t>
            </a:r>
            <a:r>
              <a:rPr lang="en-US" altLang="zh-CN" sz="2000">
                <a:solidFill>
                  <a:srgbClr val="0070C0"/>
                </a:solidFill>
                <a:latin typeface="微软雅黑" panose="020B0503020204020204" pitchFamily="34" charset="-122"/>
                <a:ea typeface="微软雅黑" panose="020B0503020204020204" pitchFamily="34" charset="-122"/>
                <a:cs typeface="+mn-ea"/>
              </a:rPr>
              <a:t>隐藏问题只有在复杂的网络环境下才会显现出来</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。例如，正在使用的App 遇到网络信号切换或变弱时，不能响应或产生功能性错误，在测试时要特别对App 进行弱网测试，尽早发现问题。</a:t>
            </a:r>
            <a:endPar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7" name="圆角矩形 6"/>
          <p:cNvSpPr/>
          <p:nvPr/>
        </p:nvSpPr>
        <p:spPr>
          <a:xfrm>
            <a:off x="1115112" y="1048804"/>
            <a:ext cx="1800000"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5.</a:t>
            </a:r>
            <a:r>
              <a:rPr lang="zh-CN" altLang="en-US">
                <a:latin typeface="微软雅黑" panose="020B0503020204020204" pitchFamily="34" charset="-122"/>
                <a:ea typeface="微软雅黑" panose="020B0503020204020204" pitchFamily="34" charset="-122"/>
              </a:rPr>
              <a:t>弱网测试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专项测试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15112" y="2205794"/>
            <a:ext cx="9556907" cy="1938992"/>
          </a:xfrm>
          <a:prstGeom prst="rect">
            <a:avLst/>
          </a:prstGeom>
        </p:spPr>
        <p:txBody>
          <a:bodyPr wrap="square">
            <a:spAutoFit/>
          </a:bodyPr>
          <a:lstStyle/>
          <a:p>
            <a:pPr>
              <a:lnSpc>
                <a:spcPct val="150000"/>
              </a:lnSpc>
            </a:pPr>
            <a:r>
              <a:rPr lang="en-US" altLang="zh-CN" sz="2000">
                <a:solidFill>
                  <a:srgbClr val="0070C0"/>
                </a:solidFill>
                <a:latin typeface="微软雅黑" panose="020B0503020204020204" pitchFamily="34" charset="-122"/>
                <a:ea typeface="微软雅黑" panose="020B0503020204020204" pitchFamily="34" charset="-122"/>
                <a:cs typeface="+mn-ea"/>
              </a:rPr>
              <a:t>移动设备的电量有限</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一直是困扰用户的一个问题，同时也是移动设备发展的一个瓶颈。如果 App 架构设计不好，或者代码有缺陷，就可能导致电量消耗比较大，因此 </a:t>
            </a:r>
            <a:r>
              <a:rPr lang="en-US" altLang="zh-CN" sz="2000">
                <a:solidFill>
                  <a:srgbClr val="0070C0"/>
                </a:solidFill>
                <a:latin typeface="微软雅黑" panose="020B0503020204020204" pitchFamily="34" charset="-122"/>
                <a:ea typeface="微软雅黑" panose="020B0503020204020204" pitchFamily="34" charset="-122"/>
                <a:cs typeface="+mn-ea"/>
              </a:rPr>
              <a:t>App 耗电量测试也很重要</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。如果 App 耗电量较大，应改进 App，使其在电量不足的情况下释放掉一部分性能以节省电量。</a:t>
            </a:r>
            <a:endPar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6" name="圆角矩形 5"/>
          <p:cNvSpPr/>
          <p:nvPr/>
        </p:nvSpPr>
        <p:spPr>
          <a:xfrm>
            <a:off x="1115112" y="1048804"/>
            <a:ext cx="2100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6.</a:t>
            </a:r>
            <a:r>
              <a:rPr lang="zh-CN" altLang="en-US">
                <a:latin typeface="微软雅黑" panose="020B0503020204020204" pitchFamily="34" charset="-122"/>
                <a:ea typeface="微软雅黑" panose="020B0503020204020204" pitchFamily="34" charset="-122"/>
              </a:rPr>
              <a:t>耗电量测试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1076942" y="1192953"/>
            <a:ext cx="4011282" cy="553998"/>
          </a:xfrm>
          <a:prstGeom prst="rect">
            <a:avLst/>
          </a:prstGeom>
        </p:spPr>
        <p:txBody>
          <a:bodyPr wrap="square">
            <a:spAutoFit/>
          </a:bodyPr>
          <a:lstStyle/>
          <a:p>
            <a:pPr>
              <a:lnSpc>
                <a:spcPct val="150000"/>
              </a:lnSpc>
            </a:pP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a:solidFill>
                  <a:srgbClr val="0070C0"/>
                </a:solidFill>
                <a:latin typeface="微软雅黑" panose="020B0503020204020204" pitchFamily="34" charset="-122"/>
                <a:ea typeface="微软雅黑" panose="020B0503020204020204" pitchFamily="34" charset="-122"/>
                <a:cs typeface="+mn-ea"/>
              </a:rPr>
              <a:t>性能测试</a:t>
            </a:r>
            <a:r>
              <a:rPr lang="zh-CN" altLang="en-US" sz="2000">
                <a:solidFill>
                  <a:srgbClr val="0070C0"/>
                </a:solidFill>
                <a:latin typeface="微软雅黑" panose="020B0503020204020204" pitchFamily="34" charset="-122"/>
                <a:ea typeface="微软雅黑" panose="020B0503020204020204" pitchFamily="34" charset="-122"/>
                <a:cs typeface="+mn-ea"/>
              </a:rPr>
              <a:t>的</a:t>
            </a:r>
            <a:r>
              <a:rPr lang="zh-CN" altLang="zh-CN" sz="2000">
                <a:solidFill>
                  <a:srgbClr val="0070C0"/>
                </a:solidFill>
                <a:latin typeface="微软雅黑" panose="020B0503020204020204" pitchFamily="34" charset="-122"/>
                <a:ea typeface="微软雅黑" panose="020B0503020204020204" pitchFamily="34" charset="-122"/>
                <a:cs typeface="+mn-ea"/>
              </a:rPr>
              <a:t>要点</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如下。</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grpSp>
        <p:nvGrpSpPr>
          <p:cNvPr id="7" name="组合 6"/>
          <p:cNvGrpSpPr/>
          <p:nvPr/>
        </p:nvGrpSpPr>
        <p:grpSpPr>
          <a:xfrm>
            <a:off x="2567206" y="2160279"/>
            <a:ext cx="7632002" cy="2756402"/>
            <a:chOff x="2601061" y="2772564"/>
            <a:chExt cx="7662908" cy="2093629"/>
          </a:xfrm>
        </p:grpSpPr>
        <p:sp>
          <p:nvSpPr>
            <p:cNvPr id="8" name="MH_Other_1"/>
            <p:cNvSpPr/>
            <p:nvPr>
              <p:custDataLst>
                <p:tags r:id="rId1"/>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9" name="MH_Other_2"/>
            <p:cNvSpPr/>
            <p:nvPr>
              <p:custDataLst>
                <p:tags r:id="rId2"/>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SubTitle_1"/>
            <p:cNvSpPr txBox="1">
              <a:spLocks noChangeArrowheads="1"/>
            </p:cNvSpPr>
            <p:nvPr>
              <p:custDataLst>
                <p:tags r:id="rId3"/>
              </p:custDataLst>
            </p:nvPr>
          </p:nvSpPr>
          <p:spPr bwMode="auto">
            <a:xfrm flipH="1">
              <a:off x="2601063" y="2772564"/>
              <a:ext cx="1125240" cy="30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defTabSz="1087755">
                <a:lnSpc>
                  <a:spcPct val="12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边界测试</a:t>
              </a:r>
            </a:p>
          </p:txBody>
        </p:sp>
        <p:sp>
          <p:nvSpPr>
            <p:cNvPr id="13" name="MH_Other_3"/>
            <p:cNvSpPr/>
            <p:nvPr>
              <p:custDataLst>
                <p:tags r:id="rId4"/>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4" name="MH_Other_4"/>
            <p:cNvSpPr/>
            <p:nvPr>
              <p:custDataLst>
                <p:tags r:id="rId5"/>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5"/>
            <p:cNvSpPr/>
            <p:nvPr>
              <p:custDataLst>
                <p:tags r:id="rId6"/>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7" name="MH_Other_6"/>
            <p:cNvSpPr/>
            <p:nvPr>
              <p:custDataLst>
                <p:tags r:id="rId7"/>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8" name="MH_Other_7"/>
            <p:cNvSpPr/>
            <p:nvPr>
              <p:custDataLst>
                <p:tags r:id="rId8"/>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9" name="MH_Other_8"/>
            <p:cNvSpPr/>
            <p:nvPr>
              <p:custDataLst>
                <p:tags r:id="rId9"/>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0" name="MH_SubTitle_3"/>
            <p:cNvSpPr txBox="1">
              <a:spLocks noChangeArrowheads="1"/>
            </p:cNvSpPr>
            <p:nvPr>
              <p:custDataLst>
                <p:tags r:id="rId10"/>
              </p:custDataLst>
            </p:nvPr>
          </p:nvSpPr>
          <p:spPr bwMode="auto">
            <a:xfrm>
              <a:off x="8500631" y="4450794"/>
              <a:ext cx="1763338" cy="34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响应能力测试</a:t>
              </a:r>
            </a:p>
          </p:txBody>
        </p:sp>
        <p:sp>
          <p:nvSpPr>
            <p:cNvPr id="21" name="MH_SubTitle_2"/>
            <p:cNvSpPr txBox="1">
              <a:spLocks noChangeArrowheads="1"/>
            </p:cNvSpPr>
            <p:nvPr>
              <p:custDataLst>
                <p:tags r:id="rId11"/>
              </p:custDataLst>
            </p:nvPr>
          </p:nvSpPr>
          <p:spPr bwMode="auto">
            <a:xfrm flipH="1">
              <a:off x="2601061" y="4450794"/>
              <a:ext cx="1125241" cy="34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just">
                <a:lnSpc>
                  <a:spcPct val="12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rPr>
                <a:t>耗能测试</a:t>
              </a:r>
            </a:p>
          </p:txBody>
        </p:sp>
      </p:grpSp>
      <p:sp>
        <p:nvSpPr>
          <p:cNvPr id="22" name="矩形 21"/>
          <p:cNvSpPr/>
          <p:nvPr/>
        </p:nvSpPr>
        <p:spPr>
          <a:xfrm>
            <a:off x="8405408" y="2160279"/>
            <a:ext cx="1210588" cy="400110"/>
          </a:xfrm>
          <a:prstGeom prst="rect">
            <a:avLst/>
          </a:prstGeom>
        </p:spPr>
        <p:txBody>
          <a:bodyPr wrap="none">
            <a:spAutoFit/>
          </a:bodyPr>
          <a:lstStyle/>
          <a:p>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rPr>
              <a:t>压力测试</a:t>
            </a:r>
          </a:p>
        </p:txBody>
      </p:sp>
      <p:sp>
        <p:nvSpPr>
          <p:cNvPr id="23" name="矩形 22"/>
          <p:cNvSpPr/>
          <p:nvPr/>
        </p:nvSpPr>
        <p:spPr>
          <a:xfrm>
            <a:off x="1079474" y="2613513"/>
            <a:ext cx="3384000" cy="1754326"/>
          </a:xfrm>
          <a:prstGeom prst="rect">
            <a:avLst/>
          </a:prstGeom>
        </p:spPr>
        <p:txBody>
          <a:bodyPr wrap="square">
            <a:spAutoFit/>
          </a:bodyPr>
          <a:lstStyle/>
          <a:p>
            <a:pPr>
              <a:lnSpc>
                <a:spcPct val="150000"/>
              </a:lnSpc>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在各种边界压力</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下，</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例</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zh-CN" altLang="zh-CN" sz="1800" dirty="0">
                <a:solidFill>
                  <a:srgbClr val="0070C0"/>
                </a:solidFill>
                <a:latin typeface="微软雅黑" panose="020B0503020204020204" pitchFamily="34" charset="-122"/>
                <a:ea typeface="微软雅黑" panose="020B0503020204020204" pitchFamily="34" charset="-122"/>
                <a:cs typeface="+mn-ea"/>
              </a:rPr>
              <a:t>电量不足</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存储空间不足</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网络不稳定时</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测试</a:t>
            </a:r>
            <a:r>
              <a:rPr lang="en-US" altLang="zh-CN" sz="1800" dirty="0">
                <a:solidFill>
                  <a:srgbClr val="0070C0"/>
                </a:solidFill>
                <a:latin typeface="微软雅黑" panose="020B0503020204020204" pitchFamily="34" charset="-122"/>
                <a:ea typeface="微软雅黑" panose="020B0503020204020204" pitchFamily="34" charset="-122"/>
                <a:cs typeface="+mn-ea"/>
              </a:rPr>
              <a:t>App</a:t>
            </a:r>
            <a:r>
              <a:rPr lang="zh-CN" altLang="zh-CN" sz="1800" dirty="0">
                <a:solidFill>
                  <a:srgbClr val="0070C0"/>
                </a:solidFill>
                <a:latin typeface="微软雅黑" panose="020B0503020204020204" pitchFamily="34" charset="-122"/>
                <a:ea typeface="微软雅黑" panose="020B0503020204020204" pitchFamily="34" charset="-122"/>
                <a:cs typeface="+mn-ea"/>
              </a:rPr>
              <a:t>是否能正确响应和正常运行</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24" name="矩形 23"/>
          <p:cNvSpPr/>
          <p:nvPr/>
        </p:nvSpPr>
        <p:spPr>
          <a:xfrm>
            <a:off x="7466380" y="2421794"/>
            <a:ext cx="3815999" cy="2169825"/>
          </a:xfrm>
          <a:prstGeom prst="rect">
            <a:avLst/>
          </a:prstGeom>
        </p:spPr>
        <p:txBody>
          <a:bodyPr wrap="square">
            <a:spAutoFit/>
          </a:bodyPr>
          <a:lstStyle/>
          <a:p>
            <a:pPr>
              <a:lnSpc>
                <a:spcPct val="150000"/>
              </a:lnSpc>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对</a:t>
            </a:r>
            <a:r>
              <a:rPr lang="en-US"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不断</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施加</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压力，</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例</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zh-CN" altLang="zh-CN" sz="1800" dirty="0">
                <a:solidFill>
                  <a:srgbClr val="0070C0"/>
                </a:solidFill>
                <a:latin typeface="微软雅黑" panose="020B0503020204020204" pitchFamily="34" charset="-122"/>
                <a:ea typeface="微软雅黑" panose="020B0503020204020204" pitchFamily="34" charset="-122"/>
                <a:cs typeface="+mn-ea"/>
              </a:rPr>
              <a:t>不断增加负载</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不断增大数据</a:t>
            </a:r>
            <a:r>
              <a:rPr lang="zh-CN" altLang="zh-CN" sz="1800">
                <a:solidFill>
                  <a:srgbClr val="0070C0"/>
                </a:solidFill>
                <a:latin typeface="微软雅黑" panose="020B0503020204020204" pitchFamily="34" charset="-122"/>
                <a:ea typeface="微软雅黑" panose="020B0503020204020204" pitchFamily="34" charset="-122"/>
                <a:cs typeface="+mn-ea"/>
              </a:rPr>
              <a:t>吞吐量</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等</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以</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确定</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的服务瓶颈，获得</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能</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提供的</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最强性能</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0070C0"/>
                </a:solidFill>
                <a:latin typeface="微软雅黑" panose="020B0503020204020204" pitchFamily="34" charset="-122"/>
                <a:ea typeface="微软雅黑" panose="020B0503020204020204" pitchFamily="34" charset="-122"/>
                <a:cs typeface="+mn-ea"/>
              </a:rPr>
              <a:t>确定</a:t>
            </a:r>
            <a:r>
              <a:rPr lang="en-US" altLang="zh-CN" sz="1800" dirty="0">
                <a:solidFill>
                  <a:srgbClr val="0070C0"/>
                </a:solidFill>
                <a:latin typeface="微软雅黑" panose="020B0503020204020204" pitchFamily="34" charset="-122"/>
                <a:ea typeface="微软雅黑" panose="020B0503020204020204" pitchFamily="34" charset="-122"/>
                <a:cs typeface="+mn-ea"/>
              </a:rPr>
              <a:t>App</a:t>
            </a:r>
            <a:r>
              <a:rPr lang="zh-CN" altLang="zh-CN" sz="1800" dirty="0">
                <a:solidFill>
                  <a:srgbClr val="0070C0"/>
                </a:solidFill>
                <a:latin typeface="微软雅黑" panose="020B0503020204020204" pitchFamily="34" charset="-122"/>
                <a:ea typeface="微软雅黑" panose="020B0503020204020204" pitchFamily="34" charset="-122"/>
                <a:cs typeface="+mn-ea"/>
              </a:rPr>
              <a:t>性能是否满足用户需求</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25" name="矩形 24"/>
          <p:cNvSpPr/>
          <p:nvPr/>
        </p:nvSpPr>
        <p:spPr>
          <a:xfrm>
            <a:off x="947402" y="4916681"/>
            <a:ext cx="4084741" cy="1754326"/>
          </a:xfrm>
          <a:prstGeom prst="rect">
            <a:avLst/>
          </a:prstGeom>
        </p:spPr>
        <p:txBody>
          <a:bodyPr wrap="square">
            <a:spAutoFit/>
          </a:bodyPr>
          <a:lstStyle/>
          <a:p>
            <a:pPr>
              <a:lnSpc>
                <a:spcPct val="150000"/>
              </a:lnSpc>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运行时对移动设备的资源</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占用情况，包括</a:t>
            </a:r>
            <a:r>
              <a:rPr lang="zh-CN" altLang="zh-CN" sz="1800">
                <a:solidFill>
                  <a:srgbClr val="0070C0"/>
                </a:solidFill>
                <a:latin typeface="微软雅黑" panose="020B0503020204020204" pitchFamily="34" charset="-122"/>
                <a:ea typeface="微软雅黑" panose="020B0503020204020204" pitchFamily="34" charset="-122"/>
                <a:cs typeface="+mn-ea"/>
              </a:rPr>
              <a:t>内存</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1800">
                <a:solidFill>
                  <a:srgbClr val="0070C0"/>
                </a:solidFill>
                <a:latin typeface="微软雅黑" panose="020B0503020204020204" pitchFamily="34" charset="-122"/>
                <a:ea typeface="微软雅黑" panose="020B0503020204020204" pitchFamily="34" charset="-122"/>
                <a:cs typeface="+mn-ea"/>
              </a:rPr>
              <a:t>CPU</a:t>
            </a:r>
            <a:r>
              <a:rPr lang="zh-CN" altLang="en-US" sz="1800">
                <a:solidFill>
                  <a:srgbClr val="0070C0"/>
                </a:solidFill>
                <a:latin typeface="微软雅黑" panose="020B0503020204020204" pitchFamily="34" charset="-122"/>
                <a:ea typeface="微软雅黑" panose="020B0503020204020204" pitchFamily="34" charset="-122"/>
                <a:cs typeface="+mn-ea"/>
              </a:rPr>
              <a:t>使用率</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en-US"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耗能测试时需要</a:t>
            </a:r>
            <a:r>
              <a:rPr lang="zh-CN" altLang="en-US" sz="1800">
                <a:solidFill>
                  <a:srgbClr val="0070C0"/>
                </a:solidFill>
                <a:latin typeface="微软雅黑" panose="020B0503020204020204" pitchFamily="34" charset="-122"/>
                <a:ea typeface="微软雅黑" panose="020B0503020204020204" pitchFamily="34" charset="-122"/>
                <a:cs typeface="+mn-ea"/>
              </a:rPr>
              <a:t>验证</a:t>
            </a:r>
            <a:r>
              <a:rPr lang="en-US" altLang="zh-CN" sz="1800">
                <a:solidFill>
                  <a:srgbClr val="0070C0"/>
                </a:solidFill>
                <a:latin typeface="微软雅黑" panose="020B0503020204020204" pitchFamily="34" charset="-122"/>
                <a:ea typeface="微软雅黑" panose="020B0503020204020204" pitchFamily="34" charset="-122"/>
                <a:cs typeface="+mn-ea"/>
              </a:rPr>
              <a:t>App在长期运行时的耗电量是否满足用户需求</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26" name="矩形 25"/>
          <p:cNvSpPr/>
          <p:nvPr/>
        </p:nvSpPr>
        <p:spPr>
          <a:xfrm>
            <a:off x="7470436" y="4858651"/>
            <a:ext cx="3811943" cy="1754326"/>
          </a:xfrm>
          <a:prstGeom prst="rect">
            <a:avLst/>
          </a:prstGeom>
        </p:spPr>
        <p:txBody>
          <a:bodyPr wrap="square">
            <a:spAutoFit/>
          </a:bodyPr>
          <a:lstStyle/>
          <a:p>
            <a:pPr>
              <a:lnSpc>
                <a:spcPct val="150000"/>
              </a:lnSpc>
            </a:pPr>
            <a:r>
              <a:rPr lang="zh-CN" altLang="zh-CN" sz="1800" dirty="0">
                <a:solidFill>
                  <a:srgbClr val="0070C0"/>
                </a:solidFill>
                <a:latin typeface="微软雅黑" panose="020B0503020204020204" pitchFamily="34" charset="-122"/>
                <a:ea typeface="微软雅黑" panose="020B0503020204020204" pitchFamily="34" charset="-122"/>
                <a:cs typeface="+mn-ea"/>
              </a:rPr>
              <a:t>响应能力测试实质上也是一种压力</a:t>
            </a:r>
            <a:r>
              <a:rPr lang="zh-CN" altLang="zh-CN" sz="1800">
                <a:solidFill>
                  <a:srgbClr val="0070C0"/>
                </a:solidFill>
                <a:latin typeface="微软雅黑" panose="020B0503020204020204" pitchFamily="34" charset="-122"/>
                <a:ea typeface="微软雅黑" panose="020B0503020204020204" pitchFamily="34" charset="-122"/>
                <a:cs typeface="+mn-ea"/>
              </a:rPr>
              <a:t>测试</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即测试</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一定条件下</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是否可以正确</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响应，</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以及</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响应时间是否</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满足用户</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需求</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4943206" y="2082915"/>
            <a:ext cx="6547190" cy="1938992"/>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兼容性是指软件之间、硬件之间或软硬件组合系统之间相互协调工作的程度</a:t>
            </a:r>
            <a:r>
              <a:rPr lang="zh-CN" altLang="zh-CN" sz="2000" dirty="0">
                <a:solidFill>
                  <a:srgbClr val="595959"/>
                </a:solidFill>
                <a:latin typeface="微软雅黑" panose="020B0503020204020204" pitchFamily="34" charset="-122"/>
                <a:ea typeface="微软雅黑" panose="020B0503020204020204" pitchFamily="34" charset="-122"/>
                <a:cs typeface="+mn-ea"/>
              </a:rPr>
              <a:t>。对于</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的兼容性，如果某个</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能够稳定地工作在若干个操作系统中，并且不会出现频繁崩溃、意外退出等问题，则说明</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的兼容性比较好。</a:t>
            </a: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原创设计师QQ598969553          _9"/>
          <p:cNvSpPr txBox="1"/>
          <p:nvPr/>
        </p:nvSpPr>
        <p:spPr>
          <a:xfrm>
            <a:off x="1263810" y="1605137"/>
            <a:ext cx="6768000" cy="2862322"/>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随着</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应用的范围越来越大，用户群体逐渐增多，用户使用的移动设备型号也越来越</a:t>
            </a:r>
            <a:r>
              <a:rPr lang="zh-CN" altLang="zh-CN" sz="2000">
                <a:solidFill>
                  <a:srgbClr val="595959"/>
                </a:solidFill>
                <a:latin typeface="微软雅黑" panose="020B0503020204020204" pitchFamily="34" charset="-122"/>
                <a:ea typeface="微软雅黑" panose="020B0503020204020204" pitchFamily="34" charset="-122"/>
                <a:cs typeface="+mn-ea"/>
              </a:rPr>
              <a:t>多，</a:t>
            </a:r>
            <a:r>
              <a:rPr lang="zh-CN" altLang="en-US" sz="2000">
                <a:solidFill>
                  <a:srgbClr val="595959"/>
                </a:solidFill>
                <a:latin typeface="微软雅黑" panose="020B0503020204020204" pitchFamily="34" charset="-122"/>
                <a:ea typeface="微软雅黑" panose="020B0503020204020204" pitchFamily="34" charset="-122"/>
                <a:cs typeface="+mn-ea"/>
              </a:rPr>
              <a:t>这</a:t>
            </a:r>
            <a:r>
              <a:rPr lang="zh-CN" altLang="zh-CN" sz="2000">
                <a:solidFill>
                  <a:srgbClr val="595959"/>
                </a:solidFill>
                <a:latin typeface="微软雅黑" panose="020B0503020204020204" pitchFamily="34" charset="-122"/>
                <a:ea typeface="微软雅黑" panose="020B0503020204020204" pitchFamily="34" charset="-122"/>
                <a:cs typeface="+mn-ea"/>
              </a:rPr>
              <a:t>使得</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兼容性测试成为</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质量保证必须要考虑的测试要点</a:t>
            </a:r>
            <a:r>
              <a:rPr lang="zh-CN" altLang="zh-CN" sz="2000" dirty="0">
                <a:solidFill>
                  <a:srgbClr val="595959"/>
                </a:solidFill>
                <a:latin typeface="微软雅黑" panose="020B0503020204020204" pitchFamily="34" charset="-122"/>
                <a:ea typeface="微软雅黑" panose="020B0503020204020204" pitchFamily="34" charset="-122"/>
                <a:cs typeface="+mn-ea"/>
              </a:rPr>
              <a:t>。兼容性测试的目的是</a:t>
            </a:r>
            <a:r>
              <a:rPr lang="zh-CN" altLang="zh-CN" sz="2000" dirty="0">
                <a:solidFill>
                  <a:srgbClr val="1369B2"/>
                </a:solidFill>
                <a:latin typeface="微软雅黑" panose="020B0503020204020204" pitchFamily="34" charset="-122"/>
                <a:ea typeface="微软雅黑" panose="020B0503020204020204" pitchFamily="34" charset="-122"/>
                <a:cs typeface="+mn-ea"/>
              </a:rPr>
              <a:t>提高</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产品的质量</a:t>
            </a:r>
            <a:r>
              <a:rPr lang="zh-CN" altLang="zh-CN" sz="2000">
                <a:solidFill>
                  <a:srgbClr val="595959"/>
                </a:solidFill>
                <a:latin typeface="微软雅黑" panose="020B0503020204020204" pitchFamily="34" charset="-122"/>
                <a:ea typeface="微软雅黑" panose="020B0503020204020204" pitchFamily="34" charset="-122"/>
                <a:cs typeface="+mn-ea"/>
              </a:rPr>
              <a:t>，尽可能</a:t>
            </a:r>
            <a:r>
              <a:rPr lang="zh-CN" altLang="en-US" sz="2000">
                <a:solidFill>
                  <a:srgbClr val="595959"/>
                </a:solidFill>
                <a:latin typeface="微软雅黑" panose="020B0503020204020204" pitchFamily="34" charset="-122"/>
                <a:ea typeface="微软雅黑" panose="020B0503020204020204" pitchFamily="34" charset="-122"/>
                <a:cs typeface="+mn-ea"/>
              </a:rPr>
              <a:t>使</a:t>
            </a:r>
            <a:r>
              <a:rPr lang="en-US" altLang="zh-CN" sz="2000">
                <a:solidFill>
                  <a:srgbClr val="595959"/>
                </a:solidFill>
                <a:latin typeface="微软雅黑" panose="020B0503020204020204" pitchFamily="34" charset="-122"/>
                <a:ea typeface="微软雅黑" panose="020B0503020204020204" pitchFamily="34" charset="-122"/>
                <a:cs typeface="+mn-ea"/>
              </a:rPr>
              <a:t>App</a:t>
            </a:r>
            <a:r>
              <a:rPr lang="zh-CN" altLang="en-US" sz="2000">
                <a:solidFill>
                  <a:srgbClr val="595959"/>
                </a:solidFill>
                <a:latin typeface="微软雅黑" panose="020B0503020204020204" pitchFamily="34" charset="-122"/>
                <a:ea typeface="微软雅黑" panose="020B0503020204020204" pitchFamily="34" charset="-122"/>
                <a:cs typeface="+mn-ea"/>
              </a:rPr>
              <a:t>产品</a:t>
            </a:r>
            <a:r>
              <a:rPr lang="zh-CN" altLang="zh-CN" sz="2000">
                <a:solidFill>
                  <a:srgbClr val="595959"/>
                </a:solidFill>
                <a:latin typeface="微软雅黑" panose="020B0503020204020204" pitchFamily="34" charset="-122"/>
                <a:ea typeface="微软雅黑" panose="020B0503020204020204" pitchFamily="34" charset="-122"/>
                <a:cs typeface="+mn-ea"/>
              </a:rPr>
              <a:t>达到</a:t>
            </a:r>
            <a:r>
              <a:rPr lang="zh-CN" altLang="zh-CN" sz="2000" dirty="0">
                <a:solidFill>
                  <a:srgbClr val="595959"/>
                </a:solidFill>
                <a:latin typeface="微软雅黑" panose="020B0503020204020204" pitchFamily="34" charset="-122"/>
                <a:ea typeface="微软雅黑" panose="020B0503020204020204" pitchFamily="34" charset="-122"/>
                <a:cs typeface="+mn-ea"/>
              </a:rPr>
              <a:t>平台无关性</a:t>
            </a:r>
            <a:r>
              <a:rPr lang="zh-CN" altLang="zh-CN" sz="2000">
                <a:solidFill>
                  <a:srgbClr val="595959"/>
                </a:solidFill>
                <a:latin typeface="微软雅黑" panose="020B0503020204020204" pitchFamily="34" charset="-122"/>
                <a:ea typeface="微软雅黑" panose="020B0503020204020204" pitchFamily="34" charset="-122"/>
                <a:cs typeface="+mn-ea"/>
              </a:rPr>
              <a:t>，使</a:t>
            </a:r>
            <a:r>
              <a:rPr lang="en-US" altLang="zh-CN" sz="200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产品的市场更</a:t>
            </a:r>
            <a:r>
              <a:rPr lang="zh-CN" altLang="zh-CN" sz="2000">
                <a:solidFill>
                  <a:srgbClr val="595959"/>
                </a:solidFill>
                <a:latin typeface="微软雅黑" panose="020B0503020204020204" pitchFamily="34" charset="-122"/>
                <a:ea typeface="微软雅黑" panose="020B0503020204020204" pitchFamily="34" charset="-122"/>
                <a:cs typeface="+mn-ea"/>
              </a:rPr>
              <a:t>广阔。</a:t>
            </a:r>
            <a:r>
              <a:rPr lang="en-US" altLang="zh-CN" sz="2000">
                <a:solidFill>
                  <a:srgbClr val="595959"/>
                </a:solidFill>
                <a:latin typeface="微软雅黑" panose="020B0503020204020204" pitchFamily="34" charset="-122"/>
                <a:ea typeface="微软雅黑" panose="020B0503020204020204" pitchFamily="34" charset="-122"/>
                <a:cs typeface="+mn-ea"/>
              </a:rPr>
              <a:t>通常 App 兼容性测试的要点主要有</a:t>
            </a:r>
            <a:r>
              <a:rPr lang="en-US" altLang="zh-CN" sz="2000">
                <a:solidFill>
                  <a:srgbClr val="1369B2"/>
                </a:solidFill>
                <a:latin typeface="微软雅黑" panose="020B0503020204020204" pitchFamily="34" charset="-122"/>
                <a:ea typeface="微软雅黑" panose="020B0503020204020204" pitchFamily="34" charset="-122"/>
                <a:cs typeface="+mn-ea"/>
              </a:rPr>
              <a:t>系统</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屏幕分辨率</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屏幕尺寸</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网络</a:t>
            </a:r>
            <a:r>
              <a:rPr lang="en-US" altLang="zh-CN"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1369B2"/>
                </a:solidFill>
                <a:latin typeface="微软雅黑" panose="020B0503020204020204" pitchFamily="34" charset="-122"/>
                <a:ea typeface="微软雅黑" panose="020B0503020204020204" pitchFamily="34" charset="-122"/>
                <a:cs typeface="+mn-ea"/>
              </a:rPr>
              <a:t>品牌</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098441" y="2421794"/>
            <a:ext cx="9690326" cy="2400657"/>
          </a:xfrm>
          <a:prstGeom prst="rect">
            <a:avLst/>
          </a:prstGeom>
        </p:spPr>
        <p:txBody>
          <a:bodyPr wrap="square">
            <a:spAutoFit/>
          </a:bodyPr>
          <a:lstStyle/>
          <a:p>
            <a:pPr>
              <a:lnSpc>
                <a:spcPct val="150000"/>
              </a:lnSpc>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系统兼容</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性</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主要涉及</a:t>
            </a:r>
            <a:r>
              <a:rPr lang="en-US" altLang="zh-CN" sz="2000" dirty="0">
                <a:solidFill>
                  <a:srgbClr val="0070C0"/>
                </a:solidFill>
                <a:latin typeface="微软雅黑" panose="020B0503020204020204" pitchFamily="34" charset="-122"/>
                <a:ea typeface="微软雅黑" panose="020B0503020204020204" pitchFamily="34" charset="-122"/>
                <a:cs typeface="+mn-ea"/>
              </a:rPr>
              <a:t>Android</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en-US" altLang="zh-CN" sz="2000">
                <a:solidFill>
                  <a:srgbClr val="0070C0"/>
                </a:solidFill>
                <a:latin typeface="微软雅黑" panose="020B0503020204020204" pitchFamily="34" charset="-122"/>
                <a:ea typeface="微软雅黑" panose="020B0503020204020204" pitchFamily="34" charset="-122"/>
                <a:cs typeface="+mn-ea"/>
              </a:rPr>
              <a:t>iOS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其中</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Android</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系统又分为</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8.0</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9.0</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10.0</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等版本</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iOS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又</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分为</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12.0</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13.0</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14.0</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等版本。由于</a:t>
            </a:r>
            <a:r>
              <a:rPr lang="zh-CN" altLang="zh-CN" sz="2000" dirty="0">
                <a:solidFill>
                  <a:srgbClr val="0070C0"/>
                </a:solidFill>
                <a:latin typeface="微软雅黑" panose="020B0503020204020204" pitchFamily="34" charset="-122"/>
                <a:ea typeface="微软雅黑" panose="020B0503020204020204" pitchFamily="34" charset="-122"/>
                <a:cs typeface="+mn-ea"/>
              </a:rPr>
              <a:t>不同的系统版本有不同的特征</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，所以</a:t>
            </a:r>
            <a:r>
              <a:rPr lang="zh-CN" altLang="zh-CN" sz="2000" dirty="0">
                <a:solidFill>
                  <a:srgbClr val="0070C0"/>
                </a:solidFill>
                <a:latin typeface="微软雅黑" panose="020B0503020204020204" pitchFamily="34" charset="-122"/>
                <a:ea typeface="微软雅黑" panose="020B0503020204020204" pitchFamily="34" charset="-122"/>
                <a:cs typeface="+mn-ea"/>
              </a:rPr>
              <a:t>在不同的系统上使用</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时都有可能产生各种各样的兼容问题</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，例如，某一款</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Android</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系统上能够</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正常安装</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使用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iOS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上</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却</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无法安装</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使用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所以在</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进行</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兼容性测试时需要覆盖系统兼容。</a:t>
            </a:r>
          </a:p>
        </p:txBody>
      </p:sp>
      <p:sp>
        <p:nvSpPr>
          <p:cNvPr id="6" name="圆角矩形 5"/>
          <p:cNvSpPr/>
          <p:nvPr/>
        </p:nvSpPr>
        <p:spPr>
          <a:xfrm>
            <a:off x="1115112" y="1048804"/>
            <a:ext cx="2388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系统兼容测试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983206" y="2349794"/>
            <a:ext cx="9718682" cy="3323987"/>
          </a:xfrm>
          <a:prstGeom prst="rect">
            <a:avLst/>
          </a:prstGeom>
        </p:spPr>
        <p:txBody>
          <a:bodyPr wrap="square">
            <a:spAutoFit/>
          </a:bodyPr>
          <a:lstStyle/>
          <a:p>
            <a:pPr>
              <a:lnSpc>
                <a:spcPct val="150000"/>
              </a:lnSpc>
            </a:pP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目前</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手机的屏幕种类很多，常见的有</a:t>
            </a:r>
            <a:r>
              <a:rPr lang="zh-CN" altLang="zh-CN" sz="2000" dirty="0">
                <a:solidFill>
                  <a:srgbClr val="0070C0"/>
                </a:solidFill>
                <a:latin typeface="微软雅黑" panose="020B0503020204020204" pitchFamily="34" charset="-122"/>
                <a:ea typeface="微软雅黑" panose="020B0503020204020204" pitchFamily="34" charset="-122"/>
                <a:cs typeface="+mn-ea"/>
              </a:rPr>
              <a:t>全面屏</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刘海屏</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水滴屏</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折叠屏</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等，不同</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手机屏幕</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分辨率</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也有所不同。在不同分辨率的设备上使用</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时，呈现的界面效果也会有所差异。</a:t>
            </a:r>
            <a:r>
              <a:rPr lang="zh-CN" altLang="zh-CN" sz="2000" dirty="0">
                <a:solidFill>
                  <a:srgbClr val="0070C0"/>
                </a:solidFill>
                <a:latin typeface="微软雅黑" panose="020B0503020204020204" pitchFamily="34" charset="-122"/>
                <a:ea typeface="微软雅黑" panose="020B0503020204020204" pitchFamily="34" charset="-122"/>
                <a:cs typeface="+mn-ea"/>
              </a:rPr>
              <a:t>如果没有适配不同手机的屏幕分辨率</a:t>
            </a:r>
            <a:r>
              <a:rPr lang="zh-CN" altLang="zh-CN" sz="2000">
                <a:solidFill>
                  <a:srgbClr val="0070C0"/>
                </a:solidFill>
                <a:latin typeface="微软雅黑" panose="020B0503020204020204" pitchFamily="34" charset="-122"/>
                <a:ea typeface="微软雅黑" panose="020B0503020204020204" pitchFamily="34" charset="-122"/>
                <a:cs typeface="+mn-ea"/>
              </a:rPr>
              <a:t>，则</a:t>
            </a:r>
            <a:r>
              <a:rPr lang="zh-CN" altLang="en-US" sz="2000">
                <a:solidFill>
                  <a:srgbClr val="0070C0"/>
                </a:solidFill>
                <a:latin typeface="微软雅黑" panose="020B0503020204020204" pitchFamily="34" charset="-122"/>
                <a:ea typeface="微软雅黑" panose="020B0503020204020204" pitchFamily="34" charset="-122"/>
                <a:cs typeface="+mn-ea"/>
              </a:rPr>
              <a:t>可能</a:t>
            </a:r>
            <a:r>
              <a:rPr lang="zh-CN" altLang="zh-CN" sz="2000">
                <a:solidFill>
                  <a:srgbClr val="0070C0"/>
                </a:solidFill>
                <a:latin typeface="微软雅黑" panose="020B0503020204020204" pitchFamily="34" charset="-122"/>
                <a:ea typeface="微软雅黑" panose="020B0503020204020204" pitchFamily="34" charset="-122"/>
                <a:cs typeface="+mn-ea"/>
              </a:rPr>
              <a:t>会</a:t>
            </a:r>
            <a:r>
              <a:rPr lang="zh-CN" altLang="zh-CN" sz="2000" dirty="0">
                <a:solidFill>
                  <a:srgbClr val="0070C0"/>
                </a:solidFill>
                <a:latin typeface="微软雅黑" panose="020B0503020204020204" pitchFamily="34" charset="-122"/>
                <a:ea typeface="微软雅黑" panose="020B0503020204020204" pitchFamily="34" charset="-122"/>
                <a:cs typeface="+mn-ea"/>
              </a:rPr>
              <a:t>影响用户的使用体验</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。例如，在分辨率</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为</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1920</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像素</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1080</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像素的屏幕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中</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显示的</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界面样式清晰</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美观，</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满足</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用户</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的使用需求，而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1280</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像素</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Symbol" panose="05050102010706020507" pitchFamily="18" charset="2"/>
              </a:rPr>
              <a:t> </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720</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像素</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的分辨率</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的屏幕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中</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可能出现</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界面样式显示不全、图片模糊等问题，</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所以</a:t>
            </a:r>
            <a:r>
              <a:rPr lang="zh-CN" altLang="zh-CN" sz="2000">
                <a:solidFill>
                  <a:srgbClr val="0070C0"/>
                </a:solidFill>
                <a:latin typeface="微软雅黑" panose="020B0503020204020204" pitchFamily="34" charset="-122"/>
                <a:ea typeface="微软雅黑" panose="020B0503020204020204" pitchFamily="34" charset="-122"/>
                <a:cs typeface="+mn-ea"/>
              </a:rPr>
              <a:t>在</a:t>
            </a:r>
            <a:r>
              <a:rPr lang="zh-CN" altLang="en-US" sz="2000">
                <a:solidFill>
                  <a:srgbClr val="0070C0"/>
                </a:solidFill>
                <a:latin typeface="微软雅黑" panose="020B0503020204020204" pitchFamily="34" charset="-122"/>
                <a:ea typeface="微软雅黑" panose="020B0503020204020204" pitchFamily="34" charset="-122"/>
                <a:cs typeface="+mn-ea"/>
              </a:rPr>
              <a:t>进行</a:t>
            </a:r>
            <a:r>
              <a:rPr lang="en-US" altLang="zh-CN" sz="200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兼容性测试时需要在</a:t>
            </a:r>
            <a:r>
              <a:rPr lang="zh-CN" altLang="zh-CN" sz="2000">
                <a:solidFill>
                  <a:srgbClr val="0070C0"/>
                </a:solidFill>
                <a:latin typeface="微软雅黑" panose="020B0503020204020204" pitchFamily="34" charset="-122"/>
                <a:ea typeface="微软雅黑" panose="020B0503020204020204" pitchFamily="34" charset="-122"/>
                <a:cs typeface="+mn-ea"/>
              </a:rPr>
              <a:t>不同分辨率</a:t>
            </a:r>
            <a:r>
              <a:rPr lang="zh-CN" altLang="en-US" sz="2000">
                <a:solidFill>
                  <a:srgbClr val="0070C0"/>
                </a:solidFill>
                <a:latin typeface="微软雅黑" panose="020B0503020204020204" pitchFamily="34" charset="-122"/>
                <a:ea typeface="微软雅黑" panose="020B0503020204020204" pitchFamily="34" charset="-122"/>
                <a:cs typeface="+mn-ea"/>
              </a:rPr>
              <a:t>的</a:t>
            </a:r>
            <a:r>
              <a:rPr lang="zh-CN" altLang="zh-CN" sz="2000">
                <a:solidFill>
                  <a:srgbClr val="0070C0"/>
                </a:solidFill>
                <a:latin typeface="微软雅黑" panose="020B0503020204020204" pitchFamily="34" charset="-122"/>
                <a:ea typeface="微软雅黑" panose="020B0503020204020204" pitchFamily="34" charset="-122"/>
                <a:cs typeface="+mn-ea"/>
              </a:rPr>
              <a:t>设备</a:t>
            </a:r>
            <a:r>
              <a:rPr lang="zh-CN" altLang="zh-CN" sz="2000" dirty="0">
                <a:solidFill>
                  <a:srgbClr val="0070C0"/>
                </a:solidFill>
                <a:latin typeface="微软雅黑" panose="020B0503020204020204" pitchFamily="34" charset="-122"/>
                <a:ea typeface="微软雅黑" panose="020B0503020204020204" pitchFamily="34" charset="-122"/>
                <a:cs typeface="+mn-ea"/>
              </a:rPr>
              <a:t>上测试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并</a:t>
            </a:r>
            <a:r>
              <a:rPr lang="zh-CN" altLang="zh-CN" sz="2000">
                <a:solidFill>
                  <a:srgbClr val="0070C0"/>
                </a:solidFill>
                <a:latin typeface="微软雅黑" panose="020B0503020204020204" pitchFamily="34" charset="-122"/>
                <a:ea typeface="微软雅黑" panose="020B0503020204020204" pitchFamily="34" charset="-122"/>
                <a:cs typeface="+mn-ea"/>
              </a:rPr>
              <a:t>观察</a:t>
            </a:r>
            <a:r>
              <a:rPr lang="zh-CN" altLang="en-US" sz="2000">
                <a:solidFill>
                  <a:srgbClr val="0070C0"/>
                </a:solidFill>
                <a:latin typeface="微软雅黑" panose="020B0503020204020204" pitchFamily="34" charset="-122"/>
                <a:ea typeface="微软雅黑" panose="020B0503020204020204" pitchFamily="34" charset="-122"/>
                <a:cs typeface="+mn-ea"/>
              </a:rPr>
              <a:t>用户界面</a:t>
            </a:r>
            <a:r>
              <a:rPr lang="zh-CN" altLang="zh-CN" sz="2000">
                <a:solidFill>
                  <a:srgbClr val="0070C0"/>
                </a:solidFill>
                <a:latin typeface="微软雅黑" panose="020B0503020204020204" pitchFamily="34" charset="-122"/>
                <a:ea typeface="微软雅黑" panose="020B0503020204020204" pitchFamily="34" charset="-122"/>
                <a:cs typeface="+mn-ea"/>
              </a:rPr>
              <a:t>的</a:t>
            </a:r>
            <a:r>
              <a:rPr lang="zh-CN" altLang="zh-CN" sz="2000" dirty="0">
                <a:solidFill>
                  <a:srgbClr val="0070C0"/>
                </a:solidFill>
                <a:latin typeface="微软雅黑" panose="020B0503020204020204" pitchFamily="34" charset="-122"/>
                <a:ea typeface="微软雅黑" panose="020B0503020204020204" pitchFamily="34" charset="-122"/>
                <a:cs typeface="+mn-ea"/>
              </a:rPr>
              <a:t>效果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7" name="圆角矩形 6"/>
          <p:cNvSpPr/>
          <p:nvPr/>
        </p:nvSpPr>
        <p:spPr>
          <a:xfrm>
            <a:off x="1115112" y="1048804"/>
            <a:ext cx="3324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屏幕分辨率兼容测试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06380" y="2349794"/>
            <a:ext cx="9556907" cy="1015663"/>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在分辨率相同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但屏幕</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尺寸</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不同</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的移动设备上使用</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时，容易出现</a:t>
            </a:r>
            <a:r>
              <a:rPr lang="zh-CN" altLang="zh-CN" sz="2000" dirty="0">
                <a:solidFill>
                  <a:srgbClr val="0070C0"/>
                </a:solidFill>
                <a:latin typeface="微软雅黑" panose="020B0503020204020204" pitchFamily="34" charset="-122"/>
                <a:ea typeface="微软雅黑" panose="020B0503020204020204" pitchFamily="34" charset="-122"/>
                <a:cs typeface="+mn-ea"/>
              </a:rPr>
              <a:t>图片显示不完整</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字体大小不一致</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等问题，因此需要测试屏幕大小的兼容性。</a:t>
            </a:r>
          </a:p>
        </p:txBody>
      </p:sp>
      <p:sp>
        <p:nvSpPr>
          <p:cNvPr id="6" name="圆角矩形 5"/>
          <p:cNvSpPr/>
          <p:nvPr/>
        </p:nvSpPr>
        <p:spPr>
          <a:xfrm>
            <a:off x="1115112" y="1048804"/>
            <a:ext cx="3324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屏幕尺寸兼容测试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055206" y="2349794"/>
            <a:ext cx="9556907" cy="1477328"/>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很多</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的使用需要连接网络，</a:t>
            </a:r>
            <a:r>
              <a:rPr lang="zh-CN" altLang="zh-CN" sz="2000" dirty="0">
                <a:solidFill>
                  <a:srgbClr val="0070C0"/>
                </a:solidFill>
                <a:latin typeface="微软雅黑" panose="020B0503020204020204" pitchFamily="34" charset="-122"/>
                <a:ea typeface="微软雅黑" panose="020B0503020204020204" pitchFamily="34" charset="-122"/>
                <a:cs typeface="+mn-ea"/>
              </a:rPr>
              <a:t>在测试网络兼容性时要保证网络环境能够全部</a:t>
            </a:r>
            <a:r>
              <a:rPr lang="zh-CN" altLang="zh-CN" sz="2000">
                <a:solidFill>
                  <a:srgbClr val="0070C0"/>
                </a:solidFill>
                <a:latin typeface="微软雅黑" panose="020B0503020204020204" pitchFamily="34" charset="-122"/>
                <a:ea typeface="微软雅黑" panose="020B0503020204020204" pitchFamily="34" charset="-122"/>
                <a:cs typeface="+mn-ea"/>
              </a:rPr>
              <a:t>覆盖</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例</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Wi-Fi</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2G</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3G</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4G</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5G</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，同时需要考虑电信、移动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、联通</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等</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运营</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商的网络环境。在切换网络环境时，测试</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能否兼容不同的网络环境。</a:t>
            </a:r>
          </a:p>
        </p:txBody>
      </p:sp>
      <p:sp>
        <p:nvSpPr>
          <p:cNvPr id="6" name="圆角矩形 5"/>
          <p:cNvSpPr/>
          <p:nvPr/>
        </p:nvSpPr>
        <p:spPr>
          <a:xfrm>
            <a:off x="1115112" y="1048804"/>
            <a:ext cx="3324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网络兼容测试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086349" y="2493794"/>
            <a:ext cx="9556907" cy="1477328"/>
          </a:xfrm>
          <a:prstGeom prst="rect">
            <a:avLst/>
          </a:prstGeom>
        </p:spPr>
        <p:txBody>
          <a:bodyPr wrap="square">
            <a:spAutoFit/>
          </a:bodyPr>
          <a:lstStyle/>
          <a:p>
            <a:pPr>
              <a:lnSpc>
                <a:spcPct val="150000"/>
              </a:lnSpc>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在不同品牌的移动设备上使用时，也可能出现缺陷，常见的移动设备品牌有华为、小米、三星、</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OPPO</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vivo</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、荣耀等。由于</a:t>
            </a:r>
            <a:r>
              <a:rPr lang="zh-CN" altLang="zh-CN" sz="2000" dirty="0">
                <a:solidFill>
                  <a:srgbClr val="0070C0"/>
                </a:solidFill>
                <a:latin typeface="微软雅黑" panose="020B0503020204020204" pitchFamily="34" charset="-122"/>
                <a:ea typeface="微软雅黑" panose="020B0503020204020204" pitchFamily="34" charset="-122"/>
                <a:cs typeface="+mn-ea"/>
              </a:rPr>
              <a:t>不同品牌的移动设备在运行速度、软件</a:t>
            </a:r>
            <a:r>
              <a:rPr lang="zh-CN" altLang="zh-CN" sz="2000">
                <a:solidFill>
                  <a:srgbClr val="0070C0"/>
                </a:solidFill>
                <a:latin typeface="微软雅黑" panose="020B0503020204020204" pitchFamily="34" charset="-122"/>
                <a:ea typeface="微软雅黑" panose="020B0503020204020204" pitchFamily="34" charset="-122"/>
                <a:cs typeface="+mn-ea"/>
              </a:rPr>
              <a:t>兼容上有</a:t>
            </a:r>
            <a:r>
              <a:rPr lang="zh-CN" altLang="zh-CN" sz="2000" dirty="0">
                <a:solidFill>
                  <a:srgbClr val="0070C0"/>
                </a:solidFill>
                <a:latin typeface="微软雅黑" panose="020B0503020204020204" pitchFamily="34" charset="-122"/>
                <a:ea typeface="微软雅黑" panose="020B0503020204020204" pitchFamily="34" charset="-122"/>
                <a:cs typeface="+mn-ea"/>
              </a:rPr>
              <a:t>区别</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，所以</a:t>
            </a:r>
            <a:r>
              <a:rPr lang="zh-CN" altLang="zh-CN" sz="2000" dirty="0">
                <a:solidFill>
                  <a:srgbClr val="0070C0"/>
                </a:solidFill>
                <a:latin typeface="微软雅黑" panose="020B0503020204020204" pitchFamily="34" charset="-122"/>
                <a:ea typeface="微软雅黑" panose="020B0503020204020204" pitchFamily="34" charset="-122"/>
                <a:cs typeface="+mn-ea"/>
              </a:rPr>
              <a:t>需要测试</a:t>
            </a:r>
            <a:r>
              <a:rPr lang="en-US" altLang="zh-CN" sz="2000" dirty="0">
                <a:solidFill>
                  <a:srgbClr val="0070C0"/>
                </a:solidFill>
                <a:latin typeface="微软雅黑" panose="020B0503020204020204" pitchFamily="34" charset="-122"/>
                <a:ea typeface="微软雅黑" panose="020B0503020204020204" pitchFamily="34" charset="-122"/>
                <a:cs typeface="+mn-ea"/>
              </a:rPr>
              <a:t>App</a:t>
            </a:r>
            <a:r>
              <a:rPr lang="zh-CN" altLang="zh-CN" sz="2000" dirty="0">
                <a:solidFill>
                  <a:srgbClr val="0070C0"/>
                </a:solidFill>
                <a:latin typeface="微软雅黑" panose="020B0503020204020204" pitchFamily="34" charset="-122"/>
                <a:ea typeface="微软雅黑" panose="020B0503020204020204" pitchFamily="34" charset="-122"/>
                <a:cs typeface="+mn-ea"/>
              </a:rPr>
              <a:t>是否可以在不同品牌的移动设备上使用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6" name="圆角矩形 5"/>
          <p:cNvSpPr/>
          <p:nvPr/>
        </p:nvSpPr>
        <p:spPr>
          <a:xfrm>
            <a:off x="1115112" y="1048804"/>
            <a:ext cx="3324094" cy="79156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latin typeface="微软雅黑" panose="020B0503020204020204" pitchFamily="34" charset="-122"/>
                <a:ea typeface="微软雅黑" panose="020B0503020204020204" pitchFamily="34" charset="-122"/>
              </a:rPr>
              <a:t>5.</a:t>
            </a:r>
            <a:r>
              <a:rPr lang="zh-CN" altLang="en-US">
                <a:latin typeface="微软雅黑" panose="020B0503020204020204" pitchFamily="34" charset="-122"/>
                <a:ea typeface="微软雅黑" panose="020B0503020204020204" pitchFamily="34" charset="-122"/>
              </a:rPr>
              <a:t>品牌兼容性测试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1872933" y="1608089"/>
            <a:ext cx="3142273"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07206" y="1701794"/>
            <a:ext cx="2448000" cy="46166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第三方测试平台</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5231206"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5418905" y="1613373"/>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文本框 3"/>
          <p:cNvSpPr txBox="1"/>
          <p:nvPr/>
        </p:nvSpPr>
        <p:spPr>
          <a:xfrm>
            <a:off x="1168044" y="3213794"/>
            <a:ext cx="9720000" cy="2664000"/>
          </a:xfrm>
          <a:prstGeom prst="rect">
            <a:avLst/>
          </a:prstGeom>
          <a:noFill/>
        </p:spPr>
        <p:txBody>
          <a:bodyPr wrap="square" rtlCol="0" anchor="t">
            <a:noAutofit/>
          </a:bodyPr>
          <a:lstStyle/>
          <a:p>
            <a:pPr>
              <a:lnSpc>
                <a:spcPct val="150000"/>
              </a:lnSpc>
            </a:pP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可以使用第三方平台进行测试</a:t>
            </a:r>
            <a:r>
              <a:rPr lang="zh-CN" altLang="zh-CN" sz="2000" dirty="0">
                <a:solidFill>
                  <a:srgbClr val="595959"/>
                </a:solidFill>
                <a:latin typeface="微软雅黑" panose="020B0503020204020204" pitchFamily="34" charset="-122"/>
                <a:ea typeface="微软雅黑" panose="020B0503020204020204" pitchFamily="34" charset="-122"/>
              </a:rPr>
              <a:t>，第三</a:t>
            </a:r>
            <a:r>
              <a:rPr lang="zh-CN" altLang="zh-CN" sz="2000">
                <a:solidFill>
                  <a:srgbClr val="595959"/>
                </a:solidFill>
                <a:latin typeface="微软雅黑" panose="020B0503020204020204" pitchFamily="34" charset="-122"/>
                <a:ea typeface="微软雅黑" panose="020B0503020204020204" pitchFamily="34" charset="-122"/>
              </a:rPr>
              <a:t>方平台</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如</a:t>
            </a:r>
            <a:r>
              <a:rPr lang="zh-CN" altLang="zh-CN" sz="2000">
                <a:solidFill>
                  <a:srgbClr val="0070C0"/>
                </a:solidFill>
                <a:latin typeface="微软雅黑" panose="020B0503020204020204" pitchFamily="34" charset="-122"/>
                <a:ea typeface="微软雅黑" panose="020B0503020204020204" pitchFamily="34" charset="-122"/>
              </a:rPr>
              <a:t>阿里</a:t>
            </a:r>
            <a:r>
              <a:rPr lang="en-US" altLang="zh-CN" sz="2000">
                <a:solidFill>
                  <a:srgbClr val="0070C0"/>
                </a:solidFill>
                <a:latin typeface="微软雅黑" panose="020B0503020204020204" pitchFamily="34" charset="-122"/>
                <a:ea typeface="微软雅黑" panose="020B0503020204020204" pitchFamily="34" charset="-122"/>
              </a:rPr>
              <a:t>EasyTest</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0070C0"/>
                </a:solidFill>
                <a:latin typeface="微软雅黑" panose="020B0503020204020204" pitchFamily="34" charset="-122"/>
                <a:ea typeface="微软雅黑" panose="020B0503020204020204" pitchFamily="34" charset="-122"/>
              </a:rPr>
              <a:t>华为云测</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0070C0"/>
                </a:solidFill>
                <a:latin typeface="微软雅黑" panose="020B0503020204020204" pitchFamily="34" charset="-122"/>
                <a:ea typeface="微软雅黑" panose="020B0503020204020204" pitchFamily="34" charset="-122"/>
              </a:rPr>
              <a:t>贯众云测试</a:t>
            </a:r>
            <a:r>
              <a:rPr lang="zh-CN" altLang="zh-CN" sz="2000">
                <a:solidFill>
                  <a:srgbClr val="595959"/>
                </a:solidFill>
                <a:latin typeface="微软雅黑" panose="020B0503020204020204" pitchFamily="34" charset="-122"/>
                <a:ea typeface="微软雅黑" panose="020B0503020204020204" pitchFamily="34" charset="-122"/>
              </a:rPr>
              <a:t>等</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提供了全面</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专业</a:t>
            </a:r>
            <a:r>
              <a:rPr lang="zh-CN" altLang="zh-CN" sz="2000" dirty="0">
                <a:solidFill>
                  <a:srgbClr val="595959"/>
                </a:solidFill>
                <a:latin typeface="微软雅黑" panose="020B0503020204020204" pitchFamily="34" charset="-122"/>
                <a:ea typeface="微软雅黑" panose="020B0503020204020204" pitchFamily="34" charset="-122"/>
              </a:rPr>
              <a:t>的测试</a:t>
            </a:r>
            <a:r>
              <a:rPr lang="zh-CN" altLang="zh-CN" sz="2000">
                <a:solidFill>
                  <a:srgbClr val="595959"/>
                </a:solidFill>
                <a:latin typeface="微软雅黑" panose="020B0503020204020204" pitchFamily="34" charset="-122"/>
                <a:ea typeface="微软雅黑" panose="020B0503020204020204" pitchFamily="34" charset="-122"/>
              </a:rPr>
              <a:t>服务，</a:t>
            </a:r>
            <a:r>
              <a:rPr lang="zh-CN" altLang="en-US" sz="2000">
                <a:solidFill>
                  <a:srgbClr val="595959"/>
                </a:solidFill>
                <a:latin typeface="微软雅黑" panose="020B0503020204020204" pitchFamily="34" charset="-122"/>
                <a:ea typeface="微软雅黑" panose="020B0503020204020204" pitchFamily="34" charset="-122"/>
              </a:rPr>
              <a:t>用户</a:t>
            </a:r>
            <a:r>
              <a:rPr lang="zh-CN" altLang="zh-CN" sz="2000">
                <a:solidFill>
                  <a:srgbClr val="595959"/>
                </a:solidFill>
                <a:latin typeface="微软雅黑" panose="020B0503020204020204" pitchFamily="34" charset="-122"/>
                <a:ea typeface="微软雅黑" panose="020B0503020204020204" pitchFamily="34" charset="-122"/>
              </a:rPr>
              <a:t>可</a:t>
            </a:r>
            <a:r>
              <a:rPr lang="zh-CN" altLang="zh-CN" sz="2000" dirty="0">
                <a:solidFill>
                  <a:srgbClr val="595959"/>
                </a:solidFill>
                <a:latin typeface="微软雅黑" panose="020B0503020204020204" pitchFamily="34" charset="-122"/>
                <a:ea typeface="微软雅黑" panose="020B0503020204020204" pitchFamily="34" charset="-122"/>
              </a:rPr>
              <a:t>选择品牌机型、操作系统版本、性能测试、功能测试等，极大地</a:t>
            </a:r>
            <a:r>
              <a:rPr lang="zh-CN" altLang="zh-CN" sz="2000" dirty="0">
                <a:solidFill>
                  <a:srgbClr val="0070C0"/>
                </a:solidFill>
                <a:latin typeface="微软雅黑" panose="020B0503020204020204" pitchFamily="34" charset="-122"/>
                <a:ea typeface="微软雅黑" panose="020B0503020204020204" pitchFamily="34" charset="-122"/>
              </a:rPr>
              <a:t>提高了</a:t>
            </a:r>
            <a:r>
              <a:rPr lang="en-US" altLang="zh-CN" sz="2000" dirty="0">
                <a:solidFill>
                  <a:srgbClr val="0070C0"/>
                </a:solidFill>
                <a:latin typeface="微软雅黑" panose="020B0503020204020204" pitchFamily="34" charset="-122"/>
                <a:ea typeface="微软雅黑" panose="020B0503020204020204" pitchFamily="34" charset="-122"/>
              </a:rPr>
              <a:t>App</a:t>
            </a:r>
            <a:r>
              <a:rPr lang="zh-CN" altLang="zh-CN" sz="2000" dirty="0">
                <a:solidFill>
                  <a:srgbClr val="0070C0"/>
                </a:solidFill>
                <a:latin typeface="微软雅黑" panose="020B0503020204020204" pitchFamily="34" charset="-122"/>
                <a:ea typeface="微软雅黑" panose="020B0503020204020204" pitchFamily="34" charset="-122"/>
              </a:rPr>
              <a:t>测试效率</a:t>
            </a:r>
            <a:r>
              <a:rPr lang="zh-CN" altLang="zh-CN" sz="2000" dirty="0">
                <a:solidFill>
                  <a:srgbClr val="595959"/>
                </a:solidFill>
                <a:latin typeface="微软雅黑" panose="020B0503020204020204" pitchFamily="34" charset="-122"/>
                <a:ea typeface="微软雅黑" panose="020B0503020204020204" pitchFamily="34" charset="-122"/>
              </a:rPr>
              <a:t>。</a:t>
            </a:r>
          </a:p>
        </p:txBody>
      </p:sp>
      <p:sp>
        <p:nvSpPr>
          <p:cNvPr id="33" name="Title 1"/>
          <p:cNvSpPr txBox="1"/>
          <p:nvPr/>
        </p:nvSpPr>
        <p:spPr>
          <a:xfrm>
            <a:off x="1143690" y="266995"/>
            <a:ext cx="451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7.2.5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兼容性测试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1143690" y="266995"/>
            <a:ext cx="6247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marL="0" lvl="2"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mn-lt"/>
              </a:rPr>
              <a:t>7.3.4 </a:t>
            </a:r>
            <a:r>
              <a:rPr lang="en-US" altLang="zh-CN" b="1" dirty="0" err="1">
                <a:solidFill>
                  <a:srgbClr val="595959"/>
                </a:solidFill>
                <a:latin typeface="微软雅黑" panose="020B0503020204020204" pitchFamily="34" charset="-122"/>
                <a:ea typeface="微软雅黑" panose="020B0503020204020204" pitchFamily="34" charset="-122"/>
                <a:cs typeface="+mn-ea"/>
              </a:rPr>
              <a:t>uiautomatorviewer</a:t>
            </a:r>
            <a:r>
              <a:rPr lang="zh-CN" altLang="zh-CN" b="1" dirty="0">
                <a:solidFill>
                  <a:srgbClr val="595959"/>
                </a:solidFill>
                <a:latin typeface="微软雅黑" panose="020B0503020204020204" pitchFamily="34" charset="-122"/>
                <a:ea typeface="微软雅黑" panose="020B0503020204020204" pitchFamily="34" charset="-122"/>
                <a:cs typeface="+mn-ea"/>
              </a:rPr>
              <a:t>工具的简单使用</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0000"/>
            <a:ext cx="4747260" cy="467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092099" y="1725581"/>
            <a:ext cx="1233467" cy="7515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nSpc>
                <a:spcPct val="150000"/>
              </a:lnSpc>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zh-CN"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p:cNvSpPr txBox="1"/>
          <p:nvPr/>
        </p:nvSpPr>
        <p:spPr>
          <a:xfrm>
            <a:off x="4983948" y="2101362"/>
            <a:ext cx="6407976" cy="2304000"/>
          </a:xfrm>
          <a:prstGeom prst="rect">
            <a:avLst/>
          </a:prstGeom>
          <a:noFill/>
        </p:spPr>
        <p:txBody>
          <a:bodyPr wrap="square" rtlCol="0" anchor="t">
            <a:no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在使用</a:t>
            </a:r>
            <a:r>
              <a:rPr lang="en-US" altLang="zh-CN" sz="2000" dirty="0" err="1">
                <a:solidFill>
                  <a:srgbClr val="595959"/>
                </a:solidFill>
                <a:latin typeface="微软雅黑" panose="020B0503020204020204" pitchFamily="34" charset="-122"/>
                <a:ea typeface="微软雅黑" panose="020B0503020204020204" pitchFamily="34" charset="-122"/>
              </a:rPr>
              <a:t>uiautomatorviewer</a:t>
            </a:r>
            <a:r>
              <a:rPr lang="zh-CN" altLang="zh-CN" sz="2000" dirty="0">
                <a:solidFill>
                  <a:srgbClr val="595959"/>
                </a:solidFill>
                <a:latin typeface="微软雅黑" panose="020B0503020204020204" pitchFamily="34" charset="-122"/>
                <a:ea typeface="微软雅黑" panose="020B0503020204020204" pitchFamily="34" charset="-122"/>
              </a:rPr>
              <a:t>工具的过程中</a:t>
            </a:r>
            <a:r>
              <a:rPr lang="zh-CN" altLang="zh-CN" sz="2000">
                <a:solidFill>
                  <a:srgbClr val="1369B2"/>
                </a:solidFill>
                <a:latin typeface="微软雅黑" panose="020B0503020204020204" pitchFamily="34" charset="-122"/>
                <a:ea typeface="微软雅黑" panose="020B0503020204020204" pitchFamily="34" charset="-122"/>
                <a:cs typeface="+mn-ea"/>
              </a:rPr>
              <a:t>不能关闭</a:t>
            </a:r>
            <a:r>
              <a:rPr lang="zh-CN" altLang="en-US" sz="2000">
                <a:solidFill>
                  <a:srgbClr val="1369B2"/>
                </a:solidFill>
                <a:latin typeface="微软雅黑" panose="020B0503020204020204" pitchFamily="34" charset="-122"/>
                <a:ea typeface="微软雅黑" panose="020B0503020204020204" pitchFamily="34" charset="-122"/>
                <a:cs typeface="+mn-ea"/>
              </a:rPr>
              <a:t>命令提示符窗口</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如果关闭该窗口，则</a:t>
            </a:r>
            <a:r>
              <a:rPr lang="en-US" altLang="zh-CN" sz="2000" dirty="0">
                <a:solidFill>
                  <a:srgbClr val="595959"/>
                </a:solidFill>
                <a:latin typeface="微软雅黑" panose="020B0503020204020204" pitchFamily="34" charset="-122"/>
                <a:ea typeface="微软雅黑" panose="020B0503020204020204" pitchFamily="34" charset="-122"/>
              </a:rPr>
              <a:t>UI </a:t>
            </a:r>
            <a:r>
              <a:rPr lang="en-US" altLang="zh-CN" sz="2000" dirty="0" err="1">
                <a:solidFill>
                  <a:srgbClr val="595959"/>
                </a:solidFill>
                <a:latin typeface="微软雅黑" panose="020B0503020204020204" pitchFamily="34" charset="-122"/>
                <a:ea typeface="微软雅黑" panose="020B0503020204020204" pitchFamily="34" charset="-122"/>
              </a:rPr>
              <a:t>Automator</a:t>
            </a:r>
            <a:r>
              <a:rPr lang="en-US" altLang="zh-CN" sz="2000" dirty="0">
                <a:solidFill>
                  <a:srgbClr val="595959"/>
                </a:solidFill>
                <a:latin typeface="微软雅黑" panose="020B0503020204020204" pitchFamily="34" charset="-122"/>
                <a:ea typeface="微软雅黑" panose="020B0503020204020204" pitchFamily="34" charset="-122"/>
              </a:rPr>
              <a:t> Viewer</a:t>
            </a:r>
            <a:r>
              <a:rPr lang="zh-CN" altLang="zh-CN" sz="2000" dirty="0">
                <a:solidFill>
                  <a:srgbClr val="595959"/>
                </a:solidFill>
                <a:latin typeface="微软雅黑" panose="020B0503020204020204" pitchFamily="34" charset="-122"/>
                <a:ea typeface="微软雅黑" panose="020B0503020204020204" pitchFamily="34" charset="-122"/>
              </a:rPr>
              <a:t>窗口也会自动关闭，</a:t>
            </a:r>
            <a:r>
              <a:rPr lang="en-US" altLang="zh-CN" sz="2000" dirty="0" err="1">
                <a:solidFill>
                  <a:srgbClr val="595959"/>
                </a:solidFill>
                <a:latin typeface="微软雅黑" panose="020B0503020204020204" pitchFamily="34" charset="-122"/>
                <a:ea typeface="微软雅黑" panose="020B0503020204020204" pitchFamily="34" charset="-122"/>
              </a:rPr>
              <a:t>uiautomatorviewer</a:t>
            </a:r>
            <a:r>
              <a:rPr lang="zh-CN" altLang="zh-CN" sz="2000" dirty="0">
                <a:solidFill>
                  <a:srgbClr val="595959"/>
                </a:solidFill>
                <a:latin typeface="微软雅黑" panose="020B0503020204020204" pitchFamily="34" charset="-122"/>
                <a:ea typeface="微软雅黑" panose="020B0503020204020204" pitchFamily="34" charset="-122"/>
              </a:rPr>
              <a:t>工具将不能继续使用。</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7111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marL="0" lvl="2"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mn-lt"/>
              </a:rPr>
              <a:t>7.3.5 </a:t>
            </a:r>
            <a:r>
              <a:rPr lang="zh-CN" altLang="en-US"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zh-CN" b="1" dirty="0">
                <a:solidFill>
                  <a:srgbClr val="595959"/>
                </a:solidFill>
                <a:latin typeface="微软雅黑" panose="020B0503020204020204" pitchFamily="34" charset="-122"/>
                <a:ea typeface="微软雅黑" panose="020B0503020204020204" pitchFamily="34" charset="-122"/>
                <a:cs typeface="+mn-ea"/>
              </a:rPr>
              <a:t>与</a:t>
            </a:r>
            <a:r>
              <a:rPr lang="en-US" altLang="zh-CN" b="1" dirty="0" err="1">
                <a:solidFill>
                  <a:srgbClr val="595959"/>
                </a:solidFill>
                <a:latin typeface="微软雅黑" panose="020B0503020204020204" pitchFamily="34" charset="-122"/>
                <a:ea typeface="微软雅黑" panose="020B0503020204020204" pitchFamily="34" charset="-122"/>
                <a:cs typeface="+mn-ea"/>
              </a:rPr>
              <a:t>Appium</a:t>
            </a:r>
            <a:r>
              <a:rPr lang="en-US" altLang="zh-CN" b="1" dirty="0">
                <a:solidFill>
                  <a:srgbClr val="595959"/>
                </a:solidFill>
                <a:latin typeface="微软雅黑" panose="020B0503020204020204" pitchFamily="34" charset="-122"/>
                <a:ea typeface="微软雅黑" panose="020B0503020204020204" pitchFamily="34" charset="-122"/>
                <a:cs typeface="+mn-ea"/>
              </a:rPr>
              <a:t>-Python-Client</a:t>
            </a:r>
            <a:r>
              <a:rPr lang="zh-CN" altLang="zh-CN" b="1" dirty="0">
                <a:solidFill>
                  <a:srgbClr val="595959"/>
                </a:solidFill>
                <a:latin typeface="微软雅黑" panose="020B0503020204020204" pitchFamily="34" charset="-122"/>
                <a:ea typeface="微软雅黑" panose="020B0503020204020204" pitchFamily="34" charset="-122"/>
                <a:cs typeface="+mn-ea"/>
              </a:rPr>
              <a:t>库</a:t>
            </a:r>
          </a:p>
        </p:txBody>
      </p:sp>
      <p:sp>
        <p:nvSpPr>
          <p:cNvPr id="10" name="原创设计师QQ598969553          _9"/>
          <p:cNvSpPr txBox="1"/>
          <p:nvPr/>
        </p:nvSpPr>
        <p:spPr>
          <a:xfrm>
            <a:off x="1235207" y="1710633"/>
            <a:ext cx="6768000" cy="2862322"/>
          </a:xfrm>
          <a:prstGeom prst="rect">
            <a:avLst/>
          </a:prstGeom>
          <a:noFill/>
        </p:spPr>
        <p:txBody>
          <a:bodyPr wrap="square" rtlCol="0">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cs typeface="+mn-ea"/>
              </a:rPr>
              <a:t>Appium</a:t>
            </a:r>
            <a:r>
              <a:rPr lang="zh-CN" altLang="zh-CN" sz="2000" dirty="0">
                <a:solidFill>
                  <a:srgbClr val="1369B2"/>
                </a:solidFill>
                <a:latin typeface="微软雅黑" panose="020B0503020204020204" pitchFamily="34" charset="-122"/>
                <a:ea typeface="微软雅黑" panose="020B0503020204020204" pitchFamily="34" charset="-122"/>
                <a:cs typeface="+mn-ea"/>
              </a:rPr>
              <a:t>是一个开源的、跨平台的移动端自动化测试工具</a:t>
            </a:r>
            <a:r>
              <a:rPr lang="zh-CN" altLang="zh-CN" sz="2000" dirty="0">
                <a:solidFill>
                  <a:srgbClr val="595959"/>
                </a:solidFill>
                <a:latin typeface="微软雅黑" panose="020B0503020204020204" pitchFamily="34" charset="-122"/>
                <a:ea typeface="微软雅黑" panose="020B0503020204020204" pitchFamily="34" charset="-122"/>
                <a:cs typeface="+mn-ea"/>
              </a:rPr>
              <a:t>，它支持使用</a:t>
            </a:r>
            <a:r>
              <a:rPr lang="en-US" altLang="zh-CN" sz="2000" dirty="0">
                <a:solidFill>
                  <a:srgbClr val="595959"/>
                </a:solidFill>
                <a:latin typeface="微软雅黑" panose="020B0503020204020204" pitchFamily="34" charset="-122"/>
                <a:ea typeface="微软雅黑" panose="020B0503020204020204" pitchFamily="34" charset="-122"/>
                <a:cs typeface="+mn-ea"/>
              </a:rPr>
              <a:t>WebDriver</a:t>
            </a:r>
            <a:r>
              <a:rPr lang="zh-CN" altLang="zh-CN" sz="2000" dirty="0">
                <a:solidFill>
                  <a:srgbClr val="595959"/>
                </a:solidFill>
                <a:latin typeface="微软雅黑" panose="020B0503020204020204" pitchFamily="34" charset="-122"/>
                <a:ea typeface="微软雅黑" panose="020B0503020204020204" pitchFamily="34" charset="-122"/>
                <a:cs typeface="+mn-ea"/>
              </a:rPr>
              <a:t>协议驱动</a:t>
            </a:r>
            <a:r>
              <a:rPr lang="en-US" altLang="zh-CN" sz="2000" dirty="0">
                <a:solidFill>
                  <a:srgbClr val="595959"/>
                </a:solidFill>
                <a:latin typeface="微软雅黑" panose="020B0503020204020204" pitchFamily="34" charset="-122"/>
                <a:ea typeface="微软雅黑" panose="020B0503020204020204" pitchFamily="34" charset="-122"/>
                <a:cs typeface="+mn-ea"/>
              </a:rPr>
              <a:t>Android</a:t>
            </a:r>
            <a:r>
              <a:rPr lang="zh-CN" altLang="zh-CN" sz="2000" dirty="0">
                <a:solidFill>
                  <a:srgbClr val="595959"/>
                </a:solidFill>
                <a:latin typeface="微软雅黑" panose="020B0503020204020204" pitchFamily="34" charset="-122"/>
                <a:ea typeface="微软雅黑" panose="020B0503020204020204" pitchFamily="34" charset="-122"/>
                <a:cs typeface="+mn-ea"/>
              </a:rPr>
              <a:t>系统</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iOS</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595959"/>
                </a:solidFill>
                <a:latin typeface="微软雅黑" panose="020B0503020204020204" pitchFamily="34" charset="-122"/>
                <a:ea typeface="微软雅黑" panose="020B0503020204020204" pitchFamily="34" charset="-122"/>
                <a:cs typeface="+mn-ea"/>
              </a:rPr>
              <a:t>Windows</a:t>
            </a:r>
            <a:r>
              <a:rPr lang="zh-CN" altLang="zh-CN" sz="2000" dirty="0">
                <a:solidFill>
                  <a:srgbClr val="595959"/>
                </a:solidFill>
                <a:latin typeface="微软雅黑" panose="020B0503020204020204" pitchFamily="34" charset="-122"/>
                <a:ea typeface="微软雅黑" panose="020B0503020204020204" pitchFamily="34" charset="-122"/>
                <a:cs typeface="+mn-ea"/>
              </a:rPr>
              <a:t>系统上安装的应用程序。</a:t>
            </a:r>
            <a:r>
              <a:rPr lang="en-US" altLang="zh-CN" sz="2000" dirty="0" err="1">
                <a:solidFill>
                  <a:srgbClr val="1369B2"/>
                </a:solidFill>
                <a:latin typeface="微软雅黑" panose="020B0503020204020204" pitchFamily="34" charset="-122"/>
                <a:ea typeface="微软雅黑" panose="020B0503020204020204" pitchFamily="34" charset="-122"/>
                <a:cs typeface="+mn-ea"/>
              </a:rPr>
              <a:t>Appium</a:t>
            </a:r>
            <a:r>
              <a:rPr lang="zh-CN" altLang="zh-CN" sz="2000" dirty="0">
                <a:solidFill>
                  <a:srgbClr val="1369B2"/>
                </a:solidFill>
                <a:latin typeface="微软雅黑" panose="020B0503020204020204" pitchFamily="34" charset="-122"/>
                <a:ea typeface="微软雅黑" panose="020B0503020204020204" pitchFamily="34" charset="-122"/>
                <a:cs typeface="+mn-ea"/>
              </a:rPr>
              <a:t>支持多</a:t>
            </a:r>
            <a:r>
              <a:rPr lang="zh-CN" altLang="zh-CN" sz="2000">
                <a:solidFill>
                  <a:srgbClr val="1369B2"/>
                </a:solidFill>
                <a:latin typeface="微软雅黑" panose="020B0503020204020204" pitchFamily="34" charset="-122"/>
                <a:ea typeface="微软雅黑" panose="020B0503020204020204" pitchFamily="34" charset="-122"/>
                <a:cs typeface="+mn-ea"/>
              </a:rPr>
              <a:t>系统</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a:solidFill>
                  <a:srgbClr val="595959"/>
                </a:solidFill>
                <a:latin typeface="微软雅黑" panose="020B0503020204020204" pitchFamily="34" charset="-122"/>
                <a:ea typeface="微软雅黑" panose="020B0503020204020204" pitchFamily="34" charset="-122"/>
                <a:cs typeface="+mn-ea"/>
              </a:rPr>
              <a:t>Windows</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Linux </a:t>
            </a:r>
            <a:r>
              <a:rPr lang="zh-CN" altLang="en-US" sz="2000">
                <a:solidFill>
                  <a:srgbClr val="595959"/>
                </a:solidFill>
                <a:latin typeface="微软雅黑" panose="020B0503020204020204" pitchFamily="34" charset="-122"/>
                <a:ea typeface="微软雅黑" panose="020B0503020204020204" pitchFamily="34" charset="-122"/>
                <a:cs typeface="+mn-ea"/>
              </a:rPr>
              <a:t>）并</a:t>
            </a:r>
            <a:r>
              <a:rPr lang="zh-CN" altLang="zh-CN" sz="2000">
                <a:solidFill>
                  <a:srgbClr val="1369B2"/>
                </a:solidFill>
                <a:latin typeface="微软雅黑" panose="020B0503020204020204" pitchFamily="34" charset="-122"/>
                <a:ea typeface="微软雅黑" panose="020B0503020204020204" pitchFamily="34" charset="-122"/>
                <a:cs typeface="+mn-ea"/>
              </a:rPr>
              <a:t>支持多语言</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a:solidFill>
                  <a:srgbClr val="595959"/>
                </a:solidFill>
                <a:latin typeface="微软雅黑" panose="020B0503020204020204" pitchFamily="34" charset="-122"/>
                <a:ea typeface="微软雅黑" panose="020B0503020204020204" pitchFamily="34" charset="-122"/>
                <a:cs typeface="+mn-ea"/>
              </a:rPr>
              <a:t>Python</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Java</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JavaScript</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它</a:t>
            </a:r>
            <a:r>
              <a:rPr lang="zh-CN" altLang="zh-CN" sz="2000" dirty="0">
                <a:solidFill>
                  <a:srgbClr val="595959"/>
                </a:solidFill>
                <a:latin typeface="微软雅黑" panose="020B0503020204020204" pitchFamily="34" charset="-122"/>
                <a:ea typeface="微软雅黑" panose="020B0503020204020204" pitchFamily="34" charset="-122"/>
                <a:cs typeface="+mn-ea"/>
              </a:rPr>
              <a:t>允许测试人员在不同的平台使用一套</a:t>
            </a:r>
            <a:r>
              <a:rPr lang="en-US" altLang="zh-CN" sz="2000" dirty="0">
                <a:solidFill>
                  <a:srgbClr val="595959"/>
                </a:solidFill>
                <a:latin typeface="微软雅黑" panose="020B0503020204020204" pitchFamily="34" charset="-122"/>
                <a:ea typeface="微软雅黑" panose="020B0503020204020204" pitchFamily="34" charset="-122"/>
                <a:cs typeface="+mn-ea"/>
              </a:rPr>
              <a:t>API</a:t>
            </a:r>
            <a:r>
              <a:rPr lang="zh-CN" altLang="zh-CN" sz="2000" dirty="0">
                <a:solidFill>
                  <a:srgbClr val="595959"/>
                </a:solidFill>
                <a:latin typeface="微软雅黑" panose="020B0503020204020204" pitchFamily="34" charset="-122"/>
                <a:ea typeface="微软雅黑" panose="020B0503020204020204" pitchFamily="34" charset="-122"/>
                <a:cs typeface="+mn-ea"/>
              </a:rPr>
              <a:t>来编写自动化测试</a:t>
            </a:r>
            <a:r>
              <a:rPr lang="zh-CN" altLang="zh-CN" sz="2000">
                <a:solidFill>
                  <a:srgbClr val="595959"/>
                </a:solidFill>
                <a:latin typeface="微软雅黑" panose="020B0503020204020204" pitchFamily="34" charset="-122"/>
                <a:ea typeface="微软雅黑" panose="020B0503020204020204" pitchFamily="34" charset="-122"/>
                <a:cs typeface="+mn-ea"/>
              </a:rPr>
              <a:t>脚本，</a:t>
            </a:r>
            <a:r>
              <a:rPr lang="en-US" altLang="zh-CN" sz="2000">
                <a:solidFill>
                  <a:srgbClr val="595959"/>
                </a:solidFill>
                <a:latin typeface="微软雅黑" panose="020B0503020204020204" pitchFamily="34" charset="-122"/>
                <a:ea typeface="微软雅黑" panose="020B0503020204020204" pitchFamily="34" charset="-122"/>
                <a:cs typeface="+mn-ea"/>
              </a:rPr>
              <a:t> 从而提高了代码的复用性</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0" y="266995"/>
            <a:ext cx="6944429"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marL="0" lvl="2"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mn-lt"/>
              </a:rPr>
              <a:t>7.3.5 </a:t>
            </a:r>
            <a:r>
              <a:rPr lang="zh-CN" altLang="en-US"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zh-CN" b="1" dirty="0">
                <a:solidFill>
                  <a:srgbClr val="595959"/>
                </a:solidFill>
                <a:latin typeface="微软雅黑" panose="020B0503020204020204" pitchFamily="34" charset="-122"/>
                <a:ea typeface="微软雅黑" panose="020B0503020204020204" pitchFamily="34" charset="-122"/>
                <a:cs typeface="+mn-ea"/>
              </a:rPr>
              <a:t>与</a:t>
            </a:r>
            <a:r>
              <a:rPr lang="en-US" altLang="zh-CN" b="1" dirty="0" err="1">
                <a:solidFill>
                  <a:srgbClr val="595959"/>
                </a:solidFill>
                <a:latin typeface="微软雅黑" panose="020B0503020204020204" pitchFamily="34" charset="-122"/>
                <a:ea typeface="微软雅黑" panose="020B0503020204020204" pitchFamily="34" charset="-122"/>
                <a:cs typeface="+mn-ea"/>
              </a:rPr>
              <a:t>Appium</a:t>
            </a:r>
            <a:r>
              <a:rPr lang="en-US" altLang="zh-CN" b="1" dirty="0">
                <a:solidFill>
                  <a:srgbClr val="595959"/>
                </a:solidFill>
                <a:latin typeface="微软雅黑" panose="020B0503020204020204" pitchFamily="34" charset="-122"/>
                <a:ea typeface="微软雅黑" panose="020B0503020204020204" pitchFamily="34" charset="-122"/>
                <a:cs typeface="+mn-ea"/>
              </a:rPr>
              <a:t>-Python-Client</a:t>
            </a:r>
            <a:r>
              <a:rPr lang="zh-CN" altLang="zh-CN" b="1" dirty="0">
                <a:solidFill>
                  <a:srgbClr val="595959"/>
                </a:solidFill>
                <a:latin typeface="微软雅黑" panose="020B0503020204020204" pitchFamily="34" charset="-122"/>
                <a:ea typeface="微软雅黑" panose="020B0503020204020204" pitchFamily="34" charset="-122"/>
                <a:cs typeface="+mn-ea"/>
              </a:rPr>
              <a:t>库</a:t>
            </a:r>
          </a:p>
        </p:txBody>
      </p:sp>
      <p:sp>
        <p:nvSpPr>
          <p:cNvPr id="20" name="MH_SubTitle_1"/>
          <p:cNvSpPr/>
          <p:nvPr>
            <p:custDataLst>
              <p:tags r:id="rId1"/>
            </p:custDataLst>
          </p:nvPr>
        </p:nvSpPr>
        <p:spPr>
          <a:xfrm>
            <a:off x="2420256" y="2048975"/>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FFFFFF"/>
                </a:solidFill>
                <a:latin typeface="微软雅黑" panose="020B0503020204020204" pitchFamily="34" charset="-122"/>
                <a:ea typeface="微软雅黑" panose="020B0503020204020204" pitchFamily="34" charset="-122"/>
              </a:rPr>
              <a:t>原生应用</a:t>
            </a: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MH_Other_1"/>
          <p:cNvSpPr/>
          <p:nvPr>
            <p:custDataLst>
              <p:tags r:id="rId2"/>
            </p:custDataLst>
          </p:nvPr>
        </p:nvSpPr>
        <p:spPr>
          <a:xfrm>
            <a:off x="4539567" y="2089297"/>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2" name="MH_Text_1"/>
          <p:cNvSpPr>
            <a:spLocks noChangeArrowheads="1"/>
          </p:cNvSpPr>
          <p:nvPr>
            <p:custDataLst>
              <p:tags r:id="rId3"/>
            </p:custDataLst>
          </p:nvPr>
        </p:nvSpPr>
        <p:spPr bwMode="auto">
          <a:xfrm>
            <a:off x="5112092" y="1485794"/>
            <a:ext cx="2976027"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r>
              <a:rPr lang="zh-CN" altLang="zh-CN" sz="1600" dirty="0">
                <a:solidFill>
                  <a:srgbClr val="595959"/>
                </a:solidFill>
                <a:latin typeface="微软雅黑" panose="020B0503020204020204" pitchFamily="34" charset="-122"/>
                <a:ea typeface="微软雅黑" panose="020B0503020204020204" pitchFamily="34" charset="-122"/>
                <a:cs typeface="+mn-ea"/>
              </a:rPr>
              <a:t>在</a:t>
            </a:r>
            <a:r>
              <a:rPr lang="en-US" altLang="zh-CN" sz="1600" dirty="0">
                <a:solidFill>
                  <a:srgbClr val="1369B2"/>
                </a:solidFill>
                <a:latin typeface="微软雅黑" panose="020B0503020204020204" pitchFamily="34" charset="-122"/>
                <a:ea typeface="微软雅黑" panose="020B0503020204020204" pitchFamily="34" charset="-122"/>
                <a:cs typeface="+mn-ea"/>
              </a:rPr>
              <a:t>iOS</a:t>
            </a:r>
            <a:r>
              <a:rPr lang="zh-CN" altLang="zh-CN" sz="1600" dirty="0">
                <a:solidFill>
                  <a:srgbClr val="595959"/>
                </a:solidFill>
                <a:latin typeface="微软雅黑" panose="020B0503020204020204" pitchFamily="34" charset="-122"/>
                <a:ea typeface="微软雅黑" panose="020B0503020204020204" pitchFamily="34" charset="-122"/>
                <a:cs typeface="+mn-ea"/>
              </a:rPr>
              <a:t>或</a:t>
            </a:r>
            <a:r>
              <a:rPr lang="en-US" altLang="zh-CN" sz="1600" dirty="0">
                <a:solidFill>
                  <a:srgbClr val="1369B2"/>
                </a:solidFill>
                <a:latin typeface="微软雅黑" panose="020B0503020204020204" pitchFamily="34" charset="-122"/>
                <a:ea typeface="微软雅黑" panose="020B0503020204020204" pitchFamily="34" charset="-122"/>
                <a:cs typeface="+mn-ea"/>
              </a:rPr>
              <a:t>Android</a:t>
            </a:r>
            <a:r>
              <a:rPr lang="zh-CN" altLang="zh-CN" sz="1600" dirty="0">
                <a:solidFill>
                  <a:srgbClr val="595959"/>
                </a:solidFill>
                <a:latin typeface="微软雅黑" panose="020B0503020204020204" pitchFamily="34" charset="-122"/>
                <a:ea typeface="微软雅黑" panose="020B0503020204020204" pitchFamily="34" charset="-122"/>
                <a:cs typeface="+mn-ea"/>
              </a:rPr>
              <a:t>系统中运行的应用，可直接通过应用商店下载与安装。</a:t>
            </a:r>
          </a:p>
        </p:txBody>
      </p:sp>
      <p:sp>
        <p:nvSpPr>
          <p:cNvPr id="23" name="MH_SubTitle_2"/>
          <p:cNvSpPr/>
          <p:nvPr>
            <p:custDataLst>
              <p:tags r:id="rId4"/>
            </p:custDataLst>
          </p:nvPr>
        </p:nvSpPr>
        <p:spPr>
          <a:xfrm>
            <a:off x="2420256" y="3254521"/>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solidFill>
                  <a:srgbClr val="FFFFFF"/>
                </a:solidFill>
                <a:latin typeface="微软雅黑" panose="020B0503020204020204" pitchFamily="34" charset="-122"/>
                <a:ea typeface="微软雅黑" panose="020B0503020204020204" pitchFamily="34" charset="-122"/>
                <a:sym typeface="+mn-ea"/>
              </a:rPr>
              <a:t>移动</a:t>
            </a:r>
            <a:r>
              <a:rPr lang="en-US" altLang="zh-CN" sz="2000" noProof="0" dirty="0">
                <a:solidFill>
                  <a:srgbClr val="FFFFFF"/>
                </a:solidFill>
                <a:latin typeface="微软雅黑" panose="020B0503020204020204" pitchFamily="34" charset="-122"/>
                <a:ea typeface="微软雅黑" panose="020B0503020204020204" pitchFamily="34" charset="-122"/>
                <a:sym typeface="+mn-ea"/>
              </a:rPr>
              <a:t>Web</a:t>
            </a:r>
            <a:r>
              <a:rPr lang="zh-CN" altLang="en-US" sz="2000" noProof="0" dirty="0">
                <a:solidFill>
                  <a:srgbClr val="FFFFFF"/>
                </a:solidFill>
                <a:latin typeface="微软雅黑" panose="020B0503020204020204" pitchFamily="34" charset="-122"/>
                <a:ea typeface="微软雅黑" panose="020B0503020204020204" pitchFamily="34" charset="-122"/>
                <a:sym typeface="+mn-ea"/>
              </a:rPr>
              <a:t>应用</a:t>
            </a:r>
            <a:endPar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24" name="MH_Other_2"/>
          <p:cNvSpPr/>
          <p:nvPr>
            <p:custDataLst>
              <p:tags r:id="rId5"/>
            </p:custDataLst>
          </p:nvPr>
        </p:nvSpPr>
        <p:spPr>
          <a:xfrm>
            <a:off x="4539567" y="3294207"/>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5" name="MH_Text_2"/>
          <p:cNvSpPr>
            <a:spLocks noChangeArrowheads="1"/>
          </p:cNvSpPr>
          <p:nvPr>
            <p:custDataLst>
              <p:tags r:id="rId6"/>
            </p:custDataLst>
          </p:nvPr>
        </p:nvSpPr>
        <p:spPr bwMode="auto">
          <a:xfrm>
            <a:off x="5090990" y="2959239"/>
            <a:ext cx="3143114" cy="1444029"/>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r>
              <a:rPr lang="zh-CN" altLang="zh-CN" sz="1600" dirty="0">
                <a:solidFill>
                  <a:srgbClr val="595959"/>
                </a:solidFill>
                <a:latin typeface="微软雅黑" panose="020B0503020204020204" pitchFamily="34" charset="-122"/>
                <a:ea typeface="微软雅黑" panose="020B0503020204020204" pitchFamily="34" charset="-122"/>
                <a:cs typeface="+mn-ea"/>
              </a:rPr>
              <a:t>在移动端浏览器中可以访问的</a:t>
            </a:r>
            <a:r>
              <a:rPr lang="en-US" altLang="zh-CN" sz="1600" dirty="0">
                <a:solidFill>
                  <a:srgbClr val="595959"/>
                </a:solidFill>
                <a:latin typeface="微软雅黑" panose="020B0503020204020204" pitchFamily="34" charset="-122"/>
                <a:ea typeface="微软雅黑" panose="020B0503020204020204" pitchFamily="34" charset="-122"/>
                <a:cs typeface="+mn-ea"/>
              </a:rPr>
              <a:t>Web</a:t>
            </a:r>
            <a:r>
              <a:rPr lang="zh-CN" altLang="zh-CN" sz="1600" dirty="0">
                <a:solidFill>
                  <a:srgbClr val="595959"/>
                </a:solidFill>
                <a:latin typeface="微软雅黑" panose="020B0503020204020204" pitchFamily="34" charset="-122"/>
                <a:ea typeface="微软雅黑" panose="020B0503020204020204" pitchFamily="34" charset="-122"/>
                <a:cs typeface="+mn-ea"/>
              </a:rPr>
              <a:t>应用，</a:t>
            </a:r>
            <a:r>
              <a:rPr lang="en-US" altLang="zh-CN" sz="16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1600" dirty="0">
                <a:solidFill>
                  <a:srgbClr val="595959"/>
                </a:solidFill>
                <a:latin typeface="微软雅黑" panose="020B0503020204020204" pitchFamily="34" charset="-122"/>
                <a:ea typeface="微软雅黑" panose="020B0503020204020204" pitchFamily="34" charset="-122"/>
                <a:cs typeface="+mn-ea"/>
              </a:rPr>
              <a:t>支持</a:t>
            </a:r>
            <a:r>
              <a:rPr lang="en-US" altLang="zh-CN" sz="1600" dirty="0">
                <a:solidFill>
                  <a:srgbClr val="595959"/>
                </a:solidFill>
                <a:latin typeface="微软雅黑" panose="020B0503020204020204" pitchFamily="34" charset="-122"/>
                <a:ea typeface="微软雅黑" panose="020B0503020204020204" pitchFamily="34" charset="-122"/>
                <a:cs typeface="+mn-ea"/>
              </a:rPr>
              <a:t>iOS</a:t>
            </a:r>
            <a:r>
              <a:rPr lang="zh-CN" altLang="zh-CN" sz="1600" dirty="0">
                <a:solidFill>
                  <a:srgbClr val="595959"/>
                </a:solidFill>
                <a:latin typeface="微软雅黑" panose="020B0503020204020204" pitchFamily="34" charset="-122"/>
                <a:ea typeface="微软雅黑" panose="020B0503020204020204" pitchFamily="34" charset="-122"/>
                <a:cs typeface="+mn-ea"/>
              </a:rPr>
              <a:t>系统中安装的</a:t>
            </a:r>
            <a:r>
              <a:rPr lang="en-US" altLang="zh-CN" sz="1600" dirty="0">
                <a:solidFill>
                  <a:srgbClr val="1369B2"/>
                </a:solidFill>
                <a:latin typeface="微软雅黑" panose="020B0503020204020204" pitchFamily="34" charset="-122"/>
                <a:ea typeface="微软雅黑" panose="020B0503020204020204" pitchFamily="34" charset="-122"/>
                <a:cs typeface="+mn-ea"/>
              </a:rPr>
              <a:t>Safari</a:t>
            </a:r>
            <a:r>
              <a:rPr lang="zh-CN" altLang="zh-CN" sz="1600" dirty="0">
                <a:solidFill>
                  <a:srgbClr val="595959"/>
                </a:solidFill>
                <a:latin typeface="微软雅黑" panose="020B0503020204020204" pitchFamily="34" charset="-122"/>
                <a:ea typeface="微软雅黑" panose="020B0503020204020204" pitchFamily="34" charset="-122"/>
                <a:cs typeface="+mn-ea"/>
              </a:rPr>
              <a:t>和</a:t>
            </a:r>
            <a:r>
              <a:rPr lang="en-US" altLang="zh-CN" sz="1600" dirty="0">
                <a:solidFill>
                  <a:srgbClr val="1369B2"/>
                </a:solidFill>
                <a:latin typeface="微软雅黑" panose="020B0503020204020204" pitchFamily="34" charset="-122"/>
                <a:ea typeface="微软雅黑" panose="020B0503020204020204" pitchFamily="34" charset="-122"/>
                <a:cs typeface="+mn-ea"/>
              </a:rPr>
              <a:t>Chrome</a:t>
            </a:r>
            <a:r>
              <a:rPr lang="zh-CN" altLang="zh-CN" sz="1600" dirty="0">
                <a:solidFill>
                  <a:srgbClr val="1369B2"/>
                </a:solidFill>
                <a:latin typeface="微软雅黑" panose="020B0503020204020204" pitchFamily="34" charset="-122"/>
                <a:ea typeface="微软雅黑" panose="020B0503020204020204" pitchFamily="34" charset="-122"/>
                <a:cs typeface="+mn-ea"/>
              </a:rPr>
              <a:t>浏览器</a:t>
            </a:r>
            <a:r>
              <a:rPr lang="zh-CN" altLang="zh-CN" sz="1600" dirty="0">
                <a:solidFill>
                  <a:srgbClr val="595959"/>
                </a:solidFill>
                <a:latin typeface="微软雅黑" panose="020B0503020204020204" pitchFamily="34" charset="-122"/>
                <a:ea typeface="微软雅黑" panose="020B0503020204020204" pitchFamily="34" charset="-122"/>
                <a:cs typeface="+mn-ea"/>
              </a:rPr>
              <a:t>，以及</a:t>
            </a:r>
            <a:r>
              <a:rPr lang="en-US" altLang="zh-CN" sz="1600" dirty="0">
                <a:solidFill>
                  <a:srgbClr val="595959"/>
                </a:solidFill>
                <a:latin typeface="微软雅黑" panose="020B0503020204020204" pitchFamily="34" charset="-122"/>
                <a:ea typeface="微软雅黑" panose="020B0503020204020204" pitchFamily="34" charset="-122"/>
                <a:cs typeface="+mn-ea"/>
              </a:rPr>
              <a:t>Android</a:t>
            </a:r>
            <a:r>
              <a:rPr lang="zh-CN" altLang="zh-CN" sz="1600" dirty="0">
                <a:solidFill>
                  <a:srgbClr val="595959"/>
                </a:solidFill>
                <a:latin typeface="微软雅黑" panose="020B0503020204020204" pitchFamily="34" charset="-122"/>
                <a:ea typeface="微软雅黑" panose="020B0503020204020204" pitchFamily="34" charset="-122"/>
                <a:cs typeface="+mn-ea"/>
              </a:rPr>
              <a:t>系统中的</a:t>
            </a:r>
            <a:r>
              <a:rPr lang="zh-CN" altLang="zh-CN" sz="1600" dirty="0">
                <a:solidFill>
                  <a:srgbClr val="1369B2"/>
                </a:solidFill>
                <a:latin typeface="微软雅黑" panose="020B0503020204020204" pitchFamily="34" charset="-122"/>
                <a:ea typeface="微软雅黑" panose="020B0503020204020204" pitchFamily="34" charset="-122"/>
                <a:cs typeface="+mn-ea"/>
              </a:rPr>
              <a:t>内置浏览器</a:t>
            </a:r>
            <a:r>
              <a:rPr lang="zh-CN" altLang="zh-CN" sz="1600" dirty="0">
                <a:solidFill>
                  <a:srgbClr val="595959"/>
                </a:solidFill>
                <a:latin typeface="微软雅黑" panose="020B0503020204020204" pitchFamily="34" charset="-122"/>
                <a:ea typeface="微软雅黑" panose="020B0503020204020204" pitchFamily="34" charset="-122"/>
                <a:cs typeface="+mn-ea"/>
              </a:rPr>
              <a:t>。</a:t>
            </a:r>
          </a:p>
        </p:txBody>
      </p:sp>
      <p:sp>
        <p:nvSpPr>
          <p:cNvPr id="26" name="MH_SubTitle_3"/>
          <p:cNvSpPr/>
          <p:nvPr>
            <p:custDataLst>
              <p:tags r:id="rId7"/>
            </p:custDataLst>
          </p:nvPr>
        </p:nvSpPr>
        <p:spPr>
          <a:xfrm>
            <a:off x="2420256" y="4474777"/>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en-US" altLang="zh-CN"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 </a:t>
            </a:r>
            <a:r>
              <a:rPr lang="zh-CN" altLang="en-US" sz="2000" noProof="0" dirty="0">
                <a:solidFill>
                  <a:srgbClr val="FFFFFF"/>
                </a:solidFill>
                <a:latin typeface="微软雅黑" panose="020B0503020204020204" pitchFamily="34" charset="-122"/>
                <a:ea typeface="微软雅黑" panose="020B0503020204020204" pitchFamily="34" charset="-122"/>
                <a:sym typeface="+mn-ea"/>
              </a:rPr>
              <a:t>混合应用</a:t>
            </a:r>
            <a:endPar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27" name="MH_Other_3"/>
          <p:cNvSpPr/>
          <p:nvPr>
            <p:custDataLst>
              <p:tags r:id="rId8"/>
            </p:custDataLst>
          </p:nvPr>
        </p:nvSpPr>
        <p:spPr>
          <a:xfrm>
            <a:off x="4539567" y="4514463"/>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8" name="MH_Text_3"/>
          <p:cNvSpPr>
            <a:spLocks noChangeArrowheads="1"/>
          </p:cNvSpPr>
          <p:nvPr>
            <p:custDataLst>
              <p:tags r:id="rId9"/>
            </p:custDataLst>
          </p:nvPr>
        </p:nvSpPr>
        <p:spPr bwMode="auto">
          <a:xfrm>
            <a:off x="5112092" y="4403268"/>
            <a:ext cx="2904975" cy="70961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9" name="MH_Title_1"/>
          <p:cNvSpPr/>
          <p:nvPr>
            <p:custDataLst>
              <p:tags r:id="rId10"/>
            </p:custDataLst>
          </p:nvPr>
        </p:nvSpPr>
        <p:spPr>
          <a:xfrm>
            <a:off x="1653232" y="2392840"/>
            <a:ext cx="498260" cy="24177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err="1">
                <a:solidFill>
                  <a:srgbClr val="595959"/>
                </a:solidFill>
                <a:latin typeface="微软雅黑" panose="020B0503020204020204" pitchFamily="34" charset="-122"/>
                <a:ea typeface="微软雅黑" panose="020B0503020204020204" pitchFamily="34" charset="-122"/>
                <a:cs typeface="+mn-ea"/>
              </a:rPr>
              <a:t>Appium</a:t>
            </a:r>
            <a:r>
              <a:rPr lang="zh-CN" altLang="en-US" sz="2000" b="1" dirty="0">
                <a:solidFill>
                  <a:srgbClr val="595959"/>
                </a:solidFill>
                <a:latin typeface="微软雅黑" panose="020B0503020204020204" pitchFamily="34" charset="-122"/>
                <a:ea typeface="微软雅黑" panose="020B0503020204020204" pitchFamily="34" charset="-122"/>
                <a:cs typeface="+mn-ea"/>
              </a:rPr>
              <a:t>的测试对象</a:t>
            </a:r>
          </a:p>
        </p:txBody>
      </p:sp>
      <p:cxnSp>
        <p:nvCxnSpPr>
          <p:cNvPr id="30" name="PA_直接连接符 2"/>
          <p:cNvCxnSpPr/>
          <p:nvPr>
            <p:custDataLst>
              <p:tags r:id="rId11"/>
            </p:custDataLst>
          </p:nvPr>
        </p:nvCxnSpPr>
        <p:spPr>
          <a:xfrm>
            <a:off x="1632486" y="2079038"/>
            <a:ext cx="0" cy="3045363"/>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32" name="PA_直接连接符 2"/>
          <p:cNvCxnSpPr/>
          <p:nvPr>
            <p:custDataLst>
              <p:tags r:id="rId12"/>
            </p:custDataLst>
          </p:nvPr>
        </p:nvCxnSpPr>
        <p:spPr>
          <a:xfrm>
            <a:off x="2151492" y="2079036"/>
            <a:ext cx="0" cy="3045363"/>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33" name="PA_StraightArrowConnector 4"/>
          <p:cNvCxnSpPr/>
          <p:nvPr>
            <p:custDataLst>
              <p:tags r:id="rId13"/>
            </p:custDataLst>
          </p:nvPr>
        </p:nvCxnSpPr>
        <p:spPr>
          <a:xfrm>
            <a:off x="8017071" y="2304562"/>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PA_StraightArrowConnector 4"/>
          <p:cNvCxnSpPr/>
          <p:nvPr>
            <p:custDataLst>
              <p:tags r:id="rId14"/>
            </p:custDataLst>
          </p:nvPr>
        </p:nvCxnSpPr>
        <p:spPr>
          <a:xfrm>
            <a:off x="8017070" y="3554358"/>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PA_StraightArrowConnector 4"/>
          <p:cNvCxnSpPr/>
          <p:nvPr>
            <p:custDataLst>
              <p:tags r:id="rId15"/>
            </p:custDataLst>
          </p:nvPr>
        </p:nvCxnSpPr>
        <p:spPr>
          <a:xfrm>
            <a:off x="8017067" y="4810597"/>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arrow-on-target_68291"/>
          <p:cNvSpPr>
            <a:spLocks noChangeAspect="1"/>
          </p:cNvSpPr>
          <p:nvPr/>
        </p:nvSpPr>
        <p:spPr bwMode="auto">
          <a:xfrm>
            <a:off x="9340674" y="4514714"/>
            <a:ext cx="609685" cy="60968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37" name="computer-service_78951"/>
          <p:cNvSpPr>
            <a:spLocks noChangeAspect="1"/>
          </p:cNvSpPr>
          <p:nvPr/>
        </p:nvSpPr>
        <p:spPr bwMode="auto">
          <a:xfrm>
            <a:off x="9340674" y="1955239"/>
            <a:ext cx="609685" cy="565858"/>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sp>
      <p:sp>
        <p:nvSpPr>
          <p:cNvPr id="38" name="graph_134483"/>
          <p:cNvSpPr>
            <a:spLocks noChangeAspect="1"/>
          </p:cNvSpPr>
          <p:nvPr/>
        </p:nvSpPr>
        <p:spPr bwMode="auto">
          <a:xfrm>
            <a:off x="9340674" y="3162906"/>
            <a:ext cx="609685" cy="555432"/>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4" name="矩形 3"/>
          <p:cNvSpPr/>
          <p:nvPr/>
        </p:nvSpPr>
        <p:spPr>
          <a:xfrm>
            <a:off x="5062878" y="4539624"/>
            <a:ext cx="2923739" cy="584775"/>
          </a:xfrm>
          <a:prstGeom prst="rect">
            <a:avLst/>
          </a:prstGeom>
        </p:spPr>
        <p:txBody>
          <a:bodyPr wrap="square">
            <a:spAutoFit/>
          </a:bodyPr>
          <a:lstStyle/>
          <a:p>
            <a:r>
              <a:rPr lang="zh-CN" altLang="en-US" sz="1600">
                <a:solidFill>
                  <a:srgbClr val="1369B2"/>
                </a:solidFill>
                <a:latin typeface="微软雅黑" panose="020B0503020204020204" pitchFamily="34" charset="-122"/>
                <a:ea typeface="微软雅黑" panose="020B0503020204020204" pitchFamily="34" charset="-122"/>
                <a:cs typeface="+mn-ea"/>
              </a:rPr>
              <a:t>用</a:t>
            </a:r>
            <a:r>
              <a:rPr lang="zh-CN" altLang="zh-CN" sz="1600">
                <a:solidFill>
                  <a:srgbClr val="1369B2"/>
                </a:solidFill>
                <a:latin typeface="微软雅黑" panose="020B0503020204020204" pitchFamily="34" charset="-122"/>
                <a:ea typeface="微软雅黑" panose="020B0503020204020204" pitchFamily="34" charset="-122"/>
                <a:cs typeface="+mn-ea"/>
              </a:rPr>
              <a:t>原生</a:t>
            </a:r>
            <a:r>
              <a:rPr lang="zh-CN" altLang="zh-CN" sz="1600" dirty="0">
                <a:solidFill>
                  <a:srgbClr val="1369B2"/>
                </a:solidFill>
                <a:latin typeface="微软雅黑" panose="020B0503020204020204" pitchFamily="34" charset="-122"/>
                <a:ea typeface="微软雅黑" panose="020B0503020204020204" pitchFamily="34" charset="-122"/>
                <a:cs typeface="+mn-ea"/>
              </a:rPr>
              <a:t>代码封装网页视图的应用程序。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7111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marL="0" lvl="2" defTabSz="914400">
              <a:spcBef>
                <a:spcPct val="0"/>
              </a:spcBef>
            </a:pPr>
            <a:r>
              <a:rPr lang="en-US" altLang="zh-CN" b="1" dirty="0">
                <a:solidFill>
                  <a:srgbClr val="595959"/>
                </a:solidFill>
                <a:latin typeface="微软雅黑" panose="020B0503020204020204" pitchFamily="34" charset="-122"/>
                <a:ea typeface="微软雅黑" panose="020B0503020204020204" pitchFamily="34" charset="-122"/>
                <a:cs typeface="+mn-ea"/>
                <a:sym typeface="+mn-lt"/>
              </a:rPr>
              <a:t>7.3.6 App</a:t>
            </a:r>
            <a:r>
              <a:rPr lang="zh-CN" altLang="en-US" b="1" dirty="0">
                <a:solidFill>
                  <a:srgbClr val="595959"/>
                </a:solidFill>
                <a:latin typeface="微软雅黑" panose="020B0503020204020204" pitchFamily="34" charset="-122"/>
                <a:ea typeface="微软雅黑" panose="020B0503020204020204" pitchFamily="34" charset="-122"/>
                <a:cs typeface="+mn-ea"/>
                <a:sym typeface="+mn-lt"/>
              </a:rPr>
              <a:t>测试入门示例</a:t>
            </a:r>
            <a:endParaRPr lang="zh-CN" altLang="zh-CN" b="1"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29382" y="989802"/>
            <a:ext cx="10293823" cy="553998"/>
          </a:xfrm>
          <a:prstGeom prst="rect">
            <a:avLst/>
          </a:prstGeom>
        </p:spPr>
        <p:txBody>
          <a:bodyPr wrap="square">
            <a:spAutoFit/>
          </a:bodyPr>
          <a:lstStyle/>
          <a:p>
            <a:pPr>
              <a:lnSpc>
                <a:spcPct val="150000"/>
              </a:lnSpc>
            </a:pP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测试的入门示例具体实现步骤如下。</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39" name="形状 38"/>
          <p:cNvSpPr/>
          <p:nvPr/>
        </p:nvSpPr>
        <p:spPr>
          <a:xfrm>
            <a:off x="3363003" y="3023756"/>
            <a:ext cx="2361565" cy="2361565"/>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40" name="形状 16501"/>
          <p:cNvSpPr/>
          <p:nvPr/>
        </p:nvSpPr>
        <p:spPr>
          <a:xfrm>
            <a:off x="2260008" y="2764676"/>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40" tIns="66040" rIns="66040" bIns="91440" anchor="t">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1" name="形状 16502"/>
          <p:cNvSpPr/>
          <p:nvPr/>
        </p:nvSpPr>
        <p:spPr>
          <a:xfrm>
            <a:off x="2690538" y="4013721"/>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2" name="形状 16503"/>
          <p:cNvSpPr/>
          <p:nvPr/>
        </p:nvSpPr>
        <p:spPr>
          <a:xfrm>
            <a:off x="5669323" y="1718250"/>
            <a:ext cx="2642870" cy="2642870"/>
          </a:xfrm>
          <a:prstGeom prst="circularArrow">
            <a:avLst>
              <a:gd name="adj1" fmla="val 2567"/>
              <a:gd name="adj2" fmla="val 311540"/>
              <a:gd name="adj3" fmla="val 19512949"/>
              <a:gd name="adj4" fmla="val 12575511"/>
              <a:gd name="adj5" fmla="val 2994"/>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43" name="形状 16504"/>
          <p:cNvSpPr/>
          <p:nvPr/>
        </p:nvSpPr>
        <p:spPr>
          <a:xfrm>
            <a:off x="4728253" y="2764041"/>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40" tIns="292735" rIns="66040" bIns="66040"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4" name="形状 16505"/>
          <p:cNvSpPr/>
          <p:nvPr/>
        </p:nvSpPr>
        <p:spPr>
          <a:xfrm>
            <a:off x="5158148" y="2421141"/>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5" name="形状 16506"/>
          <p:cNvSpPr/>
          <p:nvPr/>
        </p:nvSpPr>
        <p:spPr>
          <a:xfrm>
            <a:off x="7179988" y="2783091"/>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40" tIns="66040" rIns="66040" bIns="91440" anchor="t">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6" name="形状 16507"/>
          <p:cNvSpPr/>
          <p:nvPr/>
        </p:nvSpPr>
        <p:spPr>
          <a:xfrm>
            <a:off x="7609883" y="4044201"/>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9" name="文本框 52"/>
          <p:cNvSpPr txBox="1"/>
          <p:nvPr/>
        </p:nvSpPr>
        <p:spPr>
          <a:xfrm>
            <a:off x="2918503" y="4171201"/>
            <a:ext cx="1266190" cy="398780"/>
          </a:xfrm>
          <a:prstGeom prst="rect">
            <a:avLst/>
          </a:prstGeom>
          <a:noFill/>
        </p:spPr>
        <p:txBody>
          <a:bodyPr vert="horz" wrap="square" lIns="91440" tIns="45720" rIns="91440" bIns="45720"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ea typeface="+mn-lt"/>
                <a:sym typeface="+mn-ea"/>
              </a:rPr>
              <a:t>步骤</a:t>
            </a:r>
            <a:r>
              <a:rPr kumimoji="0" lang="en-US" altLang="zh-CN" sz="2000" b="1" i="0" u="none" strike="noStrike" kern="1200" cap="none" spc="0" normalizeH="0" baseline="0" noProof="0" dirty="0">
                <a:ln>
                  <a:noFill/>
                </a:ln>
                <a:solidFill>
                  <a:schemeClr val="bg1"/>
                </a:solidFill>
                <a:effectLst/>
                <a:uLnTx/>
                <a:uFillTx/>
                <a:ea typeface="+mn-lt"/>
                <a:sym typeface="+mn-ea"/>
              </a:rPr>
              <a:t>1</a:t>
            </a:r>
            <a:endParaRPr kumimoji="0" lang="zh-CN" altLang="en-US" sz="2000" b="1" i="0" u="none" strike="noStrike" kern="1200" cap="none" spc="0" normalizeH="0" baseline="0" noProof="0" dirty="0">
              <a:ln>
                <a:noFill/>
              </a:ln>
              <a:solidFill>
                <a:schemeClr val="bg1"/>
              </a:solidFill>
              <a:effectLst/>
              <a:uLnTx/>
              <a:uFillTx/>
              <a:ea typeface="+mn-lt"/>
              <a:sym typeface="+mn-ea"/>
            </a:endParaRPr>
          </a:p>
        </p:txBody>
      </p:sp>
      <p:sp>
        <p:nvSpPr>
          <p:cNvPr id="50" name="文本框 53"/>
          <p:cNvSpPr txBox="1"/>
          <p:nvPr/>
        </p:nvSpPr>
        <p:spPr>
          <a:xfrm>
            <a:off x="5299753" y="2533015"/>
            <a:ext cx="1316990" cy="398780"/>
          </a:xfrm>
          <a:prstGeom prst="rect">
            <a:avLst/>
          </a:prstGeom>
          <a:noFill/>
        </p:spPr>
        <p:txBody>
          <a:bodyPr vert="horz" wrap="square" lIns="91440" tIns="45720" rIns="91440" bIns="45720"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ea typeface="+mn-lt"/>
                <a:sym typeface="+mn-ea"/>
              </a:rPr>
              <a:t>步骤</a:t>
            </a:r>
            <a:r>
              <a:rPr kumimoji="0" lang="en-US" altLang="zh-CN" sz="2000" b="1" i="0" u="none" strike="noStrike" kern="1200" cap="none" spc="0" normalizeH="0" baseline="0" noProof="0" dirty="0">
                <a:ln>
                  <a:noFill/>
                </a:ln>
                <a:solidFill>
                  <a:schemeClr val="bg1"/>
                </a:solidFill>
                <a:effectLst/>
                <a:uLnTx/>
                <a:uFillTx/>
                <a:ea typeface="+mn-lt"/>
                <a:sym typeface="+mn-ea"/>
              </a:rPr>
              <a:t>2</a:t>
            </a:r>
            <a:endParaRPr kumimoji="0" lang="zh-CN" altLang="en-US" sz="2000" b="1" i="0" u="none" strike="noStrike" kern="1200" cap="none" spc="0" normalizeH="0" baseline="0" noProof="0" dirty="0">
              <a:ln>
                <a:noFill/>
              </a:ln>
              <a:solidFill>
                <a:schemeClr val="bg1"/>
              </a:solidFill>
              <a:effectLst/>
              <a:uLnTx/>
              <a:uFillTx/>
              <a:ea typeface="+mn-lt"/>
              <a:sym typeface="+mn-ea"/>
            </a:endParaRPr>
          </a:p>
        </p:txBody>
      </p:sp>
      <p:sp>
        <p:nvSpPr>
          <p:cNvPr id="51" name="文本框 54"/>
          <p:cNvSpPr txBox="1"/>
          <p:nvPr/>
        </p:nvSpPr>
        <p:spPr>
          <a:xfrm>
            <a:off x="7856263" y="4181996"/>
            <a:ext cx="1230630" cy="400110"/>
          </a:xfrm>
          <a:prstGeom prst="rect">
            <a:avLst/>
          </a:prstGeom>
          <a:noFill/>
        </p:spPr>
        <p:txBody>
          <a:bodyPr vert="horz" wrap="square" lIns="91440" tIns="45720" rIns="91440" bIns="45720" anchor="t">
            <a:spAutoFit/>
          </a:bodyPr>
          <a:lstStyle/>
          <a:p>
            <a:pPr marL="0" marR="0" lvl="0" indent="0" algn="ctr" defTabSz="914400" rtl="0" eaLnBrk="0"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ea typeface="微软雅黑" panose="020B0503020204020204" pitchFamily="34" charset="-122"/>
                <a:cs typeface="+mn-cs"/>
              </a:rPr>
              <a:t>步骤</a:t>
            </a:r>
            <a:r>
              <a:rPr kumimoji="0" lang="en-US" altLang="zh-CN" sz="2000" b="1" i="0" u="none" strike="noStrike" kern="1200" cap="none" spc="0" normalizeH="0" baseline="0" noProof="0" dirty="0">
                <a:ln>
                  <a:noFill/>
                </a:ln>
                <a:solidFill>
                  <a:schemeClr val="bg1"/>
                </a:solidFill>
                <a:effectLst/>
                <a:uLnTx/>
                <a:uFillTx/>
                <a:ea typeface="微软雅黑" panose="020B0503020204020204" pitchFamily="34" charset="-122"/>
                <a:cs typeface="+mn-cs"/>
              </a:rPr>
              <a:t>3</a:t>
            </a:r>
            <a:endParaRPr kumimoji="0" lang="ko-KR" altLang="en-US" sz="2000" b="1" i="0" u="none" strike="noStrike" kern="1200" cap="none" spc="0" normalizeH="0" baseline="0" noProof="0" dirty="0">
              <a:ln>
                <a:noFill/>
              </a:ln>
              <a:solidFill>
                <a:schemeClr val="bg1"/>
              </a:solidFill>
              <a:effectLst/>
              <a:uLnTx/>
              <a:uFillTx/>
              <a:ea typeface="微软雅黑" panose="020B0503020204020204" pitchFamily="34" charset="-122"/>
              <a:cs typeface="+mn-cs"/>
            </a:endParaRPr>
          </a:p>
        </p:txBody>
      </p:sp>
      <p:sp>
        <p:nvSpPr>
          <p:cNvPr id="54" name="文本框 57"/>
          <p:cNvSpPr txBox="1"/>
          <p:nvPr/>
        </p:nvSpPr>
        <p:spPr>
          <a:xfrm>
            <a:off x="2403979" y="3212435"/>
            <a:ext cx="1794684" cy="509114"/>
          </a:xfrm>
          <a:prstGeom prst="rect">
            <a:avLst/>
          </a:prstGeom>
          <a:noFill/>
          <a:ln w="0">
            <a:noFill/>
          </a:ln>
        </p:spPr>
        <p:txBody>
          <a:bodyPr vert="horz" wrap="square" lIns="89535" tIns="46355" rIns="89535" bIns="46355" anchor="t">
            <a:spAutoFit/>
          </a:bodyPr>
          <a:lstStyle/>
          <a:p>
            <a:pPr marL="0" marR="0" lvl="0" indent="0" algn="l" defTabSz="914400" rtl="0" fontAlgn="auto">
              <a:lnSpc>
                <a:spcPct val="150000"/>
              </a:lnSpc>
              <a:spcBef>
                <a:spcPts val="0"/>
              </a:spcBef>
              <a:spcAft>
                <a:spcPts val="0"/>
              </a:spcAft>
              <a:buClrTx/>
              <a:buSzTx/>
              <a:buFontTx/>
              <a:buNone/>
              <a:defRPr/>
            </a:pP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打开雷电模拟器。</a:t>
            </a:r>
            <a:endPar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55" name="文本框 58"/>
          <p:cNvSpPr txBox="1"/>
          <p:nvPr/>
        </p:nvSpPr>
        <p:spPr>
          <a:xfrm>
            <a:off x="7223208" y="3183131"/>
            <a:ext cx="2079626" cy="924612"/>
          </a:xfrm>
          <a:prstGeom prst="rect">
            <a:avLst/>
          </a:prstGeom>
          <a:noFill/>
          <a:ln w="0">
            <a:noFill/>
          </a:ln>
        </p:spPr>
        <p:txBody>
          <a:bodyPr vert="horz" wrap="square" lIns="89535" tIns="46355" rIns="89535" bIns="46355" anchor="t">
            <a:spAutoFit/>
          </a:bodyPr>
          <a:lstStyle/>
          <a:p>
            <a:pPr lvl="0" defTabSz="914400">
              <a:lnSpc>
                <a:spcPct val="150000"/>
              </a:lnSpc>
              <a:defRPr/>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启动</a:t>
            </a:r>
            <a:r>
              <a:rPr lang="en-US" altLang="zh-CN" sz="18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Appium</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服务器。</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endParaRPr>
          </a:p>
        </p:txBody>
      </p:sp>
      <p:sp>
        <p:nvSpPr>
          <p:cNvPr id="56" name="文本框 59"/>
          <p:cNvSpPr txBox="1"/>
          <p:nvPr/>
        </p:nvSpPr>
        <p:spPr>
          <a:xfrm>
            <a:off x="4768715" y="3051494"/>
            <a:ext cx="1894842" cy="1340110"/>
          </a:xfrm>
          <a:prstGeom prst="rect">
            <a:avLst/>
          </a:prstGeom>
          <a:noFill/>
          <a:ln w="0">
            <a:noFill/>
          </a:ln>
        </p:spPr>
        <p:txBody>
          <a:bodyPr vert="horz" wrap="square" lIns="89535" tIns="46355" rIns="89535" bIns="46355" anchor="t">
            <a:spAutoFit/>
          </a:bodyPr>
          <a:lstStyle/>
          <a:p>
            <a:pPr defTabSz="914400">
              <a:lnSpc>
                <a:spcPct val="150000"/>
              </a:lnSpc>
              <a:defRPr/>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打开</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，获取需要测试的</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App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包名和界面名。</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7.4.1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元素定位</a:t>
            </a:r>
          </a:p>
        </p:txBody>
      </p:sp>
      <p:sp>
        <p:nvSpPr>
          <p:cNvPr id="10" name="原创设计师QQ598969553          _9"/>
          <p:cNvSpPr txBox="1"/>
          <p:nvPr/>
        </p:nvSpPr>
        <p:spPr>
          <a:xfrm>
            <a:off x="1055206" y="2408501"/>
            <a:ext cx="9000000" cy="1015663"/>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如果测试的</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界面元素有</a:t>
            </a:r>
            <a:r>
              <a:rPr lang="en-US" altLang="zh-CN" sz="2000" dirty="0">
                <a:solidFill>
                  <a:srgbClr val="1369B2"/>
                </a:solidFill>
                <a:latin typeface="微软雅黑" panose="020B0503020204020204" pitchFamily="34" charset="-122"/>
                <a:ea typeface="微软雅黑" panose="020B0503020204020204" pitchFamily="34" charset="-122"/>
                <a:cs typeface="+mn-ea"/>
              </a:rPr>
              <a:t>resource-id</a:t>
            </a:r>
            <a:r>
              <a:rPr lang="zh-CN" altLang="zh-CN" sz="2000" dirty="0">
                <a:solidFill>
                  <a:srgbClr val="595959"/>
                </a:solidFill>
                <a:latin typeface="微软雅黑" panose="020B0503020204020204" pitchFamily="34" charset="-122"/>
                <a:ea typeface="微软雅黑" panose="020B0503020204020204" pitchFamily="34" charset="-122"/>
                <a:cs typeface="+mn-ea"/>
              </a:rPr>
              <a:t>属性，并且该</a:t>
            </a:r>
            <a:r>
              <a:rPr lang="zh-CN" altLang="zh-CN" sz="2000" dirty="0">
                <a:solidFill>
                  <a:srgbClr val="1369B2"/>
                </a:solidFill>
                <a:latin typeface="微软雅黑" panose="020B0503020204020204" pitchFamily="34" charset="-122"/>
                <a:ea typeface="微软雅黑" panose="020B0503020204020204" pitchFamily="34" charset="-122"/>
                <a:cs typeface="+mn-ea"/>
              </a:rPr>
              <a:t>属性唯一</a:t>
            </a:r>
            <a:r>
              <a:rPr lang="zh-CN" altLang="zh-CN" sz="2000" dirty="0">
                <a:solidFill>
                  <a:srgbClr val="595959"/>
                </a:solidFill>
                <a:latin typeface="微软雅黑" panose="020B0503020204020204" pitchFamily="34" charset="-122"/>
                <a:ea typeface="微软雅黑" panose="020B0503020204020204" pitchFamily="34" charset="-122"/>
                <a:cs typeface="+mn-ea"/>
              </a:rPr>
              <a:t>，则可以调用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find_element_by_id</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方法定位元素，该方法的语法格式如下。</a:t>
            </a:r>
          </a:p>
        </p:txBody>
      </p:sp>
      <p:sp>
        <p:nvSpPr>
          <p:cNvPr id="6" name="圆角矩形 5"/>
          <p:cNvSpPr/>
          <p:nvPr/>
        </p:nvSpPr>
        <p:spPr>
          <a:xfrm>
            <a:off x="1055206" y="1197794"/>
            <a:ext cx="3168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通过</a:t>
            </a:r>
            <a:r>
              <a:rPr lang="en-US" altLang="zh-CN" sz="2000" dirty="0">
                <a:latin typeface="微软雅黑" panose="020B0503020204020204" pitchFamily="34" charset="-122"/>
                <a:ea typeface="微软雅黑" panose="020B0503020204020204" pitchFamily="34" charset="-122"/>
              </a:rPr>
              <a:t> resource-id</a:t>
            </a:r>
            <a:r>
              <a:rPr lang="zh-CN" altLang="zh-CN" sz="2000" dirty="0">
                <a:latin typeface="微软雅黑" panose="020B0503020204020204" pitchFamily="34" charset="-122"/>
                <a:ea typeface="微软雅黑" panose="020B0503020204020204" pitchFamily="34" charset="-122"/>
              </a:rPr>
              <a:t>定位</a:t>
            </a:r>
          </a:p>
        </p:txBody>
      </p:sp>
      <p:sp>
        <p:nvSpPr>
          <p:cNvPr id="7" name="文本框 5"/>
          <p:cNvSpPr txBox="1"/>
          <p:nvPr/>
        </p:nvSpPr>
        <p:spPr>
          <a:xfrm>
            <a:off x="1143690" y="3917763"/>
            <a:ext cx="9704987" cy="553998"/>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find_element_by_id</a:t>
            </a:r>
            <a:r>
              <a:rPr lang="en-US" altLang="zh-CN" sz="2000" dirty="0">
                <a:solidFill>
                  <a:srgbClr val="595959"/>
                </a:solidFill>
                <a:latin typeface="微软雅黑" panose="020B0503020204020204" pitchFamily="34" charset="-122"/>
                <a:ea typeface="微软雅黑" panose="020B0503020204020204" pitchFamily="34" charset="-122"/>
                <a:cs typeface="+mn-ea"/>
              </a:rPr>
              <a:t>(id_)</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0" y="4869794"/>
            <a:ext cx="9216000"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上述方法与</a:t>
            </a:r>
            <a:r>
              <a:rPr lang="en-US" altLang="zh-CN" sz="2000" dirty="0">
                <a:solidFill>
                  <a:srgbClr val="595959"/>
                </a:solidFill>
                <a:latin typeface="微软雅黑" panose="020B0503020204020204" pitchFamily="34" charset="-122"/>
                <a:ea typeface="微软雅黑" panose="020B0503020204020204" pitchFamily="34" charset="-122"/>
                <a:cs typeface="+mn-ea"/>
              </a:rPr>
              <a:t>selenium</a:t>
            </a:r>
            <a:r>
              <a:rPr lang="zh-CN" altLang="zh-CN" sz="2000" dirty="0">
                <a:solidFill>
                  <a:srgbClr val="595959"/>
                </a:solidFill>
                <a:latin typeface="微软雅黑" panose="020B0503020204020204" pitchFamily="34" charset="-122"/>
                <a:ea typeface="微软雅黑" panose="020B0503020204020204" pitchFamily="34" charset="-122"/>
                <a:cs typeface="+mn-ea"/>
              </a:rPr>
              <a:t>中根据</a:t>
            </a:r>
            <a:r>
              <a:rPr lang="en-US" altLang="zh-CN" sz="2000" dirty="0">
                <a:solidFill>
                  <a:srgbClr val="595959"/>
                </a:solidFill>
                <a:latin typeface="微软雅黑" panose="020B0503020204020204" pitchFamily="34" charset="-122"/>
                <a:ea typeface="微软雅黑" panose="020B0503020204020204" pitchFamily="34" charset="-122"/>
                <a:cs typeface="+mn-ea"/>
              </a:rPr>
              <a:t>id</a:t>
            </a:r>
            <a:r>
              <a:rPr lang="zh-CN" altLang="zh-CN" sz="2000" dirty="0">
                <a:solidFill>
                  <a:srgbClr val="595959"/>
                </a:solidFill>
                <a:latin typeface="微软雅黑" panose="020B0503020204020204" pitchFamily="34" charset="-122"/>
                <a:ea typeface="微软雅黑" panose="020B0503020204020204" pitchFamily="34" charset="-122"/>
                <a:cs typeface="+mn-ea"/>
              </a:rPr>
              <a:t>属性定位元素的方法相同，但是</a:t>
            </a:r>
            <a:r>
              <a:rPr lang="zh-CN" altLang="zh-CN" sz="2000" dirty="0">
                <a:solidFill>
                  <a:srgbClr val="1369B2"/>
                </a:solidFill>
                <a:latin typeface="微软雅黑" panose="020B0503020204020204" pitchFamily="34" charset="-122"/>
                <a:ea typeface="微软雅黑" panose="020B0503020204020204" pitchFamily="34" charset="-122"/>
                <a:cs typeface="+mn-ea"/>
              </a:rPr>
              <a:t>在</a:t>
            </a:r>
            <a:r>
              <a:rPr lang="en-US" altLang="zh-CN" sz="2000" dirty="0" err="1">
                <a:solidFill>
                  <a:srgbClr val="1369B2"/>
                </a:solidFill>
                <a:latin typeface="微软雅黑" panose="020B0503020204020204" pitchFamily="34" charset="-122"/>
                <a:ea typeface="微软雅黑" panose="020B0503020204020204" pitchFamily="34" charset="-122"/>
                <a:cs typeface="+mn-ea"/>
              </a:rPr>
              <a:t>Appium</a:t>
            </a:r>
            <a:r>
              <a:rPr lang="zh-CN" altLang="zh-CN" sz="2000" dirty="0">
                <a:solidFill>
                  <a:srgbClr val="1369B2"/>
                </a:solidFill>
                <a:latin typeface="微软雅黑" panose="020B0503020204020204" pitchFamily="34" charset="-122"/>
                <a:ea typeface="微软雅黑" panose="020B0503020204020204" pitchFamily="34" charset="-122"/>
                <a:cs typeface="+mn-ea"/>
              </a:rPr>
              <a:t>中参数</a:t>
            </a:r>
            <a:r>
              <a:rPr lang="en-US" altLang="zh-CN" sz="2000" dirty="0">
                <a:solidFill>
                  <a:srgbClr val="1369B2"/>
                </a:solidFill>
                <a:latin typeface="微软雅黑" panose="020B0503020204020204" pitchFamily="34" charset="-122"/>
                <a:ea typeface="微软雅黑" panose="020B0503020204020204" pitchFamily="34" charset="-122"/>
                <a:cs typeface="+mn-ea"/>
              </a:rPr>
              <a:t>id_</a:t>
            </a:r>
            <a:r>
              <a:rPr lang="zh-CN" altLang="zh-CN" sz="2000" dirty="0">
                <a:solidFill>
                  <a:srgbClr val="1369B2"/>
                </a:solidFill>
                <a:latin typeface="微软雅黑" panose="020B0503020204020204" pitchFamily="34" charset="-122"/>
                <a:ea typeface="微软雅黑" panose="020B0503020204020204" pitchFamily="34" charset="-122"/>
                <a:cs typeface="+mn-ea"/>
              </a:rPr>
              <a:t>的值是属性</a:t>
            </a:r>
            <a:r>
              <a:rPr lang="en-US" altLang="zh-CN" sz="2000" dirty="0">
                <a:solidFill>
                  <a:srgbClr val="1369B2"/>
                </a:solidFill>
                <a:latin typeface="微软雅黑" panose="020B0503020204020204" pitchFamily="34" charset="-122"/>
                <a:ea typeface="微软雅黑" panose="020B0503020204020204" pitchFamily="34" charset="-122"/>
                <a:cs typeface="+mn-ea"/>
              </a:rPr>
              <a:t>resource-id</a:t>
            </a:r>
            <a:r>
              <a:rPr lang="zh-CN" altLang="zh-CN" sz="2000" dirty="0">
                <a:solidFill>
                  <a:srgbClr val="1369B2"/>
                </a:solidFill>
                <a:latin typeface="微软雅黑" panose="020B0503020204020204" pitchFamily="34" charset="-122"/>
                <a:ea typeface="微软雅黑" panose="020B0503020204020204" pitchFamily="34" charset="-122"/>
                <a:cs typeface="+mn-ea"/>
              </a:rPr>
              <a:t>的值</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7.4.1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元素定位</a:t>
            </a:r>
          </a:p>
        </p:txBody>
      </p:sp>
      <p:sp>
        <p:nvSpPr>
          <p:cNvPr id="10" name="原创设计师QQ598969553          _9"/>
          <p:cNvSpPr txBox="1"/>
          <p:nvPr/>
        </p:nvSpPr>
        <p:spPr>
          <a:xfrm>
            <a:off x="1055206" y="2408501"/>
            <a:ext cx="8640000" cy="1015663"/>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中通过</a:t>
            </a:r>
            <a:r>
              <a:rPr lang="en-US" altLang="zh-CN" sz="2000" dirty="0">
                <a:solidFill>
                  <a:srgbClr val="595959"/>
                </a:solidFill>
                <a:latin typeface="微软雅黑" panose="020B0503020204020204" pitchFamily="34" charset="-122"/>
                <a:ea typeface="微软雅黑" panose="020B0503020204020204" pitchFamily="34" charset="-122"/>
                <a:cs typeface="+mn-ea"/>
              </a:rPr>
              <a:t>class</a:t>
            </a:r>
            <a:r>
              <a:rPr lang="zh-CN" altLang="zh-CN" sz="2000" dirty="0">
                <a:solidFill>
                  <a:srgbClr val="595959"/>
                </a:solidFill>
                <a:latin typeface="微软雅黑" panose="020B0503020204020204" pitchFamily="34" charset="-122"/>
                <a:ea typeface="微软雅黑" panose="020B0503020204020204" pitchFamily="34" charset="-122"/>
                <a:cs typeface="+mn-ea"/>
              </a:rPr>
              <a:t>定位的方法与</a:t>
            </a:r>
            <a:r>
              <a:rPr lang="en-US" altLang="zh-CN" sz="2000" dirty="0">
                <a:solidFill>
                  <a:srgbClr val="595959"/>
                </a:solidFill>
                <a:latin typeface="微软雅黑" panose="020B0503020204020204" pitchFamily="34" charset="-122"/>
                <a:ea typeface="微软雅黑" panose="020B0503020204020204" pitchFamily="34" charset="-122"/>
                <a:cs typeface="+mn-ea"/>
              </a:rPr>
              <a:t>selenium</a:t>
            </a:r>
            <a:r>
              <a:rPr lang="zh-CN" altLang="zh-CN" sz="2000" dirty="0">
                <a:solidFill>
                  <a:srgbClr val="595959"/>
                </a:solidFill>
                <a:latin typeface="微软雅黑" panose="020B0503020204020204" pitchFamily="34" charset="-122"/>
                <a:ea typeface="微软雅黑" panose="020B0503020204020204" pitchFamily="34" charset="-122"/>
                <a:cs typeface="+mn-ea"/>
              </a:rPr>
              <a:t>中的一样，都是通过调用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find_element_by_class_name</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方法定位元素，该方法的语法格式如下。</a:t>
            </a:r>
          </a:p>
        </p:txBody>
      </p:sp>
      <p:sp>
        <p:nvSpPr>
          <p:cNvPr id="6" name="圆角矩形 5"/>
          <p:cNvSpPr/>
          <p:nvPr/>
        </p:nvSpPr>
        <p:spPr>
          <a:xfrm>
            <a:off x="1055206" y="1197794"/>
            <a:ext cx="2376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通过</a:t>
            </a:r>
            <a:r>
              <a:rPr lang="en-US" altLang="zh-CN" sz="2000" dirty="0">
                <a:latin typeface="微软雅黑" panose="020B0503020204020204" pitchFamily="34" charset="-122"/>
                <a:ea typeface="微软雅黑" panose="020B0503020204020204" pitchFamily="34" charset="-122"/>
              </a:rPr>
              <a:t> class</a:t>
            </a:r>
            <a:r>
              <a:rPr lang="zh-CN" altLang="zh-CN" sz="2000" dirty="0">
                <a:latin typeface="微软雅黑" panose="020B0503020204020204" pitchFamily="34" charset="-122"/>
                <a:ea typeface="微软雅黑" panose="020B0503020204020204" pitchFamily="34" charset="-122"/>
              </a:rPr>
              <a:t>定位</a:t>
            </a:r>
          </a:p>
        </p:txBody>
      </p:sp>
      <p:sp>
        <p:nvSpPr>
          <p:cNvPr id="7" name="文本框 5"/>
          <p:cNvSpPr txBox="1"/>
          <p:nvPr/>
        </p:nvSpPr>
        <p:spPr>
          <a:xfrm>
            <a:off x="1143690" y="3917763"/>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find_element_by_class_name</a:t>
            </a:r>
            <a:r>
              <a:rPr lang="en-US" altLang="zh-CN" sz="2000" dirty="0">
                <a:solidFill>
                  <a:srgbClr val="595959"/>
                </a:solidFill>
                <a:latin typeface="微软雅黑" panose="020B0503020204020204" pitchFamily="34" charset="-122"/>
                <a:ea typeface="微软雅黑" panose="020B0503020204020204" pitchFamily="34" charset="-122"/>
                <a:cs typeface="+mn-ea"/>
              </a:rPr>
              <a:t>(name)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89" y="4869794"/>
            <a:ext cx="10063517"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上述方法中的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name</a:t>
            </a:r>
            <a:r>
              <a:rPr lang="zh-CN" altLang="zh-CN" sz="2000" dirty="0">
                <a:solidFill>
                  <a:srgbClr val="1369B2"/>
                </a:solidFill>
                <a:latin typeface="微软雅黑" panose="020B0503020204020204" pitchFamily="34" charset="-122"/>
                <a:ea typeface="微软雅黑" panose="020B0503020204020204" pitchFamily="34" charset="-122"/>
                <a:cs typeface="+mn-ea"/>
              </a:rPr>
              <a:t>表示元素的</a:t>
            </a:r>
            <a:r>
              <a:rPr lang="en-US" altLang="zh-CN" sz="2000" dirty="0">
                <a:solidFill>
                  <a:srgbClr val="1369B2"/>
                </a:solidFill>
                <a:latin typeface="微软雅黑" panose="020B0503020204020204" pitchFamily="34" charset="-122"/>
                <a:ea typeface="微软雅黑" panose="020B0503020204020204" pitchFamily="34" charset="-122"/>
                <a:cs typeface="+mn-ea"/>
              </a:rPr>
              <a:t>class</a:t>
            </a:r>
            <a:r>
              <a:rPr lang="zh-CN" altLang="zh-CN" sz="2000" dirty="0">
                <a:solidFill>
                  <a:srgbClr val="1369B2"/>
                </a:solidFill>
                <a:latin typeface="微软雅黑" panose="020B0503020204020204" pitchFamily="34" charset="-122"/>
                <a:ea typeface="微软雅黑" panose="020B0503020204020204" pitchFamily="34" charset="-122"/>
                <a:cs typeface="+mn-ea"/>
              </a:rPr>
              <a:t>属性值</a:t>
            </a:r>
            <a:r>
              <a:rPr lang="zh-CN" altLang="zh-CN" sz="2000" dirty="0">
                <a:solidFill>
                  <a:srgbClr val="595959"/>
                </a:solidFill>
                <a:latin typeface="微软雅黑" panose="020B0503020204020204" pitchFamily="34" charset="-122"/>
                <a:ea typeface="微软雅黑" panose="020B0503020204020204" pitchFamily="34" charset="-122"/>
                <a:cs typeface="+mn-ea"/>
              </a:rPr>
              <a:t>，需要注意的是，在</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的同一个界面中，</a:t>
            </a:r>
            <a:r>
              <a:rPr lang="zh-CN" altLang="zh-CN" sz="2000" dirty="0">
                <a:solidFill>
                  <a:srgbClr val="1369B2"/>
                </a:solidFill>
                <a:latin typeface="微软雅黑" panose="020B0503020204020204" pitchFamily="34" charset="-122"/>
                <a:ea typeface="微软雅黑" panose="020B0503020204020204" pitchFamily="34" charset="-122"/>
                <a:cs typeface="+mn-ea"/>
              </a:rPr>
              <a:t>通常有多个</a:t>
            </a:r>
            <a:r>
              <a:rPr lang="en-US" altLang="zh-CN" sz="2000" dirty="0">
                <a:solidFill>
                  <a:srgbClr val="1369B2"/>
                </a:solidFill>
                <a:latin typeface="微软雅黑" panose="020B0503020204020204" pitchFamily="34" charset="-122"/>
                <a:ea typeface="微软雅黑" panose="020B0503020204020204" pitchFamily="34" charset="-122"/>
                <a:cs typeface="+mn-ea"/>
              </a:rPr>
              <a:t>class</a:t>
            </a:r>
            <a:r>
              <a:rPr lang="zh-CN" altLang="zh-CN" sz="2000" dirty="0">
                <a:solidFill>
                  <a:srgbClr val="595959"/>
                </a:solidFill>
                <a:latin typeface="微软雅黑" panose="020B0503020204020204" pitchFamily="34" charset="-122"/>
                <a:ea typeface="微软雅黑" panose="020B0503020204020204" pitchFamily="34" charset="-122"/>
                <a:cs typeface="+mn-ea"/>
              </a:rPr>
              <a:t>，因此在调用该方法定位元素时，</a:t>
            </a:r>
            <a:r>
              <a:rPr lang="zh-CN" altLang="zh-CN" sz="2000" dirty="0">
                <a:solidFill>
                  <a:srgbClr val="1369B2"/>
                </a:solidFill>
                <a:latin typeface="微软雅黑" panose="020B0503020204020204" pitchFamily="34" charset="-122"/>
                <a:ea typeface="微软雅黑" panose="020B0503020204020204" pitchFamily="34" charset="-122"/>
                <a:cs typeface="+mn-ea"/>
              </a:rPr>
              <a:t>需要验证元素的</a:t>
            </a:r>
            <a:r>
              <a:rPr lang="en-US" altLang="zh-CN" sz="2000" dirty="0">
                <a:solidFill>
                  <a:srgbClr val="1369B2"/>
                </a:solidFill>
                <a:latin typeface="微软雅黑" panose="020B0503020204020204" pitchFamily="34" charset="-122"/>
                <a:ea typeface="微软雅黑" panose="020B0503020204020204" pitchFamily="34" charset="-122"/>
                <a:cs typeface="+mn-ea"/>
              </a:rPr>
              <a:t>class</a:t>
            </a:r>
            <a:r>
              <a:rPr lang="zh-CN" altLang="zh-CN" sz="2000" dirty="0">
                <a:solidFill>
                  <a:srgbClr val="1369B2"/>
                </a:solidFill>
                <a:latin typeface="微软雅黑" panose="020B0503020204020204" pitchFamily="34" charset="-122"/>
                <a:ea typeface="微软雅黑" panose="020B0503020204020204" pitchFamily="34" charset="-122"/>
                <a:cs typeface="+mn-ea"/>
              </a:rPr>
              <a:t>是否唯一</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7.4.1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元素定位</a:t>
            </a:r>
          </a:p>
        </p:txBody>
      </p:sp>
      <p:sp>
        <p:nvSpPr>
          <p:cNvPr id="10" name="原创设计师QQ598969553          _9"/>
          <p:cNvSpPr txBox="1"/>
          <p:nvPr/>
        </p:nvSpPr>
        <p:spPr>
          <a:xfrm>
            <a:off x="1055206" y="2408501"/>
            <a:ext cx="8640000" cy="1015663"/>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当测试的</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界面元素有</a:t>
            </a:r>
            <a:r>
              <a:rPr lang="en-US" altLang="zh-CN" sz="2000" dirty="0">
                <a:solidFill>
                  <a:srgbClr val="1369B2"/>
                </a:solidFill>
                <a:latin typeface="微软雅黑" panose="020B0503020204020204" pitchFamily="34" charset="-122"/>
                <a:ea typeface="微软雅黑" panose="020B0503020204020204" pitchFamily="34" charset="-122"/>
                <a:cs typeface="+mn-ea"/>
              </a:rPr>
              <a:t>content-</a:t>
            </a:r>
            <a:r>
              <a:rPr lang="en-US" altLang="zh-CN" sz="2000" dirty="0" err="1">
                <a:solidFill>
                  <a:srgbClr val="1369B2"/>
                </a:solidFill>
                <a:latin typeface="微软雅黑" panose="020B0503020204020204" pitchFamily="34" charset="-122"/>
                <a:ea typeface="微软雅黑" panose="020B0503020204020204" pitchFamily="34" charset="-122"/>
                <a:cs typeface="+mn-ea"/>
              </a:rPr>
              <a:t>desc</a:t>
            </a:r>
            <a:r>
              <a:rPr lang="zh-CN" altLang="zh-CN" sz="2000" dirty="0">
                <a:solidFill>
                  <a:srgbClr val="595959"/>
                </a:solidFill>
                <a:latin typeface="微软雅黑" panose="020B0503020204020204" pitchFamily="34" charset="-122"/>
                <a:ea typeface="微软雅黑" panose="020B0503020204020204" pitchFamily="34" charset="-122"/>
                <a:cs typeface="+mn-ea"/>
              </a:rPr>
              <a:t>属性时，则可以调用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find_elment_by_accessibility_id</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方法定位元素，该方法的语法格式如下。</a:t>
            </a:r>
          </a:p>
        </p:txBody>
      </p:sp>
      <p:sp>
        <p:nvSpPr>
          <p:cNvPr id="6" name="圆角矩形 5"/>
          <p:cNvSpPr/>
          <p:nvPr/>
        </p:nvSpPr>
        <p:spPr>
          <a:xfrm>
            <a:off x="1055206" y="1197794"/>
            <a:ext cx="3168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3.</a:t>
            </a:r>
            <a:r>
              <a:rPr lang="zh-CN" altLang="zh-CN" sz="2000" dirty="0">
                <a:latin typeface="微软雅黑" panose="020B0503020204020204" pitchFamily="34" charset="-122"/>
                <a:ea typeface="微软雅黑" panose="020B0503020204020204" pitchFamily="34" charset="-122"/>
              </a:rPr>
              <a:t>通过</a:t>
            </a:r>
            <a:r>
              <a:rPr lang="en-US" altLang="zh-CN" sz="2000" dirty="0">
                <a:latin typeface="微软雅黑" panose="020B0503020204020204" pitchFamily="34" charset="-122"/>
                <a:ea typeface="微软雅黑" panose="020B0503020204020204" pitchFamily="34" charset="-122"/>
              </a:rPr>
              <a:t> content-</a:t>
            </a:r>
            <a:r>
              <a:rPr lang="en-US" altLang="zh-CN" sz="2000" dirty="0" err="1">
                <a:latin typeface="微软雅黑" panose="020B0503020204020204" pitchFamily="34" charset="-122"/>
                <a:ea typeface="微软雅黑" panose="020B0503020204020204" pitchFamily="34" charset="-122"/>
              </a:rPr>
              <a:t>desc</a:t>
            </a:r>
            <a:r>
              <a:rPr lang="zh-CN" altLang="zh-CN" sz="2000" dirty="0">
                <a:latin typeface="微软雅黑" panose="020B0503020204020204" pitchFamily="34" charset="-122"/>
                <a:ea typeface="微软雅黑" panose="020B0503020204020204" pitchFamily="34" charset="-122"/>
              </a:rPr>
              <a:t>定位</a:t>
            </a:r>
          </a:p>
        </p:txBody>
      </p:sp>
      <p:sp>
        <p:nvSpPr>
          <p:cNvPr id="7" name="文本框 5"/>
          <p:cNvSpPr txBox="1"/>
          <p:nvPr/>
        </p:nvSpPr>
        <p:spPr>
          <a:xfrm>
            <a:off x="1143690" y="3917763"/>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find_element_by_accessibility_id</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accessibility_id</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89" y="4869794"/>
            <a:ext cx="10063517" cy="496290"/>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上述方法中的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err="1">
                <a:solidFill>
                  <a:srgbClr val="1369B2"/>
                </a:solidFill>
                <a:latin typeface="微软雅黑" panose="020B0503020204020204" pitchFamily="34" charset="-122"/>
                <a:ea typeface="微软雅黑" panose="020B0503020204020204" pitchFamily="34" charset="-122"/>
                <a:cs typeface="+mn-ea"/>
              </a:rPr>
              <a:t>accessibility_id</a:t>
            </a:r>
            <a:r>
              <a:rPr lang="zh-CN" altLang="zh-CN" sz="2000" dirty="0">
                <a:solidFill>
                  <a:srgbClr val="1369B2"/>
                </a:solidFill>
                <a:latin typeface="微软雅黑" panose="020B0503020204020204" pitchFamily="34" charset="-122"/>
                <a:ea typeface="微软雅黑" panose="020B0503020204020204" pitchFamily="34" charset="-122"/>
                <a:cs typeface="+mn-ea"/>
              </a:rPr>
              <a:t>的取值是属性</a:t>
            </a:r>
            <a:r>
              <a:rPr lang="en-US" altLang="zh-CN" sz="2000" dirty="0">
                <a:solidFill>
                  <a:srgbClr val="1369B2"/>
                </a:solidFill>
                <a:latin typeface="微软雅黑" panose="020B0503020204020204" pitchFamily="34" charset="-122"/>
                <a:ea typeface="微软雅黑" panose="020B0503020204020204" pitchFamily="34" charset="-122"/>
                <a:cs typeface="+mn-ea"/>
              </a:rPr>
              <a:t>content-</a:t>
            </a:r>
            <a:r>
              <a:rPr lang="en-US" altLang="zh-CN" sz="2000" dirty="0" err="1">
                <a:solidFill>
                  <a:srgbClr val="1369B2"/>
                </a:solidFill>
                <a:latin typeface="微软雅黑" panose="020B0503020204020204" pitchFamily="34" charset="-122"/>
                <a:ea typeface="微软雅黑" panose="020B0503020204020204" pitchFamily="34" charset="-122"/>
                <a:cs typeface="+mn-ea"/>
              </a:rPr>
              <a:t>desc</a:t>
            </a:r>
            <a:r>
              <a:rPr lang="zh-CN" altLang="zh-CN" sz="2000" dirty="0">
                <a:solidFill>
                  <a:srgbClr val="1369B2"/>
                </a:solidFill>
                <a:latin typeface="微软雅黑" panose="020B0503020204020204" pitchFamily="34" charset="-122"/>
                <a:ea typeface="微软雅黑" panose="020B0503020204020204" pitchFamily="34" charset="-122"/>
                <a:cs typeface="+mn-ea"/>
              </a:rPr>
              <a:t>的值</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7.4.1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元素定位</a:t>
            </a:r>
          </a:p>
        </p:txBody>
      </p:sp>
      <p:sp>
        <p:nvSpPr>
          <p:cNvPr id="10" name="原创设计师QQ598969553          _9"/>
          <p:cNvSpPr txBox="1"/>
          <p:nvPr/>
        </p:nvSpPr>
        <p:spPr>
          <a:xfrm>
            <a:off x="1055206" y="2277794"/>
            <a:ext cx="9576000" cy="1477328"/>
          </a:xfrm>
          <a:prstGeom prst="rect">
            <a:avLst/>
          </a:prstGeom>
          <a:noFill/>
        </p:spPr>
        <p:txBody>
          <a:bodyPr wrap="square" rtlCol="0">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cs typeface="+mn-ea"/>
              </a:rPr>
              <a:t>xpath</a:t>
            </a:r>
            <a:r>
              <a:rPr lang="zh-CN" altLang="zh-CN" sz="2000" dirty="0">
                <a:solidFill>
                  <a:srgbClr val="1369B2"/>
                </a:solidFill>
                <a:latin typeface="微软雅黑" panose="020B0503020204020204" pitchFamily="34" charset="-122"/>
                <a:ea typeface="微软雅黑" panose="020B0503020204020204" pitchFamily="34" charset="-122"/>
                <a:cs typeface="+mn-ea"/>
              </a:rPr>
              <a:t>定位是根据元素的路径表达式选取</a:t>
            </a:r>
            <a:r>
              <a:rPr lang="en-US" altLang="zh-CN" sz="2000" dirty="0">
                <a:solidFill>
                  <a:srgbClr val="1369B2"/>
                </a:solidFill>
                <a:latin typeface="微软雅黑" panose="020B0503020204020204" pitchFamily="34" charset="-122"/>
                <a:ea typeface="微软雅黑" panose="020B0503020204020204" pitchFamily="34" charset="-122"/>
                <a:cs typeface="+mn-ea"/>
              </a:rPr>
              <a:t>XML</a:t>
            </a:r>
            <a:r>
              <a:rPr lang="zh-CN" altLang="zh-CN" sz="2000" dirty="0">
                <a:solidFill>
                  <a:srgbClr val="1369B2"/>
                </a:solidFill>
                <a:latin typeface="微软雅黑" panose="020B0503020204020204" pitchFamily="34" charset="-122"/>
                <a:ea typeface="微软雅黑" panose="020B0503020204020204" pitchFamily="34" charset="-122"/>
                <a:cs typeface="+mn-ea"/>
              </a:rPr>
              <a:t>文档中的节点或节点集</a:t>
            </a:r>
            <a:r>
              <a:rPr lang="zh-CN" altLang="zh-CN" sz="2000" dirty="0">
                <a:solidFill>
                  <a:srgbClr val="595959"/>
                </a:solidFill>
                <a:latin typeface="微软雅黑" panose="020B0503020204020204" pitchFamily="34" charset="-122"/>
                <a:ea typeface="微软雅黑" panose="020B0503020204020204" pitchFamily="34" charset="-122"/>
                <a:cs typeface="+mn-ea"/>
              </a:rPr>
              <a:t>，如果需要通过</a:t>
            </a:r>
            <a:r>
              <a:rPr lang="en-US" altLang="zh-CN" sz="2000" dirty="0" err="1">
                <a:solidFill>
                  <a:srgbClr val="595959"/>
                </a:solidFill>
                <a:latin typeface="微软雅黑" panose="020B0503020204020204" pitchFamily="34" charset="-122"/>
                <a:ea typeface="微软雅黑" panose="020B0503020204020204" pitchFamily="34" charset="-122"/>
                <a:cs typeface="+mn-ea"/>
              </a:rPr>
              <a:t>xpath</a:t>
            </a:r>
            <a:r>
              <a:rPr lang="zh-CN" altLang="zh-CN" sz="2000" dirty="0">
                <a:solidFill>
                  <a:srgbClr val="595959"/>
                </a:solidFill>
                <a:latin typeface="微软雅黑" panose="020B0503020204020204" pitchFamily="34" charset="-122"/>
                <a:ea typeface="微软雅黑" panose="020B0503020204020204" pitchFamily="34" charset="-122"/>
                <a:cs typeface="+mn-ea"/>
              </a:rPr>
              <a:t>定位元素时，则可以调用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find_element_by_xpath</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a:t>
            </a:r>
          </a:p>
        </p:txBody>
      </p:sp>
      <p:sp>
        <p:nvSpPr>
          <p:cNvPr id="6" name="圆角矩形 5"/>
          <p:cNvSpPr/>
          <p:nvPr/>
        </p:nvSpPr>
        <p:spPr>
          <a:xfrm>
            <a:off x="1055206" y="1197794"/>
            <a:ext cx="295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4.</a:t>
            </a:r>
            <a:r>
              <a:rPr lang="zh-CN" altLang="zh-CN" sz="2000" dirty="0">
                <a:latin typeface="微软雅黑" panose="020B0503020204020204" pitchFamily="34" charset="-122"/>
                <a:ea typeface="微软雅黑" panose="020B0503020204020204" pitchFamily="34" charset="-122"/>
              </a:rPr>
              <a:t>通过</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xpath</a:t>
            </a:r>
            <a:r>
              <a:rPr lang="zh-CN" altLang="zh-CN" sz="2000" dirty="0">
                <a:latin typeface="微软雅黑" panose="020B0503020204020204" pitchFamily="34" charset="-122"/>
                <a:ea typeface="微软雅黑" panose="020B0503020204020204" pitchFamily="34" charset="-122"/>
              </a:rPr>
              <a:t>定位</a:t>
            </a:r>
          </a:p>
        </p:txBody>
      </p:sp>
      <p:sp>
        <p:nvSpPr>
          <p:cNvPr id="7" name="文本框 5"/>
          <p:cNvSpPr txBox="1"/>
          <p:nvPr/>
        </p:nvSpPr>
        <p:spPr>
          <a:xfrm>
            <a:off x="1143690" y="3917763"/>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find_element_by_xpath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xpath</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89" y="4869794"/>
            <a:ext cx="10063517"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上述方法中的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err="1">
                <a:solidFill>
                  <a:srgbClr val="1369B2"/>
                </a:solidFill>
                <a:latin typeface="微软雅黑" panose="020B0503020204020204" pitchFamily="34" charset="-122"/>
                <a:ea typeface="微软雅黑" panose="020B0503020204020204" pitchFamily="34" charset="-122"/>
                <a:cs typeface="+mn-ea"/>
              </a:rPr>
              <a:t>xpath</a:t>
            </a:r>
            <a:r>
              <a:rPr lang="zh-CN" altLang="zh-CN" sz="2000" dirty="0">
                <a:solidFill>
                  <a:srgbClr val="1369B2"/>
                </a:solidFill>
                <a:latin typeface="微软雅黑" panose="020B0503020204020204" pitchFamily="34" charset="-122"/>
                <a:ea typeface="微软雅黑" panose="020B0503020204020204" pitchFamily="34" charset="-122"/>
                <a:cs typeface="+mn-ea"/>
              </a:rPr>
              <a:t>表示元素的相对路径或绝对路径</a:t>
            </a: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err="1">
                <a:solidFill>
                  <a:srgbClr val="595959"/>
                </a:solidFill>
                <a:latin typeface="微软雅黑" panose="020B0503020204020204" pitchFamily="34" charset="-122"/>
                <a:ea typeface="微软雅黑" panose="020B0503020204020204" pitchFamily="34" charset="-122"/>
                <a:cs typeface="+mn-ea"/>
              </a:rPr>
              <a:t>xpath</a:t>
            </a:r>
            <a:r>
              <a:rPr lang="zh-CN" altLang="zh-CN" sz="2000" dirty="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1369B2"/>
                </a:solidFill>
                <a:latin typeface="微软雅黑" panose="020B0503020204020204" pitchFamily="34" charset="-122"/>
                <a:ea typeface="微软雅黑" panose="020B0503020204020204" pitchFamily="34" charset="-122"/>
                <a:cs typeface="+mn-ea"/>
              </a:rPr>
              <a:t>绝对路径是从</a:t>
            </a:r>
            <a:r>
              <a:rPr lang="en-US" altLang="zh-CN" sz="2000" dirty="0">
                <a:solidFill>
                  <a:srgbClr val="1369B2"/>
                </a:solidFill>
                <a:latin typeface="微软雅黑" panose="020B0503020204020204" pitchFamily="34" charset="-122"/>
                <a:ea typeface="微软雅黑" panose="020B0503020204020204" pitchFamily="34" charset="-122"/>
                <a:cs typeface="+mn-ea"/>
              </a:rPr>
              <a:t>HTML</a:t>
            </a:r>
            <a:r>
              <a:rPr lang="zh-CN" altLang="zh-CN" sz="2000" dirty="0">
                <a:solidFill>
                  <a:srgbClr val="1369B2"/>
                </a:solidFill>
                <a:latin typeface="微软雅黑" panose="020B0503020204020204" pitchFamily="34" charset="-122"/>
                <a:ea typeface="微软雅黑" panose="020B0503020204020204" pitchFamily="34" charset="-122"/>
                <a:cs typeface="+mn-ea"/>
              </a:rPr>
              <a:t>根节点开始</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相对路径则是从任意节点开始</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7.4.1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元素定位</a:t>
            </a:r>
          </a:p>
        </p:txBody>
      </p:sp>
      <p:sp>
        <p:nvSpPr>
          <p:cNvPr id="10" name="原创设计师QQ598969553          _9"/>
          <p:cNvSpPr txBox="1"/>
          <p:nvPr/>
        </p:nvSpPr>
        <p:spPr>
          <a:xfrm>
            <a:off x="1087073" y="2033145"/>
            <a:ext cx="9576000" cy="1938992"/>
          </a:xfrm>
          <a:prstGeom prst="rect">
            <a:avLst/>
          </a:prstGeom>
          <a:no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uiautomator</a:t>
            </a:r>
            <a:r>
              <a:rPr lang="zh-CN" altLang="zh-CN" sz="2000" dirty="0">
                <a:solidFill>
                  <a:srgbClr val="595959"/>
                </a:solidFill>
                <a:latin typeface="微软雅黑" panose="020B0503020204020204" pitchFamily="34" charset="-122"/>
                <a:ea typeface="微软雅黑" panose="020B0503020204020204" pitchFamily="34" charset="-122"/>
                <a:cs typeface="+mn-ea"/>
              </a:rPr>
              <a:t>用于定位</a:t>
            </a:r>
            <a:r>
              <a:rPr lang="en-US" altLang="zh-CN" sz="2000" dirty="0">
                <a:solidFill>
                  <a:srgbClr val="595959"/>
                </a:solidFill>
                <a:latin typeface="微软雅黑" panose="020B0503020204020204" pitchFamily="34" charset="-122"/>
                <a:ea typeface="微软雅黑" panose="020B0503020204020204" pitchFamily="34" charset="-122"/>
                <a:cs typeface="+mn-ea"/>
              </a:rPr>
              <a:t>Android</a:t>
            </a:r>
            <a:r>
              <a:rPr lang="zh-CN" altLang="zh-CN" sz="2000" dirty="0">
                <a:solidFill>
                  <a:srgbClr val="595959"/>
                </a:solidFill>
                <a:latin typeface="微软雅黑" panose="020B0503020204020204" pitchFamily="34" charset="-122"/>
                <a:ea typeface="微软雅黑" panose="020B0503020204020204" pitchFamily="34" charset="-122"/>
                <a:cs typeface="+mn-ea"/>
              </a:rPr>
              <a:t>平台的</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元素，它的定位原理是</a:t>
            </a:r>
            <a:r>
              <a:rPr lang="zh-CN" altLang="zh-CN" sz="2000" dirty="0">
                <a:solidFill>
                  <a:srgbClr val="1369B2"/>
                </a:solidFill>
                <a:latin typeface="微软雅黑" panose="020B0503020204020204" pitchFamily="34" charset="-122"/>
                <a:ea typeface="微软雅黑" panose="020B0503020204020204" pitchFamily="34" charset="-122"/>
                <a:cs typeface="+mn-ea"/>
              </a:rPr>
              <a:t>通过</a:t>
            </a:r>
            <a:r>
              <a:rPr lang="en-US" altLang="zh-CN" sz="2000" dirty="0">
                <a:solidFill>
                  <a:srgbClr val="1369B2"/>
                </a:solidFill>
                <a:latin typeface="微软雅黑" panose="020B0503020204020204" pitchFamily="34" charset="-122"/>
                <a:ea typeface="微软雅黑" panose="020B0503020204020204" pitchFamily="34" charset="-122"/>
                <a:cs typeface="+mn-ea"/>
              </a:rPr>
              <a:t>Android</a:t>
            </a:r>
            <a:r>
              <a:rPr lang="zh-CN" altLang="zh-CN" sz="2000" dirty="0">
                <a:solidFill>
                  <a:srgbClr val="1369B2"/>
                </a:solidFill>
                <a:latin typeface="微软雅黑" panose="020B0503020204020204" pitchFamily="34" charset="-122"/>
                <a:ea typeface="微软雅黑" panose="020B0503020204020204" pitchFamily="34" charset="-122"/>
                <a:cs typeface="+mn-ea"/>
              </a:rPr>
              <a:t>自带的</a:t>
            </a:r>
            <a:r>
              <a:rPr lang="en-US" altLang="zh-CN" sz="2000" dirty="0">
                <a:solidFill>
                  <a:srgbClr val="1369B2"/>
                </a:solidFill>
                <a:latin typeface="微软雅黑" panose="020B0503020204020204" pitchFamily="34" charset="-122"/>
                <a:ea typeface="微软雅黑" panose="020B0503020204020204" pitchFamily="34" charset="-122"/>
                <a:cs typeface="+mn-ea"/>
              </a:rPr>
              <a:t>Android </a:t>
            </a:r>
            <a:r>
              <a:rPr lang="en-US" altLang="zh-CN" sz="2000" dirty="0" err="1">
                <a:solidFill>
                  <a:srgbClr val="1369B2"/>
                </a:solidFill>
                <a:latin typeface="微软雅黑" panose="020B0503020204020204" pitchFamily="34" charset="-122"/>
                <a:ea typeface="微软雅黑" panose="020B0503020204020204" pitchFamily="34" charset="-122"/>
                <a:cs typeface="+mn-ea"/>
              </a:rPr>
              <a:t>uiautomator</a:t>
            </a:r>
            <a:r>
              <a:rPr lang="zh-CN" altLang="zh-CN" sz="2000" dirty="0">
                <a:solidFill>
                  <a:srgbClr val="1369B2"/>
                </a:solidFill>
                <a:latin typeface="微软雅黑" panose="020B0503020204020204" pitchFamily="34" charset="-122"/>
                <a:ea typeface="微软雅黑" panose="020B0503020204020204" pitchFamily="34" charset="-122"/>
                <a:cs typeface="+mn-ea"/>
              </a:rPr>
              <a:t>的</a:t>
            </a:r>
            <a:r>
              <a:rPr lang="en-US" altLang="zh-CN" sz="2000" dirty="0" err="1">
                <a:solidFill>
                  <a:srgbClr val="1369B2"/>
                </a:solidFill>
                <a:latin typeface="微软雅黑" panose="020B0503020204020204" pitchFamily="34" charset="-122"/>
                <a:ea typeface="微软雅黑" panose="020B0503020204020204" pitchFamily="34" charset="-122"/>
                <a:cs typeface="+mn-ea"/>
              </a:rPr>
              <a:t>UISelector</a:t>
            </a:r>
            <a:r>
              <a:rPr lang="zh-CN" altLang="zh-CN" sz="2000" dirty="0">
                <a:solidFill>
                  <a:srgbClr val="1369B2"/>
                </a:solidFill>
                <a:latin typeface="微软雅黑" panose="020B0503020204020204" pitchFamily="34" charset="-122"/>
                <a:ea typeface="微软雅黑" panose="020B0503020204020204" pitchFamily="34" charset="-122"/>
                <a:cs typeface="+mn-ea"/>
              </a:rPr>
              <a:t>类库去搜索特定元素</a:t>
            </a:r>
            <a:r>
              <a:rPr lang="zh-CN" altLang="zh-CN" sz="2000" dirty="0">
                <a:solidFill>
                  <a:srgbClr val="595959"/>
                </a:solidFill>
                <a:latin typeface="微软雅黑" panose="020B0503020204020204" pitchFamily="34" charset="-122"/>
                <a:ea typeface="微软雅黑" panose="020B0503020204020204" pitchFamily="34" charset="-122"/>
                <a:cs typeface="+mn-ea"/>
              </a:rPr>
              <a:t>，并且支持元素的全部属性定位。通过</a:t>
            </a:r>
            <a:r>
              <a:rPr lang="en-US" altLang="zh-CN" sz="2000" dirty="0" err="1">
                <a:solidFill>
                  <a:srgbClr val="595959"/>
                </a:solidFill>
                <a:latin typeface="微软雅黑" panose="020B0503020204020204" pitchFamily="34" charset="-122"/>
                <a:ea typeface="微软雅黑" panose="020B0503020204020204" pitchFamily="34" charset="-122"/>
                <a:cs typeface="+mn-ea"/>
              </a:rPr>
              <a:t>uiautomator</a:t>
            </a:r>
            <a:r>
              <a:rPr lang="zh-CN" altLang="zh-CN" sz="2000" dirty="0">
                <a:solidFill>
                  <a:srgbClr val="595959"/>
                </a:solidFill>
                <a:latin typeface="微软雅黑" panose="020B0503020204020204" pitchFamily="34" charset="-122"/>
                <a:ea typeface="微软雅黑" panose="020B0503020204020204" pitchFamily="34" charset="-122"/>
                <a:cs typeface="+mn-ea"/>
              </a:rPr>
              <a:t>定位元素时，可以调用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find_element_by_android_uiautomator</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a:t>
            </a:r>
          </a:p>
        </p:txBody>
      </p:sp>
      <p:sp>
        <p:nvSpPr>
          <p:cNvPr id="6" name="圆角矩形 5"/>
          <p:cNvSpPr/>
          <p:nvPr/>
        </p:nvSpPr>
        <p:spPr>
          <a:xfrm>
            <a:off x="1140218" y="1222214"/>
            <a:ext cx="3168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r>
              <a:rPr lang="en-US" altLang="zh-CN" sz="2000" dirty="0">
                <a:latin typeface="微软雅黑" panose="020B0503020204020204" pitchFamily="34" charset="-122"/>
                <a:ea typeface="微软雅黑" panose="020B0503020204020204" pitchFamily="34" charset="-122"/>
              </a:rPr>
              <a:t>5.</a:t>
            </a:r>
            <a:r>
              <a:rPr lang="zh-CN" altLang="zh-CN" sz="2000" dirty="0">
                <a:latin typeface="微软雅黑" panose="020B0503020204020204" pitchFamily="34" charset="-122"/>
                <a:ea typeface="微软雅黑" panose="020B0503020204020204" pitchFamily="34" charset="-122"/>
              </a:rPr>
              <a:t>通过</a:t>
            </a:r>
            <a:r>
              <a:rPr lang="en-US" altLang="zh-CN" sz="2000" dirty="0" err="1">
                <a:latin typeface="微软雅黑" panose="020B0503020204020204" pitchFamily="34" charset="-122"/>
                <a:ea typeface="微软雅黑" panose="020B0503020204020204" pitchFamily="34" charset="-122"/>
              </a:rPr>
              <a:t>uiautomator</a:t>
            </a:r>
            <a:r>
              <a:rPr lang="zh-CN" altLang="zh-CN" sz="2000" dirty="0">
                <a:latin typeface="微软雅黑" panose="020B0503020204020204" pitchFamily="34" charset="-122"/>
                <a:ea typeface="微软雅黑" panose="020B0503020204020204" pitchFamily="34" charset="-122"/>
              </a:rPr>
              <a:t>定位</a:t>
            </a:r>
          </a:p>
        </p:txBody>
      </p:sp>
      <p:sp>
        <p:nvSpPr>
          <p:cNvPr id="7" name="文本框 5"/>
          <p:cNvSpPr txBox="1"/>
          <p:nvPr/>
        </p:nvSpPr>
        <p:spPr>
          <a:xfrm>
            <a:off x="1143690" y="4077794"/>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find_element_by_android_uiautomator</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uia_string:str</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89" y="4869794"/>
            <a:ext cx="10063517" cy="400110"/>
          </a:xfrm>
          <a:prstGeom prst="rect">
            <a:avLst/>
          </a:prstGeom>
        </p:spPr>
        <p:txBody>
          <a:bodyPr wrap="square">
            <a:spAutoFit/>
          </a:bodyPr>
          <a:lstStyle/>
          <a:p>
            <a:r>
              <a:rPr lang="zh-CN" altLang="zh-CN" sz="2000" dirty="0">
                <a:solidFill>
                  <a:srgbClr val="595959"/>
                </a:solidFill>
                <a:latin typeface="微软雅黑" panose="020B0503020204020204" pitchFamily="34" charset="-122"/>
                <a:ea typeface="微软雅黑" panose="020B0503020204020204" pitchFamily="34" charset="-122"/>
                <a:cs typeface="+mn-ea"/>
              </a:rPr>
              <a:t>上述方法中的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err="1">
                <a:solidFill>
                  <a:srgbClr val="1369B2"/>
                </a:solidFill>
                <a:latin typeface="微软雅黑" panose="020B0503020204020204" pitchFamily="34" charset="-122"/>
                <a:ea typeface="微软雅黑" panose="020B0503020204020204" pitchFamily="34" charset="-122"/>
                <a:cs typeface="+mn-ea"/>
              </a:rPr>
              <a:t>uia_string:str</a:t>
            </a:r>
            <a:r>
              <a:rPr lang="zh-CN" altLang="zh-CN" sz="2000" dirty="0">
                <a:solidFill>
                  <a:srgbClr val="1369B2"/>
                </a:solidFill>
                <a:latin typeface="微软雅黑" panose="020B0503020204020204" pitchFamily="34" charset="-122"/>
                <a:ea typeface="微软雅黑" panose="020B0503020204020204" pitchFamily="34" charset="-122"/>
                <a:cs typeface="+mn-ea"/>
              </a:rPr>
              <a:t>表示</a:t>
            </a:r>
            <a:r>
              <a:rPr lang="en-US" altLang="zh-CN" sz="2000" dirty="0" err="1">
                <a:solidFill>
                  <a:srgbClr val="1369B2"/>
                </a:solidFill>
                <a:latin typeface="微软雅黑" panose="020B0503020204020204" pitchFamily="34" charset="-122"/>
                <a:ea typeface="微软雅黑" panose="020B0503020204020204" pitchFamily="34" charset="-122"/>
                <a:cs typeface="+mn-ea"/>
              </a:rPr>
              <a:t>uiautomator</a:t>
            </a:r>
            <a:r>
              <a:rPr lang="zh-CN" altLang="zh-CN" sz="2000" dirty="0">
                <a:solidFill>
                  <a:srgbClr val="1369B2"/>
                </a:solidFill>
                <a:latin typeface="微软雅黑" panose="020B0503020204020204" pitchFamily="34" charset="-122"/>
                <a:ea typeface="微软雅黑" panose="020B0503020204020204" pitchFamily="34" charset="-122"/>
                <a:cs typeface="+mn-ea"/>
              </a:rPr>
              <a:t>库中的元素名称</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266995"/>
            <a:ext cx="6823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7.4.1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元素定位</a:t>
            </a:r>
          </a:p>
        </p:txBody>
      </p:sp>
      <p:sp>
        <p:nvSpPr>
          <p:cNvPr id="3" name="矩形 2"/>
          <p:cNvSpPr/>
          <p:nvPr/>
        </p:nvSpPr>
        <p:spPr>
          <a:xfrm>
            <a:off x="1135448" y="1927274"/>
            <a:ext cx="9847516" cy="2400657"/>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下面以雷电模拟器中的</a:t>
            </a:r>
            <a:r>
              <a:rPr lang="zh-CN" altLang="zh-CN" sz="2000" dirty="0">
                <a:solidFill>
                  <a:srgbClr val="1369B2"/>
                </a:solidFill>
                <a:latin typeface="微软雅黑" panose="020B0503020204020204" pitchFamily="34" charset="-122"/>
                <a:ea typeface="微软雅黑" panose="020B0503020204020204" pitchFamily="34" charset="-122"/>
                <a:cs typeface="+mn-ea"/>
              </a:rPr>
              <a:t>“设置”</a:t>
            </a:r>
            <a:r>
              <a:rPr lang="zh-CN" altLang="zh-CN" sz="2000" dirty="0">
                <a:solidFill>
                  <a:srgbClr val="595959"/>
                </a:solidFill>
                <a:latin typeface="微软雅黑" panose="020B0503020204020204" pitchFamily="34" charset="-122"/>
                <a:ea typeface="微软雅黑" panose="020B0503020204020204" pitchFamily="34" charset="-122"/>
              </a:rPr>
              <a:t>下面以雷电模拟器中的</a:t>
            </a:r>
            <a:r>
              <a:rPr lang="zh-CN" altLang="zh-CN" sz="2000" dirty="0">
                <a:solidFill>
                  <a:srgbClr val="1369B2"/>
                </a:solidFill>
                <a:latin typeface="微软雅黑" panose="020B0503020204020204" pitchFamily="34" charset="-122"/>
                <a:ea typeface="微软雅黑" panose="020B0503020204020204" pitchFamily="34" charset="-122"/>
                <a:cs typeface="+mn-ea"/>
              </a:rPr>
              <a:t>“设置”</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rPr>
              <a:t>为例，演示如何</a:t>
            </a:r>
            <a:r>
              <a:rPr lang="zh-CN" altLang="zh-CN" sz="2000" dirty="0">
                <a:solidFill>
                  <a:srgbClr val="1369B2"/>
                </a:solidFill>
                <a:latin typeface="微软雅黑" panose="020B0503020204020204" pitchFamily="34" charset="-122"/>
                <a:ea typeface="微软雅黑" panose="020B0503020204020204" pitchFamily="34" charset="-122"/>
                <a:cs typeface="+mn-ea"/>
              </a:rPr>
              <a:t>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Appium</a:t>
            </a:r>
            <a:r>
              <a:rPr lang="zh-CN" altLang="zh-CN" sz="2000" dirty="0">
                <a:solidFill>
                  <a:srgbClr val="1369B2"/>
                </a:solidFill>
                <a:latin typeface="微软雅黑" panose="020B0503020204020204" pitchFamily="34" charset="-122"/>
                <a:ea typeface="微软雅黑" panose="020B0503020204020204" pitchFamily="34" charset="-122"/>
                <a:cs typeface="+mn-ea"/>
              </a:rPr>
              <a:t>元素定位方法来定位“设置”</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中设置界面的元素</a:t>
            </a:r>
            <a:r>
              <a:rPr lang="zh-CN" altLang="zh-CN" sz="2000" dirty="0">
                <a:solidFill>
                  <a:srgbClr val="595959"/>
                </a:solidFill>
                <a:latin typeface="微软雅黑" panose="020B0503020204020204" pitchFamily="34" charset="-122"/>
                <a:ea typeface="微软雅黑" panose="020B0503020204020204" pitchFamily="34" charset="-122"/>
              </a:rPr>
              <a:t>，并对这些元素进行相应的</a:t>
            </a:r>
            <a:r>
              <a:rPr lang="zh-CN" altLang="zh-CN" sz="2000" dirty="0">
                <a:solidFill>
                  <a:srgbClr val="1369B2"/>
                </a:solidFill>
                <a:latin typeface="微软雅黑" panose="020B0503020204020204" pitchFamily="34" charset="-122"/>
                <a:ea typeface="微软雅黑" panose="020B0503020204020204" pitchFamily="34" charset="-122"/>
                <a:cs typeface="+mn-ea"/>
              </a:rPr>
              <a:t>单击与输入操作</a:t>
            </a:r>
            <a:r>
              <a:rPr lang="zh-CN" altLang="zh-CN" sz="2000" dirty="0">
                <a:solidFill>
                  <a:srgbClr val="595959"/>
                </a:solidFill>
                <a:latin typeface="微软雅黑" panose="020B0503020204020204" pitchFamily="34" charset="-122"/>
                <a:ea typeface="微软雅黑" panose="020B0503020204020204" pitchFamily="34" charset="-122"/>
              </a:rPr>
              <a:t>，以定位</a:t>
            </a:r>
            <a:r>
              <a:rPr lang="zh-CN" altLang="zh-CN" sz="2000" dirty="0">
                <a:solidFill>
                  <a:srgbClr val="1369B2"/>
                </a:solidFill>
                <a:latin typeface="微软雅黑" panose="020B0503020204020204" pitchFamily="34" charset="-122"/>
                <a:ea typeface="微软雅黑" panose="020B0503020204020204" pitchFamily="34" charset="-122"/>
                <a:cs typeface="+mn-ea"/>
              </a:rPr>
              <a:t>放大镜图标</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输入框</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返回图标</a:t>
            </a:r>
            <a:r>
              <a:rPr lang="zh-CN" altLang="zh-CN" sz="2000" dirty="0">
                <a:solidFill>
                  <a:srgbClr val="595959"/>
                </a:solidFill>
                <a:latin typeface="微软雅黑" panose="020B0503020204020204" pitchFamily="34" charset="-122"/>
                <a:ea typeface="微软雅黑" panose="020B0503020204020204" pitchFamily="34" charset="-122"/>
              </a:rPr>
              <a:t>等元素为例进行演示。首先在</a:t>
            </a:r>
            <a:r>
              <a:rPr lang="en-US" altLang="zh-CN" sz="2000" dirty="0">
                <a:solidFill>
                  <a:srgbClr val="1369B2"/>
                </a:solidFill>
                <a:latin typeface="微软雅黑" panose="020B0503020204020204" pitchFamily="34" charset="-122"/>
                <a:ea typeface="微软雅黑" panose="020B0503020204020204" pitchFamily="34" charset="-122"/>
                <a:cs typeface="+mn-ea"/>
              </a:rPr>
              <a:t>Chapter07</a:t>
            </a:r>
            <a:r>
              <a:rPr lang="zh-CN" altLang="zh-CN" sz="2000" dirty="0">
                <a:solidFill>
                  <a:srgbClr val="595959"/>
                </a:solidFill>
                <a:latin typeface="微软雅黑" panose="020B0503020204020204" pitchFamily="34" charset="-122"/>
                <a:ea typeface="微软雅黑" panose="020B0503020204020204" pitchFamily="34" charset="-122"/>
              </a:rPr>
              <a:t>程序中创建一个</a:t>
            </a:r>
            <a:r>
              <a:rPr lang="en-US" altLang="zh-CN" sz="2000" dirty="0">
                <a:solidFill>
                  <a:srgbClr val="1369B2"/>
                </a:solidFill>
                <a:latin typeface="微软雅黑" panose="020B0503020204020204" pitchFamily="34" charset="-122"/>
                <a:ea typeface="微软雅黑" panose="020B0503020204020204" pitchFamily="34" charset="-122"/>
                <a:cs typeface="+mn-ea"/>
              </a:rPr>
              <a:t>locate_app_element.py</a:t>
            </a:r>
            <a:r>
              <a:rPr lang="zh-CN" altLang="zh-CN" sz="2000" dirty="0">
                <a:solidFill>
                  <a:srgbClr val="595959"/>
                </a:solidFill>
                <a:latin typeface="微软雅黑" panose="020B0503020204020204" pitchFamily="34" charset="-122"/>
                <a:ea typeface="微软雅黑" panose="020B0503020204020204" pitchFamily="34" charset="-122"/>
              </a:rPr>
              <a:t>文件，在该文件中对设置界面元素进行定位与操作</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圆角矩形 4"/>
          <p:cNvSpPr/>
          <p:nvPr/>
        </p:nvSpPr>
        <p:spPr>
          <a:xfrm>
            <a:off x="839206" y="1664216"/>
            <a:ext cx="10440000" cy="2917578"/>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 name="矩形 93"/>
          <p:cNvSpPr/>
          <p:nvPr/>
        </p:nvSpPr>
        <p:spPr>
          <a:xfrm>
            <a:off x="748995" y="1616719"/>
            <a:ext cx="409364" cy="602149"/>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7" name="矩形 93"/>
          <p:cNvSpPr/>
          <p:nvPr/>
        </p:nvSpPr>
        <p:spPr>
          <a:xfrm rot="10800000">
            <a:off x="10869842" y="3979645"/>
            <a:ext cx="409364" cy="602149"/>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7.4.2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元素操作</a:t>
            </a:r>
          </a:p>
        </p:txBody>
      </p:sp>
      <p:sp>
        <p:nvSpPr>
          <p:cNvPr id="10" name="矩形 9"/>
          <p:cNvSpPr/>
          <p:nvPr/>
        </p:nvSpPr>
        <p:spPr>
          <a:xfrm>
            <a:off x="4151206" y="1701794"/>
            <a:ext cx="7488000" cy="378565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在学习</a:t>
            </a:r>
            <a:r>
              <a:rPr lang="en-US" altLang="zh-CN" sz="2000" dirty="0">
                <a:solidFill>
                  <a:srgbClr val="595959"/>
                </a:solidFill>
                <a:latin typeface="微软雅黑" panose="020B0503020204020204" pitchFamily="34" charset="-122"/>
                <a:ea typeface="微软雅黑" panose="020B0503020204020204" pitchFamily="34" charset="-122"/>
                <a:cs typeface="+mn-ea"/>
              </a:rPr>
              <a:t>Web</a:t>
            </a:r>
            <a:r>
              <a:rPr lang="zh-CN" altLang="zh-CN" sz="2000" dirty="0">
                <a:solidFill>
                  <a:srgbClr val="595959"/>
                </a:solidFill>
                <a:latin typeface="微软雅黑" panose="020B0503020204020204" pitchFamily="34" charset="-122"/>
                <a:ea typeface="微软雅黑" panose="020B0503020204020204" pitchFamily="34" charset="-122"/>
                <a:cs typeface="+mn-ea"/>
              </a:rPr>
              <a:t>自动化测试时，介绍了基本元素操作的方法，这些方法在</a:t>
            </a: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中也能使用，例如，</a:t>
            </a:r>
            <a:r>
              <a:rPr lang="zh-CN" altLang="zh-CN" sz="2000" dirty="0">
                <a:solidFill>
                  <a:srgbClr val="0070C0"/>
                </a:solidFill>
                <a:latin typeface="微软雅黑" panose="020B0503020204020204" pitchFamily="34" charset="-122"/>
                <a:ea typeface="微软雅黑" panose="020B0503020204020204" pitchFamily="34" charset="-122"/>
                <a:cs typeface="+mn-ea"/>
              </a:rPr>
              <a:t>调用</a:t>
            </a:r>
            <a:r>
              <a:rPr lang="en-US" altLang="zh-CN" sz="2000" dirty="0">
                <a:solidFill>
                  <a:srgbClr val="0070C0"/>
                </a:solidFill>
                <a:latin typeface="微软雅黑" panose="020B0503020204020204" pitchFamily="34" charset="-122"/>
                <a:ea typeface="微软雅黑" panose="020B0503020204020204" pitchFamily="34" charset="-122"/>
                <a:cs typeface="+mn-ea"/>
              </a:rPr>
              <a:t>click()</a:t>
            </a:r>
            <a:r>
              <a:rPr lang="zh-CN" altLang="zh-CN" sz="2000" dirty="0">
                <a:solidFill>
                  <a:srgbClr val="0070C0"/>
                </a:solidFill>
                <a:latin typeface="微软雅黑" panose="020B0503020204020204" pitchFamily="34" charset="-122"/>
                <a:ea typeface="微软雅黑" panose="020B0503020204020204" pitchFamily="34" charset="-122"/>
                <a:cs typeface="+mn-ea"/>
              </a:rPr>
              <a:t>方法可以点击元素</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调用</a:t>
            </a:r>
            <a:r>
              <a:rPr lang="en-US" altLang="zh-CN" sz="2000" dirty="0" err="1">
                <a:solidFill>
                  <a:srgbClr val="0070C0"/>
                </a:solidFill>
                <a:latin typeface="微软雅黑" panose="020B0503020204020204" pitchFamily="34" charset="-122"/>
                <a:ea typeface="微软雅黑" panose="020B0503020204020204" pitchFamily="34" charset="-122"/>
                <a:cs typeface="+mn-ea"/>
              </a:rPr>
              <a:t>send_keys</a:t>
            </a:r>
            <a:r>
              <a:rPr lang="en-US" altLang="zh-CN" sz="2000" dirty="0">
                <a:solidFill>
                  <a:srgbClr val="0070C0"/>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方法可以输入文本内容</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0070C0"/>
                </a:solidFill>
                <a:latin typeface="微软雅黑" panose="020B0503020204020204" pitchFamily="34" charset="-122"/>
                <a:ea typeface="微软雅黑" panose="020B0503020204020204" pitchFamily="34" charset="-122"/>
                <a:cs typeface="+mn-ea"/>
              </a:rPr>
              <a:t>调用</a:t>
            </a:r>
            <a:r>
              <a:rPr lang="en-US" altLang="zh-CN" sz="2000" dirty="0">
                <a:solidFill>
                  <a:srgbClr val="0070C0"/>
                </a:solidFill>
                <a:latin typeface="微软雅黑" panose="020B0503020204020204" pitchFamily="34" charset="-122"/>
                <a:ea typeface="微软雅黑" panose="020B0503020204020204" pitchFamily="34" charset="-122"/>
                <a:cs typeface="+mn-ea"/>
              </a:rPr>
              <a:t>clear()</a:t>
            </a:r>
            <a:r>
              <a:rPr lang="zh-CN" altLang="zh-CN" sz="2000" dirty="0">
                <a:solidFill>
                  <a:srgbClr val="0070C0"/>
                </a:solidFill>
                <a:latin typeface="微软雅黑" panose="020B0503020204020204" pitchFamily="34" charset="-122"/>
                <a:ea typeface="微软雅黑" panose="020B0503020204020204" pitchFamily="34" charset="-122"/>
                <a:cs typeface="+mn-ea"/>
              </a:rPr>
              <a:t>方法可以清除文本内容</a:t>
            </a:r>
            <a:r>
              <a:rPr lang="zh-CN" altLang="zh-CN" sz="2000" dirty="0">
                <a:solidFill>
                  <a:srgbClr val="595959"/>
                </a:solidFill>
                <a:latin typeface="微软雅黑" panose="020B0503020204020204" pitchFamily="34" charset="-122"/>
                <a:ea typeface="微软雅黑" panose="020B0503020204020204" pitchFamily="34" charset="-122"/>
                <a:cs typeface="+mn-ea"/>
              </a:rPr>
              <a:t>等。在测试</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的过程中，还会经常使用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元素操作的其他方法，例如，当测试</a:t>
            </a:r>
            <a:r>
              <a:rPr lang="en-US" altLang="zh-CN" sz="2000" dirty="0">
                <a:solidFill>
                  <a:srgbClr val="595959"/>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cs typeface="+mn-ea"/>
              </a:rPr>
              <a:t>的原生应用时，元素的断言可以调用</a:t>
            </a:r>
            <a:r>
              <a:rPr lang="en-US" altLang="zh-CN" sz="2000" dirty="0" err="1">
                <a:solidFill>
                  <a:srgbClr val="0070C0"/>
                </a:solidFill>
                <a:latin typeface="微软雅黑" panose="020B0503020204020204" pitchFamily="34" charset="-122"/>
                <a:ea typeface="微软雅黑" panose="020B0503020204020204" pitchFamily="34" charset="-122"/>
                <a:cs typeface="+mn-ea"/>
              </a:rPr>
              <a:t>is_selected</a:t>
            </a:r>
            <a:r>
              <a:rPr lang="en-US" altLang="zh-CN" sz="2000" dirty="0">
                <a:solidFill>
                  <a:srgbClr val="0070C0"/>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方法，该方法的作用是</a:t>
            </a:r>
            <a:r>
              <a:rPr lang="zh-CN" altLang="zh-CN" sz="2000" dirty="0">
                <a:solidFill>
                  <a:srgbClr val="0070C0"/>
                </a:solidFill>
                <a:latin typeface="微软雅黑" panose="020B0503020204020204" pitchFamily="34" charset="-122"/>
                <a:ea typeface="微软雅黑" panose="020B0503020204020204" pitchFamily="34" charset="-122"/>
                <a:cs typeface="+mn-ea"/>
              </a:rPr>
              <a:t>判断元素是否被选中</a:t>
            </a:r>
            <a:r>
              <a:rPr lang="zh-CN" altLang="zh-CN" sz="2000" dirty="0">
                <a:solidFill>
                  <a:srgbClr val="595959"/>
                </a:solidFill>
                <a:latin typeface="微软雅黑" panose="020B0503020204020204" pitchFamily="34" charset="-122"/>
                <a:ea typeface="微软雅黑" panose="020B0503020204020204" pitchFamily="34" charset="-122"/>
                <a:cs typeface="+mn-ea"/>
              </a:rPr>
              <a:t>。除此之外，在</a:t>
            </a: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中还可以</a:t>
            </a:r>
            <a:r>
              <a:rPr lang="zh-CN" altLang="zh-CN" sz="2000" dirty="0">
                <a:solidFill>
                  <a:srgbClr val="0070C0"/>
                </a:solidFill>
                <a:latin typeface="微软雅黑" panose="020B0503020204020204" pitchFamily="34" charset="-122"/>
                <a:ea typeface="微软雅黑" panose="020B0503020204020204" pitchFamily="34" charset="-122"/>
                <a:cs typeface="+mn-ea"/>
              </a:rPr>
              <a:t>通过获取元素属性的操作来进行断言</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3"/>
          <a:stretch>
            <a:fillRect/>
          </a:stretch>
        </p:blipFill>
        <p:spPr>
          <a:xfrm>
            <a:off x="435348" y="1484232"/>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7.4.2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元素操作</a:t>
            </a:r>
          </a:p>
        </p:txBody>
      </p:sp>
      <p:sp>
        <p:nvSpPr>
          <p:cNvPr id="2" name="矩形 1"/>
          <p:cNvSpPr/>
          <p:nvPr/>
        </p:nvSpPr>
        <p:spPr>
          <a:xfrm>
            <a:off x="1143635" y="1197794"/>
            <a:ext cx="5264583" cy="400110"/>
          </a:xfrm>
          <a:prstGeom prst="rect">
            <a:avLst/>
          </a:prstGeom>
        </p:spPr>
        <p:txBody>
          <a:bodyPr wrap="none">
            <a:spAutoFit/>
          </a:bodyPr>
          <a:lstStyle/>
          <a:p>
            <a:r>
              <a:rPr lang="en-US" altLang="zh-CN" sz="2000" dirty="0" err="1">
                <a:solidFill>
                  <a:srgbClr val="0070C0"/>
                </a:solidFill>
                <a:latin typeface="微软雅黑" panose="020B0503020204020204" pitchFamily="34" charset="-122"/>
                <a:ea typeface="微软雅黑" panose="020B0503020204020204" pitchFamily="34" charset="-122"/>
                <a:cs typeface="+mn-ea"/>
              </a:rPr>
              <a:t>Appium</a:t>
            </a:r>
            <a:r>
              <a:rPr lang="zh-CN" altLang="zh-CN" sz="2000" dirty="0">
                <a:solidFill>
                  <a:srgbClr val="0070C0"/>
                </a:solidFill>
                <a:latin typeface="微软雅黑" panose="020B0503020204020204" pitchFamily="34" charset="-122"/>
                <a:ea typeface="微软雅黑" panose="020B0503020204020204" pitchFamily="34" charset="-122"/>
                <a:cs typeface="+mn-ea"/>
              </a:rPr>
              <a:t>元素操作的常用方法和属性</a:t>
            </a:r>
            <a:r>
              <a:rPr lang="zh-CN" altLang="zh-CN" sz="2000" dirty="0">
                <a:solidFill>
                  <a:srgbClr val="595959"/>
                </a:solidFill>
                <a:latin typeface="微软雅黑" panose="020B0503020204020204" pitchFamily="34" charset="-122"/>
                <a:ea typeface="微软雅黑" panose="020B0503020204020204" pitchFamily="34" charset="-122"/>
                <a:cs typeface="+mn-ea"/>
              </a:rPr>
              <a:t>如</a:t>
            </a:r>
            <a:r>
              <a:rPr lang="zh-CN" altLang="en-US" sz="2000" dirty="0">
                <a:solidFill>
                  <a:srgbClr val="595959"/>
                </a:solidFill>
                <a:latin typeface="微软雅黑" panose="020B0503020204020204" pitchFamily="34" charset="-122"/>
                <a:ea typeface="微软雅黑" panose="020B0503020204020204" pitchFamily="34" charset="-122"/>
                <a:cs typeface="+mn-ea"/>
              </a:rPr>
              <a:t>下</a:t>
            </a:r>
            <a:r>
              <a:rPr lang="zh-CN" altLang="zh-CN" sz="2000" dirty="0">
                <a:solidFill>
                  <a:srgbClr val="595959"/>
                </a:solidFill>
                <a:latin typeface="微软雅黑" panose="020B0503020204020204" pitchFamily="34" charset="-122"/>
                <a:ea typeface="微软雅黑" panose="020B0503020204020204" pitchFamily="34" charset="-122"/>
                <a:cs typeface="+mn-ea"/>
              </a:rPr>
              <a:t>表</a:t>
            </a:r>
            <a:r>
              <a:rPr lang="zh-CN" altLang="en-US" sz="2000" dirty="0">
                <a:solidFill>
                  <a:srgbClr val="595959"/>
                </a:solidFill>
                <a:latin typeface="微软雅黑" panose="020B0503020204020204" pitchFamily="34" charset="-122"/>
                <a:ea typeface="微软雅黑" panose="020B0503020204020204" pitchFamily="34" charset="-122"/>
                <a:cs typeface="+mn-ea"/>
              </a:rPr>
              <a:t>。</a:t>
            </a:r>
          </a:p>
        </p:txBody>
      </p:sp>
      <p:graphicFrame>
        <p:nvGraphicFramePr>
          <p:cNvPr id="6" name="表格 5"/>
          <p:cNvGraphicFramePr/>
          <p:nvPr>
            <p:custDataLst>
              <p:tags r:id="rId1"/>
            </p:custDataLst>
          </p:nvPr>
        </p:nvGraphicFramePr>
        <p:xfrm>
          <a:off x="1156334" y="2061794"/>
          <a:ext cx="9991571" cy="3021330"/>
        </p:xfrm>
        <a:graphic>
          <a:graphicData uri="http://schemas.openxmlformats.org/drawingml/2006/table">
            <a:tbl>
              <a:tblPr firstRow="1" bandRow="1">
                <a:tableStyleId>{5C22544A-7EE6-4342-B048-85BDC9FD1C3A}</a:tableStyleId>
              </a:tblPr>
              <a:tblGrid>
                <a:gridCol w="2850872">
                  <a:extLst>
                    <a:ext uri="{9D8B030D-6E8A-4147-A177-3AD203B41FA5}">
                      <a16:colId xmlns:a16="http://schemas.microsoft.com/office/drawing/2014/main" val="20000"/>
                    </a:ext>
                  </a:extLst>
                </a:gridCol>
                <a:gridCol w="7140699">
                  <a:extLst>
                    <a:ext uri="{9D8B030D-6E8A-4147-A177-3AD203B41FA5}">
                      <a16:colId xmlns:a16="http://schemas.microsoft.com/office/drawing/2014/main" val="20001"/>
                    </a:ext>
                  </a:extLst>
                </a:gridCol>
              </a:tblGrid>
              <a:tr h="619125">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属性</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67055">
                <a:tc>
                  <a:txBody>
                    <a:bodyPr/>
                    <a:lstStyle/>
                    <a:p>
                      <a:pPr marL="0" algn="ctr" defTabSz="1219200" rtl="0" eaLnBrk="1" latinLnBrk="0" hangingPunct="1">
                        <a:lnSpc>
                          <a:spcPct val="115000"/>
                        </a:lnSpc>
                        <a:spcAft>
                          <a:spcPts val="0"/>
                        </a:spcAft>
                        <a:buNone/>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is_displayed</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该方法用于判断元素是否可见，返回结果为布尔值</a:t>
                      </a:r>
                    </a:p>
                  </a:txBody>
                  <a:tcPr anchor="ctr"/>
                </a:tc>
                <a:extLst>
                  <a:ext uri="{0D108BD9-81ED-4DB2-BD59-A6C34878D82A}">
                    <a16:rowId xmlns:a16="http://schemas.microsoft.com/office/drawing/2014/main" val="10001"/>
                  </a:ext>
                </a:extLst>
              </a:tr>
              <a:tr h="548640">
                <a:tc>
                  <a:txBody>
                    <a:bodyPr/>
                    <a:lstStyle/>
                    <a:p>
                      <a:pPr marL="0" algn="ctr" defTabSz="1219200" rtl="0" eaLnBrk="1" latinLnBrk="0" hangingPunct="1">
                        <a:lnSpc>
                          <a:spcPct val="115000"/>
                        </a:lnSpc>
                        <a:spcAft>
                          <a:spcPts val="0"/>
                        </a:spcAft>
                        <a:buNone/>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is_enabled</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该方法用于判断元素是否可用，返回结果为布尔值</a:t>
                      </a:r>
                    </a:p>
                  </a:txBody>
                  <a:tcPr anchor="ctr"/>
                </a:tc>
                <a:extLst>
                  <a:ext uri="{0D108BD9-81ED-4DB2-BD59-A6C34878D82A}">
                    <a16:rowId xmlns:a16="http://schemas.microsoft.com/office/drawing/2014/main" val="10002"/>
                  </a:ext>
                </a:extLst>
              </a:tr>
              <a:tr h="638175">
                <a:tc>
                  <a:txBody>
                    <a:bodyPr/>
                    <a:lstStyle/>
                    <a:p>
                      <a:pPr marL="0" algn="ctr" defTabSz="1219200" rtl="0" eaLnBrk="1" latinLnBrk="0" hangingPunct="1">
                        <a:lnSpc>
                          <a:spcPct val="115000"/>
                        </a:lnSpc>
                        <a:spcAft>
                          <a:spcPts val="0"/>
                        </a:spcAft>
                        <a:buNone/>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is_selected</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该方法用于判断元素是否被选中，返回结果为布尔值</a:t>
                      </a:r>
                    </a:p>
                  </a:txBody>
                  <a:tcPr anchor="ctr"/>
                </a:tc>
                <a:extLst>
                  <a:ext uri="{0D108BD9-81ED-4DB2-BD59-A6C34878D82A}">
                    <a16:rowId xmlns:a16="http://schemas.microsoft.com/office/drawing/2014/main" val="10003"/>
                  </a:ext>
                </a:extLst>
              </a:tr>
              <a:tr h="648335">
                <a:tc>
                  <a:txBody>
                    <a:bodyPr/>
                    <a:lstStyle/>
                    <a:p>
                      <a:pPr marL="0" algn="ctr" defTabSz="1219200" rtl="0" eaLnBrk="1" latinLnBrk="0" hangingPunct="1">
                        <a:lnSpc>
                          <a:spcPct val="115000"/>
                        </a:lnSpc>
                        <a:spcAft>
                          <a:spcPts val="0"/>
                        </a:spcAft>
                        <a:buNone/>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text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该属性用于获取元素的</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text</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值，返回结果为元素的</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text</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属性值</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7.4.2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元素操作</a:t>
            </a:r>
          </a:p>
        </p:txBody>
      </p:sp>
      <p:graphicFrame>
        <p:nvGraphicFramePr>
          <p:cNvPr id="6" name="表格 5"/>
          <p:cNvGraphicFramePr/>
          <p:nvPr>
            <p:custDataLst>
              <p:tags r:id="rId1"/>
            </p:custDataLst>
          </p:nvPr>
        </p:nvGraphicFramePr>
        <p:xfrm>
          <a:off x="1143635" y="1845794"/>
          <a:ext cx="9991571" cy="3219577"/>
        </p:xfrm>
        <a:graphic>
          <a:graphicData uri="http://schemas.openxmlformats.org/drawingml/2006/table">
            <a:tbl>
              <a:tblPr firstRow="1" bandRow="1">
                <a:tableStyleId>{5C22544A-7EE6-4342-B048-85BDC9FD1C3A}</a:tableStyleId>
              </a:tblPr>
              <a:tblGrid>
                <a:gridCol w="1999571">
                  <a:extLst>
                    <a:ext uri="{9D8B030D-6E8A-4147-A177-3AD203B41FA5}">
                      <a16:colId xmlns:a16="http://schemas.microsoft.com/office/drawing/2014/main" val="20000"/>
                    </a:ext>
                  </a:extLst>
                </a:gridCol>
                <a:gridCol w="7992000">
                  <a:extLst>
                    <a:ext uri="{9D8B030D-6E8A-4147-A177-3AD203B41FA5}">
                      <a16:colId xmlns:a16="http://schemas.microsoft.com/office/drawing/2014/main" val="20001"/>
                    </a:ext>
                  </a:extLst>
                </a:gridCol>
              </a:tblGrid>
              <a:tr h="619125">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方法</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属性</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67055">
                <a:tc>
                  <a:txBody>
                    <a:bodyPr/>
                    <a:lstStyle/>
                    <a:p>
                      <a:pPr marL="0" algn="l" defTabSz="1219200" rtl="0" eaLnBrk="1" latinLnBrk="0" hangingPunct="1">
                        <a:lnSpc>
                          <a:spcPct val="115000"/>
                        </a:lnSpc>
                        <a:spcAft>
                          <a:spcPts val="0"/>
                        </a:spcAft>
                        <a:buNone/>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tag_name</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该属性用于获取元素的标签名，</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App</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中的原生应用没有标签名，默认为</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None</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1"/>
                  </a:ext>
                </a:extLst>
              </a:tr>
              <a:tr h="548640">
                <a:tc>
                  <a:txBody>
                    <a:bodyPr/>
                    <a:lstStyle/>
                    <a:p>
                      <a:pPr marL="0" algn="l" defTabSz="1219200" rtl="0" eaLnBrk="1" latinLnBrk="0" hangingPunct="1">
                        <a:lnSpc>
                          <a:spcPct val="115000"/>
                        </a:lnSpc>
                        <a:spcAft>
                          <a:spcPts val="0"/>
                        </a:spcAft>
                        <a:buNone/>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size</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该属性用于获取元素的宽和高，返回结果为字典类型的数据</a:t>
                      </a:r>
                    </a:p>
                  </a:txBody>
                  <a:tcPr anchor="ctr"/>
                </a:tc>
                <a:extLst>
                  <a:ext uri="{0D108BD9-81ED-4DB2-BD59-A6C34878D82A}">
                    <a16:rowId xmlns:a16="http://schemas.microsoft.com/office/drawing/2014/main" val="10002"/>
                  </a:ext>
                </a:extLst>
              </a:tr>
              <a:tr h="638175">
                <a:tc>
                  <a:txBody>
                    <a:bodyPr/>
                    <a:lstStyle/>
                    <a:p>
                      <a:pPr marL="0" algn="l" defTabSz="1219200" rtl="0" eaLnBrk="1" latinLnBrk="0" hangingPunct="1">
                        <a:lnSpc>
                          <a:spcPct val="115000"/>
                        </a:lnSpc>
                        <a:spcAft>
                          <a:spcPts val="0"/>
                        </a:spcAft>
                        <a:buNone/>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location</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该属性用于获取元素的坐标，返回结果为字典类型的数据</a:t>
                      </a:r>
                    </a:p>
                  </a:txBody>
                  <a:tcPr anchor="ctr"/>
                </a:tc>
                <a:extLst>
                  <a:ext uri="{0D108BD9-81ED-4DB2-BD59-A6C34878D82A}">
                    <a16:rowId xmlns:a16="http://schemas.microsoft.com/office/drawing/2014/main" val="10003"/>
                  </a:ext>
                </a:extLst>
              </a:tr>
              <a:tr h="648335">
                <a:tc>
                  <a:txBody>
                    <a:bodyPr/>
                    <a:lstStyle/>
                    <a:p>
                      <a:pPr marL="0" algn="l" defTabSz="1219200" rtl="0" eaLnBrk="1" latinLnBrk="0" hangingPunct="1">
                        <a:lnSpc>
                          <a:spcPct val="115000"/>
                        </a:lnSpc>
                        <a:spcAft>
                          <a:spcPts val="0"/>
                        </a:spcAft>
                        <a:buNone/>
                      </a:pPr>
                      <a:r>
                        <a:rPr lang="en-US" altLang="zh-CN" sz="2000" kern="1200" dirty="0" err="1">
                          <a:solidFill>
                            <a:srgbClr val="595959"/>
                          </a:solidFill>
                          <a:latin typeface="微软雅黑" panose="020B0503020204020204" pitchFamily="34" charset="-122"/>
                          <a:ea typeface="微软雅黑" panose="020B0503020204020204" pitchFamily="34" charset="-122"/>
                          <a:cs typeface="+mn-ea"/>
                        </a:rPr>
                        <a:t>rect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buNone/>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该属性用于获取元素的宽、高和坐标，返回结果为字典类型的数据</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266995"/>
            <a:ext cx="6823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7.4.2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元素操作</a:t>
            </a:r>
          </a:p>
        </p:txBody>
      </p:sp>
      <p:sp>
        <p:nvSpPr>
          <p:cNvPr id="3" name="矩形 2"/>
          <p:cNvSpPr/>
          <p:nvPr/>
        </p:nvSpPr>
        <p:spPr>
          <a:xfrm>
            <a:off x="983206" y="1386414"/>
            <a:ext cx="10783516"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下面以雷电模拟器中的</a:t>
            </a:r>
            <a:r>
              <a:rPr lang="zh-CN" altLang="zh-CN" sz="2000" dirty="0">
                <a:solidFill>
                  <a:srgbClr val="1369B2"/>
                </a:solidFill>
                <a:latin typeface="微软雅黑" panose="020B0503020204020204" pitchFamily="34" charset="-122"/>
                <a:ea typeface="微软雅黑" panose="020B0503020204020204" pitchFamily="34" charset="-122"/>
                <a:cs typeface="+mn-ea"/>
              </a:rPr>
              <a:t>“设置”</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595959"/>
                </a:solidFill>
                <a:latin typeface="微软雅黑" panose="020B0503020204020204" pitchFamily="34" charset="-122"/>
                <a:ea typeface="微软雅黑" panose="020B0503020204020204" pitchFamily="34" charset="-122"/>
              </a:rPr>
              <a:t>为例，演示常用的方法和属性。首先在</a:t>
            </a:r>
            <a:r>
              <a:rPr lang="en-US" altLang="zh-CN" sz="2000" dirty="0">
                <a:solidFill>
                  <a:srgbClr val="1369B2"/>
                </a:solidFill>
                <a:latin typeface="微软雅黑" panose="020B0503020204020204" pitchFamily="34" charset="-122"/>
                <a:ea typeface="微软雅黑" panose="020B0503020204020204" pitchFamily="34" charset="-122"/>
                <a:cs typeface="+mn-ea"/>
              </a:rPr>
              <a:t>Chapter07</a:t>
            </a:r>
            <a:r>
              <a:rPr lang="zh-CN" altLang="zh-CN" sz="2000" dirty="0">
                <a:solidFill>
                  <a:srgbClr val="595959"/>
                </a:solidFill>
                <a:latin typeface="微软雅黑" panose="020B0503020204020204" pitchFamily="34" charset="-122"/>
                <a:ea typeface="微软雅黑" panose="020B0503020204020204" pitchFamily="34" charset="-122"/>
              </a:rPr>
              <a:t>程序中创建一个</a:t>
            </a:r>
            <a:r>
              <a:rPr lang="en-US" altLang="zh-CN" sz="2000" dirty="0">
                <a:solidFill>
                  <a:srgbClr val="1369B2"/>
                </a:solidFill>
                <a:latin typeface="微软雅黑" panose="020B0503020204020204" pitchFamily="34" charset="-122"/>
                <a:ea typeface="微软雅黑" panose="020B0503020204020204" pitchFamily="34" charset="-122"/>
                <a:cs typeface="+mn-ea"/>
              </a:rPr>
              <a:t>operate_element.py</a:t>
            </a:r>
            <a:r>
              <a:rPr lang="zh-CN" altLang="zh-CN" sz="2000" dirty="0">
                <a:solidFill>
                  <a:srgbClr val="595959"/>
                </a:solidFill>
                <a:latin typeface="微软雅黑" panose="020B0503020204020204" pitchFamily="34" charset="-122"/>
                <a:ea typeface="微软雅黑" panose="020B0503020204020204" pitchFamily="34" charset="-122"/>
              </a:rPr>
              <a:t>文件，在该文件中首先</a:t>
            </a:r>
            <a:r>
              <a:rPr lang="zh-CN" altLang="zh-CN" sz="2000" dirty="0">
                <a:solidFill>
                  <a:srgbClr val="1369B2"/>
                </a:solidFill>
                <a:latin typeface="微软雅黑" panose="020B0503020204020204" pitchFamily="34" charset="-122"/>
                <a:ea typeface="微软雅黑" panose="020B0503020204020204" pitchFamily="34" charset="-122"/>
                <a:cs typeface="+mn-ea"/>
              </a:rPr>
              <a:t>判断“设置”</a:t>
            </a:r>
            <a:r>
              <a:rPr lang="en-US" altLang="zh-CN" sz="2000" dirty="0">
                <a:solidFill>
                  <a:srgbClr val="1369B2"/>
                </a:solidFill>
                <a:latin typeface="微软雅黑" panose="020B0503020204020204" pitchFamily="34" charset="-122"/>
                <a:ea typeface="微软雅黑" panose="020B0503020204020204" pitchFamily="34" charset="-122"/>
                <a:cs typeface="+mn-ea"/>
              </a:rPr>
              <a:t>App</a:t>
            </a:r>
            <a:r>
              <a:rPr lang="zh-CN" altLang="zh-CN" sz="2000" dirty="0">
                <a:solidFill>
                  <a:srgbClr val="1369B2"/>
                </a:solidFill>
                <a:latin typeface="微软雅黑" panose="020B0503020204020204" pitchFamily="34" charset="-122"/>
                <a:ea typeface="微软雅黑" panose="020B0503020204020204" pitchFamily="34" charset="-122"/>
                <a:cs typeface="+mn-ea"/>
              </a:rPr>
              <a:t>中设置界面的蓝牙“开启</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关闭”按钮是否可见</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可用</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被选中</a:t>
            </a:r>
            <a:r>
              <a:rPr lang="zh-CN" altLang="zh-CN" sz="2000" dirty="0">
                <a:solidFill>
                  <a:srgbClr val="595959"/>
                </a:solidFill>
                <a:latin typeface="微软雅黑" panose="020B0503020204020204" pitchFamily="34" charset="-122"/>
                <a:ea typeface="微软雅黑" panose="020B0503020204020204" pitchFamily="34" charset="-122"/>
              </a:rPr>
              <a:t>，并</a:t>
            </a:r>
            <a:r>
              <a:rPr lang="zh-CN" altLang="zh-CN" sz="2000" dirty="0">
                <a:solidFill>
                  <a:srgbClr val="1369B2"/>
                </a:solidFill>
                <a:latin typeface="微软雅黑" panose="020B0503020204020204" pitchFamily="34" charset="-122"/>
                <a:ea typeface="微软雅黑" panose="020B0503020204020204" pitchFamily="34" charset="-122"/>
                <a:cs typeface="+mn-ea"/>
              </a:rPr>
              <a:t>依次输出判断结果</a:t>
            </a:r>
            <a:r>
              <a:rPr lang="zh-CN" altLang="zh-CN" sz="2000" dirty="0">
                <a:solidFill>
                  <a:srgbClr val="595959"/>
                </a:solidFill>
                <a:latin typeface="微软雅黑" panose="020B0503020204020204" pitchFamily="34" charset="-122"/>
                <a:ea typeface="微软雅黑" panose="020B0503020204020204" pitchFamily="34" charset="-122"/>
              </a:rPr>
              <a:t>，然后</a:t>
            </a:r>
            <a:r>
              <a:rPr lang="zh-CN" altLang="zh-CN" sz="2000" dirty="0">
                <a:solidFill>
                  <a:srgbClr val="1369B2"/>
                </a:solidFill>
                <a:latin typeface="微软雅黑" panose="020B0503020204020204" pitchFamily="34" charset="-122"/>
                <a:ea typeface="微软雅黑" panose="020B0503020204020204" pitchFamily="34" charset="-122"/>
                <a:cs typeface="+mn-ea"/>
              </a:rPr>
              <a:t>获取蓝牙“开启</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关闭”按钮的</a:t>
            </a:r>
            <a:r>
              <a:rPr lang="en-US" altLang="zh-CN" sz="2000" dirty="0">
                <a:solidFill>
                  <a:srgbClr val="1369B2"/>
                </a:solidFill>
                <a:latin typeface="微软雅黑" panose="020B0503020204020204" pitchFamily="34" charset="-122"/>
                <a:ea typeface="微软雅黑" panose="020B0503020204020204" pitchFamily="34" charset="-122"/>
                <a:cs typeface="+mn-ea"/>
              </a:rPr>
              <a:t>text</a:t>
            </a:r>
            <a:r>
              <a:rPr lang="zh-CN" altLang="zh-CN" sz="2000" dirty="0">
                <a:solidFill>
                  <a:srgbClr val="1369B2"/>
                </a:solidFill>
                <a:latin typeface="微软雅黑" panose="020B0503020204020204" pitchFamily="34" charset="-122"/>
                <a:ea typeface="微软雅黑" panose="020B0503020204020204" pitchFamily="34" charset="-122"/>
                <a:cs typeface="+mn-ea"/>
              </a:rPr>
              <a:t>值</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标签名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宽高</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坐标</a:t>
            </a:r>
            <a:r>
              <a:rPr lang="zh-CN" altLang="zh-CN" sz="2000" dirty="0">
                <a:solidFill>
                  <a:srgbClr val="595959"/>
                </a:solidFill>
                <a:latin typeface="微软雅黑" panose="020B0503020204020204" pitchFamily="34" charset="-122"/>
                <a:ea typeface="微软雅黑" panose="020B0503020204020204" pitchFamily="34" charset="-122"/>
              </a:rPr>
              <a:t>，并</a:t>
            </a:r>
            <a:r>
              <a:rPr lang="zh-CN" altLang="zh-CN" sz="2000" dirty="0">
                <a:solidFill>
                  <a:srgbClr val="1369B2"/>
                </a:solidFill>
                <a:latin typeface="微软雅黑" panose="020B0503020204020204" pitchFamily="34" charset="-122"/>
                <a:ea typeface="微软雅黑" panose="020B0503020204020204" pitchFamily="34" charset="-122"/>
                <a:cs typeface="+mn-ea"/>
              </a:rPr>
              <a:t>依次输出获取结果</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13" name="Picture 13" descr="C:\Users\Administrator\Desktop\未标题-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2362" y="4317319"/>
            <a:ext cx="439519"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a:spLocks noChangeArrowheads="1"/>
          </p:cNvSpPr>
          <p:nvPr/>
        </p:nvSpPr>
        <p:spPr bwMode="auto">
          <a:xfrm>
            <a:off x="5134441" y="4340777"/>
            <a:ext cx="13805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ts val="500"/>
              </a:spcBef>
              <a:spcAft>
                <a:spcPts val="500"/>
              </a:spcAft>
            </a:pPr>
            <a:r>
              <a:rPr lang="en-US" altLang="zh-CN" sz="1400" dirty="0">
                <a:solidFill>
                  <a:srgbClr val="F0A000"/>
                </a:solidFill>
                <a:latin typeface="微软雅黑" panose="020B0503020204020204" pitchFamily="34" charset="-122"/>
                <a:ea typeface="微软雅黑" panose="020B0503020204020204" pitchFamily="34" charset="-122"/>
              </a:rPr>
              <a:t>[</a:t>
            </a:r>
            <a:r>
              <a:rPr lang="zh-CN" altLang="en-US" sz="1400" dirty="0">
                <a:solidFill>
                  <a:srgbClr val="F0A000"/>
                </a:solidFill>
                <a:latin typeface="微软雅黑" panose="020B0503020204020204" pitchFamily="34" charset="-122"/>
                <a:ea typeface="微软雅黑" panose="020B0503020204020204" pitchFamily="34" charset="-122"/>
              </a:rPr>
              <a:t>单击查看源码</a:t>
            </a:r>
            <a:r>
              <a:rPr lang="en-US" altLang="zh-CN" sz="1400" dirty="0">
                <a:solidFill>
                  <a:srgbClr val="F0A000"/>
                </a:solidFill>
                <a:latin typeface="微软雅黑" panose="020B0503020204020204" pitchFamily="34" charset="-122"/>
                <a:ea typeface="微软雅黑" panose="020B0503020204020204" pitchFamily="34" charset="-122"/>
              </a:rPr>
              <a:t>]</a:t>
            </a:r>
            <a:endParaRPr lang="zh-CN" altLang="zh-CN" sz="1400" dirty="0">
              <a:solidFill>
                <a:srgbClr val="F0A000"/>
              </a:solidFill>
              <a:latin typeface="微软雅黑" panose="020B0503020204020204" pitchFamily="34" charset="-122"/>
              <a:ea typeface="微软雅黑" panose="020B0503020204020204" pitchFamily="34" charset="-122"/>
            </a:endParaRPr>
          </a:p>
        </p:txBody>
      </p:sp>
      <p:sp>
        <p:nvSpPr>
          <p:cNvPr id="15" name="立方体 18"/>
          <p:cNvSpPr>
            <a:spLocks noChangeArrowheads="1"/>
          </p:cNvSpPr>
          <p:nvPr/>
        </p:nvSpPr>
        <p:spPr bwMode="auto">
          <a:xfrm>
            <a:off x="4940329" y="4395327"/>
            <a:ext cx="227272" cy="226754"/>
          </a:xfrm>
          <a:prstGeom prst="cube">
            <a:avLst>
              <a:gd name="adj" fmla="val 25000"/>
            </a:avLst>
          </a:prstGeom>
          <a:solidFill>
            <a:srgbClr val="F3B600"/>
          </a:solidFill>
          <a:ln w="19050" algn="ctr">
            <a:solidFill>
              <a:schemeClr val="bg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6" name="半闭框 15"/>
          <p:cNvSpPr/>
          <p:nvPr/>
        </p:nvSpPr>
        <p:spPr bwMode="auto">
          <a:xfrm>
            <a:off x="4887260" y="4347482"/>
            <a:ext cx="90487" cy="114300"/>
          </a:xfrm>
          <a:prstGeom prst="halfFrame">
            <a:avLst/>
          </a:prstGeom>
          <a:solidFill>
            <a:srgbClr val="F3B600"/>
          </a:solidFill>
          <a:ln w="28575" cap="flat" cmpd="sng" algn="ctr">
            <a:no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17" name="半闭框 16"/>
          <p:cNvSpPr/>
          <p:nvPr/>
        </p:nvSpPr>
        <p:spPr bwMode="auto">
          <a:xfrm flipH="1" flipV="1">
            <a:off x="6916085" y="4572907"/>
            <a:ext cx="90487" cy="112712"/>
          </a:xfrm>
          <a:prstGeom prst="halfFrame">
            <a:avLst/>
          </a:prstGeom>
          <a:solidFill>
            <a:srgbClr val="F3B600"/>
          </a:solidFill>
          <a:ln w="28575" cap="flat" cmpd="sng" algn="ctr">
            <a:no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18" name="矩形 17">
            <a:hlinkClick r:id="rId4"/>
          </p:cNvPr>
          <p:cNvSpPr/>
          <p:nvPr/>
        </p:nvSpPr>
        <p:spPr>
          <a:xfrm>
            <a:off x="4799206" y="4221794"/>
            <a:ext cx="2276475" cy="552450"/>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7111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235207" y="1671979"/>
            <a:ext cx="6768000" cy="3323987"/>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使用智能手机、平板电脑等移动设备时，为了保护个人隐私，通常会设置锁屏密码，如果设置数字锁屏密码，则需要通过手指按下屏幕中的数字按键，输入正确的密码完成开锁；如果设置图案锁屏密码，则需要通过手指完成</a:t>
            </a:r>
            <a:r>
              <a:rPr lang="zh-CN" altLang="zh-CN" sz="2000" dirty="0">
                <a:solidFill>
                  <a:srgbClr val="1369B2"/>
                </a:solidFill>
                <a:latin typeface="微软雅黑" panose="020B0503020204020204" pitchFamily="34" charset="-122"/>
                <a:ea typeface="微软雅黑" panose="020B0503020204020204" pitchFamily="34" charset="-122"/>
                <a:cs typeface="+mn-ea"/>
              </a:rPr>
              <a:t>按下</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移动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抬起</a:t>
            </a:r>
            <a:r>
              <a:rPr lang="zh-CN" altLang="zh-CN" sz="2000" dirty="0">
                <a:solidFill>
                  <a:srgbClr val="595959"/>
                </a:solidFill>
                <a:latin typeface="微软雅黑" panose="020B0503020204020204" pitchFamily="34" charset="-122"/>
                <a:ea typeface="微软雅黑" panose="020B0503020204020204" pitchFamily="34" charset="-122"/>
                <a:cs typeface="+mn-ea"/>
              </a:rPr>
              <a:t>的操作，最后绘制开锁的图案。除此之外，在使用移动设备时，还会经常进行</a:t>
            </a:r>
            <a:r>
              <a:rPr lang="zh-CN" altLang="zh-CN" sz="2000" dirty="0">
                <a:solidFill>
                  <a:srgbClr val="1369B2"/>
                </a:solidFill>
                <a:latin typeface="微软雅黑" panose="020B0503020204020204" pitchFamily="34" charset="-122"/>
                <a:ea typeface="微软雅黑" panose="020B0503020204020204" pitchFamily="34" charset="-122"/>
                <a:cs typeface="+mn-ea"/>
              </a:rPr>
              <a:t>轻敲</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长</a:t>
            </a:r>
            <a:r>
              <a:rPr lang="zh-CN" altLang="zh-CN" sz="2000">
                <a:solidFill>
                  <a:srgbClr val="1369B2"/>
                </a:solidFill>
                <a:latin typeface="微软雅黑" panose="020B0503020204020204" pitchFamily="34" charset="-122"/>
                <a:ea typeface="微软雅黑" panose="020B0503020204020204" pitchFamily="34" charset="-122"/>
                <a:cs typeface="+mn-ea"/>
              </a:rPr>
              <a:t>按</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zh-CN" altLang="zh-CN" sz="2000" dirty="0">
                <a:solidFill>
                  <a:srgbClr val="595959"/>
                </a:solidFill>
                <a:latin typeface="微软雅黑" panose="020B0503020204020204" pitchFamily="34" charset="-122"/>
                <a:ea typeface="微软雅黑" panose="020B0503020204020204" pitchFamily="34" charset="-122"/>
                <a:cs typeface="+mn-ea"/>
              </a:rPr>
              <a:t>操作，在</a:t>
            </a: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中这些操作统一称为</a:t>
            </a:r>
            <a:r>
              <a:rPr lang="zh-CN" altLang="zh-CN" sz="2000" dirty="0">
                <a:solidFill>
                  <a:srgbClr val="1369B2"/>
                </a:solidFill>
                <a:latin typeface="微软雅黑" panose="020B0503020204020204" pitchFamily="34" charset="-122"/>
                <a:ea typeface="微软雅黑" panose="020B0503020204020204" pitchFamily="34" charset="-122"/>
                <a:cs typeface="+mn-ea"/>
              </a:rPr>
              <a:t>手势操作</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6"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458200" y="2103928"/>
            <a:ext cx="2946548" cy="3486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055206" y="2408501"/>
            <a:ext cx="9000000" cy="1015663"/>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轻敲操作指的是模拟手指对某个元素或点按下并快速抬起的操作</a:t>
            </a:r>
            <a:r>
              <a:rPr lang="zh-CN" altLang="zh-CN" sz="2000" dirty="0">
                <a:solidFill>
                  <a:srgbClr val="595959"/>
                </a:solidFill>
                <a:latin typeface="微软雅黑" panose="020B0503020204020204" pitchFamily="34" charset="-122"/>
                <a:ea typeface="微软雅黑" panose="020B0503020204020204" pitchFamily="34" charset="-122"/>
                <a:cs typeface="+mn-ea"/>
              </a:rPr>
              <a:t>，实现轻敲操作时需要调用</a:t>
            </a:r>
            <a:r>
              <a:rPr lang="en-US" altLang="zh-CN" sz="2000" dirty="0">
                <a:solidFill>
                  <a:srgbClr val="1369B2"/>
                </a:solidFill>
                <a:latin typeface="微软雅黑" panose="020B0503020204020204" pitchFamily="34" charset="-122"/>
                <a:ea typeface="微软雅黑" panose="020B0503020204020204" pitchFamily="34" charset="-122"/>
                <a:cs typeface="+mn-ea"/>
              </a:rPr>
              <a:t>tap()</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方法，该方法的语法格式如下所示。</a:t>
            </a:r>
          </a:p>
        </p:txBody>
      </p:sp>
      <p:sp>
        <p:nvSpPr>
          <p:cNvPr id="6" name="圆角矩形 5"/>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轻敲操作</a:t>
            </a:r>
            <a:endParaRPr lang="zh-CN" altLang="zh-CN" sz="2000" dirty="0">
              <a:latin typeface="微软雅黑" panose="020B0503020204020204" pitchFamily="34" charset="-122"/>
              <a:ea typeface="微软雅黑" panose="020B0503020204020204" pitchFamily="34" charset="-122"/>
            </a:endParaRPr>
          </a:p>
        </p:txBody>
      </p:sp>
      <p:sp>
        <p:nvSpPr>
          <p:cNvPr id="7" name="文本框 5"/>
          <p:cNvSpPr txBox="1"/>
          <p:nvPr/>
        </p:nvSpPr>
        <p:spPr>
          <a:xfrm>
            <a:off x="1143690" y="3917763"/>
            <a:ext cx="9704987" cy="499624"/>
          </a:xfrm>
          <a:prstGeom prst="rect">
            <a:avLst/>
          </a:prstGeom>
          <a:solidFill>
            <a:srgbClr val="F2F2F2"/>
          </a:solid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tap(element=None, x=None, y=None)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0" y="4869794"/>
            <a:ext cx="9216000" cy="1477328"/>
          </a:xfrm>
          <a:prstGeom prst="rect">
            <a:avLst/>
          </a:prstGeom>
        </p:spPr>
        <p:txBody>
          <a:bodyPr wrap="square">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tap()</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element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被轻敲的元素对象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被轻敲的点的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被轻敲的点的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tap()</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个参数的默认值为</a:t>
            </a:r>
            <a:r>
              <a:rPr lang="en-US" altLang="zh-CN" sz="2000" dirty="0">
                <a:solidFill>
                  <a:srgbClr val="1369B2"/>
                </a:solidFill>
                <a:latin typeface="微软雅黑" panose="020B0503020204020204" pitchFamily="34" charset="-122"/>
                <a:ea typeface="微软雅黑" panose="020B0503020204020204" pitchFamily="34" charset="-122"/>
                <a:cs typeface="+mn-ea"/>
              </a:rPr>
              <a:t>None</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055206" y="2408501"/>
            <a:ext cx="9000000" cy="957955"/>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按下操作是模拟手指按压屏幕上某个元素或点的操作</a:t>
            </a:r>
            <a:r>
              <a:rPr lang="zh-CN" altLang="zh-CN" sz="2000" dirty="0">
                <a:solidFill>
                  <a:srgbClr val="595959"/>
                </a:solidFill>
                <a:latin typeface="微软雅黑" panose="020B0503020204020204" pitchFamily="34" charset="-122"/>
                <a:ea typeface="微软雅黑" panose="020B0503020204020204" pitchFamily="34" charset="-122"/>
                <a:cs typeface="+mn-ea"/>
              </a:rPr>
              <a:t>，实现按下操作时需要调用</a:t>
            </a:r>
            <a:r>
              <a:rPr lang="en-US" altLang="zh-CN" sz="2000" dirty="0">
                <a:solidFill>
                  <a:srgbClr val="1369B2"/>
                </a:solidFill>
                <a:latin typeface="微软雅黑" panose="020B0503020204020204" pitchFamily="34" charset="-122"/>
                <a:ea typeface="微软雅黑" panose="020B0503020204020204" pitchFamily="34" charset="-122"/>
                <a:cs typeface="+mn-ea"/>
              </a:rPr>
              <a:t>press()</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方法，该方法的语法格式如下所示。</a:t>
            </a:r>
          </a:p>
        </p:txBody>
      </p:sp>
      <p:sp>
        <p:nvSpPr>
          <p:cNvPr id="7" name="文本框 5"/>
          <p:cNvSpPr txBox="1"/>
          <p:nvPr/>
        </p:nvSpPr>
        <p:spPr>
          <a:xfrm>
            <a:off x="1143690" y="3917763"/>
            <a:ext cx="9704987" cy="499624"/>
          </a:xfrm>
          <a:prstGeom prst="rect">
            <a:avLst/>
          </a:prstGeom>
          <a:solidFill>
            <a:srgbClr val="F2F2F2"/>
          </a:solid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press(el=None, x=None, y=None)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0" y="4869794"/>
            <a:ext cx="9216000" cy="1015663"/>
          </a:xfrm>
          <a:prstGeom prst="rect">
            <a:avLst/>
          </a:prstGeom>
        </p:spPr>
        <p:txBody>
          <a:bodyPr wrap="square">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press()</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el</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被按下的元素对象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被按下的点的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被按下的点的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press()</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个参数的默认值为</a:t>
            </a:r>
            <a:r>
              <a:rPr lang="en-US" altLang="zh-CN" sz="2000" dirty="0">
                <a:solidFill>
                  <a:srgbClr val="1369B2"/>
                </a:solidFill>
                <a:latin typeface="微软雅黑" panose="020B0503020204020204" pitchFamily="34" charset="-122"/>
                <a:ea typeface="微软雅黑" panose="020B0503020204020204" pitchFamily="34" charset="-122"/>
                <a:cs typeface="+mn-ea"/>
              </a:rPr>
              <a:t>None</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圆角矩形 7"/>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按下操作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055206" y="2408501"/>
            <a:ext cx="9216000" cy="1015663"/>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抬起操作是模拟手指离开屏幕的操作</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按下操作</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zh-CN" altLang="zh-CN" sz="2000" dirty="0">
                <a:solidFill>
                  <a:srgbClr val="1369B2"/>
                </a:solidFill>
                <a:latin typeface="微软雅黑" panose="020B0503020204020204" pitchFamily="34" charset="-122"/>
                <a:ea typeface="微软雅黑" panose="020B0503020204020204" pitchFamily="34" charset="-122"/>
                <a:cs typeface="+mn-ea"/>
              </a:rPr>
              <a:t>抬起操作</a:t>
            </a:r>
            <a:r>
              <a:rPr lang="zh-CN" altLang="zh-CN" sz="2000" dirty="0">
                <a:solidFill>
                  <a:srgbClr val="595959"/>
                </a:solidFill>
                <a:latin typeface="微软雅黑" panose="020B0503020204020204" pitchFamily="34" charset="-122"/>
                <a:ea typeface="微软雅黑" panose="020B0503020204020204" pitchFamily="34" charset="-122"/>
                <a:cs typeface="+mn-ea"/>
              </a:rPr>
              <a:t>可以组合成</a:t>
            </a:r>
            <a:r>
              <a:rPr lang="zh-CN" altLang="zh-CN" sz="2000" dirty="0">
                <a:solidFill>
                  <a:srgbClr val="1369B2"/>
                </a:solidFill>
                <a:latin typeface="微软雅黑" panose="020B0503020204020204" pitchFamily="34" charset="-122"/>
                <a:ea typeface="微软雅黑" panose="020B0503020204020204" pitchFamily="34" charset="-122"/>
                <a:cs typeface="+mn-ea"/>
              </a:rPr>
              <a:t>轻敲或长按操作</a:t>
            </a:r>
            <a:r>
              <a:rPr lang="zh-CN" altLang="zh-CN" sz="2000" dirty="0">
                <a:solidFill>
                  <a:srgbClr val="595959"/>
                </a:solidFill>
                <a:latin typeface="微软雅黑" panose="020B0503020204020204" pitchFamily="34" charset="-122"/>
                <a:ea typeface="微软雅黑" panose="020B0503020204020204" pitchFamily="34" charset="-122"/>
                <a:cs typeface="+mn-ea"/>
              </a:rPr>
              <a:t>。实现抬起操作时需要调用</a:t>
            </a:r>
            <a:r>
              <a:rPr lang="en-US" altLang="zh-CN" sz="2000" dirty="0">
                <a:solidFill>
                  <a:srgbClr val="1369B2"/>
                </a:solidFill>
                <a:latin typeface="微软雅黑" panose="020B0503020204020204" pitchFamily="34" charset="-122"/>
                <a:ea typeface="微软雅黑" panose="020B0503020204020204" pitchFamily="34" charset="-122"/>
                <a:cs typeface="+mn-ea"/>
              </a:rPr>
              <a:t>release()</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方法，该方法的语法格式如下所示。</a:t>
            </a:r>
          </a:p>
        </p:txBody>
      </p:sp>
      <p:sp>
        <p:nvSpPr>
          <p:cNvPr id="7" name="文本框 5"/>
          <p:cNvSpPr txBox="1"/>
          <p:nvPr/>
        </p:nvSpPr>
        <p:spPr>
          <a:xfrm>
            <a:off x="1143690" y="4170654"/>
            <a:ext cx="9704987" cy="499624"/>
          </a:xfrm>
          <a:prstGeom prst="rect">
            <a:avLst/>
          </a:prstGeom>
          <a:solidFill>
            <a:srgbClr val="F2F2F2"/>
          </a:solid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release()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圆角矩形 7"/>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抬起操作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055206" y="2408501"/>
            <a:ext cx="9216000" cy="1477328"/>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等待操作是模拟手指在屏幕上的暂停操作</a:t>
            </a:r>
            <a:r>
              <a:rPr lang="zh-CN" altLang="zh-CN" sz="2000" dirty="0">
                <a:solidFill>
                  <a:srgbClr val="595959"/>
                </a:solidFill>
                <a:latin typeface="微软雅黑" panose="020B0503020204020204" pitchFamily="34" charset="-122"/>
                <a:ea typeface="微软雅黑" panose="020B0503020204020204" pitchFamily="34" charset="-122"/>
                <a:cs typeface="+mn-ea"/>
              </a:rPr>
              <a:t>，例如，按下某个按钮后，等待</a:t>
            </a:r>
            <a:r>
              <a:rPr lang="en-US" altLang="zh-CN" sz="2000" dirty="0">
                <a:solidFill>
                  <a:srgbClr val="595959"/>
                </a:solidFill>
                <a:latin typeface="微软雅黑" panose="020B0503020204020204" pitchFamily="34" charset="-122"/>
                <a:ea typeface="微软雅黑" panose="020B0503020204020204" pitchFamily="34" charset="-122"/>
                <a:cs typeface="+mn-ea"/>
              </a:rPr>
              <a:t>5</a:t>
            </a:r>
            <a:r>
              <a:rPr lang="zh-CN" altLang="zh-CN" sz="2000" dirty="0">
                <a:solidFill>
                  <a:srgbClr val="595959"/>
                </a:solidFill>
                <a:latin typeface="微软雅黑" panose="020B0503020204020204" pitchFamily="34" charset="-122"/>
                <a:ea typeface="微软雅黑" panose="020B0503020204020204" pitchFamily="34" charset="-122"/>
                <a:cs typeface="+mn-ea"/>
              </a:rPr>
              <a:t>秒再抬起。等待操作通常可以与</a:t>
            </a:r>
            <a:r>
              <a:rPr lang="zh-CN" altLang="zh-CN" sz="2000" dirty="0">
                <a:solidFill>
                  <a:srgbClr val="1369B2"/>
                </a:solidFill>
                <a:latin typeface="微软雅黑" panose="020B0503020204020204" pitchFamily="34" charset="-122"/>
                <a:ea typeface="微软雅黑" panose="020B0503020204020204" pitchFamily="34" charset="-122"/>
                <a:cs typeface="+mn-ea"/>
              </a:rPr>
              <a:t>按下</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抬起</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移动</a:t>
            </a:r>
            <a:r>
              <a:rPr lang="zh-CN" altLang="zh-CN" sz="2000" dirty="0">
                <a:solidFill>
                  <a:srgbClr val="595959"/>
                </a:solidFill>
                <a:latin typeface="微软雅黑" panose="020B0503020204020204" pitchFamily="34" charset="-122"/>
                <a:ea typeface="微软雅黑" panose="020B0503020204020204" pitchFamily="34" charset="-122"/>
                <a:cs typeface="+mn-ea"/>
              </a:rPr>
              <a:t>等手势操作组合使用。实现等待操作时需要调用</a:t>
            </a:r>
            <a:r>
              <a:rPr lang="en-US" altLang="zh-CN" sz="2000" dirty="0">
                <a:solidFill>
                  <a:srgbClr val="1369B2"/>
                </a:solidFill>
                <a:latin typeface="微软雅黑" panose="020B0503020204020204" pitchFamily="34" charset="-122"/>
                <a:ea typeface="微软雅黑" panose="020B0503020204020204" pitchFamily="34" charset="-122"/>
                <a:cs typeface="+mn-ea"/>
              </a:rPr>
              <a:t>wait()</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方法，该方法的语法格式如下所示。</a:t>
            </a:r>
          </a:p>
        </p:txBody>
      </p:sp>
      <p:sp>
        <p:nvSpPr>
          <p:cNvPr id="7" name="文本框 5"/>
          <p:cNvSpPr txBox="1"/>
          <p:nvPr/>
        </p:nvSpPr>
        <p:spPr>
          <a:xfrm>
            <a:off x="1271206" y="4170654"/>
            <a:ext cx="9704987" cy="499624"/>
          </a:xfrm>
          <a:prstGeom prst="rect">
            <a:avLst/>
          </a:prstGeom>
          <a:solidFill>
            <a:srgbClr val="F2F2F2"/>
          </a:solid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wait(</a:t>
            </a:r>
            <a:r>
              <a:rPr lang="en-US" altLang="zh-CN" sz="2000" dirty="0" err="1">
                <a:solidFill>
                  <a:srgbClr val="595959"/>
                </a:solidFill>
                <a:latin typeface="微软雅黑" panose="020B0503020204020204" pitchFamily="34" charset="-122"/>
                <a:ea typeface="微软雅黑" panose="020B0503020204020204" pitchFamily="34" charset="-122"/>
                <a:cs typeface="+mn-ea"/>
              </a:rPr>
              <a:t>ms</a:t>
            </a:r>
            <a:r>
              <a:rPr lang="en-US" altLang="zh-CN" sz="2000" dirty="0">
                <a:solidFill>
                  <a:srgbClr val="595959"/>
                </a:solidFill>
                <a:latin typeface="微软雅黑" panose="020B0503020204020204" pitchFamily="34" charset="-122"/>
                <a:ea typeface="微软雅黑" panose="020B0503020204020204" pitchFamily="34" charset="-122"/>
                <a:cs typeface="+mn-ea"/>
              </a:rPr>
              <a:t>=0)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76793" y="5013794"/>
            <a:ext cx="6092825" cy="400110"/>
          </a:xfrm>
          <a:prstGeom prst="rect">
            <a:avLst/>
          </a:prstGeom>
        </p:spPr>
        <p:txBody>
          <a:bodyPr>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rPr>
              <a:t>wait()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err="1">
                <a:solidFill>
                  <a:srgbClr val="1369B2"/>
                </a:solidFill>
                <a:latin typeface="微软雅黑" panose="020B0503020204020204" pitchFamily="34" charset="-122"/>
                <a:ea typeface="微软雅黑" panose="020B0503020204020204" pitchFamily="34" charset="-122"/>
                <a:cs typeface="+mn-ea"/>
              </a:rPr>
              <a:t>ms</a:t>
            </a:r>
            <a:r>
              <a:rPr lang="zh-CN" altLang="zh-CN" sz="2000" dirty="0">
                <a:solidFill>
                  <a:srgbClr val="1369B2"/>
                </a:solidFill>
                <a:latin typeface="微软雅黑" panose="020B0503020204020204" pitchFamily="34" charset="-122"/>
                <a:ea typeface="微软雅黑" panose="020B0503020204020204" pitchFamily="34" charset="-122"/>
                <a:cs typeface="+mn-ea"/>
              </a:rPr>
              <a:t>表示等待的时间</a:t>
            </a:r>
            <a:r>
              <a:rPr lang="zh-CN" altLang="zh-CN" sz="2000" dirty="0">
                <a:solidFill>
                  <a:srgbClr val="595959"/>
                </a:solidFill>
                <a:latin typeface="微软雅黑" panose="020B0503020204020204" pitchFamily="34" charset="-122"/>
                <a:ea typeface="微软雅黑" panose="020B0503020204020204" pitchFamily="34" charset="-122"/>
                <a:cs typeface="+mn-ea"/>
              </a:rPr>
              <a:t>，单位为</a:t>
            </a:r>
            <a:r>
              <a:rPr lang="zh-CN" altLang="zh-CN" sz="2000" dirty="0">
                <a:solidFill>
                  <a:srgbClr val="1369B2"/>
                </a:solidFill>
                <a:latin typeface="微软雅黑" panose="020B0503020204020204" pitchFamily="34" charset="-122"/>
                <a:ea typeface="微软雅黑" panose="020B0503020204020204" pitchFamily="34" charset="-122"/>
                <a:cs typeface="+mn-ea"/>
              </a:rPr>
              <a:t>毫秒</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圆角矩形 7"/>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4.</a:t>
            </a:r>
            <a:r>
              <a:rPr lang="zh-CN" altLang="en-US" sz="2000">
                <a:latin typeface="微软雅黑" panose="020B0503020204020204" pitchFamily="34" charset="-122"/>
                <a:ea typeface="微软雅黑" panose="020B0503020204020204" pitchFamily="34" charset="-122"/>
              </a:rPr>
              <a:t>等待操作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055206" y="2408501"/>
            <a:ext cx="9216000" cy="1477328"/>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长按操作是模拟手指按下元素或坐标后，等待一段时间的操作</a:t>
            </a:r>
            <a:r>
              <a:rPr lang="zh-CN" altLang="zh-CN" sz="2000" dirty="0">
                <a:solidFill>
                  <a:srgbClr val="595959"/>
                </a:solidFill>
                <a:latin typeface="微软雅黑" panose="020B0503020204020204" pitchFamily="34" charset="-122"/>
                <a:ea typeface="微软雅黑" panose="020B0503020204020204" pitchFamily="34" charset="-122"/>
                <a:cs typeface="+mn-ea"/>
              </a:rPr>
              <a:t>。例如，长按某个按钮一段时间后会弹出菜单。实现长按操作时需要调用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long_press</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方法，该方法的语法格式如下所示。</a:t>
            </a:r>
          </a:p>
        </p:txBody>
      </p:sp>
      <p:sp>
        <p:nvSpPr>
          <p:cNvPr id="7" name="文本框 5"/>
          <p:cNvSpPr txBox="1"/>
          <p:nvPr/>
        </p:nvSpPr>
        <p:spPr>
          <a:xfrm>
            <a:off x="1271206" y="4170654"/>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long_press</a:t>
            </a:r>
            <a:r>
              <a:rPr lang="en-US" altLang="zh-CN" sz="2000" dirty="0">
                <a:solidFill>
                  <a:srgbClr val="595959"/>
                </a:solidFill>
                <a:latin typeface="微软雅黑" panose="020B0503020204020204" pitchFamily="34" charset="-122"/>
                <a:ea typeface="微软雅黑" panose="020B0503020204020204" pitchFamily="34" charset="-122"/>
                <a:cs typeface="+mn-ea"/>
              </a:rPr>
              <a:t>(el=None, x=None, y=None, duration=1000)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76793" y="4941794"/>
            <a:ext cx="9310413" cy="1422954"/>
          </a:xfrm>
          <a:prstGeom prst="rect">
            <a:avLst/>
          </a:prstGeom>
        </p:spPr>
        <p:txBody>
          <a:bodyPr wrap="square">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long_press</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el</a:t>
            </a:r>
            <a:r>
              <a:rPr lang="zh-CN" altLang="zh-CN" sz="2000" dirty="0">
                <a:solidFill>
                  <a:srgbClr val="595959"/>
                </a:solidFill>
                <a:latin typeface="微软雅黑" panose="020B0503020204020204" pitchFamily="34" charset="-122"/>
                <a:ea typeface="微软雅黑" panose="020B0503020204020204" pitchFamily="34" charset="-122"/>
                <a:cs typeface="+mn-ea"/>
              </a:rPr>
              <a:t>表示被</a:t>
            </a:r>
            <a:r>
              <a:rPr lang="zh-CN" altLang="zh-CN" sz="2000" dirty="0">
                <a:solidFill>
                  <a:srgbClr val="1369B2"/>
                </a:solidFill>
                <a:latin typeface="微软雅黑" panose="020B0503020204020204" pitchFamily="34" charset="-122"/>
                <a:ea typeface="微软雅黑" panose="020B0503020204020204" pitchFamily="34" charset="-122"/>
                <a:cs typeface="+mn-ea"/>
              </a:rPr>
              <a:t>长按的元素对象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被长按的点的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被长按的点的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duration</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长按时间</a:t>
            </a:r>
            <a:r>
              <a:rPr lang="zh-CN" altLang="zh-CN" sz="2000" dirty="0">
                <a:solidFill>
                  <a:srgbClr val="595959"/>
                </a:solidFill>
                <a:latin typeface="微软雅黑" panose="020B0503020204020204" pitchFamily="34" charset="-122"/>
                <a:ea typeface="微软雅黑" panose="020B0503020204020204" pitchFamily="34" charset="-122"/>
                <a:cs typeface="+mn-ea"/>
              </a:rPr>
              <a:t>，单位为毫秒（</a:t>
            </a:r>
            <a:r>
              <a:rPr lang="en-US" altLang="zh-CN" sz="2000" dirty="0" err="1">
                <a:solidFill>
                  <a:srgbClr val="595959"/>
                </a:solidFill>
                <a:latin typeface="微软雅黑" panose="020B0503020204020204" pitchFamily="34" charset="-122"/>
                <a:ea typeface="微软雅黑" panose="020B0503020204020204" pitchFamily="34" charset="-122"/>
                <a:cs typeface="+mn-ea"/>
              </a:rPr>
              <a:t>ms</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默认为</a:t>
            </a:r>
            <a:r>
              <a:rPr lang="en-US" altLang="zh-CN" sz="2000" dirty="0">
                <a:solidFill>
                  <a:srgbClr val="1369B2"/>
                </a:solidFill>
                <a:latin typeface="微软雅黑" panose="020B0503020204020204" pitchFamily="34" charset="-122"/>
                <a:ea typeface="微软雅黑" panose="020B0503020204020204" pitchFamily="34" charset="-122"/>
                <a:cs typeface="+mn-ea"/>
              </a:rPr>
              <a:t>1000ms</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圆角矩形 7"/>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5.</a:t>
            </a:r>
            <a:r>
              <a:rPr lang="zh-CN" altLang="en-US" sz="2000">
                <a:latin typeface="微软雅黑" panose="020B0503020204020204" pitchFamily="34" charset="-122"/>
                <a:ea typeface="微软雅黑" panose="020B0503020204020204" pitchFamily="34" charset="-122"/>
              </a:rPr>
              <a:t>长按操作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055206" y="2408501"/>
            <a:ext cx="9216000" cy="1477328"/>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移动操作是手指在屏幕上进行移动的操作</a:t>
            </a:r>
            <a:r>
              <a:rPr lang="zh-CN" altLang="zh-CN" sz="2000" dirty="0">
                <a:solidFill>
                  <a:srgbClr val="595959"/>
                </a:solidFill>
                <a:latin typeface="微软雅黑" panose="020B0503020204020204" pitchFamily="34" charset="-122"/>
                <a:ea typeface="微软雅黑" panose="020B0503020204020204" pitchFamily="34" charset="-122"/>
                <a:cs typeface="+mn-ea"/>
              </a:rPr>
              <a:t>，比如，手势解锁手机屏幕时，需要手指在屏幕上按下再进行移动操作。实现移动操作时需要调用</a:t>
            </a:r>
            <a:r>
              <a:rPr lang="en-US" altLang="zh-CN" sz="2000" dirty="0" err="1">
                <a:solidFill>
                  <a:srgbClr val="1369B2"/>
                </a:solidFill>
                <a:latin typeface="微软雅黑" panose="020B0503020204020204" pitchFamily="34" charset="-122"/>
                <a:ea typeface="微软雅黑" panose="020B0503020204020204" pitchFamily="34" charset="-122"/>
                <a:cs typeface="+mn-ea"/>
              </a:rPr>
              <a:t>move_to</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方法，该方法的语法格式如下所示。</a:t>
            </a:r>
          </a:p>
        </p:txBody>
      </p:sp>
      <p:sp>
        <p:nvSpPr>
          <p:cNvPr id="7" name="文本框 5"/>
          <p:cNvSpPr txBox="1"/>
          <p:nvPr/>
        </p:nvSpPr>
        <p:spPr>
          <a:xfrm>
            <a:off x="1271206" y="4170654"/>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move_to</a:t>
            </a:r>
            <a:r>
              <a:rPr lang="en-US" altLang="zh-CN" sz="2000" dirty="0">
                <a:solidFill>
                  <a:srgbClr val="595959"/>
                </a:solidFill>
                <a:latin typeface="微软雅黑" panose="020B0503020204020204" pitchFamily="34" charset="-122"/>
                <a:ea typeface="微软雅黑" panose="020B0503020204020204" pitchFamily="34" charset="-122"/>
                <a:cs typeface="+mn-ea"/>
              </a:rPr>
              <a:t>(el=None, x=None, y=None)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76793" y="4941794"/>
            <a:ext cx="9310413" cy="1015663"/>
          </a:xfrm>
          <a:prstGeom prst="rect">
            <a:avLst/>
          </a:prstGeom>
        </p:spPr>
        <p:txBody>
          <a:bodyPr wrap="square">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move_to</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el</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被移动的元素对象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被移动的点的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X</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被移动的点的</a:t>
            </a:r>
            <a:r>
              <a:rPr lang="en-US" altLang="zh-CN" sz="2000" dirty="0">
                <a:solidFill>
                  <a:srgbClr val="1369B2"/>
                </a:solidFill>
                <a:latin typeface="微软雅黑" panose="020B0503020204020204" pitchFamily="34" charset="-122"/>
                <a:ea typeface="微软雅黑" panose="020B0503020204020204" pitchFamily="34" charset="-122"/>
                <a:cs typeface="+mn-ea"/>
              </a:rPr>
              <a:t>Y</a:t>
            </a:r>
            <a:r>
              <a:rPr lang="zh-CN" altLang="zh-CN" sz="2000" dirty="0">
                <a:solidFill>
                  <a:srgbClr val="1369B2"/>
                </a:solidFill>
                <a:latin typeface="微软雅黑" panose="020B0503020204020204" pitchFamily="34" charset="-122"/>
                <a:ea typeface="微软雅黑" panose="020B0503020204020204" pitchFamily="34" charset="-122"/>
                <a:cs typeface="+mn-ea"/>
              </a:rPr>
              <a:t>轴坐标</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圆角矩形 7"/>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6.</a:t>
            </a:r>
            <a:r>
              <a:rPr lang="zh-CN" altLang="en-US" sz="2000">
                <a:latin typeface="微软雅黑" panose="020B0503020204020204" pitchFamily="34" charset="-122"/>
                <a:ea typeface="微软雅黑" panose="020B0503020204020204" pitchFamily="34" charset="-122"/>
              </a:rPr>
              <a:t>移动操作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1143690" y="2205794"/>
            <a:ext cx="9216000" cy="957955"/>
          </a:xfrm>
          <a:prstGeom prst="rect">
            <a:avLst/>
          </a:prstGeom>
          <a:no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Appium</a:t>
            </a:r>
            <a:r>
              <a:rPr lang="zh-CN" altLang="zh-CN" sz="2000" dirty="0">
                <a:solidFill>
                  <a:srgbClr val="595959"/>
                </a:solidFill>
                <a:latin typeface="微软雅黑" panose="020B0503020204020204" pitchFamily="34" charset="-122"/>
                <a:ea typeface="微软雅黑" panose="020B0503020204020204" pitchFamily="34" charset="-122"/>
                <a:cs typeface="+mn-ea"/>
              </a:rPr>
              <a:t>提供了</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个方法实现滑动操作，这</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个方法分别是</a:t>
            </a:r>
            <a:r>
              <a:rPr lang="en-US" altLang="zh-CN" sz="2000" dirty="0">
                <a:solidFill>
                  <a:srgbClr val="1369B2"/>
                </a:solidFill>
                <a:latin typeface="微软雅黑" panose="020B0503020204020204" pitchFamily="34" charset="-122"/>
                <a:ea typeface="微软雅黑" panose="020B0503020204020204" pitchFamily="34" charset="-122"/>
                <a:cs typeface="+mn-ea"/>
              </a:rPr>
              <a:t>swipe()</a:t>
            </a:r>
            <a:r>
              <a:rPr lang="zh-CN" altLang="zh-CN" sz="2000" dirty="0">
                <a:solidFill>
                  <a:srgbClr val="595959"/>
                </a:solidFill>
                <a:latin typeface="微软雅黑" panose="020B0503020204020204" pitchFamily="34" charset="-122"/>
                <a:ea typeface="微软雅黑" panose="020B0503020204020204" pitchFamily="34" charset="-122"/>
                <a:cs typeface="+mn-ea"/>
              </a:rPr>
              <a:t>方法和</a:t>
            </a:r>
            <a:r>
              <a:rPr lang="en-US" altLang="zh-CN" sz="2000" dirty="0">
                <a:solidFill>
                  <a:srgbClr val="1369B2"/>
                </a:solidFill>
                <a:latin typeface="微软雅黑" panose="020B0503020204020204" pitchFamily="34" charset="-122"/>
                <a:ea typeface="微软雅黑" panose="020B0503020204020204" pitchFamily="34" charset="-122"/>
                <a:cs typeface="+mn-ea"/>
              </a:rPr>
              <a:t>scroll()</a:t>
            </a:r>
            <a:r>
              <a:rPr lang="zh-CN" altLang="zh-CN" sz="2000" dirty="0">
                <a:solidFill>
                  <a:srgbClr val="595959"/>
                </a:solidFill>
                <a:latin typeface="微软雅黑" panose="020B0503020204020204" pitchFamily="34" charset="-122"/>
                <a:ea typeface="微软雅黑" panose="020B0503020204020204" pitchFamily="34" charset="-122"/>
                <a:cs typeface="+mn-ea"/>
              </a:rPr>
              <a:t>方法，其中</a:t>
            </a:r>
            <a:r>
              <a:rPr lang="en-US" altLang="zh-CN" sz="2000" dirty="0">
                <a:solidFill>
                  <a:srgbClr val="595959"/>
                </a:solidFill>
                <a:latin typeface="微软雅黑" panose="020B0503020204020204" pitchFamily="34" charset="-122"/>
                <a:ea typeface="微软雅黑" panose="020B0503020204020204" pitchFamily="34" charset="-122"/>
                <a:cs typeface="+mn-ea"/>
              </a:rPr>
              <a:t>scroll()</a:t>
            </a:r>
            <a:r>
              <a:rPr lang="zh-CN" altLang="zh-CN" sz="2000" dirty="0">
                <a:solidFill>
                  <a:srgbClr val="595959"/>
                </a:solidFill>
                <a:latin typeface="微软雅黑" panose="020B0503020204020204" pitchFamily="34" charset="-122"/>
                <a:ea typeface="微软雅黑" panose="020B0503020204020204" pitchFamily="34" charset="-122"/>
                <a:cs typeface="+mn-ea"/>
              </a:rPr>
              <a:t>方法实现的滑动操作也可以称为</a:t>
            </a:r>
            <a:r>
              <a:rPr lang="zh-CN" altLang="zh-CN" sz="2000" dirty="0">
                <a:solidFill>
                  <a:srgbClr val="1369B2"/>
                </a:solidFill>
                <a:latin typeface="微软雅黑" panose="020B0503020204020204" pitchFamily="34" charset="-122"/>
                <a:ea typeface="微软雅黑" panose="020B0503020204020204" pitchFamily="34" charset="-122"/>
                <a:cs typeface="+mn-ea"/>
              </a:rPr>
              <a:t>滚动操作</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文本框 5"/>
          <p:cNvSpPr txBox="1"/>
          <p:nvPr/>
        </p:nvSpPr>
        <p:spPr>
          <a:xfrm>
            <a:off x="1055206" y="3501794"/>
            <a:ext cx="9704987" cy="499624"/>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drag_and_drop</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source_element</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target_element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65148" y="4293794"/>
            <a:ext cx="9360000" cy="1477328"/>
          </a:xfrm>
          <a:prstGeom prst="rect">
            <a:avLst/>
          </a:prstGeom>
        </p:spPr>
        <p:txBody>
          <a:bodyPr wrap="square">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drag_and_drop</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err="1">
                <a:solidFill>
                  <a:srgbClr val="1369B2"/>
                </a:solidFill>
                <a:latin typeface="微软雅黑" panose="020B0503020204020204" pitchFamily="34" charset="-122"/>
                <a:ea typeface="微软雅黑" panose="020B0503020204020204" pitchFamily="34" charset="-122"/>
                <a:cs typeface="+mn-ea"/>
              </a:rPr>
              <a:t>source_element</a:t>
            </a:r>
            <a:r>
              <a:rPr lang="zh-CN" altLang="zh-CN" sz="2000">
                <a:solidFill>
                  <a:srgbClr val="595959"/>
                </a:solidFill>
                <a:latin typeface="微软雅黑" panose="020B0503020204020204" pitchFamily="34" charset="-122"/>
                <a:ea typeface="微软雅黑" panose="020B0503020204020204" pitchFamily="34" charset="-122"/>
                <a:cs typeface="+mn-ea"/>
              </a:rPr>
              <a:t>表示</a:t>
            </a:r>
            <a:r>
              <a:rPr lang="zh-CN" altLang="zh-CN" sz="2000">
                <a:solidFill>
                  <a:srgbClr val="1369B2"/>
                </a:solidFill>
                <a:latin typeface="微软雅黑" panose="020B0503020204020204" pitchFamily="34" charset="-122"/>
                <a:ea typeface="微软雅黑" panose="020B0503020204020204" pitchFamily="34" charset="-122"/>
                <a:cs typeface="+mn-ea"/>
              </a:rPr>
              <a:t>被</a:t>
            </a: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，参数</a:t>
            </a:r>
            <a:r>
              <a:rPr lang="en-US" altLang="zh-CN" sz="2000" dirty="0" err="1">
                <a:solidFill>
                  <a:srgbClr val="1369B2"/>
                </a:solidFill>
                <a:latin typeface="微软雅黑" panose="020B0503020204020204" pitchFamily="34" charset="-122"/>
                <a:ea typeface="微软雅黑" panose="020B0503020204020204" pitchFamily="34" charset="-122"/>
                <a:cs typeface="+mn-ea"/>
              </a:rPr>
              <a:t>target_element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目标元素对象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。虽然</a:t>
            </a:r>
            <a:r>
              <a:rPr lang="en-US" altLang="zh-CN" sz="2000" dirty="0" err="1">
                <a:solidFill>
                  <a:srgbClr val="595959"/>
                </a:solidFill>
                <a:latin typeface="微软雅黑" panose="020B0503020204020204" pitchFamily="34" charset="-122"/>
                <a:ea typeface="微软雅黑" panose="020B0503020204020204" pitchFamily="34" charset="-122"/>
                <a:cs typeface="+mn-ea"/>
              </a:rPr>
              <a:t>drag_and_drop</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方法与</a:t>
            </a:r>
            <a:r>
              <a:rPr lang="en-US" altLang="zh-CN" sz="2000" dirty="0">
                <a:solidFill>
                  <a:srgbClr val="595959"/>
                </a:solidFill>
                <a:latin typeface="微软雅黑" panose="020B0503020204020204" pitchFamily="34" charset="-122"/>
                <a:ea typeface="微软雅黑" panose="020B0503020204020204" pitchFamily="34" charset="-122"/>
                <a:cs typeface="+mn-ea"/>
              </a:rPr>
              <a:t>scroll()</a:t>
            </a:r>
            <a:r>
              <a:rPr lang="zh-CN" altLang="zh-CN" sz="2000" dirty="0">
                <a:solidFill>
                  <a:srgbClr val="595959"/>
                </a:solidFill>
                <a:latin typeface="微软雅黑" panose="020B0503020204020204" pitchFamily="34" charset="-122"/>
                <a:ea typeface="微软雅黑" panose="020B0503020204020204" pitchFamily="34" charset="-122"/>
                <a:cs typeface="+mn-ea"/>
              </a:rPr>
              <a:t>方法传递的参数都是元素对象</a:t>
            </a:r>
            <a:r>
              <a:rPr lang="zh-CN" altLang="zh-CN" sz="2000">
                <a:solidFill>
                  <a:srgbClr val="595959"/>
                </a:solidFill>
                <a:latin typeface="微软雅黑" panose="020B0503020204020204" pitchFamily="34" charset="-122"/>
                <a:ea typeface="微软雅黑" panose="020B0503020204020204" pitchFamily="34" charset="-122"/>
                <a:cs typeface="+mn-ea"/>
              </a:rPr>
              <a:t>，但是</a:t>
            </a: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1369B2"/>
                </a:solidFill>
                <a:latin typeface="微软雅黑" panose="020B0503020204020204" pitchFamily="34" charset="-122"/>
                <a:ea typeface="微软雅黑" panose="020B0503020204020204" pitchFamily="34" charset="-122"/>
                <a:cs typeface="+mn-ea"/>
              </a:rPr>
              <a:t>操作</a:t>
            </a:r>
            <a:r>
              <a:rPr lang="zh-CN" altLang="zh-CN" sz="2000" dirty="0">
                <a:solidFill>
                  <a:srgbClr val="1369B2"/>
                </a:solidFill>
                <a:latin typeface="微软雅黑" panose="020B0503020204020204" pitchFamily="34" charset="-122"/>
                <a:ea typeface="微软雅黑" panose="020B0503020204020204" pitchFamily="34" charset="-122"/>
                <a:cs typeface="+mn-ea"/>
              </a:rPr>
              <a:t>没有惯性</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圆角矩形 6"/>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7.</a:t>
            </a:r>
            <a:r>
              <a:rPr lang="zh-CN" altLang="en-US" sz="2000">
                <a:latin typeface="微软雅黑" panose="020B0503020204020204" pitchFamily="34" charset="-122"/>
                <a:ea typeface="微软雅黑" panose="020B0503020204020204" pitchFamily="34" charset="-122"/>
              </a:rPr>
              <a:t>滑动操作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7" name="文本框 5"/>
          <p:cNvSpPr txBox="1"/>
          <p:nvPr/>
        </p:nvSpPr>
        <p:spPr>
          <a:xfrm>
            <a:off x="1159357" y="3323375"/>
            <a:ext cx="9704987" cy="507831"/>
          </a:xfrm>
          <a:prstGeom prst="rect">
            <a:avLst/>
          </a:prstGeom>
          <a:solidFill>
            <a:srgbClr val="F2F2F2"/>
          </a:solidFill>
        </p:spPr>
        <p:txBody>
          <a:bodyPr wrap="square" rtlCol="0">
            <a:spAutoFit/>
          </a:bodyPr>
          <a:lstStyle/>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swipe(</a:t>
            </a:r>
            <a:r>
              <a:rPr lang="en-US" altLang="zh-CN" sz="1800" dirty="0" err="1">
                <a:solidFill>
                  <a:srgbClr val="595959"/>
                </a:solidFill>
                <a:latin typeface="微软雅黑" panose="020B0503020204020204" pitchFamily="34" charset="-122"/>
                <a:ea typeface="微软雅黑" panose="020B0503020204020204" pitchFamily="34" charset="-122"/>
                <a:cs typeface="+mn-ea"/>
              </a:rPr>
              <a:t>start_x</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mn-ea"/>
              </a:rPr>
              <a:t>start_y</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mn-ea"/>
              </a:rPr>
              <a:t>end_x</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mn-ea"/>
              </a:rPr>
              <a:t>end_y</a:t>
            </a:r>
            <a:r>
              <a:rPr lang="en-US" altLang="zh-CN" sz="1800" dirty="0">
                <a:solidFill>
                  <a:srgbClr val="595959"/>
                </a:solidFill>
                <a:latin typeface="微软雅黑" panose="020B0503020204020204" pitchFamily="34" charset="-122"/>
                <a:ea typeface="微软雅黑" panose="020B0503020204020204" pitchFamily="34" charset="-122"/>
                <a:cs typeface="+mn-ea"/>
              </a:rPr>
              <a:t>, duration=None)</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343206" y="3997266"/>
            <a:ext cx="9747934" cy="2585323"/>
          </a:xfrm>
          <a:prstGeom prst="rect">
            <a:avLst/>
          </a:prstGeom>
        </p:spPr>
        <p:txBody>
          <a:bodyPr wrap="square">
            <a:spAutoFit/>
          </a:bodyPr>
          <a:lstStyle/>
          <a:p>
            <a:pPr marL="342900" indent="-342900">
              <a:lnSpc>
                <a:spcPct val="150000"/>
              </a:lnSpc>
              <a:buFont typeface="Wingdings" panose="05000000000000000000" pitchFamily="2" charset="2"/>
              <a:buChar char="l"/>
            </a:pPr>
            <a:r>
              <a:rPr lang="en-US" altLang="zh-CN" sz="1800" dirty="0" err="1">
                <a:solidFill>
                  <a:srgbClr val="595959"/>
                </a:solidFill>
                <a:latin typeface="微软雅黑" panose="020B0503020204020204" pitchFamily="34" charset="-122"/>
                <a:ea typeface="微软雅黑" panose="020B0503020204020204" pitchFamily="34" charset="-122"/>
                <a:cs typeface="+mn-ea"/>
              </a:rPr>
              <a:t>start_x</a:t>
            </a:r>
            <a:r>
              <a:rPr lang="zh-CN" altLang="zh-CN" sz="1800" dirty="0">
                <a:solidFill>
                  <a:srgbClr val="595959"/>
                </a:solidFill>
                <a:latin typeface="微软雅黑" panose="020B0503020204020204" pitchFamily="34" charset="-122"/>
                <a:ea typeface="微软雅黑" panose="020B0503020204020204" pitchFamily="34" charset="-122"/>
                <a:cs typeface="+mn-ea"/>
              </a:rPr>
              <a:t>：滑动操作起始位置的</a:t>
            </a:r>
            <a:r>
              <a:rPr lang="en-US" altLang="zh-CN" sz="1800" dirty="0">
                <a:solidFill>
                  <a:srgbClr val="595959"/>
                </a:solidFill>
                <a:latin typeface="微软雅黑" panose="020B0503020204020204" pitchFamily="34" charset="-122"/>
                <a:ea typeface="微软雅黑" panose="020B0503020204020204" pitchFamily="34" charset="-122"/>
                <a:cs typeface="+mn-ea"/>
              </a:rPr>
              <a:t>X</a:t>
            </a:r>
            <a:r>
              <a:rPr lang="zh-CN" altLang="zh-CN" sz="1800" dirty="0">
                <a:solidFill>
                  <a:srgbClr val="595959"/>
                </a:solidFill>
                <a:latin typeface="微软雅黑" panose="020B0503020204020204" pitchFamily="34" charset="-122"/>
                <a:ea typeface="微软雅黑" panose="020B0503020204020204" pitchFamily="34" charset="-122"/>
                <a:cs typeface="+mn-ea"/>
              </a:rPr>
              <a:t>轴坐标。</a:t>
            </a:r>
          </a:p>
          <a:p>
            <a:pPr marL="342900" indent="-342900">
              <a:lnSpc>
                <a:spcPct val="150000"/>
              </a:lnSpc>
              <a:buFont typeface="Wingdings" panose="05000000000000000000" pitchFamily="2" charset="2"/>
              <a:buChar char="l"/>
            </a:pPr>
            <a:r>
              <a:rPr lang="en-US" altLang="zh-CN" sz="1800" dirty="0" err="1">
                <a:solidFill>
                  <a:srgbClr val="595959"/>
                </a:solidFill>
                <a:latin typeface="微软雅黑" panose="020B0503020204020204" pitchFamily="34" charset="-122"/>
                <a:ea typeface="微软雅黑" panose="020B0503020204020204" pitchFamily="34" charset="-122"/>
                <a:cs typeface="+mn-ea"/>
              </a:rPr>
              <a:t>start_y</a:t>
            </a:r>
            <a:r>
              <a:rPr lang="zh-CN" altLang="zh-CN" sz="1800" dirty="0">
                <a:solidFill>
                  <a:srgbClr val="595959"/>
                </a:solidFill>
                <a:latin typeface="微软雅黑" panose="020B0503020204020204" pitchFamily="34" charset="-122"/>
                <a:ea typeface="微软雅黑" panose="020B0503020204020204" pitchFamily="34" charset="-122"/>
                <a:cs typeface="+mn-ea"/>
              </a:rPr>
              <a:t>：滑动操作起始位置的</a:t>
            </a:r>
            <a:r>
              <a:rPr lang="en-US" altLang="zh-CN" sz="1800" dirty="0">
                <a:solidFill>
                  <a:srgbClr val="595959"/>
                </a:solidFill>
                <a:latin typeface="微软雅黑" panose="020B0503020204020204" pitchFamily="34" charset="-122"/>
                <a:ea typeface="微软雅黑" panose="020B0503020204020204" pitchFamily="34" charset="-122"/>
                <a:cs typeface="+mn-ea"/>
              </a:rPr>
              <a:t>Y</a:t>
            </a:r>
            <a:r>
              <a:rPr lang="zh-CN" altLang="zh-CN" sz="1800" dirty="0">
                <a:solidFill>
                  <a:srgbClr val="595959"/>
                </a:solidFill>
                <a:latin typeface="微软雅黑" panose="020B0503020204020204" pitchFamily="34" charset="-122"/>
                <a:ea typeface="微软雅黑" panose="020B0503020204020204" pitchFamily="34" charset="-122"/>
                <a:cs typeface="+mn-ea"/>
              </a:rPr>
              <a:t>轴坐标。</a:t>
            </a:r>
          </a:p>
          <a:p>
            <a:pPr marL="342900" indent="-342900">
              <a:lnSpc>
                <a:spcPct val="150000"/>
              </a:lnSpc>
              <a:buFont typeface="Wingdings" panose="05000000000000000000" pitchFamily="2" charset="2"/>
              <a:buChar char="l"/>
            </a:pPr>
            <a:r>
              <a:rPr lang="en-US" altLang="zh-CN" sz="1800" dirty="0" err="1">
                <a:solidFill>
                  <a:srgbClr val="595959"/>
                </a:solidFill>
                <a:latin typeface="微软雅黑" panose="020B0503020204020204" pitchFamily="34" charset="-122"/>
                <a:ea typeface="微软雅黑" panose="020B0503020204020204" pitchFamily="34" charset="-122"/>
                <a:cs typeface="+mn-ea"/>
              </a:rPr>
              <a:t>end_x</a:t>
            </a:r>
            <a:r>
              <a:rPr lang="zh-CN" altLang="zh-CN" sz="1800" dirty="0">
                <a:solidFill>
                  <a:srgbClr val="595959"/>
                </a:solidFill>
                <a:latin typeface="微软雅黑" panose="020B0503020204020204" pitchFamily="34" charset="-122"/>
                <a:ea typeface="微软雅黑" panose="020B0503020204020204" pitchFamily="34" charset="-122"/>
                <a:cs typeface="+mn-ea"/>
              </a:rPr>
              <a:t>：滑动操作结束位置的</a:t>
            </a:r>
            <a:r>
              <a:rPr lang="en-US" altLang="zh-CN" sz="1800" dirty="0">
                <a:solidFill>
                  <a:srgbClr val="595959"/>
                </a:solidFill>
                <a:latin typeface="微软雅黑" panose="020B0503020204020204" pitchFamily="34" charset="-122"/>
                <a:ea typeface="微软雅黑" panose="020B0503020204020204" pitchFamily="34" charset="-122"/>
                <a:cs typeface="+mn-ea"/>
              </a:rPr>
              <a:t>X</a:t>
            </a:r>
            <a:r>
              <a:rPr lang="zh-CN" altLang="zh-CN" sz="1800" dirty="0">
                <a:solidFill>
                  <a:srgbClr val="595959"/>
                </a:solidFill>
                <a:latin typeface="微软雅黑" panose="020B0503020204020204" pitchFamily="34" charset="-122"/>
                <a:ea typeface="微软雅黑" panose="020B0503020204020204" pitchFamily="34" charset="-122"/>
                <a:cs typeface="+mn-ea"/>
              </a:rPr>
              <a:t>轴坐标。</a:t>
            </a:r>
          </a:p>
          <a:p>
            <a:pPr marL="342900" lvl="0" indent="-342900">
              <a:lnSpc>
                <a:spcPct val="150000"/>
              </a:lnSpc>
              <a:buFont typeface="Wingdings" panose="05000000000000000000" pitchFamily="2" charset="2"/>
              <a:buChar char="l"/>
            </a:pPr>
            <a:r>
              <a:rPr lang="en-US" altLang="zh-CN" sz="1800" dirty="0" err="1">
                <a:solidFill>
                  <a:srgbClr val="595959"/>
                </a:solidFill>
                <a:latin typeface="微软雅黑" panose="020B0503020204020204" pitchFamily="34" charset="-122"/>
                <a:ea typeface="微软雅黑" panose="020B0503020204020204" pitchFamily="34" charset="-122"/>
                <a:cs typeface="+mn-ea"/>
              </a:rPr>
              <a:t>end_y</a:t>
            </a:r>
            <a:r>
              <a:rPr lang="zh-CN" altLang="zh-CN" sz="1800" dirty="0">
                <a:solidFill>
                  <a:srgbClr val="595959"/>
                </a:solidFill>
                <a:latin typeface="微软雅黑" panose="020B0503020204020204" pitchFamily="34" charset="-122"/>
                <a:ea typeface="微软雅黑" panose="020B0503020204020204" pitchFamily="34" charset="-122"/>
                <a:cs typeface="+mn-ea"/>
              </a:rPr>
              <a:t>：滑动操作结束位置的</a:t>
            </a:r>
            <a:r>
              <a:rPr lang="en-US" altLang="zh-CN" sz="1800" dirty="0">
                <a:solidFill>
                  <a:srgbClr val="595959"/>
                </a:solidFill>
                <a:latin typeface="微软雅黑" panose="020B0503020204020204" pitchFamily="34" charset="-122"/>
                <a:ea typeface="微软雅黑" panose="020B0503020204020204" pitchFamily="34" charset="-122"/>
                <a:cs typeface="+mn-ea"/>
              </a:rPr>
              <a:t>Y</a:t>
            </a:r>
            <a:r>
              <a:rPr lang="zh-CN" altLang="zh-CN" sz="1800" dirty="0">
                <a:solidFill>
                  <a:srgbClr val="595959"/>
                </a:solidFill>
                <a:latin typeface="微软雅黑" panose="020B0503020204020204" pitchFamily="34" charset="-122"/>
                <a:ea typeface="微软雅黑" panose="020B0503020204020204" pitchFamily="34" charset="-122"/>
                <a:cs typeface="+mn-ea"/>
              </a:rPr>
              <a:t>轴坐标。</a:t>
            </a:r>
            <a:endParaRPr lang="en-US" altLang="zh-CN" sz="18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1800" dirty="0">
                <a:solidFill>
                  <a:srgbClr val="595959"/>
                </a:solidFill>
                <a:latin typeface="微软雅黑" panose="020B0503020204020204" pitchFamily="34" charset="-122"/>
                <a:ea typeface="微软雅黑" panose="020B0503020204020204" pitchFamily="34" charset="-122"/>
                <a:cs typeface="+mn-ea"/>
              </a:rPr>
              <a:t>duration</a:t>
            </a:r>
            <a:r>
              <a:rPr lang="zh-CN" altLang="zh-CN" sz="1800" dirty="0">
                <a:solidFill>
                  <a:srgbClr val="595959"/>
                </a:solidFill>
                <a:latin typeface="微软雅黑" panose="020B0503020204020204" pitchFamily="34" charset="-122"/>
                <a:ea typeface="微软雅黑" panose="020B0503020204020204" pitchFamily="34" charset="-122"/>
                <a:cs typeface="+mn-ea"/>
              </a:rPr>
              <a:t>：滑动操作持续的时间，单位为毫秒（</a:t>
            </a:r>
            <a:r>
              <a:rPr lang="en-US" altLang="zh-CN" sz="1800" dirty="0" err="1">
                <a:solidFill>
                  <a:srgbClr val="595959"/>
                </a:solidFill>
                <a:latin typeface="微软雅黑" panose="020B0503020204020204" pitchFamily="34" charset="-122"/>
                <a:ea typeface="微软雅黑" panose="020B0503020204020204" pitchFamily="34" charset="-122"/>
                <a:cs typeface="+mn-ea"/>
              </a:rPr>
              <a:t>ms</a:t>
            </a:r>
            <a:r>
              <a:rPr lang="zh-CN" altLang="zh-CN" sz="1800" dirty="0">
                <a:solidFill>
                  <a:srgbClr val="595959"/>
                </a:solidFill>
                <a:latin typeface="微软雅黑" panose="020B0503020204020204" pitchFamily="34" charset="-122"/>
                <a:ea typeface="微软雅黑" panose="020B0503020204020204" pitchFamily="34" charset="-122"/>
                <a:cs typeface="+mn-ea"/>
              </a:rPr>
              <a:t>），默认值为</a:t>
            </a:r>
            <a:r>
              <a:rPr lang="en-US" altLang="zh-CN" sz="1800" dirty="0">
                <a:solidFill>
                  <a:srgbClr val="595959"/>
                </a:solidFill>
                <a:latin typeface="微软雅黑" panose="020B0503020204020204" pitchFamily="34" charset="-122"/>
                <a:ea typeface="微软雅黑" panose="020B0503020204020204" pitchFamily="34" charset="-122"/>
                <a:cs typeface="+mn-ea"/>
              </a:rPr>
              <a:t>None</a:t>
            </a:r>
            <a:r>
              <a:rPr lang="zh-CN" altLang="zh-CN" sz="1800" dirty="0">
                <a:solidFill>
                  <a:srgbClr val="595959"/>
                </a:solidFill>
                <a:latin typeface="微软雅黑" panose="020B0503020204020204" pitchFamily="34" charset="-122"/>
                <a:ea typeface="微软雅黑" panose="020B0503020204020204" pitchFamily="34" charset="-122"/>
                <a:cs typeface="+mn-ea"/>
              </a:rPr>
              <a:t>。该参数可以降低滑屏的速度与惯性。</a:t>
            </a:r>
          </a:p>
        </p:txBody>
      </p:sp>
      <p:sp>
        <p:nvSpPr>
          <p:cNvPr id="3" name="矩形 2"/>
          <p:cNvSpPr/>
          <p:nvPr/>
        </p:nvSpPr>
        <p:spPr>
          <a:xfrm>
            <a:off x="1143690" y="909794"/>
            <a:ext cx="10135516" cy="2215991"/>
          </a:xfrm>
          <a:prstGeom prst="rect">
            <a:avLst/>
          </a:prstGeom>
        </p:spPr>
        <p:txBody>
          <a:bodyPr wrap="square">
            <a:spAutoFit/>
          </a:bodyPr>
          <a:lstStyle/>
          <a:p>
            <a:pPr>
              <a:lnSpc>
                <a:spcPct val="150000"/>
              </a:lnSpc>
            </a:pPr>
            <a:r>
              <a:rPr lang="zh-CN" altLang="zh-CN"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a:solidFill>
                  <a:srgbClr val="595959"/>
                </a:solidFill>
                <a:latin typeface="微软雅黑" panose="020B0503020204020204" pitchFamily="34" charset="-122"/>
                <a:ea typeface="微软雅黑" panose="020B0503020204020204" pitchFamily="34" charset="-122"/>
                <a:cs typeface="+mn-ea"/>
              </a:rPr>
              <a:t>1</a:t>
            </a:r>
            <a:r>
              <a:rPr lang="zh-CN" altLang="zh-CN" sz="2000" b="1" dirty="0">
                <a:solidFill>
                  <a:srgbClr val="595959"/>
                </a:solidFill>
                <a:latin typeface="微软雅黑" panose="020B0503020204020204" pitchFamily="34" charset="-122"/>
                <a:ea typeface="微软雅黑" panose="020B0503020204020204" pitchFamily="34" charset="-122"/>
                <a:cs typeface="+mn-ea"/>
              </a:rPr>
              <a:t>）通过</a:t>
            </a:r>
            <a:r>
              <a:rPr lang="en-US" altLang="zh-CN" sz="2000" b="1" dirty="0">
                <a:solidFill>
                  <a:srgbClr val="595959"/>
                </a:solidFill>
                <a:latin typeface="微软雅黑" panose="020B0503020204020204" pitchFamily="34" charset="-122"/>
                <a:ea typeface="微软雅黑" panose="020B0503020204020204" pitchFamily="34" charset="-122"/>
                <a:cs typeface="+mn-ea"/>
              </a:rPr>
              <a:t>swipe()</a:t>
            </a:r>
            <a:r>
              <a:rPr lang="zh-CN" altLang="zh-CN" sz="2000" b="1" dirty="0">
                <a:solidFill>
                  <a:srgbClr val="595959"/>
                </a:solidFill>
                <a:latin typeface="微软雅黑" panose="020B0503020204020204" pitchFamily="34" charset="-122"/>
                <a:ea typeface="微软雅黑" panose="020B0503020204020204" pitchFamily="34" charset="-122"/>
                <a:cs typeface="+mn-ea"/>
              </a:rPr>
              <a:t>方法实现滑动操作</a:t>
            </a:r>
          </a:p>
          <a:p>
            <a:pPr>
              <a:lnSpc>
                <a:spcPct val="150000"/>
              </a:lnSpc>
            </a:pPr>
            <a:endParaRPr lang="en-US" altLang="zh-CN" sz="18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cs typeface="+mn-ea"/>
              </a:rPr>
              <a:t>通过</a:t>
            </a:r>
            <a:r>
              <a:rPr lang="en-US" altLang="zh-CN" sz="1800" dirty="0">
                <a:solidFill>
                  <a:srgbClr val="1369B2"/>
                </a:solidFill>
                <a:latin typeface="微软雅黑" panose="020B0503020204020204" pitchFamily="34" charset="-122"/>
                <a:ea typeface="微软雅黑" panose="020B0503020204020204" pitchFamily="34" charset="-122"/>
                <a:cs typeface="+mn-ea"/>
              </a:rPr>
              <a:t>swipe()</a:t>
            </a:r>
            <a:r>
              <a:rPr lang="zh-CN" altLang="zh-CN" sz="1800" dirty="0">
                <a:solidFill>
                  <a:srgbClr val="595959"/>
                </a:solidFill>
                <a:latin typeface="微软雅黑" panose="020B0503020204020204" pitchFamily="34" charset="-122"/>
                <a:ea typeface="微软雅黑" panose="020B0503020204020204" pitchFamily="34" charset="-122"/>
                <a:cs typeface="+mn-ea"/>
              </a:rPr>
              <a:t>方法实现的滑动操作指的是</a:t>
            </a:r>
            <a:r>
              <a:rPr lang="zh-CN" altLang="zh-CN" sz="1800" dirty="0">
                <a:solidFill>
                  <a:srgbClr val="1369B2"/>
                </a:solidFill>
                <a:latin typeface="微软雅黑" panose="020B0503020204020204" pitchFamily="34" charset="-122"/>
                <a:ea typeface="微软雅黑" panose="020B0503020204020204" pitchFamily="34" charset="-122"/>
                <a:cs typeface="+mn-ea"/>
              </a:rPr>
              <a:t>手指触摸屏幕后从一个坐标位置滑动到另一个坐标位置的操作</a:t>
            </a:r>
            <a:r>
              <a:rPr lang="zh-CN" altLang="zh-CN" sz="1800" dirty="0">
                <a:solidFill>
                  <a:srgbClr val="595959"/>
                </a:solidFill>
                <a:latin typeface="微软雅黑" panose="020B0503020204020204" pitchFamily="34" charset="-122"/>
                <a:ea typeface="微软雅黑" panose="020B0503020204020204" pitchFamily="34" charset="-122"/>
                <a:cs typeface="+mn-ea"/>
              </a:rPr>
              <a:t>，该操作</a:t>
            </a:r>
            <a:r>
              <a:rPr lang="zh-CN" altLang="zh-CN" sz="1800" dirty="0">
                <a:solidFill>
                  <a:srgbClr val="1369B2"/>
                </a:solidFill>
                <a:latin typeface="微软雅黑" panose="020B0503020204020204" pitchFamily="34" charset="-122"/>
                <a:ea typeface="微软雅黑" panose="020B0503020204020204" pitchFamily="34" charset="-122"/>
                <a:cs typeface="+mn-ea"/>
              </a:rPr>
              <a:t>可以设置滑动持续时间</a:t>
            </a:r>
            <a:r>
              <a:rPr lang="zh-CN" altLang="zh-CN" sz="1800" dirty="0">
                <a:solidFill>
                  <a:srgbClr val="595959"/>
                </a:solidFill>
                <a:latin typeface="微软雅黑" panose="020B0503020204020204" pitchFamily="34" charset="-122"/>
                <a:ea typeface="微软雅黑" panose="020B0503020204020204" pitchFamily="34" charset="-122"/>
                <a:cs typeface="+mn-ea"/>
              </a:rPr>
              <a:t>，并且</a:t>
            </a:r>
            <a:r>
              <a:rPr lang="zh-CN" altLang="zh-CN" sz="1800" dirty="0">
                <a:solidFill>
                  <a:srgbClr val="1369B2"/>
                </a:solidFill>
                <a:latin typeface="微软雅黑" panose="020B0503020204020204" pitchFamily="34" charset="-122"/>
                <a:ea typeface="微软雅黑" panose="020B0503020204020204" pitchFamily="34" charset="-122"/>
                <a:cs typeface="+mn-ea"/>
              </a:rPr>
              <a:t>具有一定的惯性</a:t>
            </a:r>
            <a:r>
              <a:rPr lang="zh-CN" altLang="zh-CN" sz="1800" dirty="0">
                <a:solidFill>
                  <a:srgbClr val="595959"/>
                </a:solidFill>
                <a:latin typeface="微软雅黑" panose="020B0503020204020204" pitchFamily="34" charset="-122"/>
                <a:ea typeface="微软雅黑" panose="020B0503020204020204" pitchFamily="34" charset="-122"/>
                <a:cs typeface="+mn-ea"/>
              </a:rPr>
              <a:t>。通过</a:t>
            </a:r>
            <a:r>
              <a:rPr lang="en-US" altLang="zh-CN" sz="1800" dirty="0">
                <a:solidFill>
                  <a:srgbClr val="595959"/>
                </a:solidFill>
                <a:latin typeface="微软雅黑" panose="020B0503020204020204" pitchFamily="34" charset="-122"/>
                <a:ea typeface="微软雅黑" panose="020B0503020204020204" pitchFamily="34" charset="-122"/>
                <a:cs typeface="+mn-ea"/>
              </a:rPr>
              <a:t>swipe()</a:t>
            </a:r>
            <a:r>
              <a:rPr lang="zh-CN" altLang="zh-CN" sz="1800" dirty="0">
                <a:solidFill>
                  <a:srgbClr val="595959"/>
                </a:solidFill>
                <a:latin typeface="微软雅黑" panose="020B0503020204020204" pitchFamily="34" charset="-122"/>
                <a:ea typeface="微软雅黑" panose="020B0503020204020204" pitchFamily="34" charset="-122"/>
                <a:cs typeface="+mn-ea"/>
              </a:rPr>
              <a:t>方法实现的滑动操作是以坐标为操作目标进行移动的并且只能是屏幕上两个点之间的操作。</a:t>
            </a:r>
            <a:r>
              <a:rPr lang="en-US" altLang="zh-CN" sz="1800" dirty="0">
                <a:solidFill>
                  <a:srgbClr val="595959"/>
                </a:solidFill>
                <a:latin typeface="微软雅黑" panose="020B0503020204020204" pitchFamily="34" charset="-122"/>
                <a:ea typeface="微软雅黑" panose="020B0503020204020204" pitchFamily="34" charset="-122"/>
                <a:cs typeface="+mn-ea"/>
              </a:rPr>
              <a:t>swipe()</a:t>
            </a:r>
            <a:r>
              <a:rPr lang="zh-CN" altLang="zh-CN" sz="1800" dirty="0">
                <a:solidFill>
                  <a:srgbClr val="595959"/>
                </a:solidFill>
                <a:latin typeface="微软雅黑" panose="020B0503020204020204" pitchFamily="34" charset="-122"/>
                <a:ea typeface="微软雅黑" panose="020B0503020204020204" pitchFamily="34" charset="-122"/>
                <a:cs typeface="+mn-ea"/>
              </a:rPr>
              <a:t>方法的语法格式如下所示。</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7" name="文本框 5"/>
          <p:cNvSpPr txBox="1"/>
          <p:nvPr/>
        </p:nvSpPr>
        <p:spPr>
          <a:xfrm>
            <a:off x="1175200" y="4009623"/>
            <a:ext cx="9704987" cy="507831"/>
          </a:xfrm>
          <a:prstGeom prst="rect">
            <a:avLst/>
          </a:prstGeom>
          <a:solidFill>
            <a:srgbClr val="F2F2F2"/>
          </a:solidFill>
        </p:spPr>
        <p:txBody>
          <a:bodyPr wrap="square" rtlCol="0">
            <a:spAutoFit/>
          </a:bodyPr>
          <a:lstStyle/>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scroll(</a:t>
            </a:r>
            <a:r>
              <a:rPr lang="en-US" altLang="zh-CN" sz="1800" dirty="0" err="1">
                <a:solidFill>
                  <a:srgbClr val="595959"/>
                </a:solidFill>
                <a:latin typeface="微软雅黑" panose="020B0503020204020204" pitchFamily="34" charset="-122"/>
                <a:ea typeface="微软雅黑" panose="020B0503020204020204" pitchFamily="34" charset="-122"/>
                <a:cs typeface="+mn-ea"/>
              </a:rPr>
              <a:t>source_element</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mn-ea"/>
              </a:rPr>
              <a:t>target_element</a:t>
            </a:r>
            <a:r>
              <a:rPr lang="en-US" altLang="zh-CN" sz="1800" dirty="0">
                <a:solidFill>
                  <a:srgbClr val="595959"/>
                </a:solidFill>
                <a:latin typeface="微软雅黑" panose="020B0503020204020204" pitchFamily="34" charset="-122"/>
                <a:ea typeface="微软雅黑" panose="020B0503020204020204" pitchFamily="34" charset="-122"/>
                <a:cs typeface="+mn-ea"/>
              </a:rPr>
              <a: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43690" y="909794"/>
            <a:ext cx="9768009" cy="2631490"/>
          </a:xfrm>
          <a:prstGeom prst="rect">
            <a:avLst/>
          </a:prstGeom>
        </p:spPr>
        <p:txBody>
          <a:bodyPr wrap="square">
            <a:spAutoFit/>
          </a:bodyPr>
          <a:lstStyle/>
          <a:p>
            <a:pPr>
              <a:lnSpc>
                <a:spcPct val="150000"/>
              </a:lnSpc>
            </a:pPr>
            <a:r>
              <a:rPr lang="zh-CN" altLang="zh-CN"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a:solidFill>
                  <a:srgbClr val="595959"/>
                </a:solidFill>
                <a:latin typeface="微软雅黑" panose="020B0503020204020204" pitchFamily="34" charset="-122"/>
                <a:ea typeface="微软雅黑" panose="020B0503020204020204" pitchFamily="34" charset="-122"/>
                <a:cs typeface="+mn-ea"/>
              </a:rPr>
              <a:t>2</a:t>
            </a:r>
            <a:r>
              <a:rPr lang="zh-CN" altLang="zh-CN" sz="2000" b="1" dirty="0">
                <a:solidFill>
                  <a:srgbClr val="595959"/>
                </a:solidFill>
                <a:latin typeface="微软雅黑" panose="020B0503020204020204" pitchFamily="34" charset="-122"/>
                <a:ea typeface="微软雅黑" panose="020B0503020204020204" pitchFamily="34" charset="-122"/>
                <a:cs typeface="+mn-ea"/>
              </a:rPr>
              <a:t>）通过</a:t>
            </a:r>
            <a:r>
              <a:rPr lang="en-US" altLang="zh-CN" sz="2000" b="1" dirty="0">
                <a:solidFill>
                  <a:srgbClr val="595959"/>
                </a:solidFill>
                <a:latin typeface="微软雅黑" panose="020B0503020204020204" pitchFamily="34" charset="-122"/>
                <a:ea typeface="微软雅黑" panose="020B0503020204020204" pitchFamily="34" charset="-122"/>
                <a:cs typeface="+mn-ea"/>
              </a:rPr>
              <a:t>scroll()</a:t>
            </a:r>
            <a:r>
              <a:rPr lang="zh-CN" altLang="zh-CN" sz="2000" b="1" dirty="0">
                <a:solidFill>
                  <a:srgbClr val="595959"/>
                </a:solidFill>
                <a:latin typeface="微软雅黑" panose="020B0503020204020204" pitchFamily="34" charset="-122"/>
                <a:ea typeface="微软雅黑" panose="020B0503020204020204" pitchFamily="34" charset="-122"/>
                <a:cs typeface="+mn-ea"/>
              </a:rPr>
              <a:t>方法实现滑动操作</a:t>
            </a:r>
          </a:p>
          <a:p>
            <a:pPr>
              <a:lnSpc>
                <a:spcPct val="150000"/>
              </a:lnSpc>
            </a:pPr>
            <a:endParaRPr lang="en-US" altLang="zh-CN" sz="18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cs typeface="+mn-ea"/>
              </a:rPr>
              <a:t>通过</a:t>
            </a:r>
            <a:r>
              <a:rPr lang="en-US" altLang="zh-CN" sz="1800" dirty="0">
                <a:solidFill>
                  <a:srgbClr val="1369B2"/>
                </a:solidFill>
                <a:latin typeface="微软雅黑" panose="020B0503020204020204" pitchFamily="34" charset="-122"/>
                <a:ea typeface="微软雅黑" panose="020B0503020204020204" pitchFamily="34" charset="-122"/>
                <a:cs typeface="+mn-ea"/>
              </a:rPr>
              <a:t>scroll()</a:t>
            </a:r>
            <a:r>
              <a:rPr lang="zh-CN" altLang="zh-CN" sz="1800" dirty="0">
                <a:solidFill>
                  <a:srgbClr val="595959"/>
                </a:solidFill>
                <a:latin typeface="微软雅黑" panose="020B0503020204020204" pitchFamily="34" charset="-122"/>
                <a:ea typeface="微软雅黑" panose="020B0503020204020204" pitchFamily="34" charset="-122"/>
                <a:cs typeface="+mn-ea"/>
              </a:rPr>
              <a:t>方法实现的滑动操作指的是</a:t>
            </a:r>
            <a:r>
              <a:rPr lang="zh-CN" altLang="zh-CN" sz="1800" dirty="0">
                <a:solidFill>
                  <a:srgbClr val="1369B2"/>
                </a:solidFill>
                <a:latin typeface="微软雅黑" panose="020B0503020204020204" pitchFamily="34" charset="-122"/>
                <a:ea typeface="微软雅黑" panose="020B0503020204020204" pitchFamily="34" charset="-122"/>
                <a:cs typeface="+mn-ea"/>
              </a:rPr>
              <a:t>手指触摸屏幕后从一个元素滑动到另外一个元素，直到页面自动停止的操作</a:t>
            </a:r>
            <a:r>
              <a:rPr lang="zh-CN" altLang="zh-CN" sz="1800" dirty="0">
                <a:solidFill>
                  <a:srgbClr val="595959"/>
                </a:solidFill>
                <a:latin typeface="微软雅黑" panose="020B0503020204020204" pitchFamily="34" charset="-122"/>
                <a:ea typeface="微软雅黑" panose="020B0503020204020204" pitchFamily="34" charset="-122"/>
                <a:cs typeface="+mn-ea"/>
              </a:rPr>
              <a:t>，该操作</a:t>
            </a:r>
            <a:r>
              <a:rPr lang="zh-CN" altLang="zh-CN" sz="1800" dirty="0">
                <a:solidFill>
                  <a:srgbClr val="1369B2"/>
                </a:solidFill>
                <a:latin typeface="微软雅黑" panose="020B0503020204020204" pitchFamily="34" charset="-122"/>
                <a:ea typeface="微软雅黑" panose="020B0503020204020204" pitchFamily="34" charset="-122"/>
                <a:cs typeface="+mn-ea"/>
              </a:rPr>
              <a:t>无法设置滑动的持续时间</a:t>
            </a:r>
            <a:r>
              <a:rPr lang="zh-CN" altLang="zh-CN" sz="1800" dirty="0">
                <a:solidFill>
                  <a:srgbClr val="595959"/>
                </a:solidFill>
                <a:latin typeface="微软雅黑" panose="020B0503020204020204" pitchFamily="34" charset="-122"/>
                <a:ea typeface="微软雅黑" panose="020B0503020204020204" pitchFamily="34" charset="-122"/>
                <a:cs typeface="+mn-ea"/>
              </a:rPr>
              <a:t>，但是</a:t>
            </a:r>
            <a:r>
              <a:rPr lang="zh-CN" altLang="zh-CN" sz="1800" dirty="0">
                <a:solidFill>
                  <a:srgbClr val="1369B2"/>
                </a:solidFill>
                <a:latin typeface="微软雅黑" panose="020B0503020204020204" pitchFamily="34" charset="-122"/>
                <a:ea typeface="微软雅黑" panose="020B0503020204020204" pitchFamily="34" charset="-122"/>
                <a:cs typeface="+mn-ea"/>
              </a:rPr>
              <a:t>具有一定的惯性</a:t>
            </a:r>
            <a:r>
              <a:rPr lang="zh-CN" altLang="zh-CN" sz="1800" dirty="0">
                <a:solidFill>
                  <a:srgbClr val="595959"/>
                </a:solidFill>
                <a:latin typeface="微软雅黑" panose="020B0503020204020204" pitchFamily="34" charset="-122"/>
                <a:ea typeface="微软雅黑" panose="020B0503020204020204" pitchFamily="34" charset="-122"/>
                <a:cs typeface="+mn-ea"/>
              </a:rPr>
              <a:t>。与</a:t>
            </a:r>
            <a:r>
              <a:rPr lang="en-US" altLang="zh-CN" sz="1800" dirty="0">
                <a:solidFill>
                  <a:srgbClr val="595959"/>
                </a:solidFill>
                <a:latin typeface="微软雅黑" panose="020B0503020204020204" pitchFamily="34" charset="-122"/>
                <a:ea typeface="微软雅黑" panose="020B0503020204020204" pitchFamily="34" charset="-122"/>
                <a:cs typeface="+mn-ea"/>
              </a:rPr>
              <a:t>swipe()</a:t>
            </a:r>
            <a:r>
              <a:rPr lang="zh-CN" altLang="zh-CN" sz="1800" dirty="0">
                <a:solidFill>
                  <a:srgbClr val="595959"/>
                </a:solidFill>
                <a:latin typeface="微软雅黑" panose="020B0503020204020204" pitchFamily="34" charset="-122"/>
                <a:ea typeface="微软雅黑" panose="020B0503020204020204" pitchFamily="34" charset="-122"/>
                <a:cs typeface="+mn-ea"/>
              </a:rPr>
              <a:t>方法实现滑动操作不同的是，</a:t>
            </a:r>
            <a:r>
              <a:rPr lang="en-US" altLang="zh-CN" sz="1800" dirty="0">
                <a:solidFill>
                  <a:srgbClr val="595959"/>
                </a:solidFill>
                <a:latin typeface="微软雅黑" panose="020B0503020204020204" pitchFamily="34" charset="-122"/>
                <a:ea typeface="微软雅黑" panose="020B0503020204020204" pitchFamily="34" charset="-122"/>
                <a:cs typeface="+mn-ea"/>
              </a:rPr>
              <a:t>scroll()</a:t>
            </a:r>
            <a:r>
              <a:rPr lang="zh-CN" altLang="zh-CN" sz="1800" dirty="0">
                <a:solidFill>
                  <a:srgbClr val="595959"/>
                </a:solidFill>
                <a:latin typeface="微软雅黑" panose="020B0503020204020204" pitchFamily="34" charset="-122"/>
                <a:ea typeface="微软雅黑" panose="020B0503020204020204" pitchFamily="34" charset="-122"/>
                <a:cs typeface="+mn-ea"/>
              </a:rPr>
              <a:t>方法是通过控件确定滑动的起点和终点的。</a:t>
            </a:r>
            <a:r>
              <a:rPr lang="en-US" altLang="zh-CN" sz="1800" dirty="0">
                <a:solidFill>
                  <a:srgbClr val="595959"/>
                </a:solidFill>
                <a:latin typeface="微软雅黑" panose="020B0503020204020204" pitchFamily="34" charset="-122"/>
                <a:ea typeface="微软雅黑" panose="020B0503020204020204" pitchFamily="34" charset="-122"/>
                <a:cs typeface="+mn-ea"/>
              </a:rPr>
              <a:t>scroll()</a:t>
            </a:r>
            <a:r>
              <a:rPr lang="zh-CN" altLang="zh-CN" sz="1800" dirty="0">
                <a:solidFill>
                  <a:srgbClr val="595959"/>
                </a:solidFill>
                <a:latin typeface="微软雅黑" panose="020B0503020204020204" pitchFamily="34" charset="-122"/>
                <a:ea typeface="微软雅黑" panose="020B0503020204020204" pitchFamily="34" charset="-122"/>
                <a:cs typeface="+mn-ea"/>
              </a:rPr>
              <a:t>方法的语法格式如下所示。</a:t>
            </a:r>
          </a:p>
        </p:txBody>
      </p:sp>
      <p:sp>
        <p:nvSpPr>
          <p:cNvPr id="4" name="矩形 3"/>
          <p:cNvSpPr/>
          <p:nvPr/>
        </p:nvSpPr>
        <p:spPr>
          <a:xfrm>
            <a:off x="1143690" y="4899068"/>
            <a:ext cx="9720000" cy="923330"/>
          </a:xfrm>
          <a:prstGeom prst="rect">
            <a:avLst/>
          </a:prstGeom>
        </p:spPr>
        <p:txBody>
          <a:bodyPr wrap="square">
            <a:spAutoFit/>
          </a:bodyPr>
          <a:lstStyle/>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mn-ea"/>
              </a:rPr>
              <a:t>scroll()</a:t>
            </a:r>
            <a:r>
              <a:rPr lang="zh-CN" altLang="zh-CN" sz="1800" dirty="0">
                <a:solidFill>
                  <a:srgbClr val="595959"/>
                </a:solidFill>
                <a:latin typeface="微软雅黑" panose="020B0503020204020204" pitchFamily="34" charset="-122"/>
                <a:ea typeface="微软雅黑" panose="020B0503020204020204" pitchFamily="34" charset="-122"/>
                <a:cs typeface="+mn-ea"/>
              </a:rPr>
              <a:t>方法中的</a:t>
            </a:r>
            <a:r>
              <a:rPr lang="zh-CN" altLang="zh-CN" sz="1800" dirty="0">
                <a:solidFill>
                  <a:srgbClr val="1369B2"/>
                </a:solidFill>
                <a:latin typeface="微软雅黑" panose="020B0503020204020204" pitchFamily="34" charset="-122"/>
                <a:ea typeface="微软雅黑" panose="020B0503020204020204" pitchFamily="34" charset="-122"/>
                <a:cs typeface="+mn-ea"/>
              </a:rPr>
              <a:t>参数</a:t>
            </a:r>
            <a:r>
              <a:rPr lang="en-US" altLang="zh-CN" sz="1800" dirty="0" err="1">
                <a:solidFill>
                  <a:srgbClr val="1369B2"/>
                </a:solidFill>
                <a:latin typeface="微软雅黑" panose="020B0503020204020204" pitchFamily="34" charset="-122"/>
                <a:ea typeface="微软雅黑" panose="020B0503020204020204" pitchFamily="34" charset="-122"/>
                <a:cs typeface="+mn-ea"/>
              </a:rPr>
              <a:t>source_element</a:t>
            </a:r>
            <a:r>
              <a:rPr lang="zh-CN" altLang="zh-CN" sz="1800" dirty="0">
                <a:solidFill>
                  <a:srgbClr val="595959"/>
                </a:solidFill>
                <a:latin typeface="微软雅黑" panose="020B0503020204020204" pitchFamily="34" charset="-122"/>
                <a:ea typeface="微软雅黑" panose="020B0503020204020204" pitchFamily="34" charset="-122"/>
                <a:cs typeface="+mn-ea"/>
              </a:rPr>
              <a:t>表示</a:t>
            </a:r>
            <a:r>
              <a:rPr lang="zh-CN" altLang="zh-CN" sz="1800" dirty="0">
                <a:solidFill>
                  <a:srgbClr val="1369B2"/>
                </a:solidFill>
                <a:latin typeface="微软雅黑" panose="020B0503020204020204" pitchFamily="34" charset="-122"/>
                <a:ea typeface="微软雅黑" panose="020B0503020204020204" pitchFamily="34" charset="-122"/>
                <a:cs typeface="+mn-ea"/>
              </a:rPr>
              <a:t>被滑动的元素对象</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参数</a:t>
            </a:r>
            <a:r>
              <a:rPr lang="en-US" altLang="zh-CN" sz="1800" dirty="0" err="1">
                <a:solidFill>
                  <a:srgbClr val="1369B2"/>
                </a:solidFill>
                <a:latin typeface="微软雅黑" panose="020B0503020204020204" pitchFamily="34" charset="-122"/>
                <a:ea typeface="微软雅黑" panose="020B0503020204020204" pitchFamily="34" charset="-122"/>
                <a:cs typeface="+mn-ea"/>
              </a:rPr>
              <a:t>target_element</a:t>
            </a:r>
            <a:r>
              <a:rPr lang="zh-CN" altLang="zh-CN" sz="1800" dirty="0">
                <a:solidFill>
                  <a:srgbClr val="595959"/>
                </a:solidFill>
                <a:latin typeface="微软雅黑" panose="020B0503020204020204" pitchFamily="34" charset="-122"/>
                <a:ea typeface="微软雅黑" panose="020B0503020204020204" pitchFamily="34" charset="-122"/>
                <a:cs typeface="+mn-ea"/>
              </a:rPr>
              <a:t>表示</a:t>
            </a:r>
            <a:r>
              <a:rPr lang="zh-CN" altLang="zh-CN" sz="1800" dirty="0">
                <a:solidFill>
                  <a:srgbClr val="1369B2"/>
                </a:solidFill>
                <a:latin typeface="微软雅黑" panose="020B0503020204020204" pitchFamily="34" charset="-122"/>
                <a:ea typeface="微软雅黑" panose="020B0503020204020204" pitchFamily="34" charset="-122"/>
                <a:cs typeface="+mn-ea"/>
              </a:rPr>
              <a:t>目标元素对象</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23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sp>
        <p:nvSpPr>
          <p:cNvPr id="10" name="原创设计师QQ598969553          _9"/>
          <p:cNvSpPr txBox="1"/>
          <p:nvPr/>
        </p:nvSpPr>
        <p:spPr>
          <a:xfrm>
            <a:off x="911206" y="2277794"/>
            <a:ext cx="9216000" cy="1477328"/>
          </a:xfrm>
          <a:prstGeom prst="rect">
            <a:avLst/>
          </a:prstGeom>
          <a:noFill/>
        </p:spPr>
        <p:txBody>
          <a:bodyPr wrap="square" rtlCol="0">
            <a:spAutoFit/>
          </a:bodyPr>
          <a:lstStyle/>
          <a:p>
            <a:pPr>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1369B2"/>
                </a:solidFill>
                <a:latin typeface="微软雅黑" panose="020B0503020204020204" pitchFamily="34" charset="-122"/>
                <a:ea typeface="微软雅黑" panose="020B0503020204020204" pitchFamily="34" charset="-122"/>
                <a:cs typeface="+mn-ea"/>
              </a:rPr>
              <a:t>操作</a:t>
            </a:r>
            <a:r>
              <a:rPr lang="zh-CN" altLang="zh-CN" sz="2000" dirty="0">
                <a:solidFill>
                  <a:srgbClr val="595959"/>
                </a:solidFill>
                <a:latin typeface="微软雅黑" panose="020B0503020204020204" pitchFamily="34" charset="-122"/>
                <a:ea typeface="微软雅黑" panose="020B0503020204020204" pitchFamily="34" charset="-122"/>
                <a:cs typeface="+mn-ea"/>
              </a:rPr>
              <a:t>指的是</a:t>
            </a:r>
            <a:r>
              <a:rPr lang="zh-CN" altLang="zh-CN" sz="2000" dirty="0">
                <a:solidFill>
                  <a:srgbClr val="1369B2"/>
                </a:solidFill>
                <a:latin typeface="微软雅黑" panose="020B0503020204020204" pitchFamily="34" charset="-122"/>
                <a:ea typeface="微软雅黑" panose="020B0503020204020204" pitchFamily="34" charset="-122"/>
                <a:cs typeface="+mn-ea"/>
              </a:rPr>
              <a:t>将一个元素拖动到另外一个元素的位置</a:t>
            </a:r>
            <a:r>
              <a:rPr lang="zh-CN" altLang="zh-CN" sz="2000" dirty="0">
                <a:solidFill>
                  <a:srgbClr val="595959"/>
                </a:solidFill>
                <a:latin typeface="微软雅黑" panose="020B0503020204020204" pitchFamily="34" charset="-122"/>
                <a:ea typeface="微软雅黑" panose="020B0503020204020204" pitchFamily="34" charset="-122"/>
                <a:cs typeface="+mn-ea"/>
              </a:rPr>
              <a:t>，也可以将一个元素拖动到另外一个元素</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en-US" sz="2000">
                <a:solidFill>
                  <a:srgbClr val="595959"/>
                </a:solidFill>
                <a:latin typeface="微软雅黑" panose="020B0503020204020204" pitchFamily="34" charset="-122"/>
                <a:ea typeface="微软雅黑" panose="020B0503020204020204" pitchFamily="34" charset="-122"/>
                <a:cs typeface="+mn-ea"/>
              </a:rPr>
              <a:t>拖曳</a:t>
            </a:r>
            <a:r>
              <a:rPr lang="zh-CN" altLang="zh-CN" sz="2000">
                <a:solidFill>
                  <a:srgbClr val="595959"/>
                </a:solidFill>
                <a:latin typeface="微软雅黑" panose="020B0503020204020204" pitchFamily="34" charset="-122"/>
                <a:ea typeface="微软雅黑" panose="020B0503020204020204" pitchFamily="34" charset="-122"/>
                <a:cs typeface="+mn-ea"/>
              </a:rPr>
              <a:t>操作</a:t>
            </a:r>
            <a:r>
              <a:rPr lang="zh-CN" altLang="zh-CN" sz="2000" dirty="0">
                <a:solidFill>
                  <a:srgbClr val="595959"/>
                </a:solidFill>
                <a:latin typeface="微软雅黑" panose="020B0503020204020204" pitchFamily="34" charset="-122"/>
                <a:ea typeface="微软雅黑" panose="020B0503020204020204" pitchFamily="34" charset="-122"/>
                <a:cs typeface="+mn-ea"/>
              </a:rPr>
              <a:t>是以控件为操作目标进行移动</a:t>
            </a:r>
            <a:r>
              <a:rPr lang="zh-CN" altLang="zh-CN" sz="2000">
                <a:solidFill>
                  <a:srgbClr val="595959"/>
                </a:solidFill>
                <a:latin typeface="微软雅黑" panose="020B0503020204020204" pitchFamily="34" charset="-122"/>
                <a:ea typeface="微软雅黑" panose="020B0503020204020204" pitchFamily="34" charset="-122"/>
                <a:cs typeface="+mn-ea"/>
              </a:rPr>
              <a:t>的，</a:t>
            </a:r>
            <a:r>
              <a:rPr lang="zh-CN" altLang="en-US" sz="2000">
                <a:solidFill>
                  <a:srgbClr val="595959"/>
                </a:solidFill>
                <a:latin typeface="微软雅黑" panose="020B0503020204020204" pitchFamily="34" charset="-122"/>
                <a:ea typeface="微软雅黑" panose="020B0503020204020204" pitchFamily="34" charset="-122"/>
                <a:cs typeface="+mn-ea"/>
              </a:rPr>
              <a:t>拖曳</a:t>
            </a:r>
            <a:r>
              <a:rPr lang="zh-CN" altLang="zh-CN" sz="2000">
                <a:solidFill>
                  <a:srgbClr val="595959"/>
                </a:solidFill>
                <a:latin typeface="微软雅黑" panose="020B0503020204020204" pitchFamily="34" charset="-122"/>
                <a:ea typeface="微软雅黑" panose="020B0503020204020204" pitchFamily="34" charset="-122"/>
                <a:cs typeface="+mn-ea"/>
              </a:rPr>
              <a:t>操作</a:t>
            </a:r>
            <a:r>
              <a:rPr lang="zh-CN" altLang="zh-CN" sz="2000" dirty="0">
                <a:solidFill>
                  <a:srgbClr val="595959"/>
                </a:solidFill>
                <a:latin typeface="微软雅黑" panose="020B0503020204020204" pitchFamily="34" charset="-122"/>
                <a:ea typeface="微软雅黑" panose="020B0503020204020204" pitchFamily="34" charset="-122"/>
                <a:cs typeface="+mn-ea"/>
              </a:rPr>
              <a:t>可以通过</a:t>
            </a:r>
            <a:r>
              <a:rPr lang="en-US" altLang="zh-CN" sz="2000" dirty="0" err="1">
                <a:solidFill>
                  <a:srgbClr val="1369B2"/>
                </a:solidFill>
                <a:latin typeface="微软雅黑" panose="020B0503020204020204" pitchFamily="34" charset="-122"/>
                <a:ea typeface="微软雅黑" panose="020B0503020204020204" pitchFamily="34" charset="-122"/>
                <a:cs typeface="+mn-ea"/>
              </a:rPr>
              <a:t>drag_and_drop</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方法来实现，该方法的语法格式如下所示。</a:t>
            </a:r>
          </a:p>
        </p:txBody>
      </p:sp>
      <p:sp>
        <p:nvSpPr>
          <p:cNvPr id="5" name="文本框 5"/>
          <p:cNvSpPr txBox="1"/>
          <p:nvPr/>
        </p:nvSpPr>
        <p:spPr>
          <a:xfrm>
            <a:off x="1055207" y="4258833"/>
            <a:ext cx="9288000" cy="553998"/>
          </a:xfrm>
          <a:prstGeom prst="rect">
            <a:avLst/>
          </a:prstGeom>
          <a:solidFill>
            <a:srgbClr val="F2F2F2"/>
          </a:solidFill>
        </p:spPr>
        <p:txBody>
          <a:bodyPr wrap="square" rtlCol="0">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drag_and_drop</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source_element</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target_element</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055206" y="5013794"/>
            <a:ext cx="9199516" cy="1477328"/>
          </a:xfrm>
          <a:prstGeom prst="rect">
            <a:avLst/>
          </a:prstGeom>
        </p:spPr>
        <p:txBody>
          <a:bodyPr wrap="square">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drag_and_drop</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方法中的参数</a:t>
            </a:r>
            <a:r>
              <a:rPr lang="en-US" altLang="zh-CN" sz="2000" dirty="0" err="1">
                <a:solidFill>
                  <a:srgbClr val="595959"/>
                </a:solidFill>
                <a:latin typeface="微软雅黑" panose="020B0503020204020204" pitchFamily="34" charset="-122"/>
                <a:ea typeface="微软雅黑" panose="020B0503020204020204" pitchFamily="34" charset="-122"/>
                <a:cs typeface="+mn-ea"/>
              </a:rPr>
              <a:t>source_element</a:t>
            </a:r>
            <a:r>
              <a:rPr lang="zh-CN" altLang="zh-CN" sz="2000">
                <a:solidFill>
                  <a:srgbClr val="595959"/>
                </a:solidFill>
                <a:latin typeface="微软雅黑" panose="020B0503020204020204" pitchFamily="34" charset="-122"/>
                <a:ea typeface="微软雅黑" panose="020B0503020204020204" pitchFamily="34" charset="-122"/>
                <a:cs typeface="+mn-ea"/>
              </a:rPr>
              <a:t>表示</a:t>
            </a:r>
            <a:r>
              <a:rPr lang="zh-CN" altLang="zh-CN" sz="2000">
                <a:solidFill>
                  <a:srgbClr val="1369B2"/>
                </a:solidFill>
                <a:latin typeface="微软雅黑" panose="020B0503020204020204" pitchFamily="34" charset="-122"/>
                <a:ea typeface="微软雅黑" panose="020B0503020204020204" pitchFamily="34" charset="-122"/>
                <a:cs typeface="+mn-ea"/>
              </a:rPr>
              <a:t>被</a:t>
            </a: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1369B2"/>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，参数</a:t>
            </a:r>
            <a:r>
              <a:rPr lang="en-US" altLang="zh-CN" sz="2000" dirty="0" err="1">
                <a:solidFill>
                  <a:srgbClr val="595959"/>
                </a:solidFill>
                <a:latin typeface="微软雅黑" panose="020B0503020204020204" pitchFamily="34" charset="-122"/>
                <a:ea typeface="微软雅黑" panose="020B0503020204020204" pitchFamily="34" charset="-122"/>
                <a:cs typeface="+mn-ea"/>
              </a:rPr>
              <a:t>target_element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目标元素对象</a:t>
            </a:r>
            <a:r>
              <a:rPr lang="zh-CN" altLang="zh-CN" sz="2000" dirty="0">
                <a:solidFill>
                  <a:srgbClr val="595959"/>
                </a:solidFill>
                <a:latin typeface="微软雅黑" panose="020B0503020204020204" pitchFamily="34" charset="-122"/>
                <a:ea typeface="微软雅黑" panose="020B0503020204020204" pitchFamily="34" charset="-122"/>
                <a:cs typeface="+mn-ea"/>
              </a:rPr>
              <a:t>。虽然</a:t>
            </a:r>
            <a:r>
              <a:rPr lang="en-US" altLang="zh-CN" sz="2000" dirty="0" err="1">
                <a:solidFill>
                  <a:srgbClr val="595959"/>
                </a:solidFill>
                <a:latin typeface="微软雅黑" panose="020B0503020204020204" pitchFamily="34" charset="-122"/>
                <a:ea typeface="微软雅黑" panose="020B0503020204020204" pitchFamily="34" charset="-122"/>
                <a:cs typeface="+mn-ea"/>
              </a:rPr>
              <a:t>drag_and_drop</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方法与</a:t>
            </a:r>
            <a:r>
              <a:rPr lang="en-US" altLang="zh-CN" sz="2000" dirty="0">
                <a:solidFill>
                  <a:srgbClr val="595959"/>
                </a:solidFill>
                <a:latin typeface="微软雅黑" panose="020B0503020204020204" pitchFamily="34" charset="-122"/>
                <a:ea typeface="微软雅黑" panose="020B0503020204020204" pitchFamily="34" charset="-122"/>
                <a:cs typeface="+mn-ea"/>
              </a:rPr>
              <a:t>scroll()</a:t>
            </a:r>
            <a:r>
              <a:rPr lang="zh-CN" altLang="zh-CN" sz="2000" dirty="0">
                <a:solidFill>
                  <a:srgbClr val="595959"/>
                </a:solidFill>
                <a:latin typeface="微软雅黑" panose="020B0503020204020204" pitchFamily="34" charset="-122"/>
                <a:ea typeface="微软雅黑" panose="020B0503020204020204" pitchFamily="34" charset="-122"/>
                <a:cs typeface="+mn-ea"/>
              </a:rPr>
              <a:t>方法传递的参数都是元素对象</a:t>
            </a:r>
            <a:r>
              <a:rPr lang="zh-CN" altLang="zh-CN" sz="2000">
                <a:solidFill>
                  <a:srgbClr val="595959"/>
                </a:solidFill>
                <a:latin typeface="微软雅黑" panose="020B0503020204020204" pitchFamily="34" charset="-122"/>
                <a:ea typeface="微软雅黑" panose="020B0503020204020204" pitchFamily="34" charset="-122"/>
                <a:cs typeface="+mn-ea"/>
              </a:rPr>
              <a:t>，但是</a:t>
            </a: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1369B2"/>
                </a:solidFill>
                <a:latin typeface="微软雅黑" panose="020B0503020204020204" pitchFamily="34" charset="-122"/>
                <a:ea typeface="微软雅黑" panose="020B0503020204020204" pitchFamily="34" charset="-122"/>
                <a:cs typeface="+mn-ea"/>
              </a:rPr>
              <a:t>操作</a:t>
            </a:r>
            <a:r>
              <a:rPr lang="zh-CN" altLang="zh-CN" sz="2000" dirty="0">
                <a:solidFill>
                  <a:srgbClr val="1369B2"/>
                </a:solidFill>
                <a:latin typeface="微软雅黑" panose="020B0503020204020204" pitchFamily="34" charset="-122"/>
                <a:ea typeface="微软雅黑" panose="020B0503020204020204" pitchFamily="34" charset="-122"/>
                <a:cs typeface="+mn-ea"/>
              </a:rPr>
              <a:t>没有惯性</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圆角矩形 6"/>
          <p:cNvSpPr/>
          <p:nvPr/>
        </p:nvSpPr>
        <p:spPr>
          <a:xfrm>
            <a:off x="1143690" y="1188885"/>
            <a:ext cx="1872000"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8.</a:t>
            </a:r>
            <a:r>
              <a:rPr lang="zh-CN" altLang="en-US" sz="2000">
                <a:latin typeface="微软雅黑" panose="020B0503020204020204" pitchFamily="34" charset="-122"/>
                <a:ea typeface="微软雅黑" panose="020B0503020204020204" pitchFamily="34" charset="-122"/>
              </a:rPr>
              <a:t>拖曳操作</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1143690" y="266995"/>
            <a:ext cx="6247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7.4.3 </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Appium</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手势操作</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0000"/>
            <a:ext cx="4747260" cy="467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092099" y="1725581"/>
            <a:ext cx="1233467" cy="7515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nSpc>
                <a:spcPct val="150000"/>
              </a:lnSpc>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zh-CN"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p:cNvSpPr txBox="1"/>
          <p:nvPr/>
        </p:nvSpPr>
        <p:spPr>
          <a:xfrm>
            <a:off x="5012215" y="2277794"/>
            <a:ext cx="6407976" cy="2304000"/>
          </a:xfrm>
          <a:prstGeom prst="rect">
            <a:avLst/>
          </a:prstGeom>
          <a:noFill/>
        </p:spPr>
        <p:txBody>
          <a:bodyPr wrap="square" rtlCol="0" anchor="t">
            <a:no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在调用</a:t>
            </a:r>
            <a:r>
              <a:rPr lang="en-US" altLang="zh-CN" sz="2000" dirty="0">
                <a:solidFill>
                  <a:srgbClr val="1369B2"/>
                </a:solidFill>
                <a:latin typeface="微软雅黑" panose="020B0503020204020204" pitchFamily="34" charset="-122"/>
                <a:ea typeface="微软雅黑" panose="020B0503020204020204" pitchFamily="34" charset="-122"/>
                <a:cs typeface="+mn-ea"/>
              </a:rPr>
              <a:t>swipe()</a:t>
            </a:r>
            <a:r>
              <a:rPr lang="zh-CN" altLang="en-US" sz="2000" dirty="0">
                <a:solidFill>
                  <a:srgbClr val="595959"/>
                </a:solidFill>
                <a:latin typeface="微软雅黑" panose="020B0503020204020204" pitchFamily="34" charset="-122"/>
                <a:ea typeface="微软雅黑" panose="020B0503020204020204" pitchFamily="34" charset="-122"/>
              </a:rPr>
              <a:t>方法实现滑动操作时，如果滑动的</a:t>
            </a:r>
            <a:r>
              <a:rPr lang="zh-CN" altLang="en-US" sz="2000" dirty="0">
                <a:solidFill>
                  <a:srgbClr val="1369B2"/>
                </a:solidFill>
                <a:latin typeface="微软雅黑" panose="020B0503020204020204" pitchFamily="34" charset="-122"/>
                <a:ea typeface="微软雅黑" panose="020B0503020204020204" pitchFamily="34" charset="-122"/>
                <a:cs typeface="+mn-ea"/>
              </a:rPr>
              <a:t>持续时间足够长</a:t>
            </a:r>
            <a:r>
              <a:rPr lang="zh-CN" altLang="en-US" sz="2000" dirty="0">
                <a:solidFill>
                  <a:srgbClr val="595959"/>
                </a:solidFill>
                <a:latin typeface="微软雅黑" panose="020B0503020204020204" pitchFamily="34" charset="-122"/>
                <a:ea typeface="微软雅黑" panose="020B0503020204020204" pitchFamily="34" charset="-122"/>
              </a:rPr>
              <a:t>，则滑动效果会与</a:t>
            </a:r>
            <a:r>
              <a:rPr lang="en-US" altLang="zh-CN" sz="2000" dirty="0" err="1">
                <a:solidFill>
                  <a:srgbClr val="1369B2"/>
                </a:solidFill>
                <a:latin typeface="微软雅黑" panose="020B0503020204020204" pitchFamily="34" charset="-122"/>
                <a:ea typeface="微软雅黑" panose="020B0503020204020204" pitchFamily="34" charset="-122"/>
                <a:cs typeface="+mn-ea"/>
              </a:rPr>
              <a:t>drag_and_drop</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方法</a:t>
            </a:r>
            <a:r>
              <a:rPr lang="zh-CN" altLang="zh-CN" sz="2000">
                <a:solidFill>
                  <a:srgbClr val="595959"/>
                </a:solidFill>
                <a:latin typeface="微软雅黑" panose="020B0503020204020204" pitchFamily="34" charset="-122"/>
                <a:ea typeface="微软雅黑" panose="020B0503020204020204" pitchFamily="34" charset="-122"/>
              </a:rPr>
              <a:t>实现的</a:t>
            </a:r>
            <a:r>
              <a:rPr lang="zh-CN" altLang="en-US" sz="2000">
                <a:solidFill>
                  <a:srgbClr val="1369B2"/>
                </a:solidFill>
                <a:latin typeface="微软雅黑" panose="020B0503020204020204" pitchFamily="34" charset="-122"/>
                <a:ea typeface="微软雅黑" panose="020B0503020204020204" pitchFamily="34" charset="-122"/>
                <a:cs typeface="+mn-ea"/>
              </a:rPr>
              <a:t>拖曳</a:t>
            </a:r>
            <a:r>
              <a:rPr lang="zh-CN" altLang="zh-CN" sz="2000">
                <a:solidFill>
                  <a:srgbClr val="1369B2"/>
                </a:solidFill>
                <a:latin typeface="微软雅黑" panose="020B0503020204020204" pitchFamily="34" charset="-122"/>
                <a:ea typeface="微软雅黑" panose="020B0503020204020204" pitchFamily="34" charset="-122"/>
                <a:cs typeface="+mn-ea"/>
              </a:rPr>
              <a:t>效果</a:t>
            </a:r>
            <a:r>
              <a:rPr lang="zh-CN" altLang="zh-CN" sz="2000" dirty="0">
                <a:solidFill>
                  <a:srgbClr val="595959"/>
                </a:solidFill>
                <a:latin typeface="微软雅黑" panose="020B0503020204020204" pitchFamily="34" charset="-122"/>
                <a:ea typeface="微软雅黑" panose="020B0503020204020204" pitchFamily="34" charset="-122"/>
              </a:rPr>
              <a:t>一样。</a:t>
            </a:r>
            <a:endParaRPr lang="zh-CN" altLang="en-US" sz="2000" dirty="0">
              <a:solidFill>
                <a:srgbClr val="595959"/>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ZmIyYTRhZmU2ZjA1MzE5NWYzOWIzNGFiZmU1NDg0O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6"/>
</p:tagLst>
</file>

<file path=ppt/tags/tag11.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2"/>
</p:tagLst>
</file>

<file path=ppt/tags/tag12.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4"/>
</p:tagLst>
</file>

<file path=ppt/tags/tag13.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Text"/>
  <p:tag name="MH_ORDER" val="3"/>
</p:tagLst>
</file>

<file path=ppt/tags/tag14.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7"/>
</p:tagLst>
</file>

<file path=ppt/tags/tag15.xml><?xml version="1.0" encoding="utf-8"?>
<p:tagLst xmlns:a="http://schemas.openxmlformats.org/drawingml/2006/main" xmlns:r="http://schemas.openxmlformats.org/officeDocument/2006/relationships" xmlns:p="http://schemas.openxmlformats.org/presentationml/2006/main">
  <p:tag name="MH" val="20170719155452"/>
  <p:tag name="MH_LIBRARY" val="GRAPHIC"/>
  <p:tag name="MH_TYPE" val="Other"/>
  <p:tag name="MH_ORDER" val="8"/>
</p:tagLst>
</file>

<file path=ppt/tags/tag1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3"/>
</p:tagLst>
</file>

<file path=ppt/tags/tag2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4"/>
</p:tagLst>
</file>

<file path=ppt/tags/tag2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5"/>
</p:tagLst>
</file>

<file path=ppt/tags/tag2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6"/>
</p:tagLst>
</file>

<file path=ppt/tags/tag2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7"/>
</p:tagLst>
</file>

<file path=ppt/tags/tag2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8"/>
</p:tagLst>
</file>

<file path=ppt/tags/tag2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3"/>
</p:tagLst>
</file>

<file path=ppt/tags/tag2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3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3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3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3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PA" val="v3.2.0"/>
</p:tagLst>
</file>

<file path=ppt/tags/tag38.xml><?xml version="1.0" encoding="utf-8"?>
<p:tagLst xmlns:a="http://schemas.openxmlformats.org/drawingml/2006/main" xmlns:r="http://schemas.openxmlformats.org/officeDocument/2006/relationships" xmlns:p="http://schemas.openxmlformats.org/presentationml/2006/main">
  <p:tag name="PA" val="v3.2.0"/>
</p:tagLst>
</file>

<file path=ppt/tags/tag39.xml><?xml version="1.0" encoding="utf-8"?>
<p:tagLst xmlns:a="http://schemas.openxmlformats.org/drawingml/2006/main" xmlns:r="http://schemas.openxmlformats.org/officeDocument/2006/relationships" xmlns:p="http://schemas.openxmlformats.org/presentationml/2006/main">
  <p:tag name="PA" val="v3.2.0"/>
</p:tagLst>
</file>

<file path=ppt/tags/tag40.xml><?xml version="1.0" encoding="utf-8"?>
<p:tagLst xmlns:a="http://schemas.openxmlformats.org/drawingml/2006/main" xmlns:r="http://schemas.openxmlformats.org/officeDocument/2006/relationships" xmlns:p="http://schemas.openxmlformats.org/presentationml/2006/main">
  <p:tag name="PA" val="v3.2.0"/>
</p:tagLst>
</file>

<file path=ppt/tags/tag41.xml><?xml version="1.0" encoding="utf-8"?>
<p:tagLst xmlns:a="http://schemas.openxmlformats.org/drawingml/2006/main" xmlns:r="http://schemas.openxmlformats.org/officeDocument/2006/relationships" xmlns:p="http://schemas.openxmlformats.org/presentationml/2006/main">
  <p:tag name="PA" val="v3.2.0"/>
</p:tagLst>
</file>

<file path=ppt/tags/tag4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1"/>
</p:tagLst>
</file>

<file path=ppt/tags/tag4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2"/>
</p:tagLst>
</file>

<file path=ppt/tags/tag4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Lst>
</file>

<file path=ppt/tags/tag4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3"/>
</p:tagLst>
</file>

<file path=ppt/tags/tag4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4"/>
</p:tagLst>
</file>

<file path=ppt/tags/tag4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5"/>
</p:tagLst>
</file>

<file path=ppt/tags/tag48.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6"/>
</p:tagLst>
</file>

<file path=ppt/tags/tag4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7"/>
</p:tagLst>
</file>

<file path=ppt/tags/tag5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8"/>
</p:tagLst>
</file>

<file path=ppt/tags/tag5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3"/>
</p:tagLst>
</file>

<file path=ppt/tags/tag5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2"/>
</p:tagLst>
</file>

<file path=ppt/tags/tag5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5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5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5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6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6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6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PA" val="v3.2.0"/>
</p:tagLst>
</file>

<file path=ppt/tags/tag64.xml><?xml version="1.0" encoding="utf-8"?>
<p:tagLst xmlns:a="http://schemas.openxmlformats.org/drawingml/2006/main" xmlns:r="http://schemas.openxmlformats.org/officeDocument/2006/relationships" xmlns:p="http://schemas.openxmlformats.org/presentationml/2006/main">
  <p:tag name="PA" val="v3.2.0"/>
</p:tagLst>
</file>

<file path=ppt/tags/tag65.xml><?xml version="1.0" encoding="utf-8"?>
<p:tagLst xmlns:a="http://schemas.openxmlformats.org/drawingml/2006/main" xmlns:r="http://schemas.openxmlformats.org/officeDocument/2006/relationships" xmlns:p="http://schemas.openxmlformats.org/presentationml/2006/main">
  <p:tag name="PA" val="v3.2.0"/>
</p:tagLst>
</file>

<file path=ppt/tags/tag66.xml><?xml version="1.0" encoding="utf-8"?>
<p:tagLst xmlns:a="http://schemas.openxmlformats.org/drawingml/2006/main" xmlns:r="http://schemas.openxmlformats.org/officeDocument/2006/relationships" xmlns:p="http://schemas.openxmlformats.org/presentationml/2006/main">
  <p:tag name="PA" val="v3.2.0"/>
</p:tagLst>
</file>

<file path=ppt/tags/tag67.xml><?xml version="1.0" encoding="utf-8"?>
<p:tagLst xmlns:a="http://schemas.openxmlformats.org/drawingml/2006/main" xmlns:r="http://schemas.openxmlformats.org/officeDocument/2006/relationships" xmlns:p="http://schemas.openxmlformats.org/presentationml/2006/main">
  <p:tag name="PA" val="v3.2.0"/>
</p:tagLst>
</file>

<file path=ppt/tags/tag6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6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6059</Words>
  <Application>Microsoft Office PowerPoint</Application>
  <PresentationFormat>自定义</PresentationFormat>
  <Paragraphs>402</Paragraphs>
  <Slides>67</Slides>
  <Notes>67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67</vt:i4>
      </vt:variant>
    </vt:vector>
  </HeadingPairs>
  <TitlesOfParts>
    <vt:vector size="76" baseType="lpstr">
      <vt:lpstr>±¼¸²</vt:lpstr>
      <vt:lpstr>思源黑体旧字形 ExtraLight</vt:lpstr>
      <vt:lpstr>微软雅黑</vt:lpstr>
      <vt:lpstr>字魂105号-简雅黑</vt:lpstr>
      <vt:lpstr>Arial</vt:lpstr>
      <vt:lpstr>Calibri</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欧 李</cp:lastModifiedBy>
  <cp:revision>1658</cp:revision>
  <dcterms:created xsi:type="dcterms:W3CDTF">2020-09-03T07:01:00Z</dcterms:created>
  <dcterms:modified xsi:type="dcterms:W3CDTF">2025-11-04T16:40:56Z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6D8DD3F7501C4F11AEE7667391CAEE78_13</vt:lpwstr>
  </property>
</Properties>
</file>